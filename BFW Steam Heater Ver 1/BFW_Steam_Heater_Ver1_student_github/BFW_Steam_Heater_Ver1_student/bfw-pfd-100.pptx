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2000" y="252000"/>
            <a:ext cx="10188000" cy="7056000"/>
          </a:xfrm>
          <a:prstGeom prst="rect">
            <a:avLst/>
          </a:prstGeom>
          <a:noFill/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704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TK-101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7235" y="393968"/>
            <a:ext cx="66233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BFW Storage Tank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95" y="328030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95" y="393968"/>
            <a:ext cx="41981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BFW Pumps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53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4284" y="393968"/>
            <a:ext cx="1043431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BFW Heater (steam in shell)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4186" y="328030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Y-101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1667" y="393968"/>
            <a:ext cx="76626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Condensate Strainer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5663" y="328030"/>
            <a:ext cx="315874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1" i="0">
                <a:solidFill>
                  <a:srgbClr val="000000"/>
                </a:solidFill>
                <a:latin typeface="Arial"/>
              </a:rPr>
              <a:t>ST-101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36372" y="393968"/>
            <a:ext cx="454456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Steam Trap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509877"/>
            <a:ext cx="10188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7056000" y="6192000"/>
            <a:ext cx="3384000" cy="11160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056000" y="6357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7056000" y="6753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7" name="Connector 16"/>
          <p:cNvCxnSpPr/>
          <p:nvPr/>
        </p:nvCxnSpPr>
        <p:spPr>
          <a:xfrm>
            <a:off x="7056000" y="7005600"/>
            <a:ext cx="338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7128000" y="6222817"/>
            <a:ext cx="1704847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BFW STEAM HEATER VER 1 - OPERATOR TRAINING SIMULATOR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316" y="6432180"/>
            <a:ext cx="1147368" cy="1676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0" b="1" i="0">
                <a:solidFill>
                  <a:srgbClr val="000000"/>
                </a:solidFill>
                <a:latin typeface="Arial"/>
              </a:rPr>
              <a:t>PROCESS FLOW DIAGRAM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8096" y="6616400"/>
            <a:ext cx="1619808" cy="10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00" b="0" i="0">
                <a:solidFill>
                  <a:srgbClr val="000000"/>
                </a:solidFill>
                <a:latin typeface="Arial"/>
              </a:rPr>
              <a:t>BFW STEAM HEATER E-101 - FLASH-STEAM BFW HEATING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400" y="6779122"/>
            <a:ext cx="393826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DRAWING 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6400" y="6878390"/>
            <a:ext cx="471779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BFW-PFD-100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7728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852768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REV.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768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08640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9136800" y="6779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6800" y="6878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27840" y="6753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9678240" y="6779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SHEET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8240" y="6878390"/>
            <a:ext cx="306425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64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DRAWN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6400" y="7130390"/>
            <a:ext cx="802487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Apinan Soottitantawat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7728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8527680" y="7031122"/>
            <a:ext cx="289889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CHECKED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2768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8640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9136800" y="7031122"/>
            <a:ext cx="237921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36800" y="7130390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27840" y="7005600"/>
            <a:ext cx="0" cy="2520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9678240" y="7031122"/>
            <a:ext cx="216000" cy="8382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30" b="0" i="0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78240" y="7130390"/>
            <a:ext cx="438708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20" b="0" i="0">
                <a:solidFill>
                  <a:srgbClr val="000000"/>
                </a:solidFill>
                <a:latin typeface="Arial"/>
              </a:rPr>
              <a:t>2026-09-29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2000" y="6292800"/>
            <a:ext cx="6768000" cy="1015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000" y="6350195"/>
            <a:ext cx="32532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sp>
        <p:nvSpPr>
          <p:cNvPr id="45" name="Freeform 44"/>
          <p:cNvSpPr/>
          <p:nvPr/>
        </p:nvSpPr>
        <p:spPr>
          <a:xfrm>
            <a:off x="324000" y="6501472"/>
            <a:ext cx="288000" cy="115200"/>
          </a:xfrm>
          <a:custGeom>
            <a:avLst/>
            <a:gdLst/>
            <a:ahLst/>
            <a:cxnLst/>
            <a:rect l="l" t="t" r="r" b="b"/>
            <a:pathLst>
              <a:path w="288000" h="115200">
                <a:moveTo>
                  <a:pt x="68400" y="0"/>
                </a:moveTo>
                <a:lnTo>
                  <a:pt x="288000" y="0"/>
                </a:lnTo>
                <a:lnTo>
                  <a:pt x="2196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0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8000" y="6512082"/>
            <a:ext cx="719810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Mass Flow (1000 kg/h)</a:t>
            </a:r>
          </a:p>
        </p:txBody>
      </p:sp>
      <p:sp>
        <p:nvSpPr>
          <p:cNvPr id="48" name="Freeform 47"/>
          <p:cNvSpPr/>
          <p:nvPr/>
        </p:nvSpPr>
        <p:spPr>
          <a:xfrm>
            <a:off x="1674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0" y="0"/>
                </a:moveTo>
                <a:lnTo>
                  <a:pt x="2520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2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80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Temperature (°C)</a:t>
            </a:r>
          </a:p>
        </p:txBody>
      </p:sp>
      <p:sp>
        <p:nvSpPr>
          <p:cNvPr id="51" name="Freeform 50"/>
          <p:cNvSpPr/>
          <p:nvPr/>
        </p:nvSpPr>
        <p:spPr>
          <a:xfrm>
            <a:off x="3006000" y="6501472"/>
            <a:ext cx="252000" cy="115200"/>
          </a:xfrm>
          <a:custGeom>
            <a:avLst/>
            <a:gdLst/>
            <a:ahLst/>
            <a:cxnLst/>
            <a:rect l="l" t="t" r="r" b="b"/>
            <a:pathLst>
              <a:path w="252000" h="115200">
                <a:moveTo>
                  <a:pt x="50400" y="0"/>
                </a:moveTo>
                <a:lnTo>
                  <a:pt x="201600" y="0"/>
                </a:lnTo>
                <a:lnTo>
                  <a:pt x="252000" y="115200"/>
                </a:lnTo>
                <a:lnTo>
                  <a:pt x="0" y="1152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24000" y="6503192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12000" y="65120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Pressure (kPa g)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334400" y="65590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55" name="TextBox 54"/>
          <p:cNvSpPr txBox="1"/>
          <p:nvPr/>
        </p:nvSpPr>
        <p:spPr>
          <a:xfrm>
            <a:off x="4644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666400" y="6559072"/>
            <a:ext cx="259200" cy="0"/>
          </a:xfrm>
          <a:prstGeom prst="line">
            <a:avLst/>
          </a:prstGeom>
          <a:ln w="6480">
            <a:solidFill>
              <a:srgbClr val="000000"/>
            </a:solidFill>
          </a:ln>
          <a:effectLst/>
        </p:spPr>
      </p:cxnSp>
      <p:sp>
        <p:nvSpPr>
          <p:cNvPr id="57" name="TextBox 56"/>
          <p:cNvSpPr txBox="1"/>
          <p:nvPr/>
        </p:nvSpPr>
        <p:spPr>
          <a:xfrm>
            <a:off x="5976000" y="65120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sp>
        <p:nvSpPr>
          <p:cNvPr id="58" name="Freeform 57"/>
          <p:cNvSpPr/>
          <p:nvPr/>
        </p:nvSpPr>
        <p:spPr>
          <a:xfrm>
            <a:off x="385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468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0" name="Connector 59"/>
          <p:cNvCxnSpPr/>
          <p:nvPr/>
        </p:nvCxnSpPr>
        <p:spPr>
          <a:xfrm flipV="1">
            <a:off x="468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61" name="Connector 60"/>
          <p:cNvCxnSpPr/>
          <p:nvPr/>
        </p:nvCxnSpPr>
        <p:spPr>
          <a:xfrm>
            <a:off x="413568" y="6668152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2" name="TextBox 61"/>
          <p:cNvSpPr txBox="1"/>
          <p:nvPr/>
        </p:nvSpPr>
        <p:spPr>
          <a:xfrm>
            <a:off x="648000" y="6778482"/>
            <a:ext cx="428472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Block Valve</a:t>
            </a:r>
          </a:p>
        </p:txBody>
      </p:sp>
      <p:sp>
        <p:nvSpPr>
          <p:cNvPr id="63" name="Freeform 62"/>
          <p:cNvSpPr/>
          <p:nvPr/>
        </p:nvSpPr>
        <p:spPr>
          <a:xfrm>
            <a:off x="17172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800000" y="6760672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 flipV="1">
            <a:off x="1800000" y="6668152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66" name="Freeform 65"/>
          <p:cNvSpPr/>
          <p:nvPr/>
        </p:nvSpPr>
        <p:spPr>
          <a:xfrm>
            <a:off x="1761120" y="6613720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80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Control Valve</a:t>
            </a:r>
          </a:p>
        </p:txBody>
      </p:sp>
      <p:sp>
        <p:nvSpPr>
          <p:cNvPr id="68" name="Oval 67"/>
          <p:cNvSpPr/>
          <p:nvPr/>
        </p:nvSpPr>
        <p:spPr>
          <a:xfrm>
            <a:off x="3067200" y="6760672"/>
            <a:ext cx="129600" cy="129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3067200" y="6760672"/>
            <a:ext cx="64800" cy="129600"/>
          </a:xfrm>
          <a:custGeom>
            <a:avLst/>
            <a:gdLst/>
            <a:ahLst/>
            <a:cxnLst/>
            <a:rect l="l" t="t" r="r" b="b"/>
            <a:pathLst>
              <a:path w="64800" h="129600">
                <a:moveTo>
                  <a:pt x="64800" y="64800"/>
                </a:moveTo>
                <a:lnTo>
                  <a:pt x="64800" y="129600"/>
                </a:lnTo>
                <a:lnTo>
                  <a:pt x="56342" y="129046"/>
                </a:lnTo>
                <a:lnTo>
                  <a:pt x="48029" y="127392"/>
                </a:lnTo>
                <a:lnTo>
                  <a:pt x="40002" y="124667"/>
                </a:lnTo>
                <a:lnTo>
                  <a:pt x="32400" y="120918"/>
                </a:lnTo>
                <a:lnTo>
                  <a:pt x="25352" y="116209"/>
                </a:lnTo>
                <a:lnTo>
                  <a:pt x="18979" y="110621"/>
                </a:lnTo>
                <a:lnTo>
                  <a:pt x="13391" y="104248"/>
                </a:lnTo>
                <a:lnTo>
                  <a:pt x="8682" y="97200"/>
                </a:lnTo>
                <a:lnTo>
                  <a:pt x="4933" y="89598"/>
                </a:lnTo>
                <a:lnTo>
                  <a:pt x="2208" y="81571"/>
                </a:lnTo>
                <a:lnTo>
                  <a:pt x="554" y="73258"/>
                </a:lnTo>
                <a:lnTo>
                  <a:pt x="0" y="64800"/>
                </a:lnTo>
                <a:lnTo>
                  <a:pt x="554" y="56342"/>
                </a:lnTo>
                <a:lnTo>
                  <a:pt x="2208" y="48029"/>
                </a:lnTo>
                <a:lnTo>
                  <a:pt x="4933" y="40002"/>
                </a:lnTo>
                <a:lnTo>
                  <a:pt x="8682" y="32400"/>
                </a:lnTo>
                <a:lnTo>
                  <a:pt x="13391" y="25352"/>
                </a:lnTo>
                <a:lnTo>
                  <a:pt x="18979" y="18979"/>
                </a:lnTo>
                <a:lnTo>
                  <a:pt x="25352" y="13391"/>
                </a:lnTo>
                <a:lnTo>
                  <a:pt x="32400" y="8682"/>
                </a:lnTo>
                <a:lnTo>
                  <a:pt x="40002" y="4933"/>
                </a:lnTo>
                <a:lnTo>
                  <a:pt x="48029" y="2208"/>
                </a:lnTo>
                <a:lnTo>
                  <a:pt x="56342" y="554"/>
                </a:lnTo>
                <a:lnTo>
                  <a:pt x="64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312000" y="6778482"/>
            <a:ext cx="748944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Process Input / Output</a:t>
            </a:r>
          </a:p>
        </p:txBody>
      </p:sp>
      <p:sp>
        <p:nvSpPr>
          <p:cNvPr id="71" name="Freeform 70"/>
          <p:cNvSpPr/>
          <p:nvPr/>
        </p:nvSpPr>
        <p:spPr>
          <a:xfrm>
            <a:off x="4377600" y="6739072"/>
            <a:ext cx="172800" cy="172800"/>
          </a:xfrm>
          <a:custGeom>
            <a:avLst/>
            <a:gdLst/>
            <a:ahLst/>
            <a:cxnLst/>
            <a:rect l="l" t="t" r="r" b="b"/>
            <a:pathLst>
              <a:path w="172800" h="172800">
                <a:moveTo>
                  <a:pt x="86400" y="0"/>
                </a:moveTo>
                <a:lnTo>
                  <a:pt x="172800" y="86400"/>
                </a:lnTo>
                <a:lnTo>
                  <a:pt x="86400" y="172800"/>
                </a:lnTo>
                <a:lnTo>
                  <a:pt x="0" y="864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56000" y="6756892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44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Stream Number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666400" y="6825472"/>
            <a:ext cx="259200" cy="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75" name="Connector 74"/>
          <p:cNvCxnSpPr/>
          <p:nvPr/>
        </p:nvCxnSpPr>
        <p:spPr>
          <a:xfrm>
            <a:off x="5796000" y="67174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5796000" y="6872272"/>
            <a:ext cx="0" cy="61200"/>
          </a:xfrm>
          <a:prstGeom prst="line">
            <a:avLst/>
          </a:prstGeom>
          <a:ln w="11520">
            <a:solidFill>
              <a:srgbClr val="000000"/>
            </a:solidFill>
          </a:ln>
          <a:effectLst/>
        </p:spPr>
      </p:cxnSp>
      <p:sp>
        <p:nvSpPr>
          <p:cNvPr id="77" name="TextBox 76"/>
          <p:cNvSpPr txBox="1"/>
          <p:nvPr/>
        </p:nvSpPr>
        <p:spPr>
          <a:xfrm>
            <a:off x="5976000" y="67784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Line Crossing</a:t>
            </a:r>
          </a:p>
        </p:txBody>
      </p:sp>
      <p:sp>
        <p:nvSpPr>
          <p:cNvPr id="78" name="Freeform 77"/>
          <p:cNvSpPr/>
          <p:nvPr/>
        </p:nvSpPr>
        <p:spPr>
          <a:xfrm>
            <a:off x="352800" y="7016272"/>
            <a:ext cx="230400" cy="151200"/>
          </a:xfrm>
          <a:custGeom>
            <a:avLst/>
            <a:gdLst/>
            <a:ahLst/>
            <a:cxnLst/>
            <a:rect l="l" t="t" r="r" b="b"/>
            <a:pathLst>
              <a:path w="230400" h="151200">
                <a:moveTo>
                  <a:pt x="0" y="18144"/>
                </a:moveTo>
                <a:lnTo>
                  <a:pt x="115200" y="0"/>
                </a:lnTo>
                <a:lnTo>
                  <a:pt x="230400" y="18144"/>
                </a:lnTo>
                <a:lnTo>
                  <a:pt x="230400" y="151200"/>
                </a:lnTo>
                <a:lnTo>
                  <a:pt x="0" y="1512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8000" y="7044882"/>
            <a:ext cx="457606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Storage Tank</a:t>
            </a:r>
          </a:p>
        </p:txBody>
      </p:sp>
      <p:sp>
        <p:nvSpPr>
          <p:cNvPr id="80" name="Oval 79"/>
          <p:cNvSpPr/>
          <p:nvPr/>
        </p:nvSpPr>
        <p:spPr>
          <a:xfrm>
            <a:off x="1740384" y="7010728"/>
            <a:ext cx="119232" cy="119232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1740384" y="7070344"/>
            <a:ext cx="59616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82" name="Connector 81"/>
          <p:cNvCxnSpPr/>
          <p:nvPr/>
        </p:nvCxnSpPr>
        <p:spPr>
          <a:xfrm flipH="1">
            <a:off x="173144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83" name="Connector 82"/>
          <p:cNvCxnSpPr/>
          <p:nvPr/>
        </p:nvCxnSpPr>
        <p:spPr>
          <a:xfrm>
            <a:off x="1836962" y="7116844"/>
            <a:ext cx="31596" cy="45905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84" name="Connector 83"/>
          <p:cNvCxnSpPr/>
          <p:nvPr/>
        </p:nvCxnSpPr>
        <p:spPr>
          <a:xfrm>
            <a:off x="1725480" y="7162749"/>
            <a:ext cx="14904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85" name="TextBox 84"/>
          <p:cNvSpPr txBox="1"/>
          <p:nvPr/>
        </p:nvSpPr>
        <p:spPr>
          <a:xfrm>
            <a:off x="1980000" y="7044882"/>
            <a:ext cx="574141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Centrifugal Pump</a:t>
            </a:r>
          </a:p>
        </p:txBody>
      </p:sp>
      <p:sp>
        <p:nvSpPr>
          <p:cNvPr id="86" name="Oval 85"/>
          <p:cNvSpPr/>
          <p:nvPr/>
        </p:nvSpPr>
        <p:spPr>
          <a:xfrm>
            <a:off x="3042000" y="7001872"/>
            <a:ext cx="180000" cy="1800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3090600" y="7045072"/>
            <a:ext cx="82800" cy="93600"/>
          </a:xfrm>
          <a:custGeom>
            <a:avLst/>
            <a:gdLst/>
            <a:ahLst/>
            <a:cxnLst/>
            <a:rect l="l" t="t" r="r" b="b"/>
            <a:pathLst>
              <a:path w="82800" h="93600">
                <a:moveTo>
                  <a:pt x="41400" y="0"/>
                </a:moveTo>
                <a:lnTo>
                  <a:pt x="82800" y="18720"/>
                </a:lnTo>
                <a:lnTo>
                  <a:pt x="0" y="46800"/>
                </a:lnTo>
                <a:lnTo>
                  <a:pt x="82800" y="74880"/>
                </a:lnTo>
                <a:lnTo>
                  <a:pt x="41400" y="93600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312000" y="7044882"/>
            <a:ext cx="51587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Heat Exchanger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6800" y="7016272"/>
            <a:ext cx="194400" cy="1512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V="1">
            <a:off x="4366800" y="7016272"/>
            <a:ext cx="194400" cy="1512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91" name="TextBox 90"/>
          <p:cNvSpPr txBox="1"/>
          <p:nvPr/>
        </p:nvSpPr>
        <p:spPr>
          <a:xfrm>
            <a:off x="4644000" y="7044882"/>
            <a:ext cx="282803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Filter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724000" y="6980272"/>
            <a:ext cx="144000" cy="223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976000" y="7044882"/>
            <a:ext cx="486739" cy="939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70" b="0" i="0">
                <a:solidFill>
                  <a:srgbClr val="000000"/>
                </a:solidFill>
                <a:latin typeface="Arial"/>
              </a:rPr>
              <a:t>Vessel / Drum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52000" y="5634000"/>
            <a:ext cx="6732000" cy="62280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24000" y="5691395"/>
            <a:ext cx="289102" cy="11684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1" i="0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4000" y="5787089"/>
            <a:ext cx="3148151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1. Flows in 1000 kg/h; temperatures in °C; pressures in kPa g. Design point of the simulator model.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4000" y="5879384"/>
            <a:ext cx="3117443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2. Stream 8: vent V-104, trap bypass V-103 and shell drain V-105, all closed at design (no flags).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4000" y="5971679"/>
            <a:ext cx="2319019" cy="990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90" b="0" i="0">
                <a:solidFill>
                  <a:srgbClr val="000000"/>
                </a:solidFill>
                <a:latin typeface="Arial"/>
              </a:rPr>
              <a:t>3. XV-100 is the SIS steam shut-off (FSLL-101, TSHH-108, PSHH-100, ESD).</a:t>
            </a:r>
          </a:p>
        </p:txBody>
      </p:sp>
      <p:sp>
        <p:nvSpPr>
          <p:cNvPr id="99" name="Freeform 98"/>
          <p:cNvSpPr/>
          <p:nvPr/>
        </p:nvSpPr>
        <p:spPr>
          <a:xfrm>
            <a:off x="684000" y="3782585"/>
            <a:ext cx="936000" cy="498830"/>
          </a:xfrm>
          <a:custGeom>
            <a:avLst/>
            <a:gdLst/>
            <a:ahLst/>
            <a:cxnLst/>
            <a:rect l="l" t="t" r="r" b="b"/>
            <a:pathLst>
              <a:path w="936000" h="498830">
                <a:moveTo>
                  <a:pt x="0" y="59859"/>
                </a:moveTo>
                <a:lnTo>
                  <a:pt x="468000" y="0"/>
                </a:lnTo>
                <a:lnTo>
                  <a:pt x="936000" y="59859"/>
                </a:lnTo>
                <a:lnTo>
                  <a:pt x="936000" y="498830"/>
                </a:lnTo>
                <a:lnTo>
                  <a:pt x="0" y="49883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102400" y="4575600"/>
            <a:ext cx="259200" cy="2592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2102400" y="470520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2" name="Connector 101"/>
          <p:cNvCxnSpPr/>
          <p:nvPr/>
        </p:nvCxnSpPr>
        <p:spPr>
          <a:xfrm flipH="1">
            <a:off x="2082960" y="480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3" name="Connector 102"/>
          <p:cNvCxnSpPr/>
          <p:nvPr/>
        </p:nvCxnSpPr>
        <p:spPr>
          <a:xfrm>
            <a:off x="2312352" y="4806288"/>
            <a:ext cx="68688" cy="9979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4" name="Connector 103"/>
          <p:cNvCxnSpPr/>
          <p:nvPr/>
        </p:nvCxnSpPr>
        <p:spPr>
          <a:xfrm>
            <a:off x="2070000" y="4906080"/>
            <a:ext cx="3240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5" name="Oval 104"/>
          <p:cNvSpPr/>
          <p:nvPr/>
        </p:nvSpPr>
        <p:spPr>
          <a:xfrm>
            <a:off x="5169600" y="3081600"/>
            <a:ext cx="1036800" cy="10368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5449536" y="3330432"/>
            <a:ext cx="476928" cy="539136"/>
          </a:xfrm>
          <a:custGeom>
            <a:avLst/>
            <a:gdLst/>
            <a:ahLst/>
            <a:cxnLst/>
            <a:rect l="l" t="t" r="r" b="b"/>
            <a:pathLst>
              <a:path w="476928" h="539136">
                <a:moveTo>
                  <a:pt x="238464" y="0"/>
                </a:moveTo>
                <a:lnTo>
                  <a:pt x="476928" y="107827"/>
                </a:lnTo>
                <a:lnTo>
                  <a:pt x="0" y="269568"/>
                </a:lnTo>
                <a:lnTo>
                  <a:pt x="476928" y="431309"/>
                </a:lnTo>
                <a:lnTo>
                  <a:pt x="238464" y="539136"/>
                </a:lnTo>
              </a:path>
            </a:pathLst>
          </a:custGeom>
          <a:noFill/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5688000" y="3081600"/>
            <a:ext cx="0" cy="24883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108" name="Connector 107"/>
          <p:cNvCxnSpPr/>
          <p:nvPr/>
        </p:nvCxnSpPr>
        <p:spPr>
          <a:xfrm flipV="1">
            <a:off x="5688000" y="3869568"/>
            <a:ext cx="0" cy="24883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09" name="Rectangle 108"/>
          <p:cNvSpPr/>
          <p:nvPr/>
        </p:nvSpPr>
        <p:spPr>
          <a:xfrm>
            <a:off x="7223760" y="4485240"/>
            <a:ext cx="312480" cy="245520"/>
          </a:xfrm>
          <a:prstGeom prst="rect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0" name="Connector 109"/>
          <p:cNvCxnSpPr/>
          <p:nvPr/>
        </p:nvCxnSpPr>
        <p:spPr>
          <a:xfrm flipV="1">
            <a:off x="7223760" y="4485240"/>
            <a:ext cx="312480" cy="2455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1" name="Rounded Rectangle 110"/>
          <p:cNvSpPr/>
          <p:nvPr/>
        </p:nvSpPr>
        <p:spPr>
          <a:xfrm>
            <a:off x="8085240" y="4340160"/>
            <a:ext cx="245520" cy="5356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 flipV="1">
            <a:off x="8106840" y="4597286"/>
            <a:ext cx="202320" cy="64282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13" name="Oval 112"/>
          <p:cNvSpPr/>
          <p:nvPr/>
        </p:nvSpPr>
        <p:spPr>
          <a:xfrm>
            <a:off x="457200" y="164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57200" y="164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069200" y="351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0069200" y="351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069200" y="2149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10069200" y="2149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069200" y="4525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0069200" y="4525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605200" y="751077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605200" y="751077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1"/>
                </a:lnTo>
                <a:lnTo>
                  <a:pt x="61370" y="162778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89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7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4"/>
                </a:lnTo>
                <a:lnTo>
                  <a:pt x="24252" y="24251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6757200" y="751077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6757200" y="751077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1"/>
                </a:lnTo>
                <a:lnTo>
                  <a:pt x="61370" y="162778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89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7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4"/>
                </a:lnTo>
                <a:lnTo>
                  <a:pt x="24252" y="24251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4957200" y="5227200"/>
            <a:ext cx="165600" cy="165600"/>
          </a:xfrm>
          <a:prstGeom prst="ellipse">
            <a:avLst/>
          </a:pr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957200" y="5227200"/>
            <a:ext cx="82800" cy="165600"/>
          </a:xfrm>
          <a:custGeom>
            <a:avLst/>
            <a:gdLst/>
            <a:ahLst/>
            <a:cxnLst/>
            <a:rect l="l" t="t" r="r" b="b"/>
            <a:pathLst>
              <a:path w="82800" h="165600">
                <a:moveTo>
                  <a:pt x="82800" y="82800"/>
                </a:moveTo>
                <a:lnTo>
                  <a:pt x="82800" y="165600"/>
                </a:lnTo>
                <a:lnTo>
                  <a:pt x="71992" y="164892"/>
                </a:lnTo>
                <a:lnTo>
                  <a:pt x="61370" y="162779"/>
                </a:lnTo>
                <a:lnTo>
                  <a:pt x="51114" y="159297"/>
                </a:lnTo>
                <a:lnTo>
                  <a:pt x="41400" y="154507"/>
                </a:lnTo>
                <a:lnTo>
                  <a:pt x="32395" y="148490"/>
                </a:lnTo>
                <a:lnTo>
                  <a:pt x="24252" y="141348"/>
                </a:lnTo>
                <a:lnTo>
                  <a:pt x="17110" y="133205"/>
                </a:lnTo>
                <a:lnTo>
                  <a:pt x="11093" y="124200"/>
                </a:lnTo>
                <a:lnTo>
                  <a:pt x="6303" y="114486"/>
                </a:lnTo>
                <a:lnTo>
                  <a:pt x="2821" y="104230"/>
                </a:lnTo>
                <a:lnTo>
                  <a:pt x="708" y="93608"/>
                </a:lnTo>
                <a:lnTo>
                  <a:pt x="0" y="82800"/>
                </a:lnTo>
                <a:lnTo>
                  <a:pt x="708" y="71992"/>
                </a:lnTo>
                <a:lnTo>
                  <a:pt x="2821" y="61370"/>
                </a:lnTo>
                <a:lnTo>
                  <a:pt x="6303" y="51114"/>
                </a:lnTo>
                <a:lnTo>
                  <a:pt x="11093" y="41400"/>
                </a:lnTo>
                <a:lnTo>
                  <a:pt x="17110" y="32395"/>
                </a:lnTo>
                <a:lnTo>
                  <a:pt x="24252" y="24252"/>
                </a:lnTo>
                <a:lnTo>
                  <a:pt x="32395" y="17110"/>
                </a:lnTo>
                <a:lnTo>
                  <a:pt x="41400" y="11093"/>
                </a:lnTo>
                <a:lnTo>
                  <a:pt x="51114" y="6303"/>
                </a:lnTo>
                <a:lnTo>
                  <a:pt x="61370" y="2821"/>
                </a:lnTo>
                <a:lnTo>
                  <a:pt x="71992" y="708"/>
                </a:lnTo>
                <a:lnTo>
                  <a:pt x="82800" y="0"/>
                </a:lnTo>
                <a:close/>
              </a:path>
            </a:pathLst>
          </a:cu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3573000" y="170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853000" y="4725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6813000" y="458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8757000" y="4581000"/>
            <a:ext cx="54000" cy="54000"/>
          </a:xfrm>
          <a:prstGeom prst="ellipse">
            <a:avLst/>
          </a:prstGeom>
          <a:solidFill>
            <a:srgbClr val="000000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620000" y="4206591"/>
            <a:ext cx="482400" cy="498609"/>
          </a:xfrm>
          <a:custGeom>
            <a:avLst/>
            <a:gdLst/>
            <a:ahLst/>
            <a:cxnLst/>
            <a:rect l="l" t="t" r="r" b="b"/>
            <a:pathLst>
              <a:path w="482400" h="498609">
                <a:moveTo>
                  <a:pt x="0" y="0"/>
                </a:moveTo>
                <a:lnTo>
                  <a:pt x="252000" y="0"/>
                </a:lnTo>
                <a:lnTo>
                  <a:pt x="252000" y="498609"/>
                </a:lnTo>
                <a:lnTo>
                  <a:pt x="482400" y="498609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2008800" y="46720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1771200" y="4344295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764000" y="4376515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1872000" y="4297944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36" name="Freeform 135"/>
          <p:cNvSpPr/>
          <p:nvPr/>
        </p:nvSpPr>
        <p:spPr>
          <a:xfrm>
            <a:off x="1983600" y="4157544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015786" y="4171864"/>
            <a:ext cx="281228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110.5</a:t>
            </a:r>
          </a:p>
        </p:txBody>
      </p:sp>
      <p:sp>
        <p:nvSpPr>
          <p:cNvPr id="138" name="Freeform 137"/>
          <p:cNvSpPr/>
          <p:nvPr/>
        </p:nvSpPr>
        <p:spPr>
          <a:xfrm>
            <a:off x="2001600" y="4297944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048400" y="4312264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140" name="Freeform 139"/>
          <p:cNvSpPr/>
          <p:nvPr/>
        </p:nvSpPr>
        <p:spPr>
          <a:xfrm>
            <a:off x="2361600" y="4705200"/>
            <a:ext cx="518400" cy="46800"/>
          </a:xfrm>
          <a:custGeom>
            <a:avLst/>
            <a:gdLst/>
            <a:ahLst/>
            <a:cxnLst/>
            <a:rect l="l" t="t" r="r" b="b"/>
            <a:pathLst>
              <a:path w="518400" h="46800">
                <a:moveTo>
                  <a:pt x="0" y="0"/>
                </a:moveTo>
                <a:lnTo>
                  <a:pt x="230400" y="0"/>
                </a:lnTo>
                <a:lnTo>
                  <a:pt x="230400" y="46800"/>
                </a:lnTo>
                <a:lnTo>
                  <a:pt x="518400" y="4680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1152000" y="3528000"/>
            <a:ext cx="1728000" cy="1224000"/>
          </a:xfrm>
          <a:custGeom>
            <a:avLst/>
            <a:gdLst/>
            <a:ahLst/>
            <a:cxnLst/>
            <a:rect l="l" t="t" r="r" b="b"/>
            <a:pathLst>
              <a:path w="1728000" h="1224000">
                <a:moveTo>
                  <a:pt x="1728000" y="1224000"/>
                </a:moveTo>
                <a:lnTo>
                  <a:pt x="1728000" y="0"/>
                </a:lnTo>
                <a:lnTo>
                  <a:pt x="0" y="0"/>
                </a:lnTo>
                <a:lnTo>
                  <a:pt x="0" y="254585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1118880" y="3688985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2033117" y="34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2115917" y="34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 flipV="1">
            <a:off x="2115917" y="337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46" name="Freeform 145"/>
          <p:cNvSpPr/>
          <p:nvPr/>
        </p:nvSpPr>
        <p:spPr>
          <a:xfrm>
            <a:off x="2077037" y="331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2399908" y="34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392708" y="34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2880000" y="3629695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50" name="Freeform 149"/>
          <p:cNvSpPr/>
          <p:nvPr/>
        </p:nvSpPr>
        <p:spPr>
          <a:xfrm>
            <a:off x="2991600" y="3419095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3041109" y="3433415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10.7</a:t>
            </a:r>
          </a:p>
        </p:txBody>
      </p:sp>
      <p:sp>
        <p:nvSpPr>
          <p:cNvPr id="152" name="Freeform 151"/>
          <p:cNvSpPr/>
          <p:nvPr/>
        </p:nvSpPr>
        <p:spPr>
          <a:xfrm>
            <a:off x="3009600" y="355949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056400" y="3573815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154" name="Freeform 153"/>
          <p:cNvSpPr/>
          <p:nvPr/>
        </p:nvSpPr>
        <p:spPr>
          <a:xfrm>
            <a:off x="3009600" y="3699895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056400" y="3714215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662</a:t>
            </a:r>
          </a:p>
        </p:txBody>
      </p:sp>
      <p:sp>
        <p:nvSpPr>
          <p:cNvPr id="156" name="Freeform 155"/>
          <p:cNvSpPr/>
          <p:nvPr/>
        </p:nvSpPr>
        <p:spPr>
          <a:xfrm>
            <a:off x="2880000" y="3600000"/>
            <a:ext cx="2289600" cy="1152000"/>
          </a:xfrm>
          <a:custGeom>
            <a:avLst/>
            <a:gdLst/>
            <a:ahLst/>
            <a:cxnLst/>
            <a:rect l="l" t="t" r="r" b="b"/>
            <a:pathLst>
              <a:path w="2289600" h="1152000">
                <a:moveTo>
                  <a:pt x="0" y="1152000"/>
                </a:moveTo>
                <a:lnTo>
                  <a:pt x="1152000" y="1152000"/>
                </a:lnTo>
                <a:lnTo>
                  <a:pt x="1152000" y="0"/>
                </a:lnTo>
                <a:lnTo>
                  <a:pt x="22896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5076000" y="356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3829680" y="468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912480" y="468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0" name="Connector 159"/>
          <p:cNvCxnSpPr/>
          <p:nvPr/>
        </p:nvCxnSpPr>
        <p:spPr>
          <a:xfrm flipV="1">
            <a:off x="3912480" y="459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1" name="Freeform 160"/>
          <p:cNvSpPr/>
          <p:nvPr/>
        </p:nvSpPr>
        <p:spPr>
          <a:xfrm>
            <a:off x="3873600" y="4540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3931200" y="40824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924000" y="41146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4032000" y="4699440"/>
            <a:ext cx="12960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65" name="Freeform 164"/>
          <p:cNvSpPr/>
          <p:nvPr/>
        </p:nvSpPr>
        <p:spPr>
          <a:xfrm>
            <a:off x="4143600" y="448884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193109" y="450316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99.8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4161600" y="46292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208400" y="46435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  <p:sp>
        <p:nvSpPr>
          <p:cNvPr id="169" name="Freeform 168"/>
          <p:cNvSpPr/>
          <p:nvPr/>
        </p:nvSpPr>
        <p:spPr>
          <a:xfrm>
            <a:off x="4161600" y="476964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4208400" y="478396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662</a:t>
            </a:r>
          </a:p>
        </p:txBody>
      </p:sp>
      <p:sp>
        <p:nvSpPr>
          <p:cNvPr id="171" name="Freeform 170"/>
          <p:cNvSpPr/>
          <p:nvPr/>
        </p:nvSpPr>
        <p:spPr>
          <a:xfrm>
            <a:off x="6206400" y="3600000"/>
            <a:ext cx="3862800" cy="0"/>
          </a:xfrm>
          <a:custGeom>
            <a:avLst/>
            <a:gdLst/>
            <a:ahLst/>
            <a:cxnLst/>
            <a:rect l="l" t="t" r="r" b="b"/>
            <a:pathLst>
              <a:path w="3862800" h="0">
                <a:moveTo>
                  <a:pt x="0" y="0"/>
                </a:moveTo>
                <a:lnTo>
                  <a:pt x="3862800" y="0"/>
                </a:lnTo>
              </a:path>
            </a:pathLst>
          </a:custGeom>
          <a:noFill/>
          <a:ln w="1152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9975600" y="3566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8037000" y="3499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029800" y="3531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175" name="Connector 174"/>
          <p:cNvCxnSpPr/>
          <p:nvPr/>
        </p:nvCxnSpPr>
        <p:spPr>
          <a:xfrm flipV="1">
            <a:off x="7558380" y="3470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76" name="Freeform 175"/>
          <p:cNvSpPr/>
          <p:nvPr/>
        </p:nvSpPr>
        <p:spPr>
          <a:xfrm>
            <a:off x="7385580" y="3049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435089" y="3063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99.8</a:t>
            </a:r>
          </a:p>
        </p:txBody>
      </p:sp>
      <p:sp>
        <p:nvSpPr>
          <p:cNvPr id="178" name="Freeform 177"/>
          <p:cNvSpPr/>
          <p:nvPr/>
        </p:nvSpPr>
        <p:spPr>
          <a:xfrm>
            <a:off x="7403580" y="3189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50380" y="3203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70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7403580" y="3330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450380" y="3344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602</a:t>
            </a:r>
          </a:p>
        </p:txBody>
      </p:sp>
      <p:sp>
        <p:nvSpPr>
          <p:cNvPr id="182" name="Freeform 181"/>
          <p:cNvSpPr/>
          <p:nvPr/>
        </p:nvSpPr>
        <p:spPr>
          <a:xfrm>
            <a:off x="622800" y="1728000"/>
            <a:ext cx="2977200" cy="0"/>
          </a:xfrm>
          <a:custGeom>
            <a:avLst/>
            <a:gdLst/>
            <a:ahLst/>
            <a:cxnLst/>
            <a:rect l="l" t="t" r="r" b="b"/>
            <a:pathLst>
              <a:path w="2977200" h="0">
                <a:moveTo>
                  <a:pt x="0" y="0"/>
                </a:moveTo>
                <a:lnTo>
                  <a:pt x="29772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Freeform 182"/>
          <p:cNvSpPr/>
          <p:nvPr/>
        </p:nvSpPr>
        <p:spPr>
          <a:xfrm>
            <a:off x="2326320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Freeform 183"/>
          <p:cNvSpPr/>
          <p:nvPr/>
        </p:nvSpPr>
        <p:spPr>
          <a:xfrm>
            <a:off x="2409120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2409120" y="157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86" name="Freeform 185"/>
          <p:cNvSpPr/>
          <p:nvPr/>
        </p:nvSpPr>
        <p:spPr>
          <a:xfrm>
            <a:off x="2370240" y="151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Freeform 186"/>
          <p:cNvSpPr/>
          <p:nvPr/>
        </p:nvSpPr>
        <p:spPr>
          <a:xfrm>
            <a:off x="1474704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467504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cxnSp>
        <p:nvCxnSpPr>
          <p:cNvPr id="189" name="Connector 188"/>
          <p:cNvCxnSpPr/>
          <p:nvPr/>
        </p:nvCxnSpPr>
        <p:spPr>
          <a:xfrm flipV="1">
            <a:off x="1664820" y="159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190" name="Freeform 189"/>
          <p:cNvSpPr/>
          <p:nvPr/>
        </p:nvSpPr>
        <p:spPr>
          <a:xfrm>
            <a:off x="1492020" y="1177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541529" y="119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9.94</a:t>
            </a:r>
          </a:p>
        </p:txBody>
      </p:sp>
      <p:sp>
        <p:nvSpPr>
          <p:cNvPr id="192" name="Freeform 191"/>
          <p:cNvSpPr/>
          <p:nvPr/>
        </p:nvSpPr>
        <p:spPr>
          <a:xfrm>
            <a:off x="1510020" y="131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556820" y="1331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133</a:t>
            </a:r>
          </a:p>
        </p:txBody>
      </p:sp>
      <p:sp>
        <p:nvSpPr>
          <p:cNvPr id="194" name="Freeform 193"/>
          <p:cNvSpPr/>
          <p:nvPr/>
        </p:nvSpPr>
        <p:spPr>
          <a:xfrm>
            <a:off x="1510020" y="145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556820" y="1472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195</a:t>
            </a:r>
          </a:p>
        </p:txBody>
      </p:sp>
      <p:sp>
        <p:nvSpPr>
          <p:cNvPr id="196" name="Freeform 195"/>
          <p:cNvSpPr/>
          <p:nvPr/>
        </p:nvSpPr>
        <p:spPr>
          <a:xfrm>
            <a:off x="3600000" y="1728000"/>
            <a:ext cx="1917965" cy="1382279"/>
          </a:xfrm>
          <a:custGeom>
            <a:avLst/>
            <a:gdLst/>
            <a:ahLst/>
            <a:cxnLst/>
            <a:rect l="l" t="t" r="r" b="b"/>
            <a:pathLst>
              <a:path w="1917965" h="1382279">
                <a:moveTo>
                  <a:pt x="0" y="0"/>
                </a:moveTo>
                <a:lnTo>
                  <a:pt x="1917965" y="0"/>
                </a:lnTo>
                <a:lnTo>
                  <a:pt x="1917965" y="1382279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5484845" y="3016679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Freeform 197"/>
          <p:cNvSpPr/>
          <p:nvPr/>
        </p:nvSpPr>
        <p:spPr>
          <a:xfrm>
            <a:off x="4507273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Freeform 198"/>
          <p:cNvSpPr/>
          <p:nvPr/>
        </p:nvSpPr>
        <p:spPr>
          <a:xfrm>
            <a:off x="4590073" y="1663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0" name="Connector 199"/>
          <p:cNvCxnSpPr/>
          <p:nvPr/>
        </p:nvCxnSpPr>
        <p:spPr>
          <a:xfrm flipV="1">
            <a:off x="4590073" y="1570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1" name="Freeform 200"/>
          <p:cNvSpPr/>
          <p:nvPr/>
        </p:nvSpPr>
        <p:spPr>
          <a:xfrm>
            <a:off x="4551193" y="1516248"/>
            <a:ext cx="77760" cy="54432"/>
          </a:xfrm>
          <a:custGeom>
            <a:avLst/>
            <a:gdLst/>
            <a:ahLst/>
            <a:cxnLst/>
            <a:rect l="l" t="t" r="r" b="b"/>
            <a:pathLst>
              <a:path w="77760" h="54432">
                <a:moveTo>
                  <a:pt x="0" y="54432"/>
                </a:moveTo>
                <a:lnTo>
                  <a:pt x="77760" y="54432"/>
                </a:lnTo>
                <a:lnTo>
                  <a:pt x="64800" y="0"/>
                </a:lnTo>
                <a:lnTo>
                  <a:pt x="1296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Freeform 201"/>
          <p:cNvSpPr/>
          <p:nvPr/>
        </p:nvSpPr>
        <p:spPr>
          <a:xfrm>
            <a:off x="5149322" y="162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5142122" y="165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204" name="Connector 203"/>
          <p:cNvCxnSpPr/>
          <p:nvPr/>
        </p:nvCxnSpPr>
        <p:spPr>
          <a:xfrm flipV="1">
            <a:off x="4755085" y="159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05" name="Freeform 204"/>
          <p:cNvSpPr/>
          <p:nvPr/>
        </p:nvSpPr>
        <p:spPr>
          <a:xfrm>
            <a:off x="4582285" y="1177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631794" y="119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9.94</a:t>
            </a:r>
          </a:p>
        </p:txBody>
      </p:sp>
      <p:sp>
        <p:nvSpPr>
          <p:cNvPr id="207" name="Freeform 206"/>
          <p:cNvSpPr/>
          <p:nvPr/>
        </p:nvSpPr>
        <p:spPr>
          <a:xfrm>
            <a:off x="4600285" y="131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4647085" y="1331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121</a:t>
            </a:r>
          </a:p>
        </p:txBody>
      </p:sp>
      <p:sp>
        <p:nvSpPr>
          <p:cNvPr id="209" name="Freeform 208"/>
          <p:cNvSpPr/>
          <p:nvPr/>
        </p:nvSpPr>
        <p:spPr>
          <a:xfrm>
            <a:off x="4600285" y="145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647085" y="1472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105</a:t>
            </a:r>
          </a:p>
        </p:txBody>
      </p:sp>
      <p:sp>
        <p:nvSpPr>
          <p:cNvPr id="211" name="Freeform 210"/>
          <p:cNvSpPr/>
          <p:nvPr/>
        </p:nvSpPr>
        <p:spPr>
          <a:xfrm>
            <a:off x="5688000" y="916677"/>
            <a:ext cx="0" cy="2164923"/>
          </a:xfrm>
          <a:custGeom>
            <a:avLst/>
            <a:gdLst/>
            <a:ahLst/>
            <a:cxnLst/>
            <a:rect l="l" t="t" r="r" b="b"/>
            <a:pathLst>
              <a:path w="0" h="2164923">
                <a:moveTo>
                  <a:pt x="0" y="2164923"/>
                </a:moveTo>
                <a:lnTo>
                  <a:pt x="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Freeform 211"/>
          <p:cNvSpPr/>
          <p:nvPr/>
        </p:nvSpPr>
        <p:spPr>
          <a:xfrm>
            <a:off x="5654880" y="916677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0"/>
                </a:moveTo>
                <a:lnTo>
                  <a:pt x="66240" y="93600"/>
                </a:lnTo>
                <a:lnTo>
                  <a:pt x="0" y="9360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Freeform 212"/>
          <p:cNvSpPr/>
          <p:nvPr/>
        </p:nvSpPr>
        <p:spPr>
          <a:xfrm>
            <a:off x="5623200" y="1375108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0"/>
                </a:moveTo>
                <a:lnTo>
                  <a:pt x="129600" y="0"/>
                </a:lnTo>
                <a:lnTo>
                  <a:pt x="64800" y="82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Freeform 213"/>
          <p:cNvSpPr/>
          <p:nvPr/>
        </p:nvSpPr>
        <p:spPr>
          <a:xfrm>
            <a:off x="5623200" y="1457908"/>
            <a:ext cx="129600" cy="82800"/>
          </a:xfrm>
          <a:custGeom>
            <a:avLst/>
            <a:gdLst/>
            <a:ahLst/>
            <a:cxnLst/>
            <a:rect l="l" t="t" r="r" b="b"/>
            <a:pathLst>
              <a:path w="129600" h="82800">
                <a:moveTo>
                  <a:pt x="0" y="82800"/>
                </a:moveTo>
                <a:lnTo>
                  <a:pt x="129600" y="82800"/>
                </a:lnTo>
                <a:lnTo>
                  <a:pt x="64800" y="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5" name="Connector 214"/>
          <p:cNvCxnSpPr/>
          <p:nvPr/>
        </p:nvCxnSpPr>
        <p:spPr>
          <a:xfrm>
            <a:off x="5688000" y="1457908"/>
            <a:ext cx="157320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16" name="Connector 215"/>
          <p:cNvCxnSpPr/>
          <p:nvPr/>
        </p:nvCxnSpPr>
        <p:spPr>
          <a:xfrm>
            <a:off x="5845320" y="1403476"/>
            <a:ext cx="0" cy="108864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17" name="Freeform 216"/>
          <p:cNvSpPr/>
          <p:nvPr/>
        </p:nvSpPr>
        <p:spPr>
          <a:xfrm>
            <a:off x="5858035" y="916677"/>
            <a:ext cx="981965" cy="2193602"/>
          </a:xfrm>
          <a:custGeom>
            <a:avLst/>
            <a:gdLst/>
            <a:ahLst/>
            <a:cxnLst/>
            <a:rect l="l" t="t" r="r" b="b"/>
            <a:pathLst>
              <a:path w="981965" h="2193602">
                <a:moveTo>
                  <a:pt x="981965" y="0"/>
                </a:moveTo>
                <a:lnTo>
                  <a:pt x="981965" y="1099323"/>
                </a:lnTo>
                <a:lnTo>
                  <a:pt x="0" y="1099323"/>
                </a:lnTo>
                <a:lnTo>
                  <a:pt x="0" y="2193602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Freeform 217"/>
          <p:cNvSpPr/>
          <p:nvPr/>
        </p:nvSpPr>
        <p:spPr>
          <a:xfrm>
            <a:off x="5824915" y="3016679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Freeform 218"/>
          <p:cNvSpPr/>
          <p:nvPr/>
        </p:nvSpPr>
        <p:spPr>
          <a:xfrm>
            <a:off x="6427518" y="195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Freeform 219"/>
          <p:cNvSpPr/>
          <p:nvPr/>
        </p:nvSpPr>
        <p:spPr>
          <a:xfrm>
            <a:off x="6510318" y="1951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1" name="Connector 220"/>
          <p:cNvCxnSpPr/>
          <p:nvPr/>
        </p:nvCxnSpPr>
        <p:spPr>
          <a:xfrm flipV="1">
            <a:off x="6510318" y="1858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22" name="Connector 221"/>
          <p:cNvCxnSpPr/>
          <p:nvPr/>
        </p:nvCxnSpPr>
        <p:spPr>
          <a:xfrm>
            <a:off x="6455886" y="1858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3" name="Freeform 222"/>
          <p:cNvSpPr/>
          <p:nvPr/>
        </p:nvSpPr>
        <p:spPr>
          <a:xfrm>
            <a:off x="6028070" y="2232000"/>
            <a:ext cx="4041130" cy="976732"/>
          </a:xfrm>
          <a:custGeom>
            <a:avLst/>
            <a:gdLst/>
            <a:ahLst/>
            <a:cxnLst/>
            <a:rect l="l" t="t" r="r" b="b"/>
            <a:pathLst>
              <a:path w="4041130" h="976732">
                <a:moveTo>
                  <a:pt x="0" y="976732"/>
                </a:moveTo>
                <a:lnTo>
                  <a:pt x="0" y="0"/>
                </a:lnTo>
                <a:lnTo>
                  <a:pt x="404113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Freeform 223"/>
          <p:cNvSpPr/>
          <p:nvPr/>
        </p:nvSpPr>
        <p:spPr>
          <a:xfrm>
            <a:off x="9975600" y="2198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Freeform 224"/>
          <p:cNvSpPr/>
          <p:nvPr/>
        </p:nvSpPr>
        <p:spPr>
          <a:xfrm>
            <a:off x="7477469" y="21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Freeform 225"/>
          <p:cNvSpPr/>
          <p:nvPr/>
        </p:nvSpPr>
        <p:spPr>
          <a:xfrm>
            <a:off x="7560269" y="216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 flipV="1">
            <a:off x="7560269" y="207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28" name="Connector 227"/>
          <p:cNvCxnSpPr/>
          <p:nvPr/>
        </p:nvCxnSpPr>
        <p:spPr>
          <a:xfrm>
            <a:off x="7505837" y="2074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29" name="Freeform 228"/>
          <p:cNvSpPr/>
          <p:nvPr/>
        </p:nvSpPr>
        <p:spPr>
          <a:xfrm>
            <a:off x="6556254" y="2131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6549054" y="2163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31" name="Freeform 230"/>
          <p:cNvSpPr/>
          <p:nvPr/>
        </p:nvSpPr>
        <p:spPr>
          <a:xfrm>
            <a:off x="5858035" y="4089721"/>
            <a:ext cx="981965" cy="518279"/>
          </a:xfrm>
          <a:custGeom>
            <a:avLst/>
            <a:gdLst/>
            <a:ahLst/>
            <a:cxnLst/>
            <a:rect l="l" t="t" r="r" b="b"/>
            <a:pathLst>
              <a:path w="981965" h="518279">
                <a:moveTo>
                  <a:pt x="0" y="0"/>
                </a:moveTo>
                <a:lnTo>
                  <a:pt x="0" y="518279"/>
                </a:lnTo>
                <a:lnTo>
                  <a:pt x="981965" y="518279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Freeform 231"/>
          <p:cNvSpPr/>
          <p:nvPr/>
        </p:nvSpPr>
        <p:spPr>
          <a:xfrm>
            <a:off x="6840000" y="4608000"/>
            <a:ext cx="383760" cy="0"/>
          </a:xfrm>
          <a:custGeom>
            <a:avLst/>
            <a:gdLst/>
            <a:ahLst/>
            <a:cxnLst/>
            <a:rect l="l" t="t" r="r" b="b"/>
            <a:pathLst>
              <a:path w="383760" h="0">
                <a:moveTo>
                  <a:pt x="0" y="0"/>
                </a:moveTo>
                <a:lnTo>
                  <a:pt x="38376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Freeform 232"/>
          <p:cNvSpPr/>
          <p:nvPr/>
        </p:nvSpPr>
        <p:spPr>
          <a:xfrm>
            <a:off x="7130160" y="457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Freeform 233"/>
          <p:cNvSpPr/>
          <p:nvPr/>
        </p:nvSpPr>
        <p:spPr>
          <a:xfrm>
            <a:off x="7536240" y="4608000"/>
            <a:ext cx="549000" cy="0"/>
          </a:xfrm>
          <a:custGeom>
            <a:avLst/>
            <a:gdLst/>
            <a:ahLst/>
            <a:cxnLst/>
            <a:rect l="l" t="t" r="r" b="b"/>
            <a:pathLst>
              <a:path w="549000" h="0">
                <a:moveTo>
                  <a:pt x="0" y="0"/>
                </a:moveTo>
                <a:lnTo>
                  <a:pt x="549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Freeform 234"/>
          <p:cNvSpPr/>
          <p:nvPr/>
        </p:nvSpPr>
        <p:spPr>
          <a:xfrm>
            <a:off x="7991640" y="457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Freeform 235"/>
          <p:cNvSpPr/>
          <p:nvPr/>
        </p:nvSpPr>
        <p:spPr>
          <a:xfrm>
            <a:off x="8330760" y="4608000"/>
            <a:ext cx="453240" cy="0"/>
          </a:xfrm>
          <a:custGeom>
            <a:avLst/>
            <a:gdLst/>
            <a:ahLst/>
            <a:cxnLst/>
            <a:rect l="l" t="t" r="r" b="b"/>
            <a:pathLst>
              <a:path w="453240" h="0">
                <a:moveTo>
                  <a:pt x="0" y="0"/>
                </a:moveTo>
                <a:lnTo>
                  <a:pt x="45324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Freeform 236"/>
          <p:cNvSpPr/>
          <p:nvPr/>
        </p:nvSpPr>
        <p:spPr>
          <a:xfrm>
            <a:off x="6840000" y="4608000"/>
            <a:ext cx="1944000" cy="504000"/>
          </a:xfrm>
          <a:custGeom>
            <a:avLst/>
            <a:gdLst/>
            <a:ahLst/>
            <a:cxnLst/>
            <a:rect l="l" t="t" r="r" b="b"/>
            <a:pathLst>
              <a:path w="1944000" h="504000">
                <a:moveTo>
                  <a:pt x="0" y="0"/>
                </a:moveTo>
                <a:lnTo>
                  <a:pt x="0" y="504000"/>
                </a:lnTo>
                <a:lnTo>
                  <a:pt x="1944000" y="504000"/>
                </a:lnTo>
                <a:lnTo>
                  <a:pt x="19440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Freeform 237"/>
          <p:cNvSpPr/>
          <p:nvPr/>
        </p:nvSpPr>
        <p:spPr>
          <a:xfrm>
            <a:off x="7729200" y="504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Freeform 238"/>
          <p:cNvSpPr/>
          <p:nvPr/>
        </p:nvSpPr>
        <p:spPr>
          <a:xfrm>
            <a:off x="7812000" y="5047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 flipV="1">
            <a:off x="7812000" y="4954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41" name="Connector 240"/>
          <p:cNvCxnSpPr/>
          <p:nvPr/>
        </p:nvCxnSpPr>
        <p:spPr>
          <a:xfrm>
            <a:off x="7757568" y="4954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2" name="Freeform 241"/>
          <p:cNvSpPr/>
          <p:nvPr/>
        </p:nvSpPr>
        <p:spPr>
          <a:xfrm>
            <a:off x="8784000" y="4608000"/>
            <a:ext cx="1285200" cy="0"/>
          </a:xfrm>
          <a:custGeom>
            <a:avLst/>
            <a:gdLst/>
            <a:ahLst/>
            <a:cxnLst/>
            <a:rect l="l" t="t" r="r" b="b"/>
            <a:pathLst>
              <a:path w="1285200" h="0">
                <a:moveTo>
                  <a:pt x="0" y="0"/>
                </a:moveTo>
                <a:lnTo>
                  <a:pt x="1285200" y="0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Freeform 242"/>
          <p:cNvSpPr/>
          <p:nvPr/>
        </p:nvSpPr>
        <p:spPr>
          <a:xfrm>
            <a:off x="9975600" y="4574880"/>
            <a:ext cx="93600" cy="66240"/>
          </a:xfrm>
          <a:custGeom>
            <a:avLst/>
            <a:gdLst/>
            <a:ahLst/>
            <a:cxnLst/>
            <a:rect l="l" t="t" r="r" b="b"/>
            <a:pathLst>
              <a:path w="93600" h="66240">
                <a:moveTo>
                  <a:pt x="93600" y="33120"/>
                </a:moveTo>
                <a:lnTo>
                  <a:pt x="0" y="6624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Freeform 243"/>
          <p:cNvSpPr/>
          <p:nvPr/>
        </p:nvSpPr>
        <p:spPr>
          <a:xfrm>
            <a:off x="9325800" y="4507200"/>
            <a:ext cx="201600" cy="201600"/>
          </a:xfrm>
          <a:custGeom>
            <a:avLst/>
            <a:gdLst/>
            <a:ahLst/>
            <a:cxnLst/>
            <a:rect l="l" t="t" r="r" b="b"/>
            <a:pathLst>
              <a:path w="201600" h="201600">
                <a:moveTo>
                  <a:pt x="100800" y="0"/>
                </a:moveTo>
                <a:lnTo>
                  <a:pt x="201600" y="100800"/>
                </a:lnTo>
                <a:lnTo>
                  <a:pt x="100800" y="201600"/>
                </a:lnTo>
                <a:lnTo>
                  <a:pt x="0" y="100800"/>
                </a:lnTo>
                <a:close/>
              </a:path>
            </a:pathLst>
          </a:custGeom>
          <a:solidFill>
            <a:srgbClr val="FFFFFF"/>
          </a:solidFill>
          <a:ln w="90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318600" y="4539420"/>
            <a:ext cx="216000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cxnSp>
        <p:nvCxnSpPr>
          <p:cNvPr id="246" name="Connector 245"/>
          <p:cNvCxnSpPr/>
          <p:nvPr/>
        </p:nvCxnSpPr>
        <p:spPr>
          <a:xfrm flipV="1">
            <a:off x="9233820" y="4478400"/>
            <a:ext cx="0" cy="12960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47" name="Freeform 246"/>
          <p:cNvSpPr/>
          <p:nvPr/>
        </p:nvSpPr>
        <p:spPr>
          <a:xfrm>
            <a:off x="9061020" y="4057200"/>
            <a:ext cx="345600" cy="140400"/>
          </a:xfrm>
          <a:custGeom>
            <a:avLst/>
            <a:gdLst/>
            <a:ahLst/>
            <a:cxnLst/>
            <a:rect l="l" t="t" r="r" b="b"/>
            <a:pathLst>
              <a:path w="345600" h="140400">
                <a:moveTo>
                  <a:pt x="68400" y="0"/>
                </a:moveTo>
                <a:lnTo>
                  <a:pt x="345600" y="0"/>
                </a:lnTo>
                <a:lnTo>
                  <a:pt x="2772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9110529" y="4071520"/>
            <a:ext cx="246582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9.94</a:t>
            </a:r>
          </a:p>
        </p:txBody>
      </p:sp>
      <p:sp>
        <p:nvSpPr>
          <p:cNvPr id="249" name="Freeform 248"/>
          <p:cNvSpPr/>
          <p:nvPr/>
        </p:nvSpPr>
        <p:spPr>
          <a:xfrm>
            <a:off x="9079020" y="41976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0" y="0"/>
                </a:moveTo>
                <a:lnTo>
                  <a:pt x="3096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125820" y="42119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119</a:t>
            </a:r>
          </a:p>
        </p:txBody>
      </p:sp>
      <p:sp>
        <p:nvSpPr>
          <p:cNvPr id="251" name="Freeform 250"/>
          <p:cNvSpPr/>
          <p:nvPr/>
        </p:nvSpPr>
        <p:spPr>
          <a:xfrm>
            <a:off x="9079020" y="4338000"/>
            <a:ext cx="309600" cy="140400"/>
          </a:xfrm>
          <a:custGeom>
            <a:avLst/>
            <a:gdLst/>
            <a:ahLst/>
            <a:cxnLst/>
            <a:rect l="l" t="t" r="r" b="b"/>
            <a:pathLst>
              <a:path w="309600" h="140400">
                <a:moveTo>
                  <a:pt x="50400" y="0"/>
                </a:moveTo>
                <a:lnTo>
                  <a:pt x="259200" y="0"/>
                </a:lnTo>
                <a:lnTo>
                  <a:pt x="309600" y="140400"/>
                </a:lnTo>
                <a:lnTo>
                  <a:pt x="0" y="1404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9125820" y="4352320"/>
            <a:ext cx="216000" cy="1117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4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253" name="Freeform 252"/>
          <p:cNvSpPr/>
          <p:nvPr/>
        </p:nvSpPr>
        <p:spPr>
          <a:xfrm>
            <a:off x="5040000" y="4089721"/>
            <a:ext cx="477965" cy="1137479"/>
          </a:xfrm>
          <a:custGeom>
            <a:avLst/>
            <a:gdLst/>
            <a:ahLst/>
            <a:cxnLst/>
            <a:rect l="l" t="t" r="r" b="b"/>
            <a:pathLst>
              <a:path w="477965" h="1137479">
                <a:moveTo>
                  <a:pt x="477965" y="0"/>
                </a:moveTo>
                <a:lnTo>
                  <a:pt x="477965" y="590279"/>
                </a:lnTo>
                <a:lnTo>
                  <a:pt x="0" y="590279"/>
                </a:lnTo>
                <a:lnTo>
                  <a:pt x="0" y="1137479"/>
                </a:lnTo>
              </a:path>
            </a:pathLst>
          </a:custGeom>
          <a:noFill/>
          <a:ln w="648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Freeform 253"/>
          <p:cNvSpPr/>
          <p:nvPr/>
        </p:nvSpPr>
        <p:spPr>
          <a:xfrm>
            <a:off x="5006880" y="5133600"/>
            <a:ext cx="66240" cy="93600"/>
          </a:xfrm>
          <a:custGeom>
            <a:avLst/>
            <a:gdLst/>
            <a:ahLst/>
            <a:cxnLst/>
            <a:rect l="l" t="t" r="r" b="b"/>
            <a:pathLst>
              <a:path w="66240" h="93600">
                <a:moveTo>
                  <a:pt x="33120" y="93600"/>
                </a:moveTo>
                <a:lnTo>
                  <a:pt x="0" y="0"/>
                </a:lnTo>
                <a:lnTo>
                  <a:pt x="66240" y="0"/>
                </a:lnTo>
                <a:close/>
              </a:path>
            </a:pathLst>
          </a:custGeom>
          <a:solidFill>
            <a:srgbClr val="000000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Freeform 254"/>
          <p:cNvSpPr/>
          <p:nvPr/>
        </p:nvSpPr>
        <p:spPr>
          <a:xfrm>
            <a:off x="5217722" y="46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0" y="0"/>
                </a:moveTo>
                <a:lnTo>
                  <a:pt x="0" y="129600"/>
                </a:lnTo>
                <a:lnTo>
                  <a:pt x="8280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Freeform 255"/>
          <p:cNvSpPr/>
          <p:nvPr/>
        </p:nvSpPr>
        <p:spPr>
          <a:xfrm>
            <a:off x="5300522" y="4615200"/>
            <a:ext cx="82800" cy="129600"/>
          </a:xfrm>
          <a:custGeom>
            <a:avLst/>
            <a:gdLst/>
            <a:ahLst/>
            <a:cxnLst/>
            <a:rect l="l" t="t" r="r" b="b"/>
            <a:pathLst>
              <a:path w="82800" h="129600">
                <a:moveTo>
                  <a:pt x="82800" y="0"/>
                </a:moveTo>
                <a:lnTo>
                  <a:pt x="82800" y="129600"/>
                </a:lnTo>
                <a:lnTo>
                  <a:pt x="0" y="64800"/>
                </a:lnTo>
                <a:close/>
              </a:path>
            </a:pathLst>
          </a:custGeom>
          <a:solidFill>
            <a:srgbClr val="FFFFFF"/>
          </a:solidFill>
          <a:ln w="54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7" name="Connector 256"/>
          <p:cNvCxnSpPr/>
          <p:nvPr/>
        </p:nvCxnSpPr>
        <p:spPr>
          <a:xfrm flipV="1">
            <a:off x="5300522" y="4522680"/>
            <a:ext cx="0" cy="15732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cxnSp>
        <p:nvCxnSpPr>
          <p:cNvPr id="258" name="Connector 257"/>
          <p:cNvCxnSpPr/>
          <p:nvPr/>
        </p:nvCxnSpPr>
        <p:spPr>
          <a:xfrm>
            <a:off x="5246090" y="4522680"/>
            <a:ext cx="108864" cy="0"/>
          </a:xfrm>
          <a:prstGeom prst="line">
            <a:avLst/>
          </a:prstGeom>
          <a:ln w="5400">
            <a:solidFill>
              <a:srgbClr val="000000"/>
            </a:solidFill>
          </a:ln>
          <a:effectLst/>
        </p:spPr>
      </p:cxnSp>
      <p:sp>
        <p:nvSpPr>
          <p:cNvPr id="259" name="TextBox 258"/>
          <p:cNvSpPr txBox="1"/>
          <p:nvPr/>
        </p:nvSpPr>
        <p:spPr>
          <a:xfrm>
            <a:off x="970441" y="4314670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TK-101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1986662" y="4948407"/>
            <a:ext cx="490676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P-101 A/B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5527701" y="415165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E-101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5580000" y="4299465"/>
            <a:ext cx="216000" cy="1066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20" b="0" i="0">
                <a:solidFill>
                  <a:srgbClr val="000000"/>
                </a:solidFill>
                <a:latin typeface="Arial"/>
              </a:rPr>
              <a:t>lps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219701" y="4764015"/>
            <a:ext cx="32059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Y-101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026441" y="4906017"/>
            <a:ext cx="363118" cy="13716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1" i="0">
                <a:solidFill>
                  <a:srgbClr val="000000"/>
                </a:solidFill>
                <a:latin typeface="Arial"/>
              </a:rPr>
              <a:t>ST-101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80338" y="1499702"/>
            <a:ext cx="845006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Flash Steam Header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9160128" y="3371702"/>
            <a:ext cx="137728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BFW to Boiler House (Deaerator)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9549764" y="2003702"/>
            <a:ext cx="96784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Vent to Safe Location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9432874" y="4379702"/>
            <a:ext cx="109067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000000"/>
                </a:solidFill>
                <a:latin typeface="Arial"/>
              </a:rPr>
              <a:t>Condensate Return Header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5828400" y="767837"/>
            <a:ext cx="104973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Relief to Safe Location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6980400" y="767837"/>
            <a:ext cx="76311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Air (Atmosphere)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180400" y="5243960"/>
            <a:ext cx="68122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 i="0">
                <a:solidFill>
                  <a:srgbClr val="000000"/>
                </a:solidFill>
                <a:latin typeface="Arial"/>
              </a:rPr>
              <a:t>Drain to Sewer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2114580" y="1873300"/>
            <a:ext cx="58044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XV-100 (SIS)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3427890" y="1855300"/>
            <a:ext cx="34422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FT-104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315865" y="1873300"/>
            <a:ext cx="54107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FV-104 (FC)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868000" y="1268500"/>
            <a:ext cx="38359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 i="0">
                <a:solidFill>
                  <a:srgbClr val="000000"/>
                </a:solidFill>
                <a:latin typeface="Arial"/>
              </a:rPr>
              <a:t>PSV-100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037890" y="1902100"/>
            <a:ext cx="34422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VB-101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7400375" y="2370100"/>
            <a:ext cx="3048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V-104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1921405" y="3673300"/>
            <a:ext cx="38359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FV-101B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3619380" y="4890100"/>
            <a:ext cx="58044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FV-101A (FO)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5146775" y="4810900"/>
            <a:ext cx="30485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V-105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7482410" y="5250100"/>
            <a:ext cx="659180" cy="127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000000"/>
                </a:solidFill>
                <a:latin typeface="Arial"/>
              </a:rPr>
              <a:t>V-103 (bypass)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