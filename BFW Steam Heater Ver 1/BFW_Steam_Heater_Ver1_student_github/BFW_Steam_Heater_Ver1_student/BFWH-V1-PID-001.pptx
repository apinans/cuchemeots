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24176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4758416" cy="10323576"/>
          </a:xfrm>
          <a:prstGeom prst="rect">
            <a:avLst/>
          </a:prstGeom>
          <a:noFill/>
          <a:ln w="279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4484096" cy="10049256"/>
          </a:xfrm>
          <a:prstGeom prst="rect">
            <a:avLst/>
          </a:prstGeom>
          <a:noFill/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97680" y="4023360"/>
            <a:ext cx="4846320" cy="11887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754880" y="4023360"/>
            <a:ext cx="0" cy="11887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686800" y="4023360"/>
            <a:ext cx="0" cy="11887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754880" y="4224528"/>
            <a:ext cx="393192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54880" y="4425696"/>
            <a:ext cx="393192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754880" y="4809744"/>
            <a:ext cx="393192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54880" y="5010912"/>
            <a:ext cx="393192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839713" y="4553712"/>
            <a:ext cx="176225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000000"/>
                </a:solidFill>
                <a:latin typeface="Arial"/>
              </a:rPr>
              <a:t>E-101  BFW STEAM HEATER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4663440"/>
            <a:ext cx="24688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SHELL: FLASH STEAM · TUBES: BFW, 1 PASS, 100 TUBES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760720"/>
            <a:ext cx="548640" cy="2103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3587" y="6355080"/>
            <a:ext cx="52730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000000"/>
                </a:solidFill>
                <a:latin typeface="Arial"/>
              </a:rPr>
              <a:t>TK-101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324" y="6473952"/>
            <a:ext cx="47183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BFW TANK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7" y="6574536"/>
            <a:ext cx="32918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18 °C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138928"/>
            <a:ext cx="70612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BFW MAKE-UP</a:t>
            </a:r>
          </a:p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(NOTE 11)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5440680"/>
            <a:ext cx="0" cy="32004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51560" y="7498079"/>
            <a:ext cx="3657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417320" y="6766560"/>
            <a:ext cx="0" cy="731519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78992" y="7534655"/>
            <a:ext cx="56692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8"-BW-100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417320" y="6766560"/>
            <a:ext cx="457199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40280" y="6766560"/>
            <a:ext cx="7772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reeform 23"/>
          <p:cNvSpPr/>
          <p:nvPr/>
        </p:nvSpPr>
        <p:spPr>
          <a:xfrm>
            <a:off x="1545336" y="6697980"/>
            <a:ext cx="201168" cy="137160"/>
          </a:xfrm>
          <a:custGeom>
            <a:avLst/>
            <a:gdLst/>
            <a:ahLst/>
            <a:cxnLst/>
            <a:rect l="l" t="t" r="r" b="b"/>
            <a:pathLst>
              <a:path w="201168" h="137160">
                <a:moveTo>
                  <a:pt x="0" y="0"/>
                </a:moveTo>
                <a:lnTo>
                  <a:pt x="201168" y="137160"/>
                </a:lnTo>
                <a:lnTo>
                  <a:pt x="201168" y="0"/>
                </a:lnTo>
                <a:lnTo>
                  <a:pt x="0" y="13716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6530" y="6858000"/>
            <a:ext cx="3987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V-106</a:t>
            </a:r>
          </a:p>
        </p:txBody>
      </p:sp>
      <p:sp>
        <p:nvSpPr>
          <p:cNvPr id="26" name="Freeform 25"/>
          <p:cNvSpPr/>
          <p:nvPr/>
        </p:nvSpPr>
        <p:spPr>
          <a:xfrm>
            <a:off x="1901952" y="6876288"/>
            <a:ext cx="310896" cy="164592"/>
          </a:xfrm>
          <a:custGeom>
            <a:avLst/>
            <a:gdLst/>
            <a:ahLst/>
            <a:cxnLst/>
            <a:rect l="l" t="t" r="r" b="b"/>
            <a:pathLst>
              <a:path w="310896" h="164592">
                <a:moveTo>
                  <a:pt x="0" y="164592"/>
                </a:moveTo>
                <a:lnTo>
                  <a:pt x="310896" y="164592"/>
                </a:lnTo>
                <a:lnTo>
                  <a:pt x="155448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874519" y="6583680"/>
            <a:ext cx="365760" cy="36576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1975104" y="6656832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19456" h="219456">
                <a:moveTo>
                  <a:pt x="0" y="0"/>
                </a:moveTo>
                <a:lnTo>
                  <a:pt x="219456" y="109728"/>
                </a:lnTo>
                <a:lnTo>
                  <a:pt x="0" y="219456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93748" y="6382512"/>
            <a:ext cx="52730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000000"/>
                </a:solidFill>
                <a:latin typeface="Arial"/>
              </a:rPr>
              <a:t>P-101A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9599" y="6492240"/>
            <a:ext cx="3556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MOTOR</a:t>
            </a:r>
          </a:p>
        </p:txBody>
      </p:sp>
      <p:sp>
        <p:nvSpPr>
          <p:cNvPr id="31" name="Freeform 30"/>
          <p:cNvSpPr/>
          <p:nvPr/>
        </p:nvSpPr>
        <p:spPr>
          <a:xfrm>
            <a:off x="2350008" y="6683349"/>
            <a:ext cx="184251" cy="166421"/>
          </a:xfrm>
          <a:custGeom>
            <a:avLst/>
            <a:gdLst/>
            <a:ahLst/>
            <a:cxnLst/>
            <a:rect l="l" t="t" r="r" b="b"/>
            <a:pathLst>
              <a:path w="184251" h="166421">
                <a:moveTo>
                  <a:pt x="0" y="0"/>
                </a:moveTo>
                <a:lnTo>
                  <a:pt x="184251" y="83211"/>
                </a:lnTo>
                <a:lnTo>
                  <a:pt x="0" y="166421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2534259" y="6683349"/>
            <a:ext cx="0" cy="166421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208022" y="6858000"/>
            <a:ext cx="52171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NRV-101</a:t>
            </a:r>
          </a:p>
        </p:txBody>
      </p:sp>
      <p:sp>
        <p:nvSpPr>
          <p:cNvPr id="34" name="Freeform 33"/>
          <p:cNvSpPr/>
          <p:nvPr/>
        </p:nvSpPr>
        <p:spPr>
          <a:xfrm>
            <a:off x="2660904" y="6697980"/>
            <a:ext cx="201168" cy="137160"/>
          </a:xfrm>
          <a:custGeom>
            <a:avLst/>
            <a:gdLst/>
            <a:ahLst/>
            <a:cxnLst/>
            <a:rect l="l" t="t" r="r" b="b"/>
            <a:pathLst>
              <a:path w="201168" h="137160">
                <a:moveTo>
                  <a:pt x="0" y="0"/>
                </a:moveTo>
                <a:lnTo>
                  <a:pt x="201168" y="137160"/>
                </a:lnTo>
                <a:lnTo>
                  <a:pt x="201168" y="0"/>
                </a:lnTo>
                <a:lnTo>
                  <a:pt x="0" y="13716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62098" y="6858000"/>
            <a:ext cx="3987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V-108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417320" y="7498079"/>
            <a:ext cx="457199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240280" y="7498079"/>
            <a:ext cx="7772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reeform 37"/>
          <p:cNvSpPr/>
          <p:nvPr/>
        </p:nvSpPr>
        <p:spPr>
          <a:xfrm>
            <a:off x="1545336" y="7429500"/>
            <a:ext cx="201168" cy="137159"/>
          </a:xfrm>
          <a:custGeom>
            <a:avLst/>
            <a:gdLst/>
            <a:ahLst/>
            <a:cxnLst/>
            <a:rect l="l" t="t" r="r" b="b"/>
            <a:pathLst>
              <a:path w="201168" h="137159">
                <a:moveTo>
                  <a:pt x="0" y="0"/>
                </a:moveTo>
                <a:lnTo>
                  <a:pt x="201168" y="137159"/>
                </a:lnTo>
                <a:lnTo>
                  <a:pt x="201168" y="0"/>
                </a:lnTo>
                <a:lnTo>
                  <a:pt x="0" y="137159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46530" y="7589519"/>
            <a:ext cx="3987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V-107</a:t>
            </a:r>
          </a:p>
        </p:txBody>
      </p:sp>
      <p:sp>
        <p:nvSpPr>
          <p:cNvPr id="40" name="Freeform 39"/>
          <p:cNvSpPr/>
          <p:nvPr/>
        </p:nvSpPr>
        <p:spPr>
          <a:xfrm>
            <a:off x="1901952" y="7607807"/>
            <a:ext cx="310896" cy="164593"/>
          </a:xfrm>
          <a:custGeom>
            <a:avLst/>
            <a:gdLst/>
            <a:ahLst/>
            <a:cxnLst/>
            <a:rect l="l" t="t" r="r" b="b"/>
            <a:pathLst>
              <a:path w="310896" h="164593">
                <a:moveTo>
                  <a:pt x="0" y="164593"/>
                </a:moveTo>
                <a:lnTo>
                  <a:pt x="310896" y="164593"/>
                </a:lnTo>
                <a:lnTo>
                  <a:pt x="155448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74519" y="7315199"/>
            <a:ext cx="365760" cy="36576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1975104" y="7388352"/>
            <a:ext cx="219456" cy="219455"/>
          </a:xfrm>
          <a:custGeom>
            <a:avLst/>
            <a:gdLst/>
            <a:ahLst/>
            <a:cxnLst/>
            <a:rect l="l" t="t" r="r" b="b"/>
            <a:pathLst>
              <a:path w="219456" h="219455">
                <a:moveTo>
                  <a:pt x="0" y="0"/>
                </a:moveTo>
                <a:lnTo>
                  <a:pt x="219456" y="109727"/>
                </a:lnTo>
                <a:lnTo>
                  <a:pt x="0" y="219455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793748" y="7790688"/>
            <a:ext cx="52730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000000"/>
                </a:solidFill>
                <a:latin typeface="Arial"/>
              </a:rPr>
              <a:t>P-101B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79599" y="7900415"/>
            <a:ext cx="3556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MOTOR</a:t>
            </a:r>
          </a:p>
        </p:txBody>
      </p:sp>
      <p:sp>
        <p:nvSpPr>
          <p:cNvPr id="45" name="Freeform 44"/>
          <p:cNvSpPr/>
          <p:nvPr/>
        </p:nvSpPr>
        <p:spPr>
          <a:xfrm>
            <a:off x="2350008" y="7414869"/>
            <a:ext cx="184251" cy="166421"/>
          </a:xfrm>
          <a:custGeom>
            <a:avLst/>
            <a:gdLst/>
            <a:ahLst/>
            <a:cxnLst/>
            <a:rect l="l" t="t" r="r" b="b"/>
            <a:pathLst>
              <a:path w="184251" h="166421">
                <a:moveTo>
                  <a:pt x="0" y="0"/>
                </a:moveTo>
                <a:lnTo>
                  <a:pt x="184251" y="83210"/>
                </a:lnTo>
                <a:lnTo>
                  <a:pt x="0" y="166421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2534259" y="7414869"/>
            <a:ext cx="0" cy="166421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208022" y="7589519"/>
            <a:ext cx="52171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NRV-102</a:t>
            </a:r>
          </a:p>
        </p:txBody>
      </p:sp>
      <p:sp>
        <p:nvSpPr>
          <p:cNvPr id="48" name="Freeform 47"/>
          <p:cNvSpPr/>
          <p:nvPr/>
        </p:nvSpPr>
        <p:spPr>
          <a:xfrm>
            <a:off x="2660904" y="7429500"/>
            <a:ext cx="201168" cy="137159"/>
          </a:xfrm>
          <a:custGeom>
            <a:avLst/>
            <a:gdLst/>
            <a:ahLst/>
            <a:cxnLst/>
            <a:rect l="l" t="t" r="r" b="b"/>
            <a:pathLst>
              <a:path w="201168" h="137159">
                <a:moveTo>
                  <a:pt x="0" y="0"/>
                </a:moveTo>
                <a:lnTo>
                  <a:pt x="201168" y="137159"/>
                </a:lnTo>
                <a:lnTo>
                  <a:pt x="201168" y="0"/>
                </a:lnTo>
                <a:lnTo>
                  <a:pt x="0" y="137159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62098" y="7589519"/>
            <a:ext cx="3987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V-109</a:t>
            </a:r>
          </a:p>
        </p:txBody>
      </p:sp>
      <p:sp>
        <p:nvSpPr>
          <p:cNvPr id="50" name="Oval 49"/>
          <p:cNvSpPr/>
          <p:nvPr/>
        </p:nvSpPr>
        <p:spPr>
          <a:xfrm>
            <a:off x="1387602" y="673684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987801" y="673684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987801" y="746836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3017520" y="6766560"/>
            <a:ext cx="0" cy="13716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2987801" y="710260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3017520" y="7132320"/>
            <a:ext cx="33832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3355848" y="69677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106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355848" y="713232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777240" y="8138160"/>
            <a:ext cx="22402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777240" y="7863840"/>
            <a:ext cx="0" cy="27432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1188720" y="8174736"/>
            <a:ext cx="56692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3"-BW-102</a:t>
            </a:r>
          </a:p>
        </p:txBody>
      </p:sp>
      <p:sp>
        <p:nvSpPr>
          <p:cNvPr id="61" name="Freeform 60"/>
          <p:cNvSpPr/>
          <p:nvPr/>
        </p:nvSpPr>
        <p:spPr>
          <a:xfrm>
            <a:off x="2487168" y="806043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 flipV="1">
            <a:off x="2606040" y="7909560"/>
            <a:ext cx="0" cy="15087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Freeform 62"/>
          <p:cNvSpPr/>
          <p:nvPr/>
        </p:nvSpPr>
        <p:spPr>
          <a:xfrm>
            <a:off x="2487168" y="7808976"/>
            <a:ext cx="237744" cy="100584"/>
          </a:xfrm>
          <a:custGeom>
            <a:avLst/>
            <a:gdLst/>
            <a:ahLst/>
            <a:cxnLst/>
            <a:rect l="l" t="t" r="r" b="b"/>
            <a:pathLst>
              <a:path w="237744" h="100584">
                <a:moveTo>
                  <a:pt x="0" y="100584"/>
                </a:moveTo>
                <a:lnTo>
                  <a:pt x="0" y="100584"/>
                </a:lnTo>
                <a:lnTo>
                  <a:pt x="9048" y="62092"/>
                </a:lnTo>
                <a:lnTo>
                  <a:pt x="34816" y="29460"/>
                </a:lnTo>
                <a:lnTo>
                  <a:pt x="73381" y="7656"/>
                </a:lnTo>
                <a:lnTo>
                  <a:pt x="118872" y="0"/>
                </a:lnTo>
                <a:lnTo>
                  <a:pt x="164362" y="7656"/>
                </a:lnTo>
                <a:lnTo>
                  <a:pt x="202927" y="29460"/>
                </a:lnTo>
                <a:lnTo>
                  <a:pt x="228695" y="62092"/>
                </a:lnTo>
                <a:lnTo>
                  <a:pt x="237744" y="100584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68576" y="8247888"/>
            <a:ext cx="107492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FV-101B (NOTE 6)</a:t>
            </a:r>
          </a:p>
        </p:txBody>
      </p:sp>
      <p:cxnSp>
        <p:nvCxnSpPr>
          <p:cNvPr id="65" name="Connector 64"/>
          <p:cNvCxnSpPr/>
          <p:nvPr/>
        </p:nvCxnSpPr>
        <p:spPr>
          <a:xfrm flipV="1">
            <a:off x="3017520" y="4846320"/>
            <a:ext cx="0" cy="19202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3017520" y="4846320"/>
            <a:ext cx="132588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3072384" y="6675120"/>
            <a:ext cx="56692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6"-BW-101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2898648" y="6414516"/>
            <a:ext cx="237743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898648" y="6478524"/>
            <a:ext cx="237743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2410967" y="6391656"/>
            <a:ext cx="460247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1">
                <a:solidFill>
                  <a:srgbClr val="000000"/>
                </a:solidFill>
                <a:latin typeface="Arial"/>
              </a:rPr>
              <a:t>FE-101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3136391" y="6446520"/>
            <a:ext cx="402337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3538727" y="62819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50792" y="6245352"/>
            <a:ext cx="402336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087368" y="62819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FSLL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4087368" y="644652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867912" y="6446520"/>
            <a:ext cx="182879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Freeform 76"/>
          <p:cNvSpPr/>
          <p:nvPr/>
        </p:nvSpPr>
        <p:spPr>
          <a:xfrm>
            <a:off x="2948939" y="5952744"/>
            <a:ext cx="137161" cy="201168"/>
          </a:xfrm>
          <a:custGeom>
            <a:avLst/>
            <a:gdLst/>
            <a:ahLst/>
            <a:cxnLst/>
            <a:rect l="l" t="t" r="r" b="b"/>
            <a:pathLst>
              <a:path w="137161" h="201168">
                <a:moveTo>
                  <a:pt x="0" y="0"/>
                </a:moveTo>
                <a:lnTo>
                  <a:pt x="137161" y="201168"/>
                </a:lnTo>
                <a:lnTo>
                  <a:pt x="0" y="201168"/>
                </a:lnTo>
                <a:lnTo>
                  <a:pt x="137161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518155" y="5998464"/>
            <a:ext cx="3987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1">
                <a:solidFill>
                  <a:srgbClr val="000000"/>
                </a:solidFill>
                <a:latin typeface="Arial"/>
              </a:rPr>
              <a:t>V-110</a:t>
            </a:r>
          </a:p>
        </p:txBody>
      </p:sp>
      <p:sp>
        <p:nvSpPr>
          <p:cNvPr id="79" name="Freeform 78"/>
          <p:cNvSpPr/>
          <p:nvPr/>
        </p:nvSpPr>
        <p:spPr>
          <a:xfrm>
            <a:off x="2948939" y="5276088"/>
            <a:ext cx="137161" cy="201168"/>
          </a:xfrm>
          <a:custGeom>
            <a:avLst/>
            <a:gdLst/>
            <a:ahLst/>
            <a:cxnLst/>
            <a:rect l="l" t="t" r="r" b="b"/>
            <a:pathLst>
              <a:path w="137161" h="201168">
                <a:moveTo>
                  <a:pt x="0" y="0"/>
                </a:moveTo>
                <a:lnTo>
                  <a:pt x="137161" y="201168"/>
                </a:lnTo>
                <a:lnTo>
                  <a:pt x="0" y="201168"/>
                </a:lnTo>
                <a:lnTo>
                  <a:pt x="137161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518155" y="5321808"/>
            <a:ext cx="3987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1">
                <a:solidFill>
                  <a:srgbClr val="000000"/>
                </a:solidFill>
                <a:latin typeface="Arial"/>
              </a:rPr>
              <a:t>V-111</a:t>
            </a:r>
          </a:p>
        </p:txBody>
      </p:sp>
      <p:sp>
        <p:nvSpPr>
          <p:cNvPr id="81" name="Freeform 80"/>
          <p:cNvSpPr/>
          <p:nvPr/>
        </p:nvSpPr>
        <p:spPr>
          <a:xfrm>
            <a:off x="2939796" y="5596128"/>
            <a:ext cx="155448" cy="237744"/>
          </a:xfrm>
          <a:custGeom>
            <a:avLst/>
            <a:gdLst/>
            <a:ahLst/>
            <a:cxnLst/>
            <a:rect l="l" t="t" r="r" b="b"/>
            <a:pathLst>
              <a:path w="155448" h="237744">
                <a:moveTo>
                  <a:pt x="0" y="0"/>
                </a:moveTo>
                <a:lnTo>
                  <a:pt x="155448" y="237744"/>
                </a:lnTo>
                <a:lnTo>
                  <a:pt x="0" y="237744"/>
                </a:lnTo>
                <a:lnTo>
                  <a:pt x="155448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>
            <a:off x="3095244" y="5715000"/>
            <a:ext cx="15087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Freeform 82"/>
          <p:cNvSpPr/>
          <p:nvPr/>
        </p:nvSpPr>
        <p:spPr>
          <a:xfrm>
            <a:off x="3246120" y="5596128"/>
            <a:ext cx="100583" cy="237744"/>
          </a:xfrm>
          <a:custGeom>
            <a:avLst/>
            <a:gdLst/>
            <a:ahLst/>
            <a:cxnLst/>
            <a:rect l="l" t="t" r="r" b="b"/>
            <a:pathLst>
              <a:path w="100583" h="237744">
                <a:moveTo>
                  <a:pt x="0" y="0"/>
                </a:moveTo>
                <a:lnTo>
                  <a:pt x="0" y="0"/>
                </a:lnTo>
                <a:lnTo>
                  <a:pt x="38491" y="9048"/>
                </a:lnTo>
                <a:lnTo>
                  <a:pt x="71123" y="34816"/>
                </a:lnTo>
                <a:lnTo>
                  <a:pt x="92927" y="73381"/>
                </a:lnTo>
                <a:lnTo>
                  <a:pt x="100583" y="118872"/>
                </a:lnTo>
                <a:lnTo>
                  <a:pt x="92927" y="164362"/>
                </a:lnTo>
                <a:lnTo>
                  <a:pt x="71123" y="202927"/>
                </a:lnTo>
                <a:lnTo>
                  <a:pt x="38491" y="228695"/>
                </a:lnTo>
                <a:lnTo>
                  <a:pt x="0" y="237744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127248" y="5440680"/>
            <a:ext cx="70612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FV-101A FO</a:t>
            </a:r>
          </a:p>
        </p:txBody>
      </p:sp>
      <p:sp>
        <p:nvSpPr>
          <p:cNvPr id="85" name="Oval 84"/>
          <p:cNvSpPr/>
          <p:nvPr/>
        </p:nvSpPr>
        <p:spPr>
          <a:xfrm>
            <a:off x="3538727" y="55504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3538727" y="571500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3346704" y="5715000"/>
            <a:ext cx="192024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3703320" y="5879592"/>
            <a:ext cx="0" cy="402336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3867912" y="5715000"/>
            <a:ext cx="9144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3959352" y="5715000"/>
            <a:ext cx="0" cy="2039112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>
            <a:off x="2606040" y="7754112"/>
            <a:ext cx="1353312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2606040" y="7754112"/>
            <a:ext cx="0" cy="54864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2987801" y="618820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2987801" y="51823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" name="Connector 94"/>
          <p:cNvCxnSpPr/>
          <p:nvPr/>
        </p:nvCxnSpPr>
        <p:spPr>
          <a:xfrm flipH="1">
            <a:off x="2514600" y="6217920"/>
            <a:ext cx="5029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2514600" y="5212080"/>
            <a:ext cx="0" cy="100584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2514600" y="5212080"/>
            <a:ext cx="5029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Freeform 97"/>
          <p:cNvSpPr/>
          <p:nvPr/>
        </p:nvSpPr>
        <p:spPr>
          <a:xfrm>
            <a:off x="2446020" y="5614416"/>
            <a:ext cx="137160" cy="201168"/>
          </a:xfrm>
          <a:custGeom>
            <a:avLst/>
            <a:gdLst/>
            <a:ahLst/>
            <a:cxnLst/>
            <a:rect l="l" t="t" r="r" b="b"/>
            <a:pathLst>
              <a:path w="137160" h="201168">
                <a:moveTo>
                  <a:pt x="0" y="0"/>
                </a:moveTo>
                <a:lnTo>
                  <a:pt x="137160" y="201168"/>
                </a:lnTo>
                <a:lnTo>
                  <a:pt x="0" y="201168"/>
                </a:lnTo>
                <a:lnTo>
                  <a:pt x="137160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006091" y="5660136"/>
            <a:ext cx="3987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1">
                <a:solidFill>
                  <a:srgbClr val="000000"/>
                </a:solidFill>
                <a:latin typeface="Arial"/>
              </a:rPr>
              <a:t>V-112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996439" y="5769864"/>
            <a:ext cx="40843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000000"/>
                </a:solidFill>
                <a:latin typeface="Arial"/>
              </a:rPr>
              <a:t>BYPASS</a:t>
            </a:r>
          </a:p>
        </p:txBody>
      </p:sp>
      <p:sp>
        <p:nvSpPr>
          <p:cNvPr id="101" name="Oval 100"/>
          <p:cNvSpPr/>
          <p:nvPr/>
        </p:nvSpPr>
        <p:spPr>
          <a:xfrm>
            <a:off x="3445001" y="481660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Connector 101"/>
          <p:cNvCxnSpPr/>
          <p:nvPr/>
        </p:nvCxnSpPr>
        <p:spPr>
          <a:xfrm flipV="1">
            <a:off x="3474720" y="4553712"/>
            <a:ext cx="0" cy="2926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Oval 102"/>
          <p:cNvSpPr/>
          <p:nvPr/>
        </p:nvSpPr>
        <p:spPr>
          <a:xfrm>
            <a:off x="3310127" y="42245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103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3310127" y="4389120"/>
            <a:ext cx="32918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3072384" y="4700016"/>
            <a:ext cx="56692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6"-BW-101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9144000" y="4572000"/>
            <a:ext cx="21488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9189720" y="4608576"/>
            <a:ext cx="56692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6"-BW-103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340847" y="4242816"/>
            <a:ext cx="951992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1">
                <a:solidFill>
                  <a:srgbClr val="000000"/>
                </a:solidFill>
                <a:latin typeface="Arial"/>
              </a:rPr>
              <a:t>TO DEAERATOR</a:t>
            </a:r>
          </a:p>
          <a:p>
            <a:pPr algn="r"/>
            <a:r>
              <a:rPr sz="550" b="1">
                <a:solidFill>
                  <a:srgbClr val="000000"/>
                </a:solidFill>
                <a:latin typeface="Arial"/>
              </a:rPr>
              <a:t>(BOILER HOUSE)</a:t>
            </a:r>
          </a:p>
        </p:txBody>
      </p:sp>
      <p:sp>
        <p:nvSpPr>
          <p:cNvPr id="109" name="Oval 108"/>
          <p:cNvSpPr/>
          <p:nvPr/>
        </p:nvSpPr>
        <p:spPr>
          <a:xfrm>
            <a:off x="9662922" y="45422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0" name="Connector 109"/>
          <p:cNvCxnSpPr/>
          <p:nvPr/>
        </p:nvCxnSpPr>
        <p:spPr>
          <a:xfrm flipV="1">
            <a:off x="9692640" y="4187952"/>
            <a:ext cx="0" cy="38404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Oval 110"/>
          <p:cNvSpPr/>
          <p:nvPr/>
        </p:nvSpPr>
        <p:spPr>
          <a:xfrm>
            <a:off x="9528048" y="385876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sp>
        <p:nvSpPr>
          <p:cNvPr id="112" name="Oval 111"/>
          <p:cNvSpPr/>
          <p:nvPr/>
        </p:nvSpPr>
        <p:spPr>
          <a:xfrm>
            <a:off x="9528048" y="3310127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9528048" y="347472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9692640" y="3639312"/>
            <a:ext cx="0" cy="219456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/>
          <p:cNvSpPr/>
          <p:nvPr/>
        </p:nvSpPr>
        <p:spPr>
          <a:xfrm>
            <a:off x="10348722" y="45422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" name="Connector 115"/>
          <p:cNvCxnSpPr/>
          <p:nvPr/>
        </p:nvCxnSpPr>
        <p:spPr>
          <a:xfrm>
            <a:off x="10378440" y="4572000"/>
            <a:ext cx="0" cy="2926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Oval 116"/>
          <p:cNvSpPr/>
          <p:nvPr/>
        </p:nvSpPr>
        <p:spPr>
          <a:xfrm>
            <a:off x="10213848" y="48646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108</a:t>
            </a:r>
          </a:p>
        </p:txBody>
      </p:sp>
      <p:sp>
        <p:nvSpPr>
          <p:cNvPr id="118" name="Oval 117"/>
          <p:cNvSpPr/>
          <p:nvPr/>
        </p:nvSpPr>
        <p:spPr>
          <a:xfrm>
            <a:off x="10213848" y="541324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TIAH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108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10213848" y="557784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10378440" y="5193792"/>
            <a:ext cx="0" cy="219456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ectangle 120"/>
          <p:cNvSpPr/>
          <p:nvPr/>
        </p:nvSpPr>
        <p:spPr>
          <a:xfrm>
            <a:off x="10725911" y="5376672"/>
            <a:ext cx="402336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0762488" y="541324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TSHH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108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10762488" y="557784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0543032" y="5577840"/>
            <a:ext cx="18288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4526280" y="5084064"/>
            <a:ext cx="0" cy="81381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4526280" y="5897880"/>
            <a:ext cx="198424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915400" y="5084064"/>
            <a:ext cx="0" cy="81381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8467344" y="5897880"/>
            <a:ext cx="44805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Freeform 128"/>
          <p:cNvSpPr/>
          <p:nvPr/>
        </p:nvSpPr>
        <p:spPr>
          <a:xfrm>
            <a:off x="8357615" y="5843016"/>
            <a:ext cx="109729" cy="54864"/>
          </a:xfrm>
          <a:custGeom>
            <a:avLst/>
            <a:gdLst/>
            <a:ahLst/>
            <a:cxnLst/>
            <a:rect l="l" t="t" r="r" b="b"/>
            <a:pathLst>
              <a:path w="109729" h="54864">
                <a:moveTo>
                  <a:pt x="0" y="54864"/>
                </a:moveTo>
                <a:lnTo>
                  <a:pt x="7351" y="27432"/>
                </a:lnTo>
                <a:lnTo>
                  <a:pt x="27433" y="7350"/>
                </a:lnTo>
                <a:lnTo>
                  <a:pt x="54865" y="0"/>
                </a:lnTo>
                <a:lnTo>
                  <a:pt x="82296" y="7350"/>
                </a:lnTo>
                <a:lnTo>
                  <a:pt x="102378" y="27432"/>
                </a:lnTo>
                <a:lnTo>
                  <a:pt x="109729" y="54864"/>
                </a:lnTo>
              </a:path>
            </a:pathLst>
          </a:cu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0" name="Connector 129"/>
          <p:cNvCxnSpPr/>
          <p:nvPr/>
        </p:nvCxnSpPr>
        <p:spPr>
          <a:xfrm flipH="1">
            <a:off x="6839712" y="5897880"/>
            <a:ext cx="1517903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Oval 130"/>
          <p:cNvSpPr/>
          <p:nvPr/>
        </p:nvSpPr>
        <p:spPr>
          <a:xfrm>
            <a:off x="6510528" y="57332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PDT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109</a:t>
            </a:r>
          </a:p>
        </p:txBody>
      </p:sp>
      <p:sp>
        <p:nvSpPr>
          <p:cNvPr id="132" name="Oval 131"/>
          <p:cNvSpPr/>
          <p:nvPr/>
        </p:nvSpPr>
        <p:spPr>
          <a:xfrm>
            <a:off x="6510528" y="62819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PDI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109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6510528" y="644652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6675120" y="6062472"/>
            <a:ext cx="0" cy="219456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H="1">
            <a:off x="5212080" y="1097280"/>
            <a:ext cx="60807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5212080" y="1097280"/>
            <a:ext cx="0" cy="292608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10094976" y="1188720"/>
            <a:ext cx="1197864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1">
                <a:solidFill>
                  <a:srgbClr val="000000"/>
                </a:solidFill>
                <a:latin typeface="Arial"/>
              </a:rPr>
              <a:t>FLASH STEAM HEADER</a:t>
            </a:r>
          </a:p>
          <a:p>
            <a:pPr algn="r"/>
            <a:r>
              <a:rPr sz="550" b="1">
                <a:solidFill>
                  <a:srgbClr val="000000"/>
                </a:solidFill>
                <a:latin typeface="Arial"/>
              </a:rPr>
              <a:t>200 kPa g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760720" y="960120"/>
            <a:ext cx="61976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12"-LS-101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266944" y="2377440"/>
            <a:ext cx="61976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14"-LS-102</a:t>
            </a:r>
          </a:p>
        </p:txBody>
      </p:sp>
      <p:sp>
        <p:nvSpPr>
          <p:cNvPr id="140" name="Oval 139"/>
          <p:cNvSpPr/>
          <p:nvPr/>
        </p:nvSpPr>
        <p:spPr>
          <a:xfrm>
            <a:off x="10805922" y="10675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1" name="Connector 140"/>
          <p:cNvCxnSpPr/>
          <p:nvPr/>
        </p:nvCxnSpPr>
        <p:spPr>
          <a:xfrm flipV="1">
            <a:off x="10835640" y="850392"/>
            <a:ext cx="0" cy="24688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Oval 141"/>
          <p:cNvSpPr/>
          <p:nvPr/>
        </p:nvSpPr>
        <p:spPr>
          <a:xfrm>
            <a:off x="10671048" y="5212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105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10671048" y="68580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Freeform 143"/>
          <p:cNvSpPr/>
          <p:nvPr/>
        </p:nvSpPr>
        <p:spPr>
          <a:xfrm>
            <a:off x="10030967" y="1019556"/>
            <a:ext cx="237745" cy="155448"/>
          </a:xfrm>
          <a:custGeom>
            <a:avLst/>
            <a:gdLst/>
            <a:ahLst/>
            <a:cxnLst/>
            <a:rect l="l" t="t" r="r" b="b"/>
            <a:pathLst>
              <a:path w="237745" h="155448">
                <a:moveTo>
                  <a:pt x="0" y="0"/>
                </a:moveTo>
                <a:lnTo>
                  <a:pt x="237745" y="155448"/>
                </a:lnTo>
                <a:lnTo>
                  <a:pt x="237745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5" name="Connector 144"/>
          <p:cNvCxnSpPr/>
          <p:nvPr/>
        </p:nvCxnSpPr>
        <p:spPr>
          <a:xfrm flipV="1">
            <a:off x="10149840" y="896112"/>
            <a:ext cx="0" cy="12344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ectangle 145"/>
          <p:cNvSpPr/>
          <p:nvPr/>
        </p:nvSpPr>
        <p:spPr>
          <a:xfrm>
            <a:off x="10081260" y="786383"/>
            <a:ext cx="137160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9875519" y="1207007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XV-100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081260" y="786383"/>
            <a:ext cx="13716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S</a:t>
            </a:r>
          </a:p>
        </p:txBody>
      </p:sp>
      <p:cxnSp>
        <p:nvCxnSpPr>
          <p:cNvPr id="149" name="Connector 148"/>
          <p:cNvCxnSpPr/>
          <p:nvPr/>
        </p:nvCxnSpPr>
        <p:spPr>
          <a:xfrm>
            <a:off x="9432036" y="978407"/>
            <a:ext cx="0" cy="237745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9496044" y="978407"/>
            <a:ext cx="0" cy="237745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TextBox 150"/>
          <p:cNvSpPr txBox="1"/>
          <p:nvPr/>
        </p:nvSpPr>
        <p:spPr>
          <a:xfrm>
            <a:off x="9233916" y="1234439"/>
            <a:ext cx="460247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FE-104</a:t>
            </a:r>
          </a:p>
        </p:txBody>
      </p:sp>
      <p:cxnSp>
        <p:nvCxnSpPr>
          <p:cNvPr id="152" name="Connector 151"/>
          <p:cNvCxnSpPr/>
          <p:nvPr/>
        </p:nvCxnSpPr>
        <p:spPr>
          <a:xfrm flipV="1">
            <a:off x="9464040" y="850392"/>
            <a:ext cx="0" cy="128015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Oval 152"/>
          <p:cNvSpPr/>
          <p:nvPr/>
        </p:nvSpPr>
        <p:spPr>
          <a:xfrm>
            <a:off x="9299448" y="5212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104</a:t>
            </a:r>
          </a:p>
        </p:txBody>
      </p:sp>
      <p:sp>
        <p:nvSpPr>
          <p:cNvPr id="154" name="Oval 153"/>
          <p:cNvSpPr/>
          <p:nvPr/>
        </p:nvSpPr>
        <p:spPr>
          <a:xfrm>
            <a:off x="8705088" y="5212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104</a:t>
            </a:r>
          </a:p>
        </p:txBody>
      </p:sp>
      <p:cxnSp>
        <p:nvCxnSpPr>
          <p:cNvPr id="155" name="Connector 154"/>
          <p:cNvCxnSpPr/>
          <p:nvPr/>
        </p:nvCxnSpPr>
        <p:spPr>
          <a:xfrm>
            <a:off x="8705088" y="68580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H="1">
            <a:off x="9034272" y="685800"/>
            <a:ext cx="265176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Freeform 156"/>
          <p:cNvSpPr/>
          <p:nvPr/>
        </p:nvSpPr>
        <p:spPr>
          <a:xfrm>
            <a:off x="8083296" y="1028700"/>
            <a:ext cx="201167" cy="137160"/>
          </a:xfrm>
          <a:custGeom>
            <a:avLst/>
            <a:gdLst/>
            <a:ahLst/>
            <a:cxnLst/>
            <a:rect l="l" t="t" r="r" b="b"/>
            <a:pathLst>
              <a:path w="201167" h="137160">
                <a:moveTo>
                  <a:pt x="0" y="0"/>
                </a:moveTo>
                <a:lnTo>
                  <a:pt x="201167" y="137160"/>
                </a:lnTo>
                <a:lnTo>
                  <a:pt x="201167" y="0"/>
                </a:lnTo>
                <a:lnTo>
                  <a:pt x="0" y="13716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984490" y="1188720"/>
            <a:ext cx="3987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V-113</a:t>
            </a:r>
          </a:p>
        </p:txBody>
      </p:sp>
      <p:sp>
        <p:nvSpPr>
          <p:cNvPr id="159" name="Freeform 158"/>
          <p:cNvSpPr/>
          <p:nvPr/>
        </p:nvSpPr>
        <p:spPr>
          <a:xfrm>
            <a:off x="7077455" y="1028700"/>
            <a:ext cx="201169" cy="137160"/>
          </a:xfrm>
          <a:custGeom>
            <a:avLst/>
            <a:gdLst/>
            <a:ahLst/>
            <a:cxnLst/>
            <a:rect l="l" t="t" r="r" b="b"/>
            <a:pathLst>
              <a:path w="201169" h="137160">
                <a:moveTo>
                  <a:pt x="0" y="0"/>
                </a:moveTo>
                <a:lnTo>
                  <a:pt x="201169" y="137160"/>
                </a:lnTo>
                <a:lnTo>
                  <a:pt x="201169" y="0"/>
                </a:lnTo>
                <a:lnTo>
                  <a:pt x="0" y="13716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978649" y="1188720"/>
            <a:ext cx="3987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V-114</a:t>
            </a:r>
          </a:p>
        </p:txBody>
      </p:sp>
      <p:sp>
        <p:nvSpPr>
          <p:cNvPr id="161" name="Freeform 160"/>
          <p:cNvSpPr/>
          <p:nvPr/>
        </p:nvSpPr>
        <p:spPr>
          <a:xfrm>
            <a:off x="7562088" y="101955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2" name="Connector 161"/>
          <p:cNvCxnSpPr/>
          <p:nvPr/>
        </p:nvCxnSpPr>
        <p:spPr>
          <a:xfrm flipV="1">
            <a:off x="7680960" y="868680"/>
            <a:ext cx="0" cy="15087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Freeform 162"/>
          <p:cNvSpPr/>
          <p:nvPr/>
        </p:nvSpPr>
        <p:spPr>
          <a:xfrm>
            <a:off x="7562088" y="768096"/>
            <a:ext cx="237744" cy="100584"/>
          </a:xfrm>
          <a:custGeom>
            <a:avLst/>
            <a:gdLst/>
            <a:ahLst/>
            <a:cxnLst/>
            <a:rect l="l" t="t" r="r" b="b"/>
            <a:pathLst>
              <a:path w="237744" h="100584">
                <a:moveTo>
                  <a:pt x="0" y="100584"/>
                </a:moveTo>
                <a:lnTo>
                  <a:pt x="0" y="100584"/>
                </a:lnTo>
                <a:lnTo>
                  <a:pt x="9048" y="62092"/>
                </a:lnTo>
                <a:lnTo>
                  <a:pt x="34816" y="29460"/>
                </a:lnTo>
                <a:lnTo>
                  <a:pt x="73381" y="7656"/>
                </a:lnTo>
                <a:lnTo>
                  <a:pt x="118872" y="0"/>
                </a:lnTo>
                <a:lnTo>
                  <a:pt x="164362" y="7656"/>
                </a:lnTo>
                <a:lnTo>
                  <a:pt x="202927" y="29460"/>
                </a:lnTo>
                <a:lnTo>
                  <a:pt x="228695" y="62092"/>
                </a:lnTo>
                <a:lnTo>
                  <a:pt x="237744" y="100584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7358633" y="1207007"/>
            <a:ext cx="64465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FV-104 FC</a:t>
            </a:r>
          </a:p>
        </p:txBody>
      </p:sp>
      <p:cxnSp>
        <p:nvCxnSpPr>
          <p:cNvPr id="165" name="Connector 164"/>
          <p:cNvCxnSpPr/>
          <p:nvPr/>
        </p:nvCxnSpPr>
        <p:spPr>
          <a:xfrm flipH="1">
            <a:off x="7680960" y="685800"/>
            <a:ext cx="102412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7680960" y="685800"/>
            <a:ext cx="0" cy="82296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Oval 166"/>
          <p:cNvSpPr/>
          <p:nvPr/>
        </p:nvSpPr>
        <p:spPr>
          <a:xfrm>
            <a:off x="8337042" y="10675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6965442" y="10675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9" name="Connector 168"/>
          <p:cNvCxnSpPr/>
          <p:nvPr/>
        </p:nvCxnSpPr>
        <p:spPr>
          <a:xfrm>
            <a:off x="8366760" y="1097280"/>
            <a:ext cx="0" cy="38404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H="1">
            <a:off x="6995160" y="1481328"/>
            <a:ext cx="1371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6995160" y="1097280"/>
            <a:ext cx="0" cy="38404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Freeform 171"/>
          <p:cNvSpPr/>
          <p:nvPr/>
        </p:nvSpPr>
        <p:spPr>
          <a:xfrm>
            <a:off x="7580376" y="1412748"/>
            <a:ext cx="201168" cy="137160"/>
          </a:xfrm>
          <a:custGeom>
            <a:avLst/>
            <a:gdLst/>
            <a:ahLst/>
            <a:cxnLst/>
            <a:rect l="l" t="t" r="r" b="b"/>
            <a:pathLst>
              <a:path w="201168" h="137160">
                <a:moveTo>
                  <a:pt x="0" y="0"/>
                </a:moveTo>
                <a:lnTo>
                  <a:pt x="201168" y="137160"/>
                </a:lnTo>
                <a:lnTo>
                  <a:pt x="201168" y="0"/>
                </a:lnTo>
                <a:lnTo>
                  <a:pt x="0" y="13716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7266432" y="1572768"/>
            <a:ext cx="82905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V-115 BYPASS</a:t>
            </a:r>
          </a:p>
        </p:txBody>
      </p:sp>
      <p:cxnSp>
        <p:nvCxnSpPr>
          <p:cNvPr id="174" name="Connector 173"/>
          <p:cNvCxnSpPr/>
          <p:nvPr/>
        </p:nvCxnSpPr>
        <p:spPr>
          <a:xfrm flipV="1">
            <a:off x="9692640" y="2011680"/>
            <a:ext cx="0" cy="1298448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H="1">
            <a:off x="8869680" y="2011680"/>
            <a:ext cx="82296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8869680" y="850392"/>
            <a:ext cx="0" cy="1161288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TextBox 176"/>
          <p:cNvSpPr txBox="1"/>
          <p:nvPr/>
        </p:nvSpPr>
        <p:spPr>
          <a:xfrm>
            <a:off x="8924544" y="1883664"/>
            <a:ext cx="249935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RSP</a:t>
            </a:r>
          </a:p>
        </p:txBody>
      </p:sp>
      <p:sp>
        <p:nvSpPr>
          <p:cNvPr id="178" name="Oval 177"/>
          <p:cNvSpPr/>
          <p:nvPr/>
        </p:nvSpPr>
        <p:spPr>
          <a:xfrm>
            <a:off x="5731002" y="399364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9" name="Connector 178"/>
          <p:cNvCxnSpPr/>
          <p:nvPr/>
        </p:nvCxnSpPr>
        <p:spPr>
          <a:xfrm flipV="1">
            <a:off x="5760720" y="3593592"/>
            <a:ext cx="0" cy="42976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Oval 179"/>
          <p:cNvSpPr/>
          <p:nvPr/>
        </p:nvSpPr>
        <p:spPr>
          <a:xfrm>
            <a:off x="5596128" y="32644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181" name="Oval 180"/>
          <p:cNvSpPr/>
          <p:nvPr/>
        </p:nvSpPr>
        <p:spPr>
          <a:xfrm>
            <a:off x="5596128" y="271576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cxnSp>
        <p:nvCxnSpPr>
          <p:cNvPr id="182" name="Connector 181"/>
          <p:cNvCxnSpPr/>
          <p:nvPr/>
        </p:nvCxnSpPr>
        <p:spPr>
          <a:xfrm>
            <a:off x="5596128" y="288036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5760720" y="3044952"/>
            <a:ext cx="0" cy="219456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Rectangle 183"/>
          <p:cNvSpPr/>
          <p:nvPr/>
        </p:nvSpPr>
        <p:spPr>
          <a:xfrm>
            <a:off x="6108192" y="3227832"/>
            <a:ext cx="402336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6144768" y="32644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PSHH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cxnSp>
        <p:nvCxnSpPr>
          <p:cNvPr id="186" name="Connector 185"/>
          <p:cNvCxnSpPr/>
          <p:nvPr/>
        </p:nvCxnSpPr>
        <p:spPr>
          <a:xfrm>
            <a:off x="6144768" y="342900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5925312" y="3429000"/>
            <a:ext cx="18288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TextBox 187"/>
          <p:cNvSpPr txBox="1"/>
          <p:nvPr/>
        </p:nvSpPr>
        <p:spPr>
          <a:xfrm>
            <a:off x="6120993" y="3136392"/>
            <a:ext cx="37673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NOTE 7</a:t>
            </a:r>
          </a:p>
        </p:txBody>
      </p:sp>
      <p:sp>
        <p:nvSpPr>
          <p:cNvPr id="189" name="Oval 188"/>
          <p:cNvSpPr/>
          <p:nvPr/>
        </p:nvSpPr>
        <p:spPr>
          <a:xfrm>
            <a:off x="6919722" y="399364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0" name="Connector 189"/>
          <p:cNvCxnSpPr/>
          <p:nvPr/>
        </p:nvCxnSpPr>
        <p:spPr>
          <a:xfrm flipV="1">
            <a:off x="6949440" y="3593592"/>
            <a:ext cx="0" cy="42976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Oval 190"/>
          <p:cNvSpPr/>
          <p:nvPr/>
        </p:nvSpPr>
        <p:spPr>
          <a:xfrm>
            <a:off x="6784848" y="32644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cxnSp>
        <p:nvCxnSpPr>
          <p:cNvPr id="192" name="Connector 191"/>
          <p:cNvCxnSpPr/>
          <p:nvPr/>
        </p:nvCxnSpPr>
        <p:spPr>
          <a:xfrm>
            <a:off x="6784848" y="3429000"/>
            <a:ext cx="329183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7680960" y="3602736"/>
            <a:ext cx="0" cy="42062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Freeform 193"/>
          <p:cNvSpPr/>
          <p:nvPr/>
        </p:nvSpPr>
        <p:spPr>
          <a:xfrm>
            <a:off x="7621524" y="3438144"/>
            <a:ext cx="118872" cy="164592"/>
          </a:xfrm>
          <a:custGeom>
            <a:avLst/>
            <a:gdLst/>
            <a:ahLst/>
            <a:cxnLst/>
            <a:rect l="l" t="t" r="r" b="b"/>
            <a:pathLst>
              <a:path w="118872" h="164592">
                <a:moveTo>
                  <a:pt x="0" y="0"/>
                </a:moveTo>
                <a:lnTo>
                  <a:pt x="118872" y="164592"/>
                </a:lnTo>
                <a:lnTo>
                  <a:pt x="0" y="164592"/>
                </a:lnTo>
                <a:lnTo>
                  <a:pt x="118872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5" name="Connector 194"/>
          <p:cNvCxnSpPr/>
          <p:nvPr/>
        </p:nvCxnSpPr>
        <p:spPr>
          <a:xfrm flipV="1">
            <a:off x="7680960" y="2697480"/>
            <a:ext cx="0" cy="740664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TextBox 195"/>
          <p:cNvSpPr txBox="1"/>
          <p:nvPr/>
        </p:nvSpPr>
        <p:spPr>
          <a:xfrm>
            <a:off x="7772400" y="2971800"/>
            <a:ext cx="52171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PSV-100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7772400" y="3081528"/>
            <a:ext cx="93675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SET TBC (NOTE 9)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7318248" y="2560320"/>
            <a:ext cx="72542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TO SAFE LOC.</a:t>
            </a:r>
          </a:p>
        </p:txBody>
      </p:sp>
      <p:cxnSp>
        <p:nvCxnSpPr>
          <p:cNvPr id="199" name="Connector 198"/>
          <p:cNvCxnSpPr/>
          <p:nvPr/>
        </p:nvCxnSpPr>
        <p:spPr>
          <a:xfrm flipV="1">
            <a:off x="8183879" y="3895344"/>
            <a:ext cx="0" cy="12801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Rectangle 199"/>
          <p:cNvSpPr/>
          <p:nvPr/>
        </p:nvSpPr>
        <p:spPr>
          <a:xfrm>
            <a:off x="8119872" y="3767328"/>
            <a:ext cx="128016" cy="128016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7970520" y="3630168"/>
            <a:ext cx="42672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VB-101</a:t>
            </a:r>
          </a:p>
        </p:txBody>
      </p:sp>
      <p:cxnSp>
        <p:nvCxnSpPr>
          <p:cNvPr id="202" name="Connector 201"/>
          <p:cNvCxnSpPr/>
          <p:nvPr/>
        </p:nvCxnSpPr>
        <p:spPr>
          <a:xfrm flipV="1">
            <a:off x="8503920" y="2468880"/>
            <a:ext cx="0" cy="15544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8503920" y="2468880"/>
            <a:ext cx="278892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Freeform 203"/>
          <p:cNvSpPr/>
          <p:nvPr/>
        </p:nvSpPr>
        <p:spPr>
          <a:xfrm>
            <a:off x="8435340" y="3374136"/>
            <a:ext cx="137160" cy="201167"/>
          </a:xfrm>
          <a:custGeom>
            <a:avLst/>
            <a:gdLst/>
            <a:ahLst/>
            <a:cxnLst/>
            <a:rect l="l" t="t" r="r" b="b"/>
            <a:pathLst>
              <a:path w="137160" h="201167">
                <a:moveTo>
                  <a:pt x="0" y="0"/>
                </a:moveTo>
                <a:lnTo>
                  <a:pt x="137160" y="201167"/>
                </a:lnTo>
                <a:lnTo>
                  <a:pt x="0" y="201167"/>
                </a:lnTo>
                <a:lnTo>
                  <a:pt x="137160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004556" y="3419856"/>
            <a:ext cx="3987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1">
                <a:solidFill>
                  <a:srgbClr val="000000"/>
                </a:solidFill>
                <a:latin typeface="Arial"/>
              </a:rPr>
              <a:t>V-104</a:t>
            </a:r>
          </a:p>
        </p:txBody>
      </p:sp>
      <p:sp>
        <p:nvSpPr>
          <p:cNvPr id="206" name="Oval 205"/>
          <p:cNvSpPr/>
          <p:nvPr/>
        </p:nvSpPr>
        <p:spPr>
          <a:xfrm>
            <a:off x="8474202" y="37193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8474202" y="31706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8" name="Connector 207"/>
          <p:cNvCxnSpPr/>
          <p:nvPr/>
        </p:nvCxnSpPr>
        <p:spPr>
          <a:xfrm>
            <a:off x="8503920" y="3749039"/>
            <a:ext cx="32004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8823960" y="3200400"/>
            <a:ext cx="0" cy="54863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H="1">
            <a:off x="8503920" y="3200400"/>
            <a:ext cx="32004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8705088" y="3442715"/>
            <a:ext cx="237744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8705088" y="3506724"/>
            <a:ext cx="237744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TextBox 212"/>
          <p:cNvSpPr txBox="1"/>
          <p:nvPr/>
        </p:nvSpPr>
        <p:spPr>
          <a:xfrm>
            <a:off x="8951976" y="3419856"/>
            <a:ext cx="87376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RO-101 (REV B)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8558784" y="2697480"/>
            <a:ext cx="56692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1"-VT-101</a:t>
            </a:r>
          </a:p>
        </p:txBody>
      </p:sp>
      <p:sp>
        <p:nvSpPr>
          <p:cNvPr id="215" name="Freeform 214"/>
          <p:cNvSpPr/>
          <p:nvPr/>
        </p:nvSpPr>
        <p:spPr>
          <a:xfrm>
            <a:off x="9939528" y="239115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6" name="Connector 215"/>
          <p:cNvCxnSpPr/>
          <p:nvPr/>
        </p:nvCxnSpPr>
        <p:spPr>
          <a:xfrm flipV="1">
            <a:off x="10058400" y="2240280"/>
            <a:ext cx="0" cy="15087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Freeform 216"/>
          <p:cNvSpPr/>
          <p:nvPr/>
        </p:nvSpPr>
        <p:spPr>
          <a:xfrm>
            <a:off x="9939528" y="2139696"/>
            <a:ext cx="237744" cy="100584"/>
          </a:xfrm>
          <a:custGeom>
            <a:avLst/>
            <a:gdLst/>
            <a:ahLst/>
            <a:cxnLst/>
            <a:rect l="l" t="t" r="r" b="b"/>
            <a:pathLst>
              <a:path w="237744" h="100584">
                <a:moveTo>
                  <a:pt x="0" y="100584"/>
                </a:moveTo>
                <a:lnTo>
                  <a:pt x="0" y="100584"/>
                </a:lnTo>
                <a:lnTo>
                  <a:pt x="9048" y="62092"/>
                </a:lnTo>
                <a:lnTo>
                  <a:pt x="34816" y="29460"/>
                </a:lnTo>
                <a:lnTo>
                  <a:pt x="73381" y="7656"/>
                </a:lnTo>
                <a:lnTo>
                  <a:pt x="118872" y="0"/>
                </a:lnTo>
                <a:lnTo>
                  <a:pt x="164362" y="7656"/>
                </a:lnTo>
                <a:lnTo>
                  <a:pt x="202927" y="29460"/>
                </a:lnTo>
                <a:lnTo>
                  <a:pt x="228695" y="62092"/>
                </a:lnTo>
                <a:lnTo>
                  <a:pt x="237744" y="100584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9551670" y="2578608"/>
            <a:ext cx="101346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AAV-101 (REV C)</a:t>
            </a:r>
          </a:p>
        </p:txBody>
      </p:sp>
      <p:sp>
        <p:nvSpPr>
          <p:cNvPr id="219" name="Oval 218"/>
          <p:cNvSpPr/>
          <p:nvPr/>
        </p:nvSpPr>
        <p:spPr>
          <a:xfrm>
            <a:off x="10714482" y="24391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0" name="Connector 219"/>
          <p:cNvCxnSpPr/>
          <p:nvPr/>
        </p:nvCxnSpPr>
        <p:spPr>
          <a:xfrm flipV="1">
            <a:off x="10744200" y="2221992"/>
            <a:ext cx="0" cy="24688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Oval 220"/>
          <p:cNvSpPr/>
          <p:nvPr/>
        </p:nvSpPr>
        <p:spPr>
          <a:xfrm>
            <a:off x="10579608" y="1892807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102</a:t>
            </a:r>
          </a:p>
        </p:txBody>
      </p:sp>
      <p:cxnSp>
        <p:nvCxnSpPr>
          <p:cNvPr id="222" name="Connector 221"/>
          <p:cNvCxnSpPr/>
          <p:nvPr/>
        </p:nvCxnSpPr>
        <p:spPr>
          <a:xfrm>
            <a:off x="10579608" y="205740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H="1">
            <a:off x="10058400" y="2057400"/>
            <a:ext cx="52120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10058400" y="2057400"/>
            <a:ext cx="0" cy="82296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TextBox 224"/>
          <p:cNvSpPr txBox="1"/>
          <p:nvPr/>
        </p:nvSpPr>
        <p:spPr>
          <a:xfrm>
            <a:off x="10156444" y="2523744"/>
            <a:ext cx="113639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1">
                <a:solidFill>
                  <a:srgbClr val="000000"/>
                </a:solidFill>
                <a:latin typeface="Arial"/>
              </a:rPr>
              <a:t>VENT TO SAFE LOC.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10945368" y="2002536"/>
            <a:ext cx="61447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TAL (REV C)</a:t>
            </a:r>
          </a:p>
        </p:txBody>
      </p:sp>
      <p:cxnSp>
        <p:nvCxnSpPr>
          <p:cNvPr id="227" name="Connector 226"/>
          <p:cNvCxnSpPr/>
          <p:nvPr/>
        </p:nvCxnSpPr>
        <p:spPr>
          <a:xfrm>
            <a:off x="8412480" y="5212080"/>
            <a:ext cx="0" cy="13716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8412480" y="6583680"/>
            <a:ext cx="288036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" name="TextBox 228"/>
          <p:cNvSpPr txBox="1"/>
          <p:nvPr/>
        </p:nvSpPr>
        <p:spPr>
          <a:xfrm>
            <a:off x="7790688" y="6263640"/>
            <a:ext cx="56692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000000"/>
                </a:solidFill>
                <a:latin typeface="Arial"/>
              </a:rPr>
              <a:t>3"-SC-101</a:t>
            </a:r>
          </a:p>
        </p:txBody>
      </p:sp>
      <p:sp>
        <p:nvSpPr>
          <p:cNvPr id="230" name="Freeform 229"/>
          <p:cNvSpPr/>
          <p:nvPr/>
        </p:nvSpPr>
        <p:spPr>
          <a:xfrm>
            <a:off x="8723376" y="6515100"/>
            <a:ext cx="201168" cy="137160"/>
          </a:xfrm>
          <a:custGeom>
            <a:avLst/>
            <a:gdLst/>
            <a:ahLst/>
            <a:cxnLst/>
            <a:rect l="l" t="t" r="r" b="b"/>
            <a:pathLst>
              <a:path w="201168" h="137160">
                <a:moveTo>
                  <a:pt x="0" y="0"/>
                </a:moveTo>
                <a:lnTo>
                  <a:pt x="201168" y="137160"/>
                </a:lnTo>
                <a:lnTo>
                  <a:pt x="201168" y="0"/>
                </a:lnTo>
                <a:lnTo>
                  <a:pt x="0" y="13716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8624570" y="6675120"/>
            <a:ext cx="3987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V-101</a:t>
            </a:r>
          </a:p>
        </p:txBody>
      </p:sp>
      <p:cxnSp>
        <p:nvCxnSpPr>
          <p:cNvPr id="232" name="Connector 231"/>
          <p:cNvCxnSpPr/>
          <p:nvPr/>
        </p:nvCxnSpPr>
        <p:spPr>
          <a:xfrm>
            <a:off x="9171432" y="6583680"/>
            <a:ext cx="146304" cy="146304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9317736" y="6656832"/>
            <a:ext cx="73152" cy="73152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9081770" y="6766560"/>
            <a:ext cx="3987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Y-101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9656064" y="6501384"/>
            <a:ext cx="164592" cy="164592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9656064" y="6519672"/>
            <a:ext cx="16459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9508236" y="6684264"/>
            <a:ext cx="460247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ST-101</a:t>
            </a:r>
          </a:p>
        </p:txBody>
      </p:sp>
      <p:sp>
        <p:nvSpPr>
          <p:cNvPr id="238" name="Freeform 237"/>
          <p:cNvSpPr/>
          <p:nvPr/>
        </p:nvSpPr>
        <p:spPr>
          <a:xfrm>
            <a:off x="10094976" y="6515100"/>
            <a:ext cx="201168" cy="137160"/>
          </a:xfrm>
          <a:custGeom>
            <a:avLst/>
            <a:gdLst/>
            <a:ahLst/>
            <a:cxnLst/>
            <a:rect l="l" t="t" r="r" b="b"/>
            <a:pathLst>
              <a:path w="201168" h="137160">
                <a:moveTo>
                  <a:pt x="0" y="0"/>
                </a:moveTo>
                <a:lnTo>
                  <a:pt x="201168" y="137160"/>
                </a:lnTo>
                <a:lnTo>
                  <a:pt x="201168" y="0"/>
                </a:lnTo>
                <a:lnTo>
                  <a:pt x="0" y="13716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9996170" y="6675120"/>
            <a:ext cx="3987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V-102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0424160" y="6446520"/>
            <a:ext cx="56692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4"-SC-102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9910572" y="6327648"/>
            <a:ext cx="138226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1">
                <a:solidFill>
                  <a:srgbClr val="000000"/>
                </a:solidFill>
                <a:latin typeface="Arial"/>
              </a:rPr>
              <a:t>COND. RETURN 30 kPa g</a:t>
            </a:r>
          </a:p>
        </p:txBody>
      </p:sp>
      <p:sp>
        <p:nvSpPr>
          <p:cNvPr id="242" name="Oval 241"/>
          <p:cNvSpPr/>
          <p:nvPr/>
        </p:nvSpPr>
        <p:spPr>
          <a:xfrm>
            <a:off x="8583930" y="65539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0394442" y="65539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4" name="Connector 243"/>
          <p:cNvCxnSpPr/>
          <p:nvPr/>
        </p:nvCxnSpPr>
        <p:spPr>
          <a:xfrm>
            <a:off x="8613648" y="6583680"/>
            <a:ext cx="0" cy="50292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8613648" y="7086600"/>
            <a:ext cx="181051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V="1">
            <a:off x="10424160" y="6583680"/>
            <a:ext cx="0" cy="50292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Freeform 246"/>
          <p:cNvSpPr/>
          <p:nvPr/>
        </p:nvSpPr>
        <p:spPr>
          <a:xfrm>
            <a:off x="9409176" y="7018020"/>
            <a:ext cx="201168" cy="137160"/>
          </a:xfrm>
          <a:custGeom>
            <a:avLst/>
            <a:gdLst/>
            <a:ahLst/>
            <a:cxnLst/>
            <a:rect l="l" t="t" r="r" b="b"/>
            <a:pathLst>
              <a:path w="201168" h="137160">
                <a:moveTo>
                  <a:pt x="0" y="0"/>
                </a:moveTo>
                <a:lnTo>
                  <a:pt x="201168" y="137160"/>
                </a:lnTo>
                <a:lnTo>
                  <a:pt x="201168" y="0"/>
                </a:lnTo>
                <a:lnTo>
                  <a:pt x="0" y="13716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8787892" y="7178040"/>
            <a:ext cx="144373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V-103 TRAP BYPASS (NC)</a:t>
            </a:r>
          </a:p>
        </p:txBody>
      </p:sp>
      <p:sp>
        <p:nvSpPr>
          <p:cNvPr id="249" name="Oval 248"/>
          <p:cNvSpPr/>
          <p:nvPr/>
        </p:nvSpPr>
        <p:spPr>
          <a:xfrm>
            <a:off x="7376921" y="51823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0" name="Connector 249"/>
          <p:cNvCxnSpPr/>
          <p:nvPr/>
        </p:nvCxnSpPr>
        <p:spPr>
          <a:xfrm>
            <a:off x="7406640" y="5212080"/>
            <a:ext cx="0" cy="17282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Freeform 250"/>
          <p:cNvSpPr/>
          <p:nvPr/>
        </p:nvSpPr>
        <p:spPr>
          <a:xfrm>
            <a:off x="7356348" y="5369356"/>
            <a:ext cx="100583" cy="146304"/>
          </a:xfrm>
          <a:custGeom>
            <a:avLst/>
            <a:gdLst/>
            <a:ahLst/>
            <a:cxnLst/>
            <a:rect l="l" t="t" r="r" b="b"/>
            <a:pathLst>
              <a:path w="100583" h="146304">
                <a:moveTo>
                  <a:pt x="0" y="0"/>
                </a:moveTo>
                <a:lnTo>
                  <a:pt x="100583" y="146304"/>
                </a:lnTo>
                <a:lnTo>
                  <a:pt x="0" y="146304"/>
                </a:lnTo>
                <a:lnTo>
                  <a:pt x="100583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2" name="Connector 251"/>
          <p:cNvCxnSpPr/>
          <p:nvPr/>
        </p:nvCxnSpPr>
        <p:spPr>
          <a:xfrm>
            <a:off x="7406640" y="5511637"/>
            <a:ext cx="0" cy="84491"/>
          </a:xfrm>
          <a:prstGeom prst="line">
            <a:avLst/>
          </a:prstGeom>
          <a:ln w="889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3" name="TextBox 252"/>
          <p:cNvSpPr txBox="1"/>
          <p:nvPr/>
        </p:nvSpPr>
        <p:spPr>
          <a:xfrm>
            <a:off x="7470648" y="5477256"/>
            <a:ext cx="51409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V-105 DR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11475720" y="502920"/>
            <a:ext cx="3246120" cy="7982711"/>
          </a:xfrm>
          <a:prstGeom prst="rect">
            <a:avLst/>
          </a:pr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11567160" y="576072"/>
            <a:ext cx="56083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Arial"/>
              </a:rPr>
              <a:t>LEGEND</a:t>
            </a:r>
          </a:p>
        </p:txBody>
      </p:sp>
      <p:cxnSp>
        <p:nvCxnSpPr>
          <p:cNvPr id="256" name="Connector 255"/>
          <p:cNvCxnSpPr/>
          <p:nvPr/>
        </p:nvCxnSpPr>
        <p:spPr>
          <a:xfrm>
            <a:off x="11585448" y="832104"/>
            <a:ext cx="66751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7" name="TextBox 256"/>
          <p:cNvSpPr txBox="1"/>
          <p:nvPr/>
        </p:nvSpPr>
        <p:spPr>
          <a:xfrm>
            <a:off x="12435840" y="777240"/>
            <a:ext cx="78882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PROCESS LINE</a:t>
            </a:r>
          </a:p>
        </p:txBody>
      </p:sp>
      <p:cxnSp>
        <p:nvCxnSpPr>
          <p:cNvPr id="258" name="Connector 257"/>
          <p:cNvCxnSpPr/>
          <p:nvPr/>
        </p:nvCxnSpPr>
        <p:spPr>
          <a:xfrm>
            <a:off x="11585448" y="1069848"/>
            <a:ext cx="66751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9" name="TextBox 258"/>
          <p:cNvSpPr txBox="1"/>
          <p:nvPr/>
        </p:nvSpPr>
        <p:spPr>
          <a:xfrm>
            <a:off x="12435840" y="1014983"/>
            <a:ext cx="206735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UTILITY LINE (STEAM, VENT, RELIEF)</a:t>
            </a:r>
          </a:p>
        </p:txBody>
      </p:sp>
      <p:cxnSp>
        <p:nvCxnSpPr>
          <p:cNvPr id="260" name="Connector 259"/>
          <p:cNvCxnSpPr/>
          <p:nvPr/>
        </p:nvCxnSpPr>
        <p:spPr>
          <a:xfrm>
            <a:off x="11585448" y="1307592"/>
            <a:ext cx="667512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1" name="TextBox 260"/>
          <p:cNvSpPr txBox="1"/>
          <p:nvPr/>
        </p:nvSpPr>
        <p:spPr>
          <a:xfrm>
            <a:off x="12435840" y="1252728"/>
            <a:ext cx="107939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INSTRUMENT SIGNAL</a:t>
            </a:r>
          </a:p>
        </p:txBody>
      </p:sp>
      <p:cxnSp>
        <p:nvCxnSpPr>
          <p:cNvPr id="262" name="Connector 261"/>
          <p:cNvCxnSpPr/>
          <p:nvPr/>
        </p:nvCxnSpPr>
        <p:spPr>
          <a:xfrm>
            <a:off x="11585448" y="1545336"/>
            <a:ext cx="66751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3" name="Freeform 262"/>
          <p:cNvSpPr/>
          <p:nvPr/>
        </p:nvSpPr>
        <p:spPr>
          <a:xfrm>
            <a:off x="11814048" y="1476756"/>
            <a:ext cx="201168" cy="137160"/>
          </a:xfrm>
          <a:custGeom>
            <a:avLst/>
            <a:gdLst/>
            <a:ahLst/>
            <a:cxnLst/>
            <a:rect l="l" t="t" r="r" b="b"/>
            <a:pathLst>
              <a:path w="201168" h="137160">
                <a:moveTo>
                  <a:pt x="0" y="0"/>
                </a:moveTo>
                <a:lnTo>
                  <a:pt x="201168" y="137160"/>
                </a:lnTo>
                <a:lnTo>
                  <a:pt x="201168" y="0"/>
                </a:lnTo>
                <a:lnTo>
                  <a:pt x="0" y="13716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12435840" y="1490472"/>
            <a:ext cx="119562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MANUAL VALVE (GATE)</a:t>
            </a:r>
          </a:p>
        </p:txBody>
      </p:sp>
      <p:cxnSp>
        <p:nvCxnSpPr>
          <p:cNvPr id="265" name="Connector 264"/>
          <p:cNvCxnSpPr/>
          <p:nvPr/>
        </p:nvCxnSpPr>
        <p:spPr>
          <a:xfrm>
            <a:off x="11585448" y="2002536"/>
            <a:ext cx="66751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" name="Freeform 265"/>
          <p:cNvSpPr/>
          <p:nvPr/>
        </p:nvSpPr>
        <p:spPr>
          <a:xfrm>
            <a:off x="11795760" y="1924812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7" name="Connector 266"/>
          <p:cNvCxnSpPr/>
          <p:nvPr/>
        </p:nvCxnSpPr>
        <p:spPr>
          <a:xfrm flipV="1">
            <a:off x="11914632" y="1773936"/>
            <a:ext cx="0" cy="15087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8" name="Freeform 267"/>
          <p:cNvSpPr/>
          <p:nvPr/>
        </p:nvSpPr>
        <p:spPr>
          <a:xfrm>
            <a:off x="11795760" y="1673351"/>
            <a:ext cx="237744" cy="100585"/>
          </a:xfrm>
          <a:custGeom>
            <a:avLst/>
            <a:gdLst/>
            <a:ahLst/>
            <a:cxnLst/>
            <a:rect l="l" t="t" r="r" b="b"/>
            <a:pathLst>
              <a:path w="237744" h="100585">
                <a:moveTo>
                  <a:pt x="0" y="100585"/>
                </a:moveTo>
                <a:lnTo>
                  <a:pt x="0" y="100585"/>
                </a:lnTo>
                <a:lnTo>
                  <a:pt x="9048" y="62093"/>
                </a:lnTo>
                <a:lnTo>
                  <a:pt x="34816" y="29461"/>
                </a:lnTo>
                <a:lnTo>
                  <a:pt x="73381" y="7657"/>
                </a:lnTo>
                <a:lnTo>
                  <a:pt x="118872" y="0"/>
                </a:lnTo>
                <a:lnTo>
                  <a:pt x="164362" y="7657"/>
                </a:lnTo>
                <a:lnTo>
                  <a:pt x="202927" y="29461"/>
                </a:lnTo>
                <a:lnTo>
                  <a:pt x="228695" y="62093"/>
                </a:lnTo>
                <a:lnTo>
                  <a:pt x="237744" y="100585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12435840" y="1947672"/>
            <a:ext cx="2590393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CONTROL VALVE, FO / FC = FAIL OPEN / CLOSED</a:t>
            </a:r>
          </a:p>
        </p:txBody>
      </p:sp>
      <p:cxnSp>
        <p:nvCxnSpPr>
          <p:cNvPr id="270" name="Connector 269"/>
          <p:cNvCxnSpPr/>
          <p:nvPr/>
        </p:nvCxnSpPr>
        <p:spPr>
          <a:xfrm>
            <a:off x="11585448" y="2404872"/>
            <a:ext cx="66751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1" name="Freeform 270"/>
          <p:cNvSpPr/>
          <p:nvPr/>
        </p:nvSpPr>
        <p:spPr>
          <a:xfrm>
            <a:off x="11795760" y="2327148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2" name="Connector 271"/>
          <p:cNvCxnSpPr/>
          <p:nvPr/>
        </p:nvCxnSpPr>
        <p:spPr>
          <a:xfrm flipV="1">
            <a:off x="11914632" y="2203703"/>
            <a:ext cx="0" cy="123445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Rectangle 272"/>
          <p:cNvSpPr/>
          <p:nvPr/>
        </p:nvSpPr>
        <p:spPr>
          <a:xfrm>
            <a:off x="11846052" y="2093975"/>
            <a:ext cx="137160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11846052" y="2093976"/>
            <a:ext cx="13716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S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12435840" y="2350008"/>
            <a:ext cx="2474163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SIS SHUT-OFF VALVE, SOLENOID, FAIL CLOSED</a:t>
            </a:r>
          </a:p>
        </p:txBody>
      </p:sp>
      <p:cxnSp>
        <p:nvCxnSpPr>
          <p:cNvPr id="276" name="Connector 275"/>
          <p:cNvCxnSpPr/>
          <p:nvPr/>
        </p:nvCxnSpPr>
        <p:spPr>
          <a:xfrm>
            <a:off x="11585448" y="2715768"/>
            <a:ext cx="66751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7" name="Freeform 276"/>
          <p:cNvSpPr/>
          <p:nvPr/>
        </p:nvSpPr>
        <p:spPr>
          <a:xfrm>
            <a:off x="11795760" y="2632557"/>
            <a:ext cx="184251" cy="166421"/>
          </a:xfrm>
          <a:custGeom>
            <a:avLst/>
            <a:gdLst/>
            <a:ahLst/>
            <a:cxnLst/>
            <a:rect l="l" t="t" r="r" b="b"/>
            <a:pathLst>
              <a:path w="184251" h="166421">
                <a:moveTo>
                  <a:pt x="0" y="0"/>
                </a:moveTo>
                <a:lnTo>
                  <a:pt x="184251" y="83211"/>
                </a:lnTo>
                <a:lnTo>
                  <a:pt x="0" y="166421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8" name="Connector 277"/>
          <p:cNvCxnSpPr/>
          <p:nvPr/>
        </p:nvCxnSpPr>
        <p:spPr>
          <a:xfrm>
            <a:off x="11980011" y="2632557"/>
            <a:ext cx="0" cy="166421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9" name="TextBox 278"/>
          <p:cNvSpPr txBox="1"/>
          <p:nvPr/>
        </p:nvSpPr>
        <p:spPr>
          <a:xfrm>
            <a:off x="12435840" y="2660903"/>
            <a:ext cx="730707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CHECK VALVE</a:t>
            </a:r>
          </a:p>
        </p:txBody>
      </p:sp>
      <p:cxnSp>
        <p:nvCxnSpPr>
          <p:cNvPr id="280" name="Connector 279"/>
          <p:cNvCxnSpPr/>
          <p:nvPr/>
        </p:nvCxnSpPr>
        <p:spPr>
          <a:xfrm>
            <a:off x="11585448" y="2990087"/>
            <a:ext cx="66751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11882628" y="2871215"/>
            <a:ext cx="0" cy="237744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11946636" y="2871215"/>
            <a:ext cx="0" cy="237744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TextBox 282"/>
          <p:cNvSpPr txBox="1"/>
          <p:nvPr/>
        </p:nvSpPr>
        <p:spPr>
          <a:xfrm>
            <a:off x="12435840" y="2935223"/>
            <a:ext cx="136997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FLOW ELEMENT (ORIFICE)</a:t>
            </a:r>
          </a:p>
        </p:txBody>
      </p:sp>
      <p:cxnSp>
        <p:nvCxnSpPr>
          <p:cNvPr id="284" name="Connector 283"/>
          <p:cNvCxnSpPr/>
          <p:nvPr/>
        </p:nvCxnSpPr>
        <p:spPr>
          <a:xfrm>
            <a:off x="11585448" y="3264407"/>
            <a:ext cx="66751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5" name="Rectangle 284"/>
          <p:cNvSpPr/>
          <p:nvPr/>
        </p:nvSpPr>
        <p:spPr>
          <a:xfrm>
            <a:off x="11832336" y="3182111"/>
            <a:ext cx="164592" cy="164592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11832336" y="3200399"/>
            <a:ext cx="16459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11868912" y="3364991"/>
            <a:ext cx="9144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12435840" y="3209543"/>
            <a:ext cx="67259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STEAM TRAP</a:t>
            </a:r>
          </a:p>
        </p:txBody>
      </p:sp>
      <p:sp>
        <p:nvSpPr>
          <p:cNvPr id="289" name="Freeform 288"/>
          <p:cNvSpPr/>
          <p:nvPr/>
        </p:nvSpPr>
        <p:spPr>
          <a:xfrm>
            <a:off x="11855196" y="3493007"/>
            <a:ext cx="118872" cy="164592"/>
          </a:xfrm>
          <a:custGeom>
            <a:avLst/>
            <a:gdLst/>
            <a:ahLst/>
            <a:cxnLst/>
            <a:rect l="l" t="t" r="r" b="b"/>
            <a:pathLst>
              <a:path w="118872" h="164592">
                <a:moveTo>
                  <a:pt x="0" y="0"/>
                </a:moveTo>
                <a:lnTo>
                  <a:pt x="118872" y="164592"/>
                </a:lnTo>
                <a:lnTo>
                  <a:pt x="0" y="164592"/>
                </a:lnTo>
                <a:lnTo>
                  <a:pt x="118872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0" name="Connector 289"/>
          <p:cNvCxnSpPr/>
          <p:nvPr/>
        </p:nvCxnSpPr>
        <p:spPr>
          <a:xfrm flipV="1">
            <a:off x="11914632" y="3392423"/>
            <a:ext cx="0" cy="100584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1" name="TextBox 290"/>
          <p:cNvSpPr txBox="1"/>
          <p:nvPr/>
        </p:nvSpPr>
        <p:spPr>
          <a:xfrm>
            <a:off x="12435840" y="3520439"/>
            <a:ext cx="1137513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RELIEF VALVE (PSV)</a:t>
            </a:r>
          </a:p>
        </p:txBody>
      </p:sp>
      <p:sp>
        <p:nvSpPr>
          <p:cNvPr id="292" name="Oval 291"/>
          <p:cNvSpPr/>
          <p:nvPr/>
        </p:nvSpPr>
        <p:spPr>
          <a:xfrm>
            <a:off x="11750040" y="3776472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12435840" y="3886200"/>
            <a:ext cx="148620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FIELD-MOUNTED INSTRUMENT</a:t>
            </a:r>
          </a:p>
        </p:txBody>
      </p:sp>
      <p:sp>
        <p:nvSpPr>
          <p:cNvPr id="294" name="Oval 293"/>
          <p:cNvSpPr/>
          <p:nvPr/>
        </p:nvSpPr>
        <p:spPr>
          <a:xfrm>
            <a:off x="11750040" y="416052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cxnSp>
        <p:nvCxnSpPr>
          <p:cNvPr id="295" name="Connector 294"/>
          <p:cNvCxnSpPr/>
          <p:nvPr/>
        </p:nvCxnSpPr>
        <p:spPr>
          <a:xfrm>
            <a:off x="11750040" y="4325112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6" name="TextBox 295"/>
          <p:cNvSpPr txBox="1"/>
          <p:nvPr/>
        </p:nvSpPr>
        <p:spPr>
          <a:xfrm>
            <a:off x="12435840" y="4270248"/>
            <a:ext cx="1893011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DCS FUNCTION (OPERATOR CONSOLE)</a:t>
            </a:r>
          </a:p>
        </p:txBody>
      </p:sp>
      <p:sp>
        <p:nvSpPr>
          <p:cNvPr id="297" name="Rectangle 296"/>
          <p:cNvSpPr/>
          <p:nvPr/>
        </p:nvSpPr>
        <p:spPr>
          <a:xfrm>
            <a:off x="11713464" y="4544568"/>
            <a:ext cx="402336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11750040" y="4581144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TSHH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108</a:t>
            </a:r>
          </a:p>
        </p:txBody>
      </p:sp>
      <p:cxnSp>
        <p:nvCxnSpPr>
          <p:cNvPr id="299" name="Connector 298"/>
          <p:cNvCxnSpPr/>
          <p:nvPr/>
        </p:nvCxnSpPr>
        <p:spPr>
          <a:xfrm>
            <a:off x="11750040" y="4745736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" name="TextBox 299"/>
          <p:cNvSpPr txBox="1"/>
          <p:nvPr/>
        </p:nvSpPr>
        <p:spPr>
          <a:xfrm>
            <a:off x="12435840" y="4690872"/>
            <a:ext cx="78882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SIS FUNCTION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11585448" y="5093207"/>
            <a:ext cx="311343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SERVICE CODES:  BW BOILER FEED WATER  ·  LS FLASH STEAM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11585448" y="5212079"/>
            <a:ext cx="250903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SC STEAM CONDENSATE  ·  VT VENT  ·  DR DRAIN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11585448" y="5330951"/>
            <a:ext cx="3058485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LINE NO. = SIZE - SERVICE - NUMBER (SIZES TBC, NOTE 2)</a:t>
            </a:r>
          </a:p>
        </p:txBody>
      </p:sp>
      <p:cxnSp>
        <p:nvCxnSpPr>
          <p:cNvPr id="304" name="Connector 303"/>
          <p:cNvCxnSpPr/>
          <p:nvPr/>
        </p:nvCxnSpPr>
        <p:spPr>
          <a:xfrm>
            <a:off x="11475720" y="5504687"/>
            <a:ext cx="32461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5" name="TextBox 304"/>
          <p:cNvSpPr txBox="1"/>
          <p:nvPr/>
        </p:nvSpPr>
        <p:spPr>
          <a:xfrm>
            <a:off x="11567160" y="5577839"/>
            <a:ext cx="241604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>
                <a:solidFill>
                  <a:srgbClr val="000000"/>
                </a:solidFill>
                <a:latin typeface="Arial"/>
              </a:rPr>
              <a:t>INTERLOCK SCHEDULE  ·  SIS I-100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11612880" y="5797295"/>
            <a:ext cx="53949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TAG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12179807" y="5797295"/>
            <a:ext cx="1234439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CAUSE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13441679" y="5797295"/>
            <a:ext cx="722375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SETTING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14191487" y="5797295"/>
            <a:ext cx="338328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DELAY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11612880" y="5971031"/>
            <a:ext cx="53949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FSLL-101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12179807" y="5971031"/>
            <a:ext cx="1234439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LOW BFW FLOW *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13441679" y="5971031"/>
            <a:ext cx="722375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&lt; 30 m³/h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14191487" y="5971031"/>
            <a:ext cx="338328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5 s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11612880" y="6144767"/>
            <a:ext cx="53949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TSHH-108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12179807" y="6144767"/>
            <a:ext cx="1234439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HIGH BFW OUTLET TEMP.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13441679" y="6144767"/>
            <a:ext cx="722375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&gt; 95 °C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14191487" y="6144767"/>
            <a:ext cx="338328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5 s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11612880" y="6318503"/>
            <a:ext cx="53949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PSHH-100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12179807" y="6318503"/>
            <a:ext cx="1234439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HIGH SHELL PRESSURE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13441679" y="6318503"/>
            <a:ext cx="722375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&gt; 250 kPa g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14191487" y="6318503"/>
            <a:ext cx="338328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3 s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1612880" y="6492239"/>
            <a:ext cx="53949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HS-ESD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12179807" y="6492239"/>
            <a:ext cx="1234439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ESD PUSHBUTTON (DCS)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13441679" y="6492239"/>
            <a:ext cx="722375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MANUAL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14191487" y="6492239"/>
            <a:ext cx="338328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0 s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11612880" y="6665975"/>
            <a:ext cx="53949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PSV-100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12179807" y="6665975"/>
            <a:ext cx="1234439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E-101 SHELL OVERPRESSURE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13441679" y="6665975"/>
            <a:ext cx="722375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TBC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14191487" y="6665975"/>
            <a:ext cx="338328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MECH.</a:t>
            </a:r>
          </a:p>
        </p:txBody>
      </p:sp>
      <p:cxnSp>
        <p:nvCxnSpPr>
          <p:cNvPr id="330" name="Connector 329"/>
          <p:cNvCxnSpPr/>
          <p:nvPr/>
        </p:nvCxnSpPr>
        <p:spPr>
          <a:xfrm>
            <a:off x="11585448" y="5797295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11585448" y="5971031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>
            <a:off x="11585448" y="6144767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>
            <a:off x="11585448" y="6318503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>
            <a:off x="11585448" y="6492239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11585448" y="6665975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11585448" y="6839711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11585448" y="5797295"/>
            <a:ext cx="0" cy="104241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12152376" y="5797295"/>
            <a:ext cx="0" cy="104241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13414247" y="5797295"/>
            <a:ext cx="0" cy="104241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14164055" y="5797295"/>
            <a:ext cx="0" cy="104241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>
            <a:off x="14529815" y="5797295"/>
            <a:ext cx="0" cy="104241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2" name="TextBox 341"/>
          <p:cNvSpPr txBox="1"/>
          <p:nvPr/>
        </p:nvSpPr>
        <p:spPr>
          <a:xfrm>
            <a:off x="11585448" y="6931151"/>
            <a:ext cx="1021283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EFFECTS (I-100):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11585448" y="7050023"/>
            <a:ext cx="2289251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ANY TRIP: CLOSE XV-100 (STEAM SHUT-OFF);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11585448" y="7168895"/>
            <a:ext cx="217936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   FIC-104 TO MAN 0 %; TIC-101 TO MAN.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11585448" y="7287767"/>
            <a:ext cx="267386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* ARMED ONLY WHEN THE SIS IS IN RUN (STEAM ON).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11585448" y="7406640"/>
            <a:ext cx="2893649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RESET BLOCKED WHILE TSHH-108 OR PSHH-100 IS ACTIVE.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11585448" y="7525512"/>
            <a:ext cx="311343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OPEN XV-100 NEEDS: SIS RESET (IDLE), FIC-101 ≥ 50 m³/h,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11585448" y="7644384"/>
            <a:ext cx="250903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FIC-104 IN MAN ≤ 10 %, V-101 AND V-102 OPEN.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457200" y="8732520"/>
            <a:ext cx="5486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GENERAL NOTES: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1. DESIGN BASIS: BFW STEAM HEATER VER 1 OTS MODEL, DESIGN CASE. PRESSURES kPa g.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    BFW 100 m³/h (27.7 kg/s) 18 → 70 °C: DUTY 6.04 MW. FLASH STEAM 9 935 kg/h FROM THE 200 kPa g HEADER (PI-105 195),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    SHELL 105 kPa g / 121.3 °C (λ 2 189 kJ/kg). P-101 DISCHARGE PI-106 662; TUBE-SIDE ΔP PDI-109 60 kPa.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    CONDENSATE TO THE 30 kPa g RETURN; HOTWELL LEVEL ≈ 5 % OF SHELL DIAMETER (TUBES START AT 12 %).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2. LINE SIZES FROM VELOCITY (BFW 6 in 1.5 m/s; STEAM 12 in 24 m/s, 14 in 28 m/s; CONDENSATE 3 in 0.6 m/s) - TBC.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3. PRESSURE INSTRUMENTS C/W ROOT AND TEST VALVES; PUMP CASING AND CHANNEL VENTS/DRAINS; TYP., NOT SHOWN.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4. XV-100 FAILS CLOSED, OPERATED BY SIS I-100 (SIGNALS NOT SHOWN). FV-104 FC, FV-101A FO.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5. TIC-101 SETS THE FIC-104 STEAM-FLOW SET POINT (CASCADE, RSP).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6. FV-101B MINIMUM-FLOW RECYCLE OPENS AS 100 − FIC-101 OUT (SPLIT); FAIL POSITION NOT IN THE OTS MODEL - TBC.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7. PSHH-100 SHARES PT-100 WITH PI-100, FSLL-101 SHARES FT-101 WITH FIC-101: OWN TRANSMITTERS RECOMMENDED - HOLD.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    TSHH-108 / TIAH-108 HAVE THEIR OWN TT-108, INDEPENDENT OF TT-101.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6035040" y="8732520"/>
            <a:ext cx="55778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NOTES (CONT.):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8. NON-CONDENSABLES COLLECT AT THE SHELL END FURTHEST FROM THE STEAM INLET; V-104 VENTS THERE.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      REV B: RO-101 CONTINUOUS VENT. REV C: AAV-101 AUTOMATIC AIR VENT WITH TI-102 / TAL-102.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9. PSV-100 SET PRESSURE AND SHELL / TUBE DESIGN PRESSURES ARE NOT IN THE OTS DATA (350 / 1 100 kPa g ASSUMED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      IN THE DESIGN TAB) - TBC. TUBE RUPTURE IS A RELIEF CASE BEYOND PSV-100: RUPTURE DISC RD-100 RECOMMENDED, HOLD.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10. VB-101 VACUUM BREAKER ADMITS AIR WHEN THE SHELL GOES BELOW ATMOSPHERIC (CONDENSATE HOLD-UP, WATER HAMMER).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11. TK-101 MAKE-UP AND LEVEL CONTROL OUTSIDE THE OTS SCOPE. HOTWELL LEVEL INDICATION NOT FITTED - RECOMMENDED, HOLD.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12. V-103 TRAP BYPASS NORMALLY CLOSED; OPEN IT PASSES LIVE STEAM TO THE RETURN HEADER.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13. ALARM SET POINTS: SEE WORKBOOK (ALARM TABLE); TRIP SET POINTS: INTERLOCK SCHEDULE.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14. V-106 TO V-115 AND NRV-101/102 ARE NUMBERED ON THIS SHEET; V-101 TO V-105 AS ON THE SCREEN DRAWING.</a:t>
            </a:r>
          </a:p>
        </p:txBody>
      </p:sp>
      <p:cxnSp>
        <p:nvCxnSpPr>
          <p:cNvPr id="351" name="Connector 350"/>
          <p:cNvCxnSpPr/>
          <p:nvPr/>
        </p:nvCxnSpPr>
        <p:spPr>
          <a:xfrm>
            <a:off x="11750040" y="8641080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11750040" y="8771382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>
            <a:off x="11750040" y="8901684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>
            <a:off x="11750040" y="9031986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>
            <a:off x="11750040" y="9162288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>
            <a:off x="11750040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>
            <a:off x="12070080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>
            <a:off x="14026896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>
            <a:off x="14804135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0" name="TextBox 359"/>
          <p:cNvSpPr txBox="1"/>
          <p:nvPr/>
        </p:nvSpPr>
        <p:spPr>
          <a:xfrm>
            <a:off x="11750040" y="8641080"/>
            <a:ext cx="320040" cy="13030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REV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12070080" y="8641080"/>
            <a:ext cx="1956816" cy="13030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DESCRIPTION</a:t>
            </a:r>
          </a:p>
        </p:txBody>
      </p:sp>
      <p:sp>
        <p:nvSpPr>
          <p:cNvPr id="362" name="TextBox 361"/>
          <p:cNvSpPr txBox="1"/>
          <p:nvPr/>
        </p:nvSpPr>
        <p:spPr>
          <a:xfrm>
            <a:off x="14026896" y="8641080"/>
            <a:ext cx="777240" cy="13030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DATE</a:t>
            </a:r>
          </a:p>
        </p:txBody>
      </p:sp>
      <p:sp>
        <p:nvSpPr>
          <p:cNvPr id="363" name="TextBox 362"/>
          <p:cNvSpPr txBox="1"/>
          <p:nvPr/>
        </p:nvSpPr>
        <p:spPr>
          <a:xfrm>
            <a:off x="11750040" y="8771382"/>
            <a:ext cx="320040" cy="13030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12070080" y="8771382"/>
            <a:ext cx="1956816" cy="13030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RO-101 CONTINUOUS VENT (OPTION)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14026896" y="8771382"/>
            <a:ext cx="777240" cy="13030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--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11750040" y="8901684"/>
            <a:ext cx="320040" cy="13030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12070080" y="8901684"/>
            <a:ext cx="1956816" cy="13030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AAV-101 + TI-102; OTS SCREEN DWG (USED IN DECKS)</a:t>
            </a:r>
          </a:p>
        </p:txBody>
      </p:sp>
      <p:sp>
        <p:nvSpPr>
          <p:cNvPr id="368" name="TextBox 367"/>
          <p:cNvSpPr txBox="1"/>
          <p:nvPr/>
        </p:nvSpPr>
        <p:spPr>
          <a:xfrm>
            <a:off x="14026896" y="8901684"/>
            <a:ext cx="777240" cy="13030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--</a:t>
            </a:r>
          </a:p>
        </p:txBody>
      </p:sp>
      <p:sp>
        <p:nvSpPr>
          <p:cNvPr id="369" name="TextBox 368"/>
          <p:cNvSpPr txBox="1"/>
          <p:nvPr/>
        </p:nvSpPr>
        <p:spPr>
          <a:xfrm>
            <a:off x="11750040" y="9031986"/>
            <a:ext cx="320040" cy="13030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12070080" y="9031986"/>
            <a:ext cx="1956816" cy="13030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ALTERNATIVE VERSION, EPC STANDARD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14026896" y="9031986"/>
            <a:ext cx="777240" cy="13030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03-OCT-26</a:t>
            </a:r>
          </a:p>
        </p:txBody>
      </p:sp>
      <p:sp>
        <p:nvSpPr>
          <p:cNvPr id="372" name="Rectangle 371"/>
          <p:cNvSpPr/>
          <p:nvPr/>
        </p:nvSpPr>
        <p:spPr>
          <a:xfrm>
            <a:off x="11750040" y="9162288"/>
            <a:ext cx="3054096" cy="1207008"/>
          </a:xfrm>
          <a:prstGeom prst="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3" name="Connector 372"/>
          <p:cNvCxnSpPr/>
          <p:nvPr/>
        </p:nvCxnSpPr>
        <p:spPr>
          <a:xfrm>
            <a:off x="11750040" y="9473184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>
            <a:off x="11750040" y="9802367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>
            <a:off x="11750040" y="10076688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6" name="TextBox 375"/>
          <p:cNvSpPr txBox="1"/>
          <p:nvPr/>
        </p:nvSpPr>
        <p:spPr>
          <a:xfrm>
            <a:off x="11750040" y="9180576"/>
            <a:ext cx="305409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BFW STEAM HEATER VER 1 · OTS</a:t>
            </a:r>
          </a:p>
        </p:txBody>
      </p:sp>
      <p:sp>
        <p:nvSpPr>
          <p:cNvPr id="377" name="TextBox 376"/>
          <p:cNvSpPr txBox="1"/>
          <p:nvPr/>
        </p:nvSpPr>
        <p:spPr>
          <a:xfrm>
            <a:off x="11750040" y="9491472"/>
            <a:ext cx="3054096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P&amp;ID — E-101 · ALTERNATIVE VERSION</a:t>
            </a:r>
          </a:p>
        </p:txBody>
      </p:sp>
      <p:cxnSp>
        <p:nvCxnSpPr>
          <p:cNvPr id="378" name="Connector 377"/>
          <p:cNvCxnSpPr/>
          <p:nvPr/>
        </p:nvCxnSpPr>
        <p:spPr>
          <a:xfrm>
            <a:off x="12513563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>
            <a:off x="13277088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>
            <a:off x="14040612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1" name="TextBox 380"/>
          <p:cNvSpPr txBox="1"/>
          <p:nvPr/>
        </p:nvSpPr>
        <p:spPr>
          <a:xfrm>
            <a:off x="11750040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DRAWN: APINAN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SOOTTITANTAWAT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12513563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CHK'D: --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13277088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APP'D: --</a:t>
            </a:r>
          </a:p>
        </p:txBody>
      </p:sp>
      <p:sp>
        <p:nvSpPr>
          <p:cNvPr id="384" name="TextBox 383"/>
          <p:cNvSpPr txBox="1"/>
          <p:nvPr/>
        </p:nvSpPr>
        <p:spPr>
          <a:xfrm>
            <a:off x="14040612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DATE: 03-OCT-26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11750040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DWG NO.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BFWH-V1-PID-001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12513563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REV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387" name="TextBox 386"/>
          <p:cNvSpPr txBox="1"/>
          <p:nvPr/>
        </p:nvSpPr>
        <p:spPr>
          <a:xfrm>
            <a:off x="13277088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SCALE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N.T.S.</a:t>
            </a:r>
          </a:p>
        </p:txBody>
      </p:sp>
      <p:sp>
        <p:nvSpPr>
          <p:cNvPr id="388" name="TextBox 387"/>
          <p:cNvSpPr txBox="1"/>
          <p:nvPr/>
        </p:nvSpPr>
        <p:spPr>
          <a:xfrm>
            <a:off x="14040612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SHEET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1 OF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