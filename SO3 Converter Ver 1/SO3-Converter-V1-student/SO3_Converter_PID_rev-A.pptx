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DRY AIR FROM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DRYING TOWER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188720"/>
            <a:ext cx="237744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21792" y="896112"/>
            <a:ext cx="585216" cy="5852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53465" y="1027785"/>
            <a:ext cx="336499" cy="321869"/>
          </a:xfrm>
          <a:custGeom>
            <a:avLst/>
            <a:gdLst/>
            <a:ahLst/>
            <a:cxnLst/>
            <a:rect l="l" t="t" r="r" b="b"/>
            <a:pathLst>
              <a:path w="336499" h="321869">
                <a:moveTo>
                  <a:pt x="0" y="0"/>
                </a:moveTo>
                <a:lnTo>
                  <a:pt x="336499" y="96561"/>
                </a:lnTo>
                <a:lnTo>
                  <a:pt x="336499" y="225308"/>
                </a:lnTo>
                <a:lnTo>
                  <a:pt x="0" y="32186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9144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MAIN AIR BLOWER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07008" y="1188720"/>
            <a:ext cx="345643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0840" y="106070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DN1800-PA-101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53896" y="1078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08760" y="1078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316736" y="5486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16736" y="7132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81328" y="877824"/>
            <a:ext cx="0" cy="2011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46504" y="521208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73936" y="5486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73936" y="7132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45920" y="713232"/>
            <a:ext cx="10058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67128" y="603504"/>
            <a:ext cx="27432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22" name="Oval 21"/>
          <p:cNvSpPr/>
          <p:nvPr/>
        </p:nvSpPr>
        <p:spPr>
          <a:xfrm>
            <a:off x="2350008" y="5486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50008" y="7132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14600" y="877824"/>
            <a:ext cx="0" cy="31089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491740" y="116586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912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48840" y="1188720"/>
            <a:ext cx="0" cy="2057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39112" y="1572768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39112" y="1627632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071116" y="202996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1947672" y="214884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1866626" y="2057400"/>
            <a:ext cx="81046" cy="182880"/>
          </a:xfrm>
          <a:custGeom>
            <a:avLst/>
            <a:gdLst/>
            <a:ahLst/>
            <a:cxnLst/>
            <a:rect l="l" t="t" r="r" b="b"/>
            <a:pathLst>
              <a:path w="81046" h="182880">
                <a:moveTo>
                  <a:pt x="81046" y="182880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58568" y="2039112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58568" y="2167128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5" name="Oval 34"/>
          <p:cNvSpPr/>
          <p:nvPr/>
        </p:nvSpPr>
        <p:spPr>
          <a:xfrm>
            <a:off x="1408176" y="1435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08176" y="16002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37360" y="160020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72768" y="1764792"/>
            <a:ext cx="0" cy="3840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572768" y="2148840"/>
            <a:ext cx="28346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24128" y="22311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FFC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4128" y="23957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88720" y="1600200"/>
            <a:ext cx="0" cy="6309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88720" y="1600200"/>
            <a:ext cx="21945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21992" y="250545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DN1800-PA-103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55848" y="1078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410712" y="1078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721608" y="11109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3840480" y="9875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749040" y="90650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12984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14081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2" name="Oval 51"/>
          <p:cNvSpPr/>
          <p:nvPr/>
        </p:nvSpPr>
        <p:spPr>
          <a:xfrm>
            <a:off x="3218688" y="5486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18688" y="7132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83280" y="877824"/>
            <a:ext cx="0" cy="2011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47872" y="713232"/>
            <a:ext cx="2926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40480" y="713232"/>
            <a:ext cx="0" cy="19202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206240" y="1225296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DN700-PA-102</a:t>
            </a:r>
          </a:p>
        </p:txBody>
      </p:sp>
      <p:sp>
        <p:nvSpPr>
          <p:cNvPr id="58" name="Oval 57"/>
          <p:cNvSpPr/>
          <p:nvPr/>
        </p:nvSpPr>
        <p:spPr>
          <a:xfrm>
            <a:off x="463372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508760" y="3246120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468880" y="3246120"/>
            <a:ext cx="0" cy="6400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61488" y="3246120"/>
            <a:ext cx="0" cy="6400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645920" y="3456432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F-101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5920" y="3593591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SULFUR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45920" y="3707891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FURNACE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" y="3291840"/>
            <a:ext cx="475488" cy="548640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280160" y="34747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84048" y="3566160"/>
            <a:ext cx="8961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76072" y="3621024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FUEL GAS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(START-UP)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3877056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H-101 PREHEAT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BURNER PKG</a:t>
            </a:r>
          </a:p>
        </p:txBody>
      </p:sp>
      <p:sp>
        <p:nvSpPr>
          <p:cNvPr id="70" name="Oval 69"/>
          <p:cNvSpPr/>
          <p:nvPr/>
        </p:nvSpPr>
        <p:spPr>
          <a:xfrm>
            <a:off x="749808" y="26883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49808" y="28529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4400" y="3017520"/>
            <a:ext cx="0" cy="27432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94360" y="4224528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BMS / FLAME SAFEGUARD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BY VENDOR (NOTE 6)</a:t>
            </a:r>
          </a:p>
        </p:txBody>
      </p:sp>
      <p:sp>
        <p:nvSpPr>
          <p:cNvPr id="74" name="Oval 73"/>
          <p:cNvSpPr/>
          <p:nvPr/>
        </p:nvSpPr>
        <p:spPr>
          <a:xfrm>
            <a:off x="2624327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24327" y="292608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788920" y="3090672"/>
            <a:ext cx="0" cy="1554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2766060" y="322326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3063240" y="356616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3216401" y="35364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3246120" y="2743200"/>
            <a:ext cx="0" cy="8229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46120" y="2743200"/>
            <a:ext cx="1417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767328" y="26654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3886200" y="25420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3794760" y="2460986"/>
            <a:ext cx="182879" cy="81046"/>
          </a:xfrm>
          <a:custGeom>
            <a:avLst/>
            <a:gdLst/>
            <a:ahLst/>
            <a:cxnLst/>
            <a:rect l="l" t="t" r="r" b="b"/>
            <a:pathLst>
              <a:path w="182879" h="81046">
                <a:moveTo>
                  <a:pt x="182879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66160" y="285292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66160" y="296265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91840" y="261518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DN1200-SG-104</a:t>
            </a:r>
          </a:p>
        </p:txBody>
      </p:sp>
      <p:sp>
        <p:nvSpPr>
          <p:cNvPr id="88" name="Oval 87"/>
          <p:cNvSpPr/>
          <p:nvPr/>
        </p:nvSpPr>
        <p:spPr>
          <a:xfrm>
            <a:off x="4633722" y="2713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429000" y="3291840"/>
            <a:ext cx="914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730752" y="3291840"/>
            <a:ext cx="0" cy="5486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41648" y="3291840"/>
            <a:ext cx="0" cy="5486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730752" y="3483864"/>
            <a:ext cx="3108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730752" y="3648456"/>
            <a:ext cx="3108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343400" y="356616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315968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315968" y="4023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80560" y="356616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4457700" y="35433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3611880" y="3840480"/>
            <a:ext cx="0" cy="6858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383280" y="4544568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069080" y="3840480"/>
            <a:ext cx="0" cy="6858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767328" y="4544568"/>
            <a:ext cx="6035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SAT. STEAM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TO SH-201</a:t>
            </a:r>
          </a:p>
        </p:txBody>
      </p:sp>
      <p:sp>
        <p:nvSpPr>
          <p:cNvPr id="103" name="Oval 102"/>
          <p:cNvSpPr/>
          <p:nvPr/>
        </p:nvSpPr>
        <p:spPr>
          <a:xfrm>
            <a:off x="4315968" y="4361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315968" y="4526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4069080" y="4370832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4046220" y="4347972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63240" y="4828032"/>
            <a:ext cx="1645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B-101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0" y="4965192"/>
            <a:ext cx="1920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WASTE HEAT BOILER (FIRE-TUBE)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26080" y="5079492"/>
            <a:ext cx="1920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STEAM SIDE: NOTE 7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4663440" y="731520"/>
            <a:ext cx="0" cy="2834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663440" y="731520"/>
            <a:ext cx="1691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355079" y="731520"/>
            <a:ext cx="0" cy="16459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4107281" y="316382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DN2600-SG-103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90032" y="60350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DN2800-PG-201</a:t>
            </a:r>
          </a:p>
        </p:txBody>
      </p:sp>
      <p:sp>
        <p:nvSpPr>
          <p:cNvPr id="115" name="Oval 114"/>
          <p:cNvSpPr/>
          <p:nvPr/>
        </p:nvSpPr>
        <p:spPr>
          <a:xfrm>
            <a:off x="4151376" y="1435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151376" y="16002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480560" y="1600200"/>
            <a:ext cx="1828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640579" y="1577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51376" y="189280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151376" y="20574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480560" y="2057400"/>
            <a:ext cx="1828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4640579" y="20345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4315968" y="1344168"/>
            <a:ext cx="0" cy="914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4133087" y="1344168"/>
            <a:ext cx="182881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4133087" y="512064"/>
            <a:ext cx="0" cy="8321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3383280" y="512064"/>
            <a:ext cx="749807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383280" y="512064"/>
            <a:ext cx="0" cy="3657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840480" y="1737360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SO2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40480" y="2194560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O2</a:t>
            </a:r>
          </a:p>
        </p:txBody>
      </p:sp>
      <p:sp>
        <p:nvSpPr>
          <p:cNvPr id="130" name="Oval 129"/>
          <p:cNvSpPr/>
          <p:nvPr/>
        </p:nvSpPr>
        <p:spPr>
          <a:xfrm>
            <a:off x="463372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4663440" y="3017520"/>
            <a:ext cx="320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983480" y="3017520"/>
            <a:ext cx="0" cy="4800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983480" y="7818120"/>
            <a:ext cx="5577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Freeform 133"/>
          <p:cNvSpPr/>
          <p:nvPr/>
        </p:nvSpPr>
        <p:spPr>
          <a:xfrm>
            <a:off x="4905756" y="724204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242816" y="731062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HV-112 (LC)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23710" y="7863840"/>
            <a:ext cx="1565859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DN1200-PG-212 START-UP HOT-GAS LINE (NOTE 5)</a:t>
            </a:r>
          </a:p>
        </p:txBody>
      </p:sp>
      <p:sp>
        <p:nvSpPr>
          <p:cNvPr id="137" name="Freeform 136"/>
          <p:cNvSpPr/>
          <p:nvPr/>
        </p:nvSpPr>
        <p:spPr>
          <a:xfrm>
            <a:off x="10561320" y="772668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936224" y="7717536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TO BED 4 INLET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(START-UP) PID-002</a:t>
            </a:r>
          </a:p>
        </p:txBody>
      </p:sp>
      <p:sp>
        <p:nvSpPr>
          <p:cNvPr id="139" name="Freeform 138"/>
          <p:cNvSpPr/>
          <p:nvPr/>
        </p:nvSpPr>
        <p:spPr>
          <a:xfrm>
            <a:off x="5806440" y="896111"/>
            <a:ext cx="1097279" cy="155449"/>
          </a:xfrm>
          <a:custGeom>
            <a:avLst/>
            <a:gdLst/>
            <a:ahLst/>
            <a:cxnLst/>
            <a:rect l="l" t="t" r="r" b="b"/>
            <a:pathLst>
              <a:path w="1097279" h="155449">
                <a:moveTo>
                  <a:pt x="0" y="155449"/>
                </a:moveTo>
                <a:lnTo>
                  <a:pt x="18694" y="115216"/>
                </a:lnTo>
                <a:lnTo>
                  <a:pt x="73503" y="77725"/>
                </a:lnTo>
                <a:lnTo>
                  <a:pt x="160692" y="45530"/>
                </a:lnTo>
                <a:lnTo>
                  <a:pt x="274319" y="20827"/>
                </a:lnTo>
                <a:lnTo>
                  <a:pt x="406641" y="5297"/>
                </a:lnTo>
                <a:lnTo>
                  <a:pt x="548639" y="0"/>
                </a:lnTo>
                <a:lnTo>
                  <a:pt x="690638" y="5297"/>
                </a:lnTo>
                <a:lnTo>
                  <a:pt x="822959" y="20827"/>
                </a:lnTo>
                <a:lnTo>
                  <a:pt x="936587" y="45530"/>
                </a:lnTo>
                <a:lnTo>
                  <a:pt x="1023776" y="77725"/>
                </a:lnTo>
                <a:lnTo>
                  <a:pt x="1078585" y="115216"/>
                </a:lnTo>
                <a:lnTo>
                  <a:pt x="1097279" y="155449"/>
                </a:lnTo>
              </a:path>
            </a:pathLst>
          </a:cu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5806440" y="1051560"/>
            <a:ext cx="0" cy="585216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903720" y="1051560"/>
            <a:ext cx="0" cy="585216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5760720" y="6830568"/>
            <a:ext cx="1188720" cy="128015"/>
          </a:xfrm>
          <a:custGeom>
            <a:avLst/>
            <a:gdLst/>
            <a:ahLst/>
            <a:cxnLst/>
            <a:rect l="l" t="t" r="r" b="b"/>
            <a:pathLst>
              <a:path w="1188720" h="128015">
                <a:moveTo>
                  <a:pt x="0" y="73152"/>
                </a:moveTo>
                <a:lnTo>
                  <a:pt x="274320" y="0"/>
                </a:lnTo>
                <a:lnTo>
                  <a:pt x="594359" y="128015"/>
                </a:lnTo>
                <a:lnTo>
                  <a:pt x="914400" y="18288"/>
                </a:lnTo>
                <a:lnTo>
                  <a:pt x="1188720" y="91439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5806440" y="1463040"/>
            <a:ext cx="1097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806440" y="2194560"/>
            <a:ext cx="10972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821680" y="148132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943600" y="148132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065520" y="148132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553200" y="148132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75120" y="148132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797040" y="148132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806440" y="1764792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1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5806440" y="3310128"/>
            <a:ext cx="1097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806440" y="4041648"/>
            <a:ext cx="10972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821680" y="33284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943600" y="33284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065520" y="33284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553200" y="33284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75120" y="33284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797040" y="33284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806440" y="3611879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2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5806440" y="5138928"/>
            <a:ext cx="1097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806440" y="5870448"/>
            <a:ext cx="10972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5821680" y="51572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5943600" y="51572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065520" y="51572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553200" y="51572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75120" y="5157216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797040" y="5157216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806440" y="5440679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3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5806440" y="2724912"/>
            <a:ext cx="10972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806440" y="4553712"/>
            <a:ext cx="10972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5806440" y="6382512"/>
            <a:ext cx="10972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5806440" y="6510528"/>
            <a:ext cx="10972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BEDS 4 &amp; 5</a:t>
            </a:r>
          </a:p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SO3-PID-002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49240" y="7059168"/>
            <a:ext cx="20116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49240" y="7196328"/>
            <a:ext cx="20116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SO2 CONVERTER, 5 BEDS (3+2 DA)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349240" y="7310628"/>
            <a:ext cx="20116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BEDS 1-3 V2O5/K2SO4, BEDS 4-5 Cs-V2O5</a:t>
            </a:r>
          </a:p>
        </p:txBody>
      </p:sp>
      <p:sp>
        <p:nvSpPr>
          <p:cNvPr id="177" name="Oval 176"/>
          <p:cNvSpPr/>
          <p:nvPr/>
        </p:nvSpPr>
        <p:spPr>
          <a:xfrm>
            <a:off x="5276088" y="10972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276088" y="12618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605272" y="1261872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/>
          <p:cNvSpPr/>
          <p:nvPr/>
        </p:nvSpPr>
        <p:spPr>
          <a:xfrm>
            <a:off x="5783579" y="1239012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5440680" y="1426463"/>
            <a:ext cx="0" cy="91441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5120640" y="1517904"/>
            <a:ext cx="3200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120640" y="1517904"/>
            <a:ext cx="0" cy="87782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3886200" y="2395728"/>
            <a:ext cx="1234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886200" y="2395728"/>
            <a:ext cx="0" cy="6400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5276088" y="1664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5276088" y="1828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5605272" y="182880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5783579" y="18059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276088" y="351129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5276088" y="3675887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5605272" y="3675887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5783579" y="3653027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76088" y="53400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222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5276088" y="55046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5605272" y="5504688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5783579" y="5481827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48656" y="22768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276088" y="2304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5276088" y="2468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5632704" y="2468880"/>
            <a:ext cx="1737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5783579" y="2446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37760" y="2395728"/>
            <a:ext cx="274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>
                <a:solidFill>
                  <a:srgbClr val="000000"/>
                </a:solidFill>
                <a:latin typeface="Arial"/>
              </a:rPr>
              <a:t>I-2</a:t>
            </a:r>
          </a:p>
        </p:txBody>
      </p:sp>
      <p:sp>
        <p:nvSpPr>
          <p:cNvPr id="204" name="Oval 203"/>
          <p:cNvSpPr/>
          <p:nvPr/>
        </p:nvSpPr>
        <p:spPr>
          <a:xfrm>
            <a:off x="7104888" y="1664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7104888" y="1828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>
            <a:off x="7059168" y="1828800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059168" y="1280160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6903720" y="128016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6880859" y="12573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 flipH="1">
            <a:off x="6903720" y="230428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>
            <a:off x="6880859" y="228142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104888" y="351129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214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7104888" y="3675887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7059168" y="3675887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7059168" y="3127248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>
            <a:off x="6903720" y="312724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6880859" y="310438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H="1">
            <a:off x="6903720" y="4151376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Oval 218"/>
          <p:cNvSpPr/>
          <p:nvPr/>
        </p:nvSpPr>
        <p:spPr>
          <a:xfrm>
            <a:off x="6880859" y="4128515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104888" y="53400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224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7104888" y="55046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7059168" y="5504688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059168" y="4956048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6903720" y="495604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6880859" y="493318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 flipH="1">
            <a:off x="6903720" y="5980176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6880859" y="5957316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>
            <a:off x="6903720" y="2468880"/>
            <a:ext cx="128015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7516368" y="19202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7516368" y="20848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680960" y="224942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Oval 231"/>
          <p:cNvSpPr/>
          <p:nvPr/>
        </p:nvSpPr>
        <p:spPr>
          <a:xfrm>
            <a:off x="7658100" y="2446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8183879" y="2258568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>
            <a:off x="8415223" y="22585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775496" y="22585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415223" y="2405786"/>
            <a:ext cx="36027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8415223" y="2531973"/>
            <a:ext cx="36027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8275320" y="2715768"/>
            <a:ext cx="6400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SH-201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339327" y="2852928"/>
            <a:ext cx="512064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STEAM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339327" y="2953512"/>
            <a:ext cx="512064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SUPERHEATER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9006840" y="246888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8017002" y="2439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068561" y="2439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 flipV="1">
            <a:off x="8046720" y="169164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046720" y="1691640"/>
            <a:ext cx="1051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098280" y="169164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Freeform 246"/>
          <p:cNvSpPr/>
          <p:nvPr/>
        </p:nvSpPr>
        <p:spPr>
          <a:xfrm>
            <a:off x="8458200" y="16139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 flipV="1">
            <a:off x="8577072" y="149047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Freeform 248"/>
          <p:cNvSpPr/>
          <p:nvPr/>
        </p:nvSpPr>
        <p:spPr>
          <a:xfrm>
            <a:off x="8485632" y="140942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257032" y="180136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TV-231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257032" y="191109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52" name="Oval 251"/>
          <p:cNvSpPr/>
          <p:nvPr/>
        </p:nvSpPr>
        <p:spPr>
          <a:xfrm>
            <a:off x="8412480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231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8412480" y="1188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8577072" y="1353312"/>
            <a:ext cx="0" cy="548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8778240" y="109728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PV: TT-231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(NOTE 4)</a:t>
            </a:r>
          </a:p>
        </p:txBody>
      </p:sp>
      <p:cxnSp>
        <p:nvCxnSpPr>
          <p:cNvPr id="256" name="Connector 255"/>
          <p:cNvCxnSpPr/>
          <p:nvPr/>
        </p:nvCxnSpPr>
        <p:spPr>
          <a:xfrm flipV="1">
            <a:off x="8302752" y="2679192"/>
            <a:ext cx="0" cy="30175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887968" y="2679192"/>
            <a:ext cx="0" cy="30175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7744968" y="27614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SAT. STEAM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FROM B-101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942832" y="2761488"/>
            <a:ext cx="51206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HP STEAM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HEADER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372600" y="2258568"/>
            <a:ext cx="9144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9603943" y="22585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055656" y="22585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603943" y="2405786"/>
            <a:ext cx="4517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603943" y="2531973"/>
            <a:ext cx="4517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9345167" y="1828800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345167" y="1965960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HOT INTERPASS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345167" y="2080260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EXCHANGER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10287000" y="246888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Oval 268"/>
          <p:cNvSpPr/>
          <p:nvPr/>
        </p:nvSpPr>
        <p:spPr>
          <a:xfrm>
            <a:off x="9205722" y="2439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577322" y="2439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9235440" y="1325880"/>
            <a:ext cx="0" cy="1143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235440" y="132588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607040" y="1325880"/>
            <a:ext cx="0" cy="1143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0607040" y="246888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Freeform 274"/>
          <p:cNvSpPr/>
          <p:nvPr/>
        </p:nvSpPr>
        <p:spPr>
          <a:xfrm>
            <a:off x="9436607" y="12481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9555480" y="11247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Freeform 276"/>
          <p:cNvSpPr/>
          <p:nvPr/>
        </p:nvSpPr>
        <p:spPr>
          <a:xfrm>
            <a:off x="9464040" y="1043666"/>
            <a:ext cx="182879" cy="81046"/>
          </a:xfrm>
          <a:custGeom>
            <a:avLst/>
            <a:gdLst/>
            <a:ahLst/>
            <a:cxnLst/>
            <a:rect l="l" t="t" r="r" b="b"/>
            <a:pathLst>
              <a:path w="182879" h="81046">
                <a:moveTo>
                  <a:pt x="182879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19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235440" y="1435607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TV-211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235440" y="154533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280" name="Connector 279"/>
          <p:cNvCxnSpPr/>
          <p:nvPr/>
        </p:nvCxnSpPr>
        <p:spPr>
          <a:xfrm flipH="1">
            <a:off x="6903720" y="3108960"/>
            <a:ext cx="3703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8847632" y="314553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DN2800-PG-203</a:t>
            </a:r>
          </a:p>
        </p:txBody>
      </p:sp>
      <p:sp>
        <p:nvSpPr>
          <p:cNvPr id="282" name="Oval 281"/>
          <p:cNvSpPr/>
          <p:nvPr/>
        </p:nvSpPr>
        <p:spPr>
          <a:xfrm>
            <a:off x="7516368" y="33284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211</a:t>
            </a:r>
          </a:p>
        </p:txBody>
      </p:sp>
      <p:cxnSp>
        <p:nvCxnSpPr>
          <p:cNvPr id="283" name="Connector 282"/>
          <p:cNvCxnSpPr/>
          <p:nvPr/>
        </p:nvCxnSpPr>
        <p:spPr>
          <a:xfrm>
            <a:off x="7516368" y="34930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680960" y="3108960"/>
            <a:ext cx="0" cy="2194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Oval 284"/>
          <p:cNvSpPr/>
          <p:nvPr/>
        </p:nvSpPr>
        <p:spPr>
          <a:xfrm>
            <a:off x="7658100" y="30861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>
            <a:off x="7845552" y="3493008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936992" y="896112"/>
            <a:ext cx="0" cy="25968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7936992" y="896112"/>
            <a:ext cx="16184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9555480" y="896112"/>
            <a:ext cx="0" cy="146303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6903720" y="4297680"/>
            <a:ext cx="2468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8390432" y="433425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DN2800-PG-204</a:t>
            </a:r>
          </a:p>
        </p:txBody>
      </p:sp>
      <p:sp>
        <p:nvSpPr>
          <p:cNvPr id="292" name="Oval 291"/>
          <p:cNvSpPr/>
          <p:nvPr/>
        </p:nvSpPr>
        <p:spPr>
          <a:xfrm>
            <a:off x="7516368" y="37490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213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7516368" y="39136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680960" y="407822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Oval 294"/>
          <p:cNvSpPr/>
          <p:nvPr/>
        </p:nvSpPr>
        <p:spPr>
          <a:xfrm>
            <a:off x="7658100" y="42748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ounded Rectangle 295"/>
          <p:cNvSpPr/>
          <p:nvPr/>
        </p:nvSpPr>
        <p:spPr>
          <a:xfrm>
            <a:off x="9372600" y="4087368"/>
            <a:ext cx="9144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9603943" y="40873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055656" y="4087368"/>
            <a:ext cx="0" cy="42062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603943" y="4234586"/>
            <a:ext cx="4517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603943" y="4360773"/>
            <a:ext cx="4517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8247888" y="4553712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8247888" y="4690872"/>
            <a:ext cx="9144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COLD INTERPASS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8247888" y="4805172"/>
            <a:ext cx="9144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EXCHANGER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0287000" y="429768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Oval 304"/>
          <p:cNvSpPr/>
          <p:nvPr/>
        </p:nvSpPr>
        <p:spPr>
          <a:xfrm>
            <a:off x="9205722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577322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 flipV="1">
            <a:off x="9235440" y="361188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9235440" y="361188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607040" y="361188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607040" y="429768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Freeform 310"/>
          <p:cNvSpPr/>
          <p:nvPr/>
        </p:nvSpPr>
        <p:spPr>
          <a:xfrm>
            <a:off x="10122407" y="35341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 flipV="1">
            <a:off x="10241280" y="34107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Freeform 312"/>
          <p:cNvSpPr/>
          <p:nvPr/>
        </p:nvSpPr>
        <p:spPr>
          <a:xfrm>
            <a:off x="10149840" y="3329666"/>
            <a:ext cx="182879" cy="81046"/>
          </a:xfrm>
          <a:custGeom>
            <a:avLst/>
            <a:gdLst/>
            <a:ahLst/>
            <a:cxnLst/>
            <a:rect l="l" t="t" r="r" b="b"/>
            <a:pathLst>
              <a:path w="182879" h="81046">
                <a:moveTo>
                  <a:pt x="182879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19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9921240" y="372160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TV-221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9921240" y="383133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316" name="Connector 315"/>
          <p:cNvCxnSpPr/>
          <p:nvPr/>
        </p:nvCxnSpPr>
        <p:spPr>
          <a:xfrm flipH="1">
            <a:off x="6903720" y="4937760"/>
            <a:ext cx="3703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390432" y="497433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DN2800-PG-205</a:t>
            </a:r>
          </a:p>
        </p:txBody>
      </p:sp>
      <p:sp>
        <p:nvSpPr>
          <p:cNvPr id="318" name="Oval 317"/>
          <p:cNvSpPr/>
          <p:nvPr/>
        </p:nvSpPr>
        <p:spPr>
          <a:xfrm>
            <a:off x="7516368" y="51572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221</a:t>
            </a:r>
          </a:p>
        </p:txBody>
      </p:sp>
      <p:cxnSp>
        <p:nvCxnSpPr>
          <p:cNvPr id="319" name="Connector 318"/>
          <p:cNvCxnSpPr/>
          <p:nvPr/>
        </p:nvCxnSpPr>
        <p:spPr>
          <a:xfrm>
            <a:off x="7516368" y="53218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7680960" y="4937760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Oval 320"/>
          <p:cNvSpPr/>
          <p:nvPr/>
        </p:nvSpPr>
        <p:spPr>
          <a:xfrm>
            <a:off x="7658100" y="49149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7845552" y="5321808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7936992" y="3273552"/>
            <a:ext cx="0" cy="20482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7936992" y="3273552"/>
            <a:ext cx="23042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0241280" y="3273552"/>
            <a:ext cx="0" cy="548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6903720" y="6126480"/>
            <a:ext cx="3657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8390432" y="616305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DN2900-PG-206</a:t>
            </a:r>
          </a:p>
        </p:txBody>
      </p:sp>
      <p:sp>
        <p:nvSpPr>
          <p:cNvPr id="328" name="Oval 327"/>
          <p:cNvSpPr/>
          <p:nvPr/>
        </p:nvSpPr>
        <p:spPr>
          <a:xfrm>
            <a:off x="7516368" y="55778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223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7516368" y="57424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7680960" y="590702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Oval 330"/>
          <p:cNvSpPr/>
          <p:nvPr/>
        </p:nvSpPr>
        <p:spPr>
          <a:xfrm>
            <a:off x="7658100" y="61036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0561320" y="603504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0936224" y="6025896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TO E-203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SO3-PID-002</a:t>
            </a:r>
          </a:p>
        </p:txBody>
      </p:sp>
      <p:cxnSp>
        <p:nvCxnSpPr>
          <p:cNvPr id="334" name="Connector 333"/>
          <p:cNvCxnSpPr/>
          <p:nvPr/>
        </p:nvCxnSpPr>
        <p:spPr>
          <a:xfrm flipH="1">
            <a:off x="10012680" y="544068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012680" y="4507992"/>
            <a:ext cx="0" cy="35204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Freeform 335"/>
          <p:cNvSpPr/>
          <p:nvPr/>
        </p:nvSpPr>
        <p:spPr>
          <a:xfrm>
            <a:off x="10012680" y="486003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10012680" y="5015484"/>
            <a:ext cx="0" cy="4251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0012680" y="4507992"/>
            <a:ext cx="0" cy="91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Freeform 338"/>
          <p:cNvSpPr/>
          <p:nvPr/>
        </p:nvSpPr>
        <p:spPr>
          <a:xfrm>
            <a:off x="10561320" y="534924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329184" y="0"/>
                </a:moveTo>
                <a:lnTo>
                  <a:pt x="73152" y="0"/>
                </a:lnTo>
                <a:lnTo>
                  <a:pt x="0" y="91440"/>
                </a:lnTo>
                <a:lnTo>
                  <a:pt x="73152" y="182880"/>
                </a:lnTo>
                <a:lnTo>
                  <a:pt x="329184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0204704" y="5111496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FROM IPA T-301</a:t>
            </a:r>
          </a:p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SO3-PID-002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0036352" y="547725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DN2000-PG-301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9646920" y="2679192"/>
            <a:ext cx="0" cy="35204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Freeform 342"/>
          <p:cNvSpPr/>
          <p:nvPr/>
        </p:nvSpPr>
        <p:spPr>
          <a:xfrm>
            <a:off x="9646920" y="303123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4" name="Connector 343"/>
          <p:cNvCxnSpPr/>
          <p:nvPr/>
        </p:nvCxnSpPr>
        <p:spPr>
          <a:xfrm>
            <a:off x="9646920" y="3186684"/>
            <a:ext cx="0" cy="34747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reeform 344"/>
          <p:cNvSpPr/>
          <p:nvPr/>
        </p:nvSpPr>
        <p:spPr>
          <a:xfrm>
            <a:off x="9646920" y="35341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9646920" y="3689604"/>
            <a:ext cx="0" cy="39776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149840" y="566928"/>
            <a:ext cx="0" cy="6812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Freeform 347"/>
          <p:cNvSpPr/>
          <p:nvPr/>
        </p:nvSpPr>
        <p:spPr>
          <a:xfrm>
            <a:off x="10149840" y="12481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10149840" y="1403604"/>
            <a:ext cx="0" cy="85496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149840" y="566928"/>
            <a:ext cx="411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Freeform 350"/>
          <p:cNvSpPr/>
          <p:nvPr/>
        </p:nvSpPr>
        <p:spPr>
          <a:xfrm>
            <a:off x="10561320" y="475488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0936224" y="466344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TO BED 4 INLET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SO3-PID-002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109504" y="60350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DN2000-PG-302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384048" y="8183879"/>
            <a:ext cx="12801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MOLTEN SULFUR FROM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SULFUR PIT (~140 °C)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384048" y="8092440"/>
            <a:ext cx="80467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40080" y="7589520"/>
            <a:ext cx="0" cy="502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640080" y="7589520"/>
            <a:ext cx="12801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Freeform 357"/>
          <p:cNvSpPr/>
          <p:nvPr/>
        </p:nvSpPr>
        <p:spPr>
          <a:xfrm>
            <a:off x="797356" y="767730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768096" y="744321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 flipV="1">
            <a:off x="914400" y="6903720"/>
            <a:ext cx="0" cy="5394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Box 360"/>
          <p:cNvSpPr txBox="1"/>
          <p:nvPr/>
        </p:nvSpPr>
        <p:spPr>
          <a:xfrm>
            <a:off x="640080" y="7818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P-101A</a:t>
            </a:r>
          </a:p>
        </p:txBody>
      </p:sp>
      <p:cxnSp>
        <p:nvCxnSpPr>
          <p:cNvPr id="362" name="Connector 361"/>
          <p:cNvCxnSpPr/>
          <p:nvPr/>
        </p:nvCxnSpPr>
        <p:spPr>
          <a:xfrm flipV="1">
            <a:off x="1207008" y="7589520"/>
            <a:ext cx="0" cy="502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207008" y="7589520"/>
            <a:ext cx="12801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Freeform 363"/>
          <p:cNvSpPr/>
          <p:nvPr/>
        </p:nvSpPr>
        <p:spPr>
          <a:xfrm>
            <a:off x="1364284" y="767730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335024" y="744321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481328" y="6903720"/>
            <a:ext cx="0" cy="5394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1207008" y="7818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P-101B</a:t>
            </a:r>
          </a:p>
        </p:txBody>
      </p:sp>
      <p:cxnSp>
        <p:nvCxnSpPr>
          <p:cNvPr id="368" name="Connector 367"/>
          <p:cNvCxnSpPr/>
          <p:nvPr/>
        </p:nvCxnSpPr>
        <p:spPr>
          <a:xfrm>
            <a:off x="1188720" y="8092440"/>
            <a:ext cx="1828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Oval 368"/>
          <p:cNvSpPr/>
          <p:nvPr/>
        </p:nvSpPr>
        <p:spPr>
          <a:xfrm>
            <a:off x="610362" y="80627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177290" y="80627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914400" y="6903720"/>
            <a:ext cx="2240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Oval 371"/>
          <p:cNvSpPr/>
          <p:nvPr/>
        </p:nvSpPr>
        <p:spPr>
          <a:xfrm>
            <a:off x="1451610" y="6874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755648" y="682599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4" name="Connector 373"/>
          <p:cNvCxnSpPr/>
          <p:nvPr/>
        </p:nvCxnSpPr>
        <p:spPr>
          <a:xfrm flipV="1">
            <a:off x="1874519" y="67025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Rectangle 374"/>
          <p:cNvSpPr/>
          <p:nvPr/>
        </p:nvSpPr>
        <p:spPr>
          <a:xfrm>
            <a:off x="1805939" y="659282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1600199" y="701344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XV-103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600200" y="7123176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SIS I-1..6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2304288" y="6793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2359151" y="679399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Freeform 379"/>
          <p:cNvSpPr/>
          <p:nvPr/>
        </p:nvSpPr>
        <p:spPr>
          <a:xfrm>
            <a:off x="2670048" y="682599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 flipV="1">
            <a:off x="2788920" y="67025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Freeform 381"/>
          <p:cNvSpPr/>
          <p:nvPr/>
        </p:nvSpPr>
        <p:spPr>
          <a:xfrm>
            <a:off x="2697479" y="6621506"/>
            <a:ext cx="182881" cy="81046"/>
          </a:xfrm>
          <a:custGeom>
            <a:avLst/>
            <a:gdLst/>
            <a:ahLst/>
            <a:cxnLst/>
            <a:rect l="l" t="t" r="r" b="b"/>
            <a:pathLst>
              <a:path w="182881" h="81046">
                <a:moveTo>
                  <a:pt x="182881" y="81046"/>
                </a:moveTo>
                <a:lnTo>
                  <a:pt x="177366" y="52899"/>
                </a:lnTo>
                <a:lnTo>
                  <a:pt x="161488" y="28147"/>
                </a:lnTo>
                <a:lnTo>
                  <a:pt x="137160" y="9775"/>
                </a:lnTo>
                <a:lnTo>
                  <a:pt x="107319" y="0"/>
                </a:lnTo>
                <a:lnTo>
                  <a:pt x="75562" y="0"/>
                </a:lnTo>
                <a:lnTo>
                  <a:pt x="45721" y="9775"/>
                </a:lnTo>
                <a:lnTo>
                  <a:pt x="21393" y="28147"/>
                </a:lnTo>
                <a:lnTo>
                  <a:pt x="5515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2468879" y="70134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468879" y="71231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85" name="Oval 384"/>
          <p:cNvSpPr/>
          <p:nvPr/>
        </p:nvSpPr>
        <p:spPr>
          <a:xfrm>
            <a:off x="2167127" y="62179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2167127" y="6382512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2331720" y="6547104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2496312" y="6382512"/>
            <a:ext cx="2926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2788920" y="6382512"/>
            <a:ext cx="0" cy="23774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>
            <a:off x="502920" y="6382512"/>
            <a:ext cx="16642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02920" y="2395728"/>
            <a:ext cx="0" cy="39867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502920" y="2395728"/>
            <a:ext cx="5212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3154680" y="4224528"/>
            <a:ext cx="0" cy="26791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>
            <a:off x="2697480" y="422452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697480" y="3886200"/>
            <a:ext cx="0" cy="3383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/>
          <p:cNvSpPr txBox="1"/>
          <p:nvPr/>
        </p:nvSpPr>
        <p:spPr>
          <a:xfrm>
            <a:off x="3218688" y="5669280"/>
            <a:ext cx="810361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DN80-MS-105 (JACKETED)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399" name="Connector 398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405" name="Connector 404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Freeform 406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Freeform 410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Freeform 412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FO/FC</a:t>
            </a:r>
          </a:p>
        </p:txBody>
      </p:sp>
      <p:cxnSp>
        <p:nvCxnSpPr>
          <p:cNvPr id="415" name="Connector 414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Freeform 415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Rectangle 417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SHUT-OFF VALVE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Freeform 420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 (LC)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ELEMENT</a:t>
            </a:r>
          </a:p>
        </p:txBody>
      </p:sp>
      <p:sp>
        <p:nvSpPr>
          <p:cNvPr id="427" name="Oval 426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430" name="Oval 429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34" name="Connector 433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TextBox 434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436" name="Freeform 435"/>
          <p:cNvSpPr/>
          <p:nvPr/>
        </p:nvSpPr>
        <p:spPr>
          <a:xfrm>
            <a:off x="13304520" y="2029967"/>
            <a:ext cx="283464" cy="146305"/>
          </a:xfrm>
          <a:custGeom>
            <a:avLst/>
            <a:gdLst/>
            <a:ahLst/>
            <a:cxnLst/>
            <a:rect l="l" t="t" r="r" b="b"/>
            <a:pathLst>
              <a:path w="283464" h="146305">
                <a:moveTo>
                  <a:pt x="0" y="0"/>
                </a:moveTo>
                <a:lnTo>
                  <a:pt x="210312" y="0"/>
                </a:lnTo>
                <a:lnTo>
                  <a:pt x="283464" y="73153"/>
                </a:lnTo>
                <a:lnTo>
                  <a:pt x="210312" y="146305"/>
                </a:lnTo>
                <a:lnTo>
                  <a:pt x="0" y="14630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11768328" y="2295144"/>
            <a:ext cx="3474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1768328" y="2459736"/>
            <a:ext cx="3474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1741912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178052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181912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1197356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1201216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12050776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11768328" y="2313432"/>
            <a:ext cx="34747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CATALYST BED</a:t>
            </a:r>
          </a:p>
        </p:txBody>
      </p:sp>
      <p:sp>
        <p:nvSpPr>
          <p:cNvPr id="448" name="Rounded Rectangle 447"/>
          <p:cNvSpPr/>
          <p:nvPr/>
        </p:nvSpPr>
        <p:spPr>
          <a:xfrm>
            <a:off x="13277088" y="22951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13367613" y="2295144"/>
            <a:ext cx="0" cy="1645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3552322" y="2295144"/>
            <a:ext cx="0" cy="1645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3367613" y="2352751"/>
            <a:ext cx="1847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3367613" y="2402128"/>
            <a:ext cx="1847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TextBox 452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S&amp;T EXCHANGER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455" name="Connector 454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11704320" y="300380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1704320" y="31546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1704320" y="33055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1704320" y="3456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1704320" y="360730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1704320" y="3758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1704320" y="39090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1704320" y="40599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1704320" y="421081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1704320" y="43616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1704320" y="451256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1704320" y="46634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1704320" y="481431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1704320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2143232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2856464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3697712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13935456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14721840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/>
          <p:cNvSpPr txBox="1"/>
          <p:nvPr/>
        </p:nvSpPr>
        <p:spPr>
          <a:xfrm>
            <a:off x="11731752" y="285292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2170664" y="285292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2883896" y="285292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3725144" y="285292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3962888" y="285292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1731752" y="300380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2170664" y="300380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SULFUR TO F-101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2883896" y="300380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3725144" y="300380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3962888" y="300380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40.9 t/h (PRODUCTION)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1731752" y="315468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FFC-101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2170664" y="315468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AIR/SULFUR RATIO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2883896" y="315468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 SP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13725144" y="315468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3962888" y="315468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4.99 kNm3/t (14 % SO2)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11731752" y="330555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2170664" y="3305556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COMBUSTION AIR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2883896" y="330555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3725144" y="330555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3962888" y="3305556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CAS, MIN 100 kNm3/h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1731752" y="345643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AIC-104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2170664" y="3456432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SO2 INTO BED 1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2883896" y="345643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 SP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3725144" y="345643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3962888" y="3456432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12.0 % SO2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1731752" y="360730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2170664" y="360730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DILUTION AIR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2883896" y="360730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13725144" y="360730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3962888" y="360730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FROM AIC-104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1731752" y="375818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TIC-201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2170664" y="375818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1 INLET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2883896" y="375818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TV-201 (B-101 BYP.)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3725144" y="375818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3962888" y="375818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420 C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1731752" y="390906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TIC-211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2170664" y="390906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2 INLET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2883896" y="390906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TV-211 (E-201 BYP.)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3725144" y="390906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13962888" y="390906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445 C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11731752" y="405993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TIC-221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2170664" y="4059936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3 INLET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2883896" y="405993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TV-221 (E-202 BYP.)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3725144" y="405993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13962888" y="4059936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440 C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1731752" y="421081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TIC-231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2170664" y="4210812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4 INLET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2883896" y="421081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TV-231 (SH-201 BYP.)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13725144" y="421081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3962888" y="4210812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425 C (NOTE 4)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1731752" y="436168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TIC-241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2170664" y="436168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5 INLET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12883896" y="436168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TV-241 (E-204 BYP.)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3725144" y="436168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3962888" y="436168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428 C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11731752" y="451256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TIC-251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12170664" y="451256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GAS TO T-301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12883896" y="451256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TV-251 (E-203 BYP.)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3725144" y="451256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13962888" y="451256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190 C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1731752" y="466344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HIC-109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2170664" y="466344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2883896" y="466344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H-101 FIRING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3725144" y="466344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3962888" y="466344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START-UP ONLY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11704320" y="4905756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 (ACTION: SULFUR CUT)</a:t>
            </a:r>
          </a:p>
        </p:txBody>
      </p:sp>
      <p:cxnSp>
        <p:nvCxnSpPr>
          <p:cNvPr id="541" name="Connector 540"/>
          <p:cNvCxnSpPr/>
          <p:nvPr/>
        </p:nvCxnSpPr>
        <p:spPr>
          <a:xfrm>
            <a:off x="11704320" y="508863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11704320" y="523951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11704320" y="539038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11704320" y="554126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11704320" y="5692140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11704320" y="584301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1704320" y="599389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11704320" y="614476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11704320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11887200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1291132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364284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1464868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11731752" y="508863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1914632" y="508863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2938760" y="50886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3670280" y="508863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1731752" y="523951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1914632" y="523951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FSLL-100 LOW TOTAL AIR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2938760" y="52395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90 kNm3/h, 3 s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3670280" y="523951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1731752" y="539038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11914632" y="539038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TSHH-203 BED 1 EXIT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12938760" y="539038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660 C, 5 s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3670280" y="539038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11731752" y="5541264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11914632" y="5541264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FSLL-301 IPA ACID FLOW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2938760" y="554126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50 %, 10 s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13670280" y="5541264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11731752" y="5692140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1914632" y="5692140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FSLL-302 FAT ACID FLOW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12938760" y="569214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50 %, 10 s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13670280" y="5692140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11731752" y="584301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11914632" y="584301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ASHH-306 STACK SO2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12938760" y="584301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3000 ppm, 5 min *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13670280" y="584301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11731752" y="599389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1914632" y="599389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HS-001 ESD PUSHBUTTON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12938760" y="599389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3670280" y="599389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XV-103 + STOP K-101, H-101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11704320" y="623620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DESIGN POINT (OTS MODEL)</a:t>
            </a:r>
          </a:p>
        </p:txBody>
      </p:sp>
      <p:cxnSp>
        <p:nvCxnSpPr>
          <p:cNvPr id="583" name="Connector 582"/>
          <p:cNvCxnSpPr/>
          <p:nvPr/>
        </p:nvCxnSpPr>
        <p:spPr>
          <a:xfrm>
            <a:off x="11704320" y="641908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1704320" y="656082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1704320" y="6702552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1704320" y="684428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1704320" y="6986016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1704320" y="712774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1704320" y="726948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170432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207008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257300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307592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362456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4191488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TextBox 595"/>
          <p:cNvSpPr txBox="1"/>
          <p:nvPr/>
        </p:nvSpPr>
        <p:spPr>
          <a:xfrm>
            <a:off x="11731752" y="641908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BED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2097512" y="641908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IN C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12600432" y="641908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OUT C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3103352" y="641908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X %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13651992" y="641908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PDI kPa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11731752" y="6560820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12097512" y="656082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420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12600432" y="656082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631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13103352" y="6560820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63.1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13651992" y="6560820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1731752" y="6702552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2097512" y="670255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445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2600432" y="670255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528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3103352" y="6702552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88.1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3651992" y="6702552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11731752" y="6844284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12097512" y="68442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440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12600432" y="68442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465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13103352" y="6844284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95.8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13651992" y="6844284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3.6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11731752" y="6986016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12097512" y="69860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425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12600432" y="69860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441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13103352" y="6986016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99.70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13651992" y="6986016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2.9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11731752" y="712774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12097512" y="71277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428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12600432" y="71277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427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13103352" y="712774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99.80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13651992" y="712774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11704320" y="7315200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12.0 % SO2 / 9.0 % O2 INTO BED 1; STACK 286 ppm SO2;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PI-200 35 kPa g; K-101 DISCHARGE 60 kPa g.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1. DESIGN BASIS: 1000 kt/y H2SO4 (100 %) AT 8000 h/y = 125 t/h; SULFUR 40.9 t/h BURNED IN 204.5 kNm3/h DRY AIR (14 % SO2), DILUTED TO 12.0 % SO2 / 9.0 % O2, 238.5 kNm3/h.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   CONVERSION TARGETS 60/86/94/99.7/99.8 % PER PLANT SLIDE 5.2; BED TEMPERATURES FROM HEAT BALANCE (dH = -98.5 kJ/mol) - SEE DESIGN TABLE. GHSV 700 1/h, 340 m3 CATALYST (ASSUMED SPLIT 18/20/24/20/18 %).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2. DUCT AND LINE SIZES PRELIMINARY (VELOCITY 20-25 m/s GAS, 1.5 m/s SULFUR, 2.5 m/s ACID) - TBC BY PIPING. SERVICE CODES: PA PROCESS AIR, SG SO2 GAS, PG PROCESS GAS, MS MOLTEN SULFUR, SA SULFURIC ACID.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3. ALL CONTROL LOOPS IN DCS (SHARED DISPLAY). SIS FUNCTIONS I-1..I-6 IN A SEPARATE LOGIC SOLVER; XV-103 FAILS CLOSED. * ASHH-306 INHIBITED FOR 60 min AFTER SULFUR ADMISSION (START-UP).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4. BED 4 INLET IS SET BY THE HEAT LEFT IN THE BED-1 GAS FOR THE RETURN GAS: TIC-231 (TT-231 ON SO3-PID-002) BYPASSES SH-201; TIC-211 THEN HOLDS BED 2 VIA TV-211. LOOPS INTERACT - TUNE TIC-231 SLOW.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5. HV-112 START-UP HOT-GAS LINE LOCKED CLOSED IN OPERATION (ZSC-112 IS A PERMISSIVE FOR SULFUR ADMISSION); OPENED ONLY TO PREHEAT BEDS 4-5 BEFORE SULFUR IS ADMITTED.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6. H-101 PREHEAT BURNER: FLAME SAFEGUARD, FUEL SHUT-OFF VALVES AND IGNITER BY VENDOR; TRIPS ON LOW AIR (&lt; 60 kNm3/h). START-UP ONLY.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7. B-101 STEAM SIDE (DRUM, LEVEL CONTROL, BLOWDOWN, PSV) AND SH-201 STEAM PIPING PER STEAM SYSTEM P&amp;ID - OUTSIDE OTS SCOPE.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641" name="Rectangle 640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5" name="TextBox 644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SO3 CONVERTER VER 1 (OTS)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AIR, SULFUR FURNACE,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CONVERTER BEDS 1-3</a:t>
            </a:r>
          </a:p>
        </p:txBody>
      </p:sp>
      <p:cxnSp>
        <p:nvCxnSpPr>
          <p:cNvPr id="647" name="Connector 646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TextBox 649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SO3-PID-001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760720" y="795528"/>
            <a:ext cx="1188720" cy="128016"/>
          </a:xfrm>
          <a:custGeom>
            <a:avLst/>
            <a:gdLst/>
            <a:ahLst/>
            <a:cxnLst/>
            <a:rect l="l" t="t" r="r" b="b"/>
            <a:pathLst>
              <a:path w="1188720" h="128016">
                <a:moveTo>
                  <a:pt x="0" y="73152"/>
                </a:moveTo>
                <a:lnTo>
                  <a:pt x="274320" y="0"/>
                </a:lnTo>
                <a:lnTo>
                  <a:pt x="594359" y="128016"/>
                </a:lnTo>
                <a:lnTo>
                  <a:pt x="914400" y="18287"/>
                </a:lnTo>
                <a:lnTo>
                  <a:pt x="1188720" y="9144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806440" y="868680"/>
            <a:ext cx="0" cy="393192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03720" y="868680"/>
            <a:ext cx="0" cy="393192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806440" y="4800600"/>
            <a:ext cx="1097279" cy="155448"/>
          </a:xfrm>
          <a:custGeom>
            <a:avLst/>
            <a:gdLst/>
            <a:ahLst/>
            <a:cxnLst/>
            <a:rect l="l" t="t" r="r" b="b"/>
            <a:pathLst>
              <a:path w="1097279" h="155448">
                <a:moveTo>
                  <a:pt x="0" y="0"/>
                </a:moveTo>
                <a:lnTo>
                  <a:pt x="18694" y="40232"/>
                </a:lnTo>
                <a:lnTo>
                  <a:pt x="73503" y="77724"/>
                </a:lnTo>
                <a:lnTo>
                  <a:pt x="160692" y="109918"/>
                </a:lnTo>
                <a:lnTo>
                  <a:pt x="274319" y="134621"/>
                </a:lnTo>
                <a:lnTo>
                  <a:pt x="406641" y="150151"/>
                </a:lnTo>
                <a:lnTo>
                  <a:pt x="548639" y="155448"/>
                </a:lnTo>
                <a:lnTo>
                  <a:pt x="690638" y="150151"/>
                </a:lnTo>
                <a:lnTo>
                  <a:pt x="822959" y="134621"/>
                </a:lnTo>
                <a:lnTo>
                  <a:pt x="936587" y="109918"/>
                </a:lnTo>
                <a:lnTo>
                  <a:pt x="1023776" y="77724"/>
                </a:lnTo>
                <a:lnTo>
                  <a:pt x="1078585" y="40232"/>
                </a:lnTo>
                <a:lnTo>
                  <a:pt x="1097279" y="0"/>
                </a:lnTo>
              </a:path>
            </a:pathLst>
          </a:cu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502920"/>
            <a:ext cx="10972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BEDS 1-3</a:t>
            </a:r>
          </a:p>
          <a:p>
            <a:pPr algn="ctr"/>
            <a:r>
              <a:rPr sz="540" b="0">
                <a:solidFill>
                  <a:srgbClr val="000000"/>
                </a:solidFill>
                <a:latin typeface="Arial"/>
              </a:rPr>
              <a:t>SO3-PID-001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1005840"/>
            <a:ext cx="10972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06440" y="3017520"/>
            <a:ext cx="10972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06440" y="1783080"/>
            <a:ext cx="1097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06440" y="2514600"/>
            <a:ext cx="10972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821680" y="18013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943600" y="18013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65520" y="18013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553200" y="18013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75120" y="18013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97040" y="18013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06440" y="2084832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3611880"/>
            <a:ext cx="1097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06440" y="4343400"/>
            <a:ext cx="10972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821680" y="36301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43600" y="36301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65520" y="36301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53200" y="36301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75120" y="3630168"/>
            <a:ext cx="91439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97040" y="3630168"/>
            <a:ext cx="91440" cy="6949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06440" y="3913631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20640"/>
            <a:ext cx="13716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257800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SO2 CONVERTER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372100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(LOWER PART, 2ND PASS)</a:t>
            </a:r>
          </a:p>
        </p:txBody>
      </p:sp>
      <p:sp>
        <p:nvSpPr>
          <p:cNvPr id="32" name="Oval 31"/>
          <p:cNvSpPr/>
          <p:nvPr/>
        </p:nvSpPr>
        <p:spPr>
          <a:xfrm>
            <a:off x="5276088" y="1984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76088" y="2148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05272" y="214884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783579" y="2125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76088" y="3813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76088" y="397763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05272" y="3977639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783579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04888" y="1984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4888" y="2148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059168" y="2148840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59168" y="1600200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903720" y="160020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880859" y="1577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H="1">
            <a:off x="6903720" y="262432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880859" y="260146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104888" y="3813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04888" y="397763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059168" y="3977639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059168" y="3429000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6903720" y="342900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880859" y="34061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6903720" y="445312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80859" y="443026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48056" y="1481328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3" y="1243584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FROM E-201 COLD SIDE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(SO3-PID-001)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77240" y="1572768"/>
            <a:ext cx="239115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323844" y="1572768"/>
            <a:ext cx="248259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120952" y="1609344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DN2000-PG-302</a:t>
            </a:r>
          </a:p>
        </p:txBody>
      </p:sp>
      <p:sp>
        <p:nvSpPr>
          <p:cNvPr id="61" name="Freeform 60"/>
          <p:cNvSpPr/>
          <p:nvPr/>
        </p:nvSpPr>
        <p:spPr>
          <a:xfrm>
            <a:off x="448056" y="109728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3" y="859536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START-UP LINE HV-112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(SO3-PID-001)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77240" y="1188720"/>
            <a:ext cx="239115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23844" y="1188720"/>
            <a:ext cx="14310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754880" y="118872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725162" y="154305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72712" y="122529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DN1200-PG-212</a:t>
            </a:r>
          </a:p>
        </p:txBody>
      </p:sp>
      <p:sp>
        <p:nvSpPr>
          <p:cNvPr id="68" name="Oval 67"/>
          <p:cNvSpPr/>
          <p:nvPr/>
        </p:nvSpPr>
        <p:spPr>
          <a:xfrm>
            <a:off x="4818888" y="18653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231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4983480" y="157276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960620" y="154990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24528" y="2331720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TO TIC-231</a:t>
            </a:r>
          </a:p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(SO3-PID-001)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4590288" y="2029968"/>
            <a:ext cx="2286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90288" y="2029968"/>
            <a:ext cx="0" cy="2834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03720" y="2788920"/>
            <a:ext cx="10789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8001000" y="2514600"/>
            <a:ext cx="548640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001000" y="2665476"/>
            <a:ext cx="548640" cy="246887"/>
          </a:xfrm>
          <a:custGeom>
            <a:avLst/>
            <a:gdLst/>
            <a:ahLst/>
            <a:cxnLst/>
            <a:rect l="l" t="t" r="r" b="b"/>
            <a:pathLst>
              <a:path w="548640" h="246887">
                <a:moveTo>
                  <a:pt x="0" y="123444"/>
                </a:moveTo>
                <a:lnTo>
                  <a:pt x="109728" y="246887"/>
                </a:lnTo>
                <a:lnTo>
                  <a:pt x="219456" y="0"/>
                </a:lnTo>
                <a:lnTo>
                  <a:pt x="329184" y="246887"/>
                </a:lnTo>
                <a:lnTo>
                  <a:pt x="438912" y="0"/>
                </a:lnTo>
                <a:lnTo>
                  <a:pt x="548640" y="12344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09560" y="3346704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3483864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INTERBED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9560" y="3598164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ECONOMIZER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09560" y="3712464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(BFW: NOTE 4)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549640" y="2788920"/>
            <a:ext cx="182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925561" y="27592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702802" y="27592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7955279" y="210312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79" y="2103120"/>
            <a:ext cx="77724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732520" y="210312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6903720" y="3291840"/>
            <a:ext cx="1828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6903720" y="329184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8202167" y="2025395"/>
            <a:ext cx="237745" cy="155449"/>
          </a:xfrm>
          <a:custGeom>
            <a:avLst/>
            <a:gdLst/>
            <a:ahLst/>
            <a:cxnLst/>
            <a:rect l="l" t="t" r="r" b="b"/>
            <a:pathLst>
              <a:path w="237745" h="155449">
                <a:moveTo>
                  <a:pt x="0" y="0"/>
                </a:moveTo>
                <a:lnTo>
                  <a:pt x="237745" y="155449"/>
                </a:lnTo>
                <a:lnTo>
                  <a:pt x="237745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8321040" y="1901951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8229600" y="1820906"/>
            <a:ext cx="182880" cy="81045"/>
          </a:xfrm>
          <a:custGeom>
            <a:avLst/>
            <a:gdLst/>
            <a:ahLst/>
            <a:cxnLst/>
            <a:rect l="l" t="t" r="r" b="b"/>
            <a:pathLst>
              <a:path w="182880" h="81045">
                <a:moveTo>
                  <a:pt x="182880" y="81045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19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01000" y="22128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TV-241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23225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94" name="Oval 93"/>
          <p:cNvSpPr/>
          <p:nvPr/>
        </p:nvSpPr>
        <p:spPr>
          <a:xfrm>
            <a:off x="7516368" y="2240279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233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516368" y="24048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680960" y="2569463"/>
            <a:ext cx="0" cy="2194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7658100" y="276606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516368" y="35112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241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516368" y="36758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80960" y="3291840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7658100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7680960" y="3840480"/>
            <a:ext cx="0" cy="1097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680960" y="3950208"/>
            <a:ext cx="12070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887968" y="1691640"/>
            <a:ext cx="0" cy="225856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321040" y="1691640"/>
            <a:ext cx="5669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321040" y="1691640"/>
            <a:ext cx="0" cy="128015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355079" y="4956048"/>
            <a:ext cx="0" cy="8503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355079" y="5806440"/>
            <a:ext cx="91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355079" y="5806440"/>
            <a:ext cx="98755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6784848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784848" y="544068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949440" y="5605272"/>
            <a:ext cx="0" cy="2011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6926579" y="57835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342631" y="5513831"/>
            <a:ext cx="585216" cy="5852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7342631" y="5674766"/>
            <a:ext cx="585217" cy="263347"/>
          </a:xfrm>
          <a:custGeom>
            <a:avLst/>
            <a:gdLst/>
            <a:ahLst/>
            <a:cxnLst/>
            <a:rect l="l" t="t" r="r" b="b"/>
            <a:pathLst>
              <a:path w="585217" h="263347">
                <a:moveTo>
                  <a:pt x="0" y="131674"/>
                </a:moveTo>
                <a:lnTo>
                  <a:pt x="117044" y="263347"/>
                </a:lnTo>
                <a:lnTo>
                  <a:pt x="234087" y="0"/>
                </a:lnTo>
                <a:lnTo>
                  <a:pt x="351130" y="263347"/>
                </a:lnTo>
                <a:lnTo>
                  <a:pt x="468173" y="0"/>
                </a:lnTo>
                <a:lnTo>
                  <a:pt x="585217" y="13167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32320" y="5202936"/>
            <a:ext cx="10058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32320" y="5340096"/>
            <a:ext cx="10058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FINAL ECONOMIZER</a:t>
            </a:r>
          </a:p>
        </p:txBody>
      </p:sp>
      <p:cxnSp>
        <p:nvCxnSpPr>
          <p:cNvPr id="118" name="Connector 117"/>
          <p:cNvCxnSpPr/>
          <p:nvPr/>
        </p:nvCxnSpPr>
        <p:spPr>
          <a:xfrm flipV="1">
            <a:off x="7525512" y="6080759"/>
            <a:ext cx="0" cy="36576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44967" y="6080759"/>
            <a:ext cx="0" cy="36576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068312" y="6464808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BFW 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90688" y="6464808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BFW OUT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927848" y="5806440"/>
            <a:ext cx="6217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549640" y="4846320"/>
            <a:ext cx="0" cy="960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549640" y="484632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8019288" y="5138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252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019288" y="53035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348472" y="530352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526780" y="52806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50152" y="584301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DN2100-PG-304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006840" y="1783080"/>
            <a:ext cx="640080" cy="365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006840" y="2788920"/>
            <a:ext cx="6400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006840" y="4069079"/>
            <a:ext cx="6400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99668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6780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3892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42340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9452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65640" y="2807208"/>
            <a:ext cx="91440" cy="1243583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9006840" y="3364992"/>
            <a:ext cx="6400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052560" y="2606040"/>
            <a:ext cx="5486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9079992" y="2057400"/>
            <a:ext cx="493776" cy="201168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06840" y="2103120"/>
            <a:ext cx="64008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MIST ELIM.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06840" y="4224528"/>
            <a:ext cx="6400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"/>
              </a:rPr>
              <a:t>T-302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06840" y="4370832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FINAL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ABSORBER</a:t>
            </a:r>
          </a:p>
        </p:txBody>
      </p:sp>
      <p:cxnSp>
        <p:nvCxnSpPr>
          <p:cNvPr id="145" name="Connector 144"/>
          <p:cNvCxnSpPr/>
          <p:nvPr/>
        </p:nvCxnSpPr>
        <p:spPr>
          <a:xfrm flipV="1">
            <a:off x="9326880" y="109728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326880" y="1097280"/>
            <a:ext cx="112471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10378440" y="502920"/>
            <a:ext cx="365760" cy="1874520"/>
          </a:xfrm>
          <a:custGeom>
            <a:avLst/>
            <a:gdLst/>
            <a:ahLst/>
            <a:cxnLst/>
            <a:rect l="l" t="t" r="r" b="b"/>
            <a:pathLst>
              <a:path w="365760" h="1874520">
                <a:moveTo>
                  <a:pt x="73152" y="0"/>
                </a:moveTo>
                <a:lnTo>
                  <a:pt x="292608" y="0"/>
                </a:lnTo>
                <a:lnTo>
                  <a:pt x="365760" y="1874520"/>
                </a:lnTo>
                <a:lnTo>
                  <a:pt x="0" y="187452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789920" y="2103120"/>
            <a:ext cx="731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ST-301</a:t>
            </a:r>
          </a:p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STACK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762032" y="1133856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DN2100-PG-305</a:t>
            </a:r>
          </a:p>
        </p:txBody>
      </p:sp>
      <p:sp>
        <p:nvSpPr>
          <p:cNvPr id="150" name="Oval 149"/>
          <p:cNvSpPr/>
          <p:nvPr/>
        </p:nvSpPr>
        <p:spPr>
          <a:xfrm>
            <a:off x="10826496" y="704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306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0826496" y="868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10680192" y="868680"/>
            <a:ext cx="14630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10657332" y="84581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826496" y="1161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307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0826496" y="1325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10693908" y="1325880"/>
            <a:ext cx="1325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10671048" y="1303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799064" y="15910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826496" y="1618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306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0826496" y="1783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1155680" y="868680"/>
            <a:ext cx="14630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1301984" y="868680"/>
            <a:ext cx="0" cy="91440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11210544" y="1783080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1192256" y="1993392"/>
            <a:ext cx="27432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I-5</a:t>
            </a:r>
          </a:p>
        </p:txBody>
      </p:sp>
      <p:sp>
        <p:nvSpPr>
          <p:cNvPr id="165" name="Oval 164"/>
          <p:cNvSpPr/>
          <p:nvPr/>
        </p:nvSpPr>
        <p:spPr>
          <a:xfrm>
            <a:off x="9893808" y="1984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308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9893808" y="2148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9802368" y="235915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CONVERSION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448056" y="251460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32103" y="2276856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FROM BED 3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(PID-001)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77240" y="2606040"/>
            <a:ext cx="57607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1353312" y="2313432"/>
            <a:ext cx="585216" cy="5852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353312" y="2474366"/>
            <a:ext cx="585216" cy="263347"/>
          </a:xfrm>
          <a:custGeom>
            <a:avLst/>
            <a:gdLst/>
            <a:ahLst/>
            <a:cxnLst/>
            <a:rect l="l" t="t" r="r" b="b"/>
            <a:pathLst>
              <a:path w="585216" h="263347">
                <a:moveTo>
                  <a:pt x="0" y="131674"/>
                </a:moveTo>
                <a:lnTo>
                  <a:pt x="117043" y="263347"/>
                </a:lnTo>
                <a:lnTo>
                  <a:pt x="234086" y="0"/>
                </a:lnTo>
                <a:lnTo>
                  <a:pt x="351129" y="263347"/>
                </a:lnTo>
                <a:lnTo>
                  <a:pt x="468172" y="0"/>
                </a:lnTo>
                <a:lnTo>
                  <a:pt x="585216" y="13167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65759" y="2788920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5759" y="2926080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IPA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65759" y="3040380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80" b="0">
                <a:solidFill>
                  <a:srgbClr val="000000"/>
                </a:solidFill>
                <a:latin typeface="Arial"/>
              </a:rPr>
              <a:t>ECONOMIZER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938528" y="2606040"/>
            <a:ext cx="53035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1204722" y="2576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210562" y="2576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 flipV="1">
            <a:off x="1234440" y="182880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234440" y="1828800"/>
            <a:ext cx="1005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240280" y="182880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Freeform 181"/>
          <p:cNvSpPr/>
          <p:nvPr/>
        </p:nvSpPr>
        <p:spPr>
          <a:xfrm>
            <a:off x="1572768" y="17510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1691640" y="16276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1600200" y="154658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371600" y="193852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TV-251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71600" y="204825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2468880" y="2606040"/>
            <a:ext cx="0" cy="2240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468880" y="484632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912721" y="4206240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DN2400-PG-207</a:t>
            </a:r>
          </a:p>
        </p:txBody>
      </p:sp>
      <p:sp>
        <p:nvSpPr>
          <p:cNvPr id="190" name="Oval 189"/>
          <p:cNvSpPr/>
          <p:nvPr/>
        </p:nvSpPr>
        <p:spPr>
          <a:xfrm>
            <a:off x="1892807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251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1892807" y="361188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221992" y="361188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2446020" y="3589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 flipV="1">
            <a:off x="2057400" y="1463040"/>
            <a:ext cx="0" cy="19842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>
            <a:off x="1691640" y="1463040"/>
            <a:ext cx="36576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691640" y="1463040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536192" y="288036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755648" y="288036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143000" y="3264408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BFW IN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801368" y="3264408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BFW OUT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926080" y="1874519"/>
            <a:ext cx="640079" cy="3566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2926080" y="2834640"/>
            <a:ext cx="6400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2926080" y="4160520"/>
            <a:ext cx="6400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915920" y="2852928"/>
            <a:ext cx="91440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987040" y="2852928"/>
            <a:ext cx="91440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058160" y="2852928"/>
            <a:ext cx="91440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342640" y="2852928"/>
            <a:ext cx="91440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413760" y="2852928"/>
            <a:ext cx="91439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484880" y="2852928"/>
            <a:ext cx="91440" cy="128930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2926080" y="3433572"/>
            <a:ext cx="640079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2971800" y="2651760"/>
            <a:ext cx="5486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/>
          <p:cNvSpPr/>
          <p:nvPr/>
        </p:nvSpPr>
        <p:spPr>
          <a:xfrm>
            <a:off x="2999232" y="2148840"/>
            <a:ext cx="493775" cy="201168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926080" y="2194560"/>
            <a:ext cx="640079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MIST ELIM.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26080" y="4251960"/>
            <a:ext cx="640079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926080" y="4398264"/>
            <a:ext cx="64007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INTERPASS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ABSORBER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3246120" y="804672"/>
            <a:ext cx="0" cy="30632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3246120" y="111099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3246120" y="1266444"/>
            <a:ext cx="0" cy="228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Freeform 218"/>
          <p:cNvSpPr/>
          <p:nvPr/>
        </p:nvSpPr>
        <p:spPr>
          <a:xfrm>
            <a:off x="3246120" y="1495044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3246120" y="1650492"/>
            <a:ext cx="0" cy="22402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777240" y="804672"/>
            <a:ext cx="2468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Freeform 221"/>
          <p:cNvSpPr/>
          <p:nvPr/>
        </p:nvSpPr>
        <p:spPr>
          <a:xfrm>
            <a:off x="448056" y="713232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329184" y="0"/>
                </a:moveTo>
                <a:lnTo>
                  <a:pt x="73151" y="0"/>
                </a:lnTo>
                <a:lnTo>
                  <a:pt x="0" y="91440"/>
                </a:lnTo>
                <a:lnTo>
                  <a:pt x="73151" y="182880"/>
                </a:lnTo>
                <a:lnTo>
                  <a:pt x="329184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32103" y="47548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E-202 COLD SIDE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(SO3-PID-001)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943912" y="841248"/>
            <a:ext cx="50129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DN2000-PG-301</a:t>
            </a:r>
          </a:p>
        </p:txBody>
      </p:sp>
      <p:sp>
        <p:nvSpPr>
          <p:cNvPr id="225" name="Oval 224"/>
          <p:cNvSpPr/>
          <p:nvPr/>
        </p:nvSpPr>
        <p:spPr>
          <a:xfrm>
            <a:off x="3493008" y="16367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305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3493008" y="1801368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>
            <a:off x="3246120" y="1801368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227"/>
          <p:cNvSpPr/>
          <p:nvPr/>
        </p:nvSpPr>
        <p:spPr>
          <a:xfrm>
            <a:off x="3223260" y="177850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3246120" y="544068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ounded Rectangle 229"/>
          <p:cNvSpPr/>
          <p:nvPr/>
        </p:nvSpPr>
        <p:spPr>
          <a:xfrm>
            <a:off x="2788920" y="5852160"/>
            <a:ext cx="91439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3300984" y="5577840"/>
            <a:ext cx="4572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TK-301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2651760" y="6163056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651760" y="6720840"/>
            <a:ext cx="12801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2809036" y="680862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779776" y="657453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 flipV="1">
            <a:off x="2926080" y="6355080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2651760" y="6967728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P-301A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3246120" y="6163056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246120" y="6720840"/>
            <a:ext cx="12801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Freeform 239"/>
          <p:cNvSpPr/>
          <p:nvPr/>
        </p:nvSpPr>
        <p:spPr>
          <a:xfrm>
            <a:off x="3403396" y="680862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374136" y="657453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 flipV="1">
            <a:off x="3520440" y="6355080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3246120" y="6967728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P-301B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2926080" y="6355080"/>
            <a:ext cx="1188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114800" y="2651760"/>
            <a:ext cx="0" cy="3703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3566160" y="265176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4023360" y="3977639"/>
            <a:ext cx="566928" cy="640080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142232" y="4023360"/>
            <a:ext cx="43891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ACID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COOLER +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DILUTION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(NOTE 2)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4005072" y="5321807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4005072" y="5376672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Oval 250"/>
          <p:cNvSpPr/>
          <p:nvPr/>
        </p:nvSpPr>
        <p:spPr>
          <a:xfrm>
            <a:off x="4389120" y="5184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4389120" y="5349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4224528" y="534924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ectangle 253"/>
          <p:cNvSpPr/>
          <p:nvPr/>
        </p:nvSpPr>
        <p:spPr>
          <a:xfrm>
            <a:off x="4361688" y="56601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389120" y="5687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301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4389120" y="5852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4553712" y="5513832"/>
            <a:ext cx="0" cy="1463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57"/>
          <p:cNvSpPr/>
          <p:nvPr/>
        </p:nvSpPr>
        <p:spPr>
          <a:xfrm>
            <a:off x="4389120" y="2807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303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4389120" y="2971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4114800" y="2971800"/>
            <a:ext cx="2743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Oval 260"/>
          <p:cNvSpPr/>
          <p:nvPr/>
        </p:nvSpPr>
        <p:spPr>
          <a:xfrm>
            <a:off x="4091939" y="29489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389120" y="3264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304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4389120" y="3429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4114800" y="3429000"/>
            <a:ext cx="2743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Oval 264"/>
          <p:cNvSpPr/>
          <p:nvPr/>
        </p:nvSpPr>
        <p:spPr>
          <a:xfrm>
            <a:off x="4091939" y="34061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4754880" y="2916936"/>
            <a:ext cx="4572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% H2SO4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846320" y="5797296"/>
            <a:ext cx="228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I-3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834640" y="7114032"/>
            <a:ext cx="10058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HS-301B AUTO-START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9326880" y="544068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ounded Rectangle 269"/>
          <p:cNvSpPr/>
          <p:nvPr/>
        </p:nvSpPr>
        <p:spPr>
          <a:xfrm>
            <a:off x="8869680" y="5852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381744" y="5577840"/>
            <a:ext cx="4572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TK-302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8732519" y="6163056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8732519" y="6720840"/>
            <a:ext cx="12801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Freeform 273"/>
          <p:cNvSpPr/>
          <p:nvPr/>
        </p:nvSpPr>
        <p:spPr>
          <a:xfrm>
            <a:off x="8889796" y="680862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860536" y="657453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9006840" y="6355080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8732519" y="6967728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P-302A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9326880" y="6163056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326880" y="6720840"/>
            <a:ext cx="12801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Freeform 279"/>
          <p:cNvSpPr/>
          <p:nvPr/>
        </p:nvSpPr>
        <p:spPr>
          <a:xfrm>
            <a:off x="9484156" y="680862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454896" y="657453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9601200" y="6355080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9326880" y="6967728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P-302B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9006840" y="6355080"/>
            <a:ext cx="1188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195560" y="2606040"/>
            <a:ext cx="0" cy="3749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H="1">
            <a:off x="9646920" y="260604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10104120" y="3977639"/>
            <a:ext cx="566928" cy="640080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0222992" y="4023360"/>
            <a:ext cx="43891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ACID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COOLER +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DILUTION</a:t>
            </a:r>
          </a:p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(NOTE 2)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10085832" y="5321807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085832" y="5376672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Oval 290"/>
          <p:cNvSpPr/>
          <p:nvPr/>
        </p:nvSpPr>
        <p:spPr>
          <a:xfrm>
            <a:off x="10469880" y="5184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302</a:t>
            </a:r>
          </a:p>
        </p:txBody>
      </p:sp>
      <p:cxnSp>
        <p:nvCxnSpPr>
          <p:cNvPr id="292" name="Connector 291"/>
          <p:cNvCxnSpPr/>
          <p:nvPr/>
        </p:nvCxnSpPr>
        <p:spPr>
          <a:xfrm>
            <a:off x="10469880" y="5349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10305288" y="534924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ectangle 293"/>
          <p:cNvSpPr/>
          <p:nvPr/>
        </p:nvSpPr>
        <p:spPr>
          <a:xfrm>
            <a:off x="10442448" y="56601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0469880" y="5687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302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10469880" y="5852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0634472" y="5513832"/>
            <a:ext cx="0" cy="1463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/>
          <p:cNvSpPr txBox="1"/>
          <p:nvPr/>
        </p:nvSpPr>
        <p:spPr>
          <a:xfrm>
            <a:off x="10927080" y="5797296"/>
            <a:ext cx="228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I-4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011680" y="7543800"/>
            <a:ext cx="45720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PRODUCT ACID, DILUTION WATER AND ACID CROSS-FLOWS: ACID SYSTEM P&amp;ID (NOTE 2)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Freeform 309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1" name="Connector 310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extBox 311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Freeform 313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Freeform 315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FO/FC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Freeform 318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SHUT-OFF VALVE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Freeform 323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 (LC)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ELEMENT</a:t>
            </a:r>
          </a:p>
        </p:txBody>
      </p:sp>
      <p:sp>
        <p:nvSpPr>
          <p:cNvPr id="330" name="Oval 329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31" name="Connector 330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333" name="Oval 332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339" name="Freeform 338"/>
          <p:cNvSpPr/>
          <p:nvPr/>
        </p:nvSpPr>
        <p:spPr>
          <a:xfrm>
            <a:off x="13304520" y="2029967"/>
            <a:ext cx="283464" cy="146305"/>
          </a:xfrm>
          <a:custGeom>
            <a:avLst/>
            <a:gdLst/>
            <a:ahLst/>
            <a:cxnLst/>
            <a:rect l="l" t="t" r="r" b="b"/>
            <a:pathLst>
              <a:path w="283464" h="146305">
                <a:moveTo>
                  <a:pt x="0" y="0"/>
                </a:moveTo>
                <a:lnTo>
                  <a:pt x="210312" y="0"/>
                </a:lnTo>
                <a:lnTo>
                  <a:pt x="283464" y="73153"/>
                </a:lnTo>
                <a:lnTo>
                  <a:pt x="210312" y="146305"/>
                </a:lnTo>
                <a:lnTo>
                  <a:pt x="0" y="14630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11768328" y="2295144"/>
            <a:ext cx="3474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1768328" y="2459736"/>
            <a:ext cx="3474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1741912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178052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181912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197356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201216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2050776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/>
          <p:cNvSpPr txBox="1"/>
          <p:nvPr/>
        </p:nvSpPr>
        <p:spPr>
          <a:xfrm>
            <a:off x="11768328" y="2313432"/>
            <a:ext cx="34747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CATALYST BED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13277088" y="22951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2" name="Connector 351"/>
          <p:cNvCxnSpPr/>
          <p:nvPr/>
        </p:nvCxnSpPr>
        <p:spPr>
          <a:xfrm>
            <a:off x="13367613" y="2295144"/>
            <a:ext cx="0" cy="1645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3552322" y="2295144"/>
            <a:ext cx="0" cy="1645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3367613" y="2352751"/>
            <a:ext cx="1847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3367613" y="2402128"/>
            <a:ext cx="1847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S&amp;T EXCHANGER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358" name="Connector 357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1704320" y="300380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1704320" y="31546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1704320" y="33055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1704320" y="3456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1704320" y="360730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1704320" y="3758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1704320" y="39090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1704320" y="40599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1704320" y="421081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1704320" y="43616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1704320" y="451256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1704320" y="46634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1704320" y="481431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1704320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2143232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2856464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3697712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13935456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4721840" y="2852928"/>
            <a:ext cx="0" cy="19613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11731752" y="285292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2170664" y="285292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2883896" y="285292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3725144" y="285292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3962888" y="285292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1731752" y="300380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2170664" y="300380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SULFUR TO F-101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2883896" y="300380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3725144" y="300380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3962888" y="300380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40.9 t/h (PRODUCTION)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1731752" y="315468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FFC-101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2170664" y="315468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AIR/SULFUR RATIO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2883896" y="315468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 SP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3725144" y="315468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3962888" y="315468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4.99 kNm3/t (14 % SO2)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1731752" y="330555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2170664" y="3305556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COMBUSTION AIR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2883896" y="330555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3725144" y="330555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3962888" y="3305556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CAS, MIN 100 kNm3/h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1731752" y="345643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AIC-104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2170664" y="3456432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SO2 INTO BED 1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2883896" y="345643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 SP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3725144" y="345643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3962888" y="3456432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12.0 % SO2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1731752" y="360730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2170664" y="360730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DILUTION AIR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2883896" y="360730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3725144" y="360730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3962888" y="360730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FROM AIC-104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1731752" y="375818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TIC-201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2170664" y="375818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1 INLET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2883896" y="375818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TV-201 (B-101 BYP.)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725144" y="375818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3962888" y="375818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420 C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1731752" y="390906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TIC-211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2170664" y="390906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2 INLET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2883896" y="390906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TV-211 (E-201 BYP.)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3725144" y="390906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3962888" y="390906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445 C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1731752" y="405993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TIC-221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2170664" y="4059936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3 INLET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2883896" y="405993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TV-221 (E-202 BYP.)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3725144" y="405993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3962888" y="4059936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440 C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1731752" y="421081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TIC-231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2170664" y="4210812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4 INLET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2883896" y="421081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TV-231 (SH-201 BYP.)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3725144" y="421081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3962888" y="4210812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425 C (NOTE 4)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1731752" y="436168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TIC-241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2170664" y="4361688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5 INLET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2883896" y="436168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TV-241 (E-204 BYP.)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3725144" y="436168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3962888" y="4361688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428 C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1731752" y="451256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TIC-251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2170664" y="4512564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GAS TO T-301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2883896" y="451256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TV-251 (E-203 BYP.)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3725144" y="451256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3962888" y="4512564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190 C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1731752" y="466344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HIC-109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2170664" y="4663440"/>
            <a:ext cx="66751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2883896" y="466344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H-101 FIRING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3725144" y="466344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3962888" y="4663440"/>
            <a:ext cx="74066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START-UP ONLY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1704320" y="4905756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 (ACTION: SULFUR CUT)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11704320" y="508863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1704320" y="523951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1704320" y="539038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1704320" y="554126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1704320" y="5692140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1704320" y="584301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1704320" y="599389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1704320" y="614476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1704320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1887200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291132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364284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14648688" y="5088636"/>
            <a:ext cx="0" cy="10561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/>
          <p:cNvSpPr txBox="1"/>
          <p:nvPr/>
        </p:nvSpPr>
        <p:spPr>
          <a:xfrm>
            <a:off x="11731752" y="508863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1914632" y="508863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2938760" y="50886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3670280" y="508863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1731752" y="523951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1914632" y="523951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FSLL-100 LOW TOTAL AIR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2938760" y="52395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90 kNm3/h, 3 s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3670280" y="523951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1731752" y="539038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11914632" y="539038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TSHH-203 BED 1 EXIT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2938760" y="539038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660 C, 5 s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3670280" y="539038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1731752" y="5541264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1914632" y="5541264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FSLL-301 IPA ACID FLOW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2938760" y="554126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50 %, 10 s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3670280" y="5541264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1731752" y="5692140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1914632" y="5692140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FSLL-302 FAT ACID FLOW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2938760" y="569214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50 %, 10 s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3670280" y="5692140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1731752" y="584301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1914632" y="584301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ASHH-306 STACK SO2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2938760" y="584301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3000 ppm, 5 min *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3670280" y="584301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CLOSE XV-103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1731752" y="599389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1914632" y="599389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HS-001 ESD PUSHBUTTON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2938760" y="599389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3670280" y="599389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XV-103 + STOP K-101, H-101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1704320" y="623620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DESIGN POINT (OTS MODEL)</a:t>
            </a:r>
          </a:p>
        </p:txBody>
      </p:sp>
      <p:cxnSp>
        <p:nvCxnSpPr>
          <p:cNvPr id="486" name="Connector 485"/>
          <p:cNvCxnSpPr/>
          <p:nvPr/>
        </p:nvCxnSpPr>
        <p:spPr>
          <a:xfrm>
            <a:off x="11704320" y="641908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1704320" y="656082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1704320" y="6702552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11704320" y="684428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11704320" y="6986016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1704320" y="712774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1704320" y="726948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170432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207008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257300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1307592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13624560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14191488" y="6419088"/>
            <a:ext cx="0" cy="8503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1731752" y="641908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BED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2097512" y="641908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IN C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2600432" y="641908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OUT C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3103352" y="641908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X %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13651992" y="641908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PDI kPa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1731752" y="6560820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2097512" y="656082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420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2600432" y="656082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631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3103352" y="6560820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63.1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3651992" y="6560820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1731752" y="6702552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2097512" y="670255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445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2600432" y="670255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528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3103352" y="6702552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88.1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3651992" y="6702552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11731752" y="6844284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12097512" y="68442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440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2600432" y="68442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465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3103352" y="6844284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95.8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3651992" y="6844284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3.6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11731752" y="6986016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2097512" y="69860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425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2600432" y="69860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441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3103352" y="6986016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99.70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13651992" y="6986016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2.9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1731752" y="712774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2097512" y="71277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428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12600432" y="71277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427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13103352" y="712774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99.80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3651992" y="712774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1704320" y="7315200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12.0 % SO2 / 9.0 % O2 INTO BED 1; STACK 286 ppm SO2;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PI-200 35 kPa g; K-101 DISCHARGE 60 kPa g.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1. SEE SO3-PID-001 NOTES 1-3 FOR DESIGN BASIS, LINE SIZING AND SIS PHILOSOPHY. RETURN GAS FROM T-301 IS REHEATED IN E-202 THEN E-201 (SO3-PID-001) BEFORE BED 4.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2. T-301 / T-302 ACID CIRCULATION: PUMP TANKS, ACID COOLERS, DILUTION WATER AND PRODUCT ACID CONTROLS ARE ON THE ACID SYSTEM P&amp;ID - SHOWN HERE AS PACKAGE LIMITS.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3. FSLL-301 ALSO AUTO-STARTS SPARE P-301B (HS-301B ARMED); P-302B IS STARTED MANUALLY. LOSS OF ACID CIRCULATION &gt; 10 s TRIPS SULFUR (I-3, I-4).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4. E-203/E-204/E-205 ECONOMIZERS: BFW SIDE ON STEAM SYSTEM P&amp;ID. E-204 BYPASS (TV-241) SETS BED 5 INLET; E-203 BYPASS (TV-251) KEEPS GAS TO T-301 ABOVE THE ACID DEW POINT.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5. AIT-306 / AIT-307 STACK ANALYZERS: SO2 (ppmv, DRY) AND SO3/H2SO4 MIST (mg/Nm3). XI-308 OVERALL CONVERSION CALCULATED IN DCS FROM AI-104, FI-100 AND AIT-306.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6. BED TEMPERATURES AND CONVERSIONS ARE THE OTS DESIGN POINT (SO3 CONVERTER VER 1); PLANT VALUES TBC.</a:t>
            </a:r>
          </a:p>
        </p:txBody>
      </p:sp>
      <p:cxnSp>
        <p:nvCxnSpPr>
          <p:cNvPr id="531" name="Connector 530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537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SO3 CONVERTER VER 1 (OTS)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INTERPASS ABSORPTION,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BEDS 4-5, FINAL ABSORPTION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SO3-PID-002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