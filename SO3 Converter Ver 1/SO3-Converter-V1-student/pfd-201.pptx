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9694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K-101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466" y="393968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Main Air Blower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3018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1049" y="393968"/>
            <a:ext cx="523747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Sulfur Pumps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4924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F-101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0437" y="393968"/>
            <a:ext cx="870203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Sulfur Furnace + H-101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1696" y="459907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Start-up Burner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7540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B-101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666" y="393968"/>
            <a:ext cx="69697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Waste Heat Boiler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0155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R-201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2990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SO2 Converter, 5 Beds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5448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SH-201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897" y="393968"/>
            <a:ext cx="69697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Steam Superheater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5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3576" y="393968"/>
            <a:ext cx="90484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Hot Interpass Exchanger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8001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2096" y="393968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Cold Interpass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8710" y="459907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Exchanger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0617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066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Economizer (IPA)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3232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T-301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6067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Intermediate Absorber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3232" y="459907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(IPA)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848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0651" y="393968"/>
            <a:ext cx="731621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Economizer (Bed 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8463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E-205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7912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Economizer (FAT)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1078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T-302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1236" y="393968"/>
            <a:ext cx="80091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Final Absorber (FAT)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2000" y="575815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7128000" y="6222817"/>
            <a:ext cx="1612721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SO3 CONVERTER VER 1 · OPERATOR TRAINING SIMULATOR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64868" y="6616400"/>
            <a:ext cx="1966264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SO2 CONVERTER SECTION — SULFUR-BURNING H2SO4 PLANT, 125 t/h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6400" y="6878390"/>
            <a:ext cx="339496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PFD-201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2026-10-19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64" name="Freeform 63"/>
          <p:cNvSpPr/>
          <p:nvPr/>
        </p:nvSpPr>
        <p:spPr>
          <a:xfrm>
            <a:off x="32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8000" y="65120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(t/h)</a:t>
            </a:r>
          </a:p>
        </p:txBody>
      </p:sp>
      <p:sp>
        <p:nvSpPr>
          <p:cNvPr id="67" name="Freeform 66"/>
          <p:cNvSpPr/>
          <p:nvPr/>
        </p:nvSpPr>
        <p:spPr>
          <a:xfrm>
            <a:off x="145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198000" y="57600"/>
                </a:lnTo>
                <a:lnTo>
                  <a:pt x="252000" y="115200"/>
                </a:lnTo>
                <a:lnTo>
                  <a:pt x="0" y="115200"/>
                </a:lnTo>
                <a:lnTo>
                  <a:pt x="5400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7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8000" y="65120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Liquid Flow (m³/h)</a:t>
            </a:r>
          </a:p>
        </p:txBody>
      </p:sp>
      <p:sp>
        <p:nvSpPr>
          <p:cNvPr id="70" name="Freeform 69"/>
          <p:cNvSpPr/>
          <p:nvPr/>
        </p:nvSpPr>
        <p:spPr>
          <a:xfrm>
            <a:off x="256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8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6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73" name="Freeform 72"/>
          <p:cNvSpPr/>
          <p:nvPr/>
        </p:nvSpPr>
        <p:spPr>
          <a:xfrm>
            <a:off x="367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9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(kPa g)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778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508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888400" y="65590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619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80" name="Freeform 79"/>
          <p:cNvSpPr/>
          <p:nvPr/>
        </p:nvSpPr>
        <p:spPr>
          <a:xfrm>
            <a:off x="38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46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46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413568" y="6668152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648000" y="6778482"/>
            <a:ext cx="42847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Block Valve</a:t>
            </a:r>
          </a:p>
        </p:txBody>
      </p:sp>
      <p:sp>
        <p:nvSpPr>
          <p:cNvPr id="85" name="Freeform 84"/>
          <p:cNvSpPr/>
          <p:nvPr/>
        </p:nvSpPr>
        <p:spPr>
          <a:xfrm>
            <a:off x="149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157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 flipV="1">
            <a:off x="157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8" name="Freeform 87"/>
          <p:cNvSpPr/>
          <p:nvPr/>
        </p:nvSpPr>
        <p:spPr>
          <a:xfrm>
            <a:off x="1539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5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90" name="Oval 89"/>
          <p:cNvSpPr/>
          <p:nvPr/>
        </p:nvSpPr>
        <p:spPr>
          <a:xfrm>
            <a:off x="262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262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6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93" name="Freeform 92"/>
          <p:cNvSpPr/>
          <p:nvPr/>
        </p:nvSpPr>
        <p:spPr>
          <a:xfrm>
            <a:off x="3711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90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7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778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4908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4908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99" name="TextBox 98"/>
          <p:cNvSpPr txBox="1"/>
          <p:nvPr/>
        </p:nvSpPr>
        <p:spPr>
          <a:xfrm>
            <a:off x="508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100" name="Oval 99"/>
          <p:cNvSpPr/>
          <p:nvPr/>
        </p:nvSpPr>
        <p:spPr>
          <a:xfrm>
            <a:off x="5935200" y="6742672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5976600" y="6784072"/>
            <a:ext cx="82800" cy="82800"/>
          </a:xfrm>
          <a:custGeom>
            <a:avLst/>
            <a:gdLst/>
            <a:ahLst/>
            <a:cxnLst/>
            <a:rect l="l" t="t" r="r" b="b"/>
            <a:pathLst>
              <a:path w="82800" h="82800">
                <a:moveTo>
                  <a:pt x="0" y="0"/>
                </a:moveTo>
                <a:lnTo>
                  <a:pt x="82800" y="41400"/>
                </a:lnTo>
                <a:lnTo>
                  <a:pt x="0" y="82800"/>
                </a:lnTo>
                <a:close/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98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Blower / Fan</a:t>
            </a:r>
          </a:p>
        </p:txBody>
      </p:sp>
      <p:sp>
        <p:nvSpPr>
          <p:cNvPr id="103" name="Oval 102"/>
          <p:cNvSpPr/>
          <p:nvPr/>
        </p:nvSpPr>
        <p:spPr>
          <a:xfrm>
            <a:off x="408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408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 flipH="1">
            <a:off x="399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>
            <a:off x="504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93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8" name="TextBox 107"/>
          <p:cNvSpPr txBox="1"/>
          <p:nvPr/>
        </p:nvSpPr>
        <p:spPr>
          <a:xfrm>
            <a:off x="648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452000" y="7030672"/>
            <a:ext cx="252000" cy="12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75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Vessel / Drum</a:t>
            </a:r>
          </a:p>
        </p:txBody>
      </p:sp>
      <p:sp>
        <p:nvSpPr>
          <p:cNvPr id="111" name="Oval 110"/>
          <p:cNvSpPr/>
          <p:nvPr/>
        </p:nvSpPr>
        <p:spPr>
          <a:xfrm>
            <a:off x="2598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646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868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722400" y="6976672"/>
            <a:ext cx="151200" cy="230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722400" y="705623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3722400" y="712751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722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722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9" name="TextBox 118"/>
          <p:cNvSpPr txBox="1"/>
          <p:nvPr/>
        </p:nvSpPr>
        <p:spPr>
          <a:xfrm>
            <a:off x="3978000" y="70448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Packed-Bed Reactor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832400" y="6973072"/>
            <a:ext cx="151200" cy="23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857600" y="7080856"/>
            <a:ext cx="100800" cy="11664"/>
          </a:xfrm>
          <a:prstGeom prst="rect">
            <a:avLst/>
          </a:pr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 flipV="1">
            <a:off x="4857600" y="7080856"/>
            <a:ext cx="25200" cy="116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4882800" y="7080856"/>
            <a:ext cx="25200" cy="116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908000" y="7080856"/>
            <a:ext cx="25200" cy="116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4933200" y="7080856"/>
            <a:ext cx="25200" cy="116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958400" y="7080856"/>
            <a:ext cx="25200" cy="116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7" name="TextBox 126"/>
          <p:cNvSpPr txBox="1"/>
          <p:nvPr/>
        </p:nvSpPr>
        <p:spPr>
          <a:xfrm>
            <a:off x="508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Packed Column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52000" y="5634000"/>
            <a:ext cx="6732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4000" y="5691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4000" y="5787089"/>
            <a:ext cx="244185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Flows t/h; T °C; P kPa g; acid m³/h. Design point of the simulator model.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24000" y="5879384"/>
            <a:ext cx="3731615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Bypasses TV-211/221/231/241/251 around E-201, E-202, SH-201, E-204, E-203 set the bed inlet temperatures; see P&amp;ID.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4000" y="5971679"/>
            <a:ext cx="176626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HV-112 start-up line is locked closed in operation.</a:t>
            </a:r>
          </a:p>
        </p:txBody>
      </p:sp>
      <p:sp>
        <p:nvSpPr>
          <p:cNvPr id="133" name="Oval 132"/>
          <p:cNvSpPr/>
          <p:nvPr/>
        </p:nvSpPr>
        <p:spPr>
          <a:xfrm>
            <a:off x="954000" y="1242000"/>
            <a:ext cx="396000" cy="396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053000" y="1341000"/>
            <a:ext cx="198000" cy="198000"/>
          </a:xfrm>
          <a:custGeom>
            <a:avLst/>
            <a:gdLst/>
            <a:ahLst/>
            <a:cxnLst/>
            <a:rect l="l" t="t" r="r" b="b"/>
            <a:pathLst>
              <a:path w="198000" h="198000">
                <a:moveTo>
                  <a:pt x="0" y="0"/>
                </a:moveTo>
                <a:lnTo>
                  <a:pt x="198000" y="99000"/>
                </a:lnTo>
                <a:lnTo>
                  <a:pt x="0" y="198000"/>
                </a:lnTo>
                <a:close/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66400" y="2559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1166400" y="2689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1146960" y="2790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1376352" y="2790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1134000" y="2890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0" name="Rounded Rectangle 139"/>
          <p:cNvSpPr/>
          <p:nvPr/>
        </p:nvSpPr>
        <p:spPr>
          <a:xfrm>
            <a:off x="2074148" y="1270935"/>
            <a:ext cx="1323704" cy="62613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908270" y="1460270"/>
            <a:ext cx="247459" cy="247459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3975084" y="1519661"/>
            <a:ext cx="113832" cy="128678"/>
          </a:xfrm>
          <a:custGeom>
            <a:avLst/>
            <a:gdLst/>
            <a:ahLst/>
            <a:cxnLst/>
            <a:rect l="l" t="t" r="r" b="b"/>
            <a:pathLst>
              <a:path w="113832" h="128678">
                <a:moveTo>
                  <a:pt x="56916" y="0"/>
                </a:moveTo>
                <a:lnTo>
                  <a:pt x="113832" y="25735"/>
                </a:lnTo>
                <a:lnTo>
                  <a:pt x="0" y="64339"/>
                </a:lnTo>
                <a:lnTo>
                  <a:pt x="113832" y="102943"/>
                </a:lnTo>
                <a:lnTo>
                  <a:pt x="56916" y="128678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4032000" y="1460270"/>
            <a:ext cx="0" cy="59391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032000" y="1648339"/>
            <a:ext cx="0" cy="59391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5" name="Rounded Rectangle 144"/>
          <p:cNvSpPr/>
          <p:nvPr/>
        </p:nvSpPr>
        <p:spPr>
          <a:xfrm>
            <a:off x="5328000" y="1872000"/>
            <a:ext cx="864000" cy="331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5328000" y="232848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5328000" y="276912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5328000" y="23284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5328000" y="23284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5328000" y="281808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5328000" y="325872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5328000" y="28180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5328000" y="28180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5328000" y="330768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328000" y="374832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5328000" y="33076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5328000" y="33076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5328000" y="379728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5328000" y="423792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5328000" y="37972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 flipV="1">
            <a:off x="5328000" y="37972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5328000" y="428688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328000" y="4727520"/>
            <a:ext cx="86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5328000" y="42868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5328000" y="4286880"/>
            <a:ext cx="864000" cy="4406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6" name="Oval 165"/>
          <p:cNvSpPr/>
          <p:nvPr/>
        </p:nvSpPr>
        <p:spPr>
          <a:xfrm>
            <a:off x="6462000" y="2214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6549480" y="2291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6624000" y="2214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6624000" y="2460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0" name="Oval 169"/>
          <p:cNvSpPr/>
          <p:nvPr/>
        </p:nvSpPr>
        <p:spPr>
          <a:xfrm>
            <a:off x="7182000" y="2214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7269480" y="2291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30000" y="2898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7917480" y="2975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542000" y="3654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7629480" y="3731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7704000" y="3654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7704000" y="3900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8" name="Rounded Rectangle 177"/>
          <p:cNvSpPr/>
          <p:nvPr/>
        </p:nvSpPr>
        <p:spPr>
          <a:xfrm>
            <a:off x="8550000" y="2232000"/>
            <a:ext cx="468000" cy="158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575200" y="2594430"/>
            <a:ext cx="417600" cy="208980"/>
          </a:xfrm>
          <a:prstGeom prst="rect">
            <a:avLst/>
          </a:pr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 flipV="1">
            <a:off x="8575200" y="25944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8679600" y="25944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8784000" y="25944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 flipV="1">
            <a:off x="8888400" y="25944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8992800" y="25944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5" name="Rectangle 184"/>
          <p:cNvSpPr/>
          <p:nvPr/>
        </p:nvSpPr>
        <p:spPr>
          <a:xfrm>
            <a:off x="8575200" y="3058830"/>
            <a:ext cx="417600" cy="208980"/>
          </a:xfrm>
          <a:prstGeom prst="rect">
            <a:avLst/>
          </a:pr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 flipV="1">
            <a:off x="8575200" y="30588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8679600" y="30588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8784000" y="30588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 flipV="1">
            <a:off x="8888400" y="30588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8992800" y="3058830"/>
            <a:ext cx="104400" cy="2089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1" name="Oval 190"/>
          <p:cNvSpPr/>
          <p:nvPr/>
        </p:nvSpPr>
        <p:spPr>
          <a:xfrm>
            <a:off x="4446000" y="3798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4533480" y="3875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>
            <a:off x="4608000" y="3798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608000" y="4044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5" name="Oval 194"/>
          <p:cNvSpPr/>
          <p:nvPr/>
        </p:nvSpPr>
        <p:spPr>
          <a:xfrm>
            <a:off x="7974000" y="4878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8061480" y="4955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8136000" y="4878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8136000" y="5124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9" name="Rounded Rectangle 198"/>
          <p:cNvSpPr/>
          <p:nvPr/>
        </p:nvSpPr>
        <p:spPr>
          <a:xfrm>
            <a:off x="9432000" y="3600000"/>
            <a:ext cx="432000" cy="1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457200" y="3933720"/>
            <a:ext cx="381600" cy="187920"/>
          </a:xfrm>
          <a:prstGeom prst="rect">
            <a:avLst/>
          </a:pr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9457200" y="39337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9552600" y="39337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V="1">
            <a:off x="9648000" y="39337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9743400" y="39337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9838800" y="39337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6" name="Rectangle 205"/>
          <p:cNvSpPr/>
          <p:nvPr/>
        </p:nvSpPr>
        <p:spPr>
          <a:xfrm>
            <a:off x="9457200" y="4351320"/>
            <a:ext cx="381600" cy="187920"/>
          </a:xfrm>
          <a:prstGeom prst="rect">
            <a:avLst/>
          </a:pr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7" name="Connector 206"/>
          <p:cNvCxnSpPr/>
          <p:nvPr/>
        </p:nvCxnSpPr>
        <p:spPr>
          <a:xfrm flipV="1">
            <a:off x="9457200" y="43513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9552600" y="43513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 flipV="1">
            <a:off x="9648000" y="43513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9743400" y="43513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9838800" y="4351320"/>
            <a:ext cx="95400" cy="1879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2" name="Oval 211"/>
          <p:cNvSpPr/>
          <p:nvPr/>
        </p:nvSpPr>
        <p:spPr>
          <a:xfrm>
            <a:off x="457200" y="135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457200" y="135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57200" y="265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457200" y="265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57200" y="200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457200" y="200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069200" y="315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10069200" y="315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069200" y="229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0069200" y="229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069200" y="366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0069200" y="366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701200" y="423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8701200" y="423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65200" y="531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9565200" y="531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29000" y="141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573000" y="155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437000" y="155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25000" y="155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013000" y="155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622800" y="1440000"/>
            <a:ext cx="331200" cy="0"/>
          </a:xfrm>
          <a:custGeom>
            <a:avLst/>
            <a:gdLst/>
            <a:ahLst/>
            <a:cxnLst/>
            <a:rect l="l" t="t" r="r" b="b"/>
            <a:pathLst>
              <a:path w="331200" h="0">
                <a:moveTo>
                  <a:pt x="0" y="0"/>
                </a:moveTo>
                <a:lnTo>
                  <a:pt x="331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860400" y="140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661104" y="133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53904" y="137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237" name="Connector 236"/>
          <p:cNvCxnSpPr/>
          <p:nvPr/>
        </p:nvCxnSpPr>
        <p:spPr>
          <a:xfrm flipV="1">
            <a:off x="738720" y="131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38" name="Freeform 237"/>
          <p:cNvSpPr/>
          <p:nvPr/>
        </p:nvSpPr>
        <p:spPr>
          <a:xfrm>
            <a:off x="565920" y="1029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30720" y="1043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307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583920" y="117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30720" y="118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242" name="Freeform 241"/>
          <p:cNvSpPr/>
          <p:nvPr/>
        </p:nvSpPr>
        <p:spPr>
          <a:xfrm>
            <a:off x="1350000" y="1440000"/>
            <a:ext cx="306000" cy="0"/>
          </a:xfrm>
          <a:custGeom>
            <a:avLst/>
            <a:gdLst/>
            <a:ahLst/>
            <a:cxnLst/>
            <a:rect l="l" t="t" r="r" b="b"/>
            <a:pathLst>
              <a:path w="306000" h="0">
                <a:moveTo>
                  <a:pt x="0" y="0"/>
                </a:moveTo>
                <a:lnTo>
                  <a:pt x="306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1377720" y="133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370520" y="137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245" name="Connector 244"/>
          <p:cNvCxnSpPr/>
          <p:nvPr/>
        </p:nvCxnSpPr>
        <p:spPr>
          <a:xfrm flipV="1">
            <a:off x="1457100" y="1202400"/>
            <a:ext cx="0" cy="237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6" name="Freeform 245"/>
          <p:cNvSpPr/>
          <p:nvPr/>
        </p:nvSpPr>
        <p:spPr>
          <a:xfrm>
            <a:off x="1302300" y="106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349100" y="1076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48" name="Freeform 247"/>
          <p:cNvSpPr/>
          <p:nvPr/>
        </p:nvSpPr>
        <p:spPr>
          <a:xfrm>
            <a:off x="1656000" y="1439990"/>
            <a:ext cx="461801" cy="10"/>
          </a:xfrm>
          <a:custGeom>
            <a:avLst/>
            <a:gdLst/>
            <a:ahLst/>
            <a:cxnLst/>
            <a:rect l="l" t="t" r="r" b="b"/>
            <a:pathLst>
              <a:path w="461801" h="10">
                <a:moveTo>
                  <a:pt x="0" y="10"/>
                </a:moveTo>
                <a:lnTo>
                  <a:pt x="461801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2024200" y="1406872"/>
            <a:ext cx="93601" cy="66240"/>
          </a:xfrm>
          <a:custGeom>
            <a:avLst/>
            <a:gdLst/>
            <a:ahLst/>
            <a:cxnLst/>
            <a:rect l="l" t="t" r="r" b="b"/>
            <a:pathLst>
              <a:path w="93601" h="66240">
                <a:moveTo>
                  <a:pt x="93601" y="33118"/>
                </a:moveTo>
                <a:lnTo>
                  <a:pt x="1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804100" y="1375195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886900" y="1375195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 flipV="1">
            <a:off x="1886900" y="1282675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3" name="Freeform 252"/>
          <p:cNvSpPr/>
          <p:nvPr/>
        </p:nvSpPr>
        <p:spPr>
          <a:xfrm>
            <a:off x="1848020" y="1228243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702976" y="133919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695776" y="137141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256" name="Connector 255"/>
          <p:cNvCxnSpPr/>
          <p:nvPr/>
        </p:nvCxnSpPr>
        <p:spPr>
          <a:xfrm flipV="1">
            <a:off x="1817630" y="1310396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7" name="Freeform 256"/>
          <p:cNvSpPr/>
          <p:nvPr/>
        </p:nvSpPr>
        <p:spPr>
          <a:xfrm>
            <a:off x="1644830" y="1169996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1677016" y="1184316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263.2</a:t>
            </a:r>
          </a:p>
        </p:txBody>
      </p:sp>
      <p:sp>
        <p:nvSpPr>
          <p:cNvPr id="259" name="Freeform 258"/>
          <p:cNvSpPr/>
          <p:nvPr/>
        </p:nvSpPr>
        <p:spPr>
          <a:xfrm>
            <a:off x="1656000" y="900000"/>
            <a:ext cx="3096000" cy="684000"/>
          </a:xfrm>
          <a:custGeom>
            <a:avLst/>
            <a:gdLst/>
            <a:ahLst/>
            <a:cxnLst/>
            <a:rect l="l" t="t" r="r" b="b"/>
            <a:pathLst>
              <a:path w="3096000" h="684000">
                <a:moveTo>
                  <a:pt x="0" y="540000"/>
                </a:moveTo>
                <a:lnTo>
                  <a:pt x="0" y="0"/>
                </a:lnTo>
                <a:lnTo>
                  <a:pt x="3096000" y="0"/>
                </a:lnTo>
                <a:lnTo>
                  <a:pt x="3096000" y="684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113200" y="83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2196000" y="83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2" name="Connector 261"/>
          <p:cNvCxnSpPr/>
          <p:nvPr/>
        </p:nvCxnSpPr>
        <p:spPr>
          <a:xfrm flipV="1">
            <a:off x="2196000" y="74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3" name="Freeform 262"/>
          <p:cNvSpPr/>
          <p:nvPr/>
        </p:nvSpPr>
        <p:spPr>
          <a:xfrm>
            <a:off x="2157120" y="68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3175200" y="79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3168000" y="83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266" name="Connector 265"/>
          <p:cNvCxnSpPr/>
          <p:nvPr/>
        </p:nvCxnSpPr>
        <p:spPr>
          <a:xfrm flipV="1">
            <a:off x="2628000" y="77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7" name="Freeform 266"/>
          <p:cNvSpPr/>
          <p:nvPr/>
        </p:nvSpPr>
        <p:spPr>
          <a:xfrm>
            <a:off x="2455200" y="6300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2504709" y="644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43.8</a:t>
            </a:r>
          </a:p>
        </p:txBody>
      </p:sp>
      <p:sp>
        <p:nvSpPr>
          <p:cNvPr id="269" name="Freeform 268"/>
          <p:cNvSpPr/>
          <p:nvPr/>
        </p:nvSpPr>
        <p:spPr>
          <a:xfrm>
            <a:off x="622800" y="2689200"/>
            <a:ext cx="543600" cy="46800"/>
          </a:xfrm>
          <a:custGeom>
            <a:avLst/>
            <a:gdLst/>
            <a:ahLst/>
            <a:cxnLst/>
            <a:rect l="l" t="t" r="r" b="b"/>
            <a:pathLst>
              <a:path w="543600" h="46800">
                <a:moveTo>
                  <a:pt x="0" y="46800"/>
                </a:moveTo>
                <a:lnTo>
                  <a:pt x="241200" y="46800"/>
                </a:lnTo>
                <a:lnTo>
                  <a:pt x="241200" y="0"/>
                </a:lnTo>
                <a:lnTo>
                  <a:pt x="5436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1072800" y="2656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770400" y="2588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763200" y="2620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73" name="Freeform 272"/>
          <p:cNvSpPr/>
          <p:nvPr/>
        </p:nvSpPr>
        <p:spPr>
          <a:xfrm>
            <a:off x="1425600" y="1897065"/>
            <a:ext cx="1048799" cy="792135"/>
          </a:xfrm>
          <a:custGeom>
            <a:avLst/>
            <a:gdLst/>
            <a:ahLst/>
            <a:cxnLst/>
            <a:rect l="l" t="t" r="r" b="b"/>
            <a:pathLst>
              <a:path w="1048799" h="792135">
                <a:moveTo>
                  <a:pt x="0" y="792135"/>
                </a:moveTo>
                <a:lnTo>
                  <a:pt x="1048799" y="792135"/>
                </a:lnTo>
                <a:lnTo>
                  <a:pt x="1048799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2441279" y="1897065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1987127" y="26244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2069927" y="26244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7" name="Connector 276"/>
          <p:cNvCxnSpPr/>
          <p:nvPr/>
        </p:nvCxnSpPr>
        <p:spPr>
          <a:xfrm flipV="1">
            <a:off x="2069927" y="25318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8" name="Freeform 277"/>
          <p:cNvSpPr/>
          <p:nvPr/>
        </p:nvSpPr>
        <p:spPr>
          <a:xfrm>
            <a:off x="2031047" y="24774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373599" y="238536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2366399" y="241758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81" name="Connector 280"/>
          <p:cNvCxnSpPr/>
          <p:nvPr/>
        </p:nvCxnSpPr>
        <p:spPr>
          <a:xfrm flipV="1">
            <a:off x="2069927" y="25596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82" name="Freeform 281"/>
          <p:cNvSpPr/>
          <p:nvPr/>
        </p:nvSpPr>
        <p:spPr>
          <a:xfrm>
            <a:off x="1897127" y="2419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946635" y="2433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40.9</a:t>
            </a:r>
          </a:p>
        </p:txBody>
      </p:sp>
      <p:sp>
        <p:nvSpPr>
          <p:cNvPr id="284" name="Freeform 283"/>
          <p:cNvSpPr/>
          <p:nvPr/>
        </p:nvSpPr>
        <p:spPr>
          <a:xfrm>
            <a:off x="622800" y="1771839"/>
            <a:ext cx="1516108" cy="316161"/>
          </a:xfrm>
          <a:custGeom>
            <a:avLst/>
            <a:gdLst/>
            <a:ahLst/>
            <a:cxnLst/>
            <a:rect l="l" t="t" r="r" b="b"/>
            <a:pathLst>
              <a:path w="1516108" h="316161">
                <a:moveTo>
                  <a:pt x="0" y="316161"/>
                </a:moveTo>
                <a:lnTo>
                  <a:pt x="745200" y="316161"/>
                </a:lnTo>
                <a:lnTo>
                  <a:pt x="745200" y="0"/>
                </a:lnTo>
                <a:lnTo>
                  <a:pt x="1516108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2045308" y="1738719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3390003" y="1584000"/>
            <a:ext cx="209997" cy="0"/>
          </a:xfrm>
          <a:custGeom>
            <a:avLst/>
            <a:gdLst/>
            <a:ahLst/>
            <a:cxnLst/>
            <a:rect l="l" t="t" r="r" b="b"/>
            <a:pathLst>
              <a:path w="209997" h="0">
                <a:moveTo>
                  <a:pt x="0" y="0"/>
                </a:moveTo>
                <a:lnTo>
                  <a:pt x="209997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3394201" y="148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3387001" y="151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3463502" y="1584000"/>
            <a:ext cx="0" cy="381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0" name="Freeform 289"/>
          <p:cNvSpPr/>
          <p:nvPr/>
        </p:nvSpPr>
        <p:spPr>
          <a:xfrm>
            <a:off x="3290702" y="1965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3322888" y="19799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304.1</a:t>
            </a:r>
          </a:p>
        </p:txBody>
      </p:sp>
      <p:sp>
        <p:nvSpPr>
          <p:cNvPr id="292" name="Freeform 291"/>
          <p:cNvSpPr/>
          <p:nvPr/>
        </p:nvSpPr>
        <p:spPr>
          <a:xfrm>
            <a:off x="3308702" y="2106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3340211" y="2120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1121</a:t>
            </a:r>
          </a:p>
        </p:txBody>
      </p:sp>
      <p:sp>
        <p:nvSpPr>
          <p:cNvPr id="294" name="Freeform 293"/>
          <p:cNvSpPr/>
          <p:nvPr/>
        </p:nvSpPr>
        <p:spPr>
          <a:xfrm>
            <a:off x="3600000" y="1584000"/>
            <a:ext cx="308270" cy="0"/>
          </a:xfrm>
          <a:custGeom>
            <a:avLst/>
            <a:gdLst/>
            <a:ahLst/>
            <a:cxnLst/>
            <a:rect l="l" t="t" r="r" b="b"/>
            <a:pathLst>
              <a:path w="308270" h="0">
                <a:moveTo>
                  <a:pt x="0" y="0"/>
                </a:moveTo>
                <a:lnTo>
                  <a:pt x="30827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3814670" y="155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3628674" y="148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3621474" y="151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98" name="Freeform 297"/>
          <p:cNvSpPr/>
          <p:nvPr/>
        </p:nvSpPr>
        <p:spPr>
          <a:xfrm>
            <a:off x="3600000" y="1188000"/>
            <a:ext cx="864000" cy="396000"/>
          </a:xfrm>
          <a:custGeom>
            <a:avLst/>
            <a:gdLst/>
            <a:ahLst/>
            <a:cxnLst/>
            <a:rect l="l" t="t" r="r" b="b"/>
            <a:pathLst>
              <a:path w="864000" h="396000">
                <a:moveTo>
                  <a:pt x="0" y="396000"/>
                </a:moveTo>
                <a:lnTo>
                  <a:pt x="0" y="0"/>
                </a:lnTo>
                <a:lnTo>
                  <a:pt x="864000" y="0"/>
                </a:lnTo>
                <a:lnTo>
                  <a:pt x="864000" y="396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3949200" y="112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4032000" y="112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 flipV="1">
            <a:off x="4032000" y="103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2" name="Freeform 301"/>
          <p:cNvSpPr/>
          <p:nvPr/>
        </p:nvSpPr>
        <p:spPr>
          <a:xfrm>
            <a:off x="3993120" y="97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3499200" y="1152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3492000" y="1184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305" name="Freeform 304"/>
          <p:cNvSpPr/>
          <p:nvPr/>
        </p:nvSpPr>
        <p:spPr>
          <a:xfrm>
            <a:off x="4155730" y="1584000"/>
            <a:ext cx="308270" cy="0"/>
          </a:xfrm>
          <a:custGeom>
            <a:avLst/>
            <a:gdLst/>
            <a:ahLst/>
            <a:cxnLst/>
            <a:rect l="l" t="t" r="r" b="b"/>
            <a:pathLst>
              <a:path w="308270" h="0">
                <a:moveTo>
                  <a:pt x="0" y="0"/>
                </a:moveTo>
                <a:lnTo>
                  <a:pt x="30827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4184403" y="148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177203" y="151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308" name="Connector 307"/>
          <p:cNvCxnSpPr/>
          <p:nvPr/>
        </p:nvCxnSpPr>
        <p:spPr>
          <a:xfrm flipV="1">
            <a:off x="4263624" y="1454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9" name="Freeform 308"/>
          <p:cNvSpPr/>
          <p:nvPr/>
        </p:nvSpPr>
        <p:spPr>
          <a:xfrm>
            <a:off x="4108824" y="131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4155624" y="1328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274</a:t>
            </a:r>
          </a:p>
        </p:txBody>
      </p:sp>
      <p:sp>
        <p:nvSpPr>
          <p:cNvPr id="311" name="Freeform 310"/>
          <p:cNvSpPr/>
          <p:nvPr/>
        </p:nvSpPr>
        <p:spPr>
          <a:xfrm>
            <a:off x="4464000" y="15840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4507200" y="148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4500000" y="151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314" name="Freeform 313"/>
          <p:cNvSpPr/>
          <p:nvPr/>
        </p:nvSpPr>
        <p:spPr>
          <a:xfrm>
            <a:off x="4752000" y="15840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4795200" y="148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4788000" y="151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5040000" y="1584000"/>
            <a:ext cx="720000" cy="298831"/>
          </a:xfrm>
          <a:custGeom>
            <a:avLst/>
            <a:gdLst/>
            <a:ahLst/>
            <a:cxnLst/>
            <a:rect l="l" t="t" r="r" b="b"/>
            <a:pathLst>
              <a:path w="720000" h="298831">
                <a:moveTo>
                  <a:pt x="0" y="0"/>
                </a:moveTo>
                <a:lnTo>
                  <a:pt x="720000" y="0"/>
                </a:lnTo>
                <a:lnTo>
                  <a:pt x="720000" y="298831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5726880" y="1789231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5448616" y="148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441416" y="151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cxnSp>
        <p:nvCxnSpPr>
          <p:cNvPr id="321" name="Connector 320"/>
          <p:cNvCxnSpPr/>
          <p:nvPr/>
        </p:nvCxnSpPr>
        <p:spPr>
          <a:xfrm flipV="1">
            <a:off x="5396591" y="1454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2" name="Freeform 321"/>
          <p:cNvSpPr/>
          <p:nvPr/>
        </p:nvSpPr>
        <p:spPr>
          <a:xfrm>
            <a:off x="5223791" y="1033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5288591" y="10475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348</a:t>
            </a:r>
          </a:p>
        </p:txBody>
      </p:sp>
      <p:sp>
        <p:nvSpPr>
          <p:cNvPr id="324" name="Freeform 323"/>
          <p:cNvSpPr/>
          <p:nvPr/>
        </p:nvSpPr>
        <p:spPr>
          <a:xfrm>
            <a:off x="5241791" y="1173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5288591" y="1187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420</a:t>
            </a:r>
          </a:p>
        </p:txBody>
      </p:sp>
      <p:sp>
        <p:nvSpPr>
          <p:cNvPr id="326" name="Freeform 325"/>
          <p:cNvSpPr/>
          <p:nvPr/>
        </p:nvSpPr>
        <p:spPr>
          <a:xfrm>
            <a:off x="5241791" y="131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5288591" y="1328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328" name="Freeform 327"/>
          <p:cNvSpPr/>
          <p:nvPr/>
        </p:nvSpPr>
        <p:spPr>
          <a:xfrm>
            <a:off x="5040000" y="1584000"/>
            <a:ext cx="288000" cy="2273034"/>
          </a:xfrm>
          <a:custGeom>
            <a:avLst/>
            <a:gdLst/>
            <a:ahLst/>
            <a:cxnLst/>
            <a:rect l="l" t="t" r="r" b="b"/>
            <a:pathLst>
              <a:path w="288000" h="2273034">
                <a:moveTo>
                  <a:pt x="0" y="0"/>
                </a:moveTo>
                <a:lnTo>
                  <a:pt x="0" y="2273034"/>
                </a:lnTo>
                <a:lnTo>
                  <a:pt x="288000" y="227303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5234400" y="3823914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975200" y="2781717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4975200" y="2864517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2" name="Connector 331"/>
          <p:cNvCxnSpPr/>
          <p:nvPr/>
        </p:nvCxnSpPr>
        <p:spPr>
          <a:xfrm>
            <a:off x="5040000" y="2864517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33" name="Connector 332"/>
          <p:cNvCxnSpPr/>
          <p:nvPr/>
        </p:nvCxnSpPr>
        <p:spPr>
          <a:xfrm>
            <a:off x="5197320" y="2810085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4" name="Freeform 333"/>
          <p:cNvSpPr/>
          <p:nvPr/>
        </p:nvSpPr>
        <p:spPr>
          <a:xfrm>
            <a:off x="4939200" y="2302731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4932000" y="2334951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336" name="Freeform 335"/>
          <p:cNvSpPr/>
          <p:nvPr/>
        </p:nvSpPr>
        <p:spPr>
          <a:xfrm>
            <a:off x="6192000" y="2376000"/>
            <a:ext cx="270000" cy="329416"/>
          </a:xfrm>
          <a:custGeom>
            <a:avLst/>
            <a:gdLst/>
            <a:ahLst/>
            <a:cxnLst/>
            <a:rect l="l" t="t" r="r" b="b"/>
            <a:pathLst>
              <a:path w="270000" h="329416">
                <a:moveTo>
                  <a:pt x="0" y="329416"/>
                </a:moveTo>
                <a:lnTo>
                  <a:pt x="144000" y="329416"/>
                </a:lnTo>
                <a:lnTo>
                  <a:pt x="144000" y="0"/>
                </a:lnTo>
                <a:lnTo>
                  <a:pt x="270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6368400" y="234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6235200" y="2448908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6228000" y="2481128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340" name="Connector 339"/>
          <p:cNvCxnSpPr/>
          <p:nvPr/>
        </p:nvCxnSpPr>
        <p:spPr>
          <a:xfrm>
            <a:off x="6336000" y="263962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41" name="Freeform 340"/>
          <p:cNvSpPr/>
          <p:nvPr/>
        </p:nvSpPr>
        <p:spPr>
          <a:xfrm>
            <a:off x="6465600" y="256942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6512400" y="258374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631</a:t>
            </a:r>
          </a:p>
        </p:txBody>
      </p:sp>
      <p:sp>
        <p:nvSpPr>
          <p:cNvPr id="343" name="Freeform 342"/>
          <p:cNvSpPr/>
          <p:nvPr/>
        </p:nvSpPr>
        <p:spPr>
          <a:xfrm>
            <a:off x="6786000" y="2376000"/>
            <a:ext cx="396000" cy="0"/>
          </a:xfrm>
          <a:custGeom>
            <a:avLst/>
            <a:gdLst/>
            <a:ahLst/>
            <a:cxnLst/>
            <a:rect l="l" t="t" r="r" b="b"/>
            <a:pathLst>
              <a:path w="396000" h="0">
                <a:moveTo>
                  <a:pt x="0" y="0"/>
                </a:moveTo>
                <a:lnTo>
                  <a:pt x="396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7088400" y="234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6883200" y="227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876000" y="230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347" name="Freeform 346"/>
          <p:cNvSpPr/>
          <p:nvPr/>
        </p:nvSpPr>
        <p:spPr>
          <a:xfrm>
            <a:off x="6192000" y="2376000"/>
            <a:ext cx="1440000" cy="526836"/>
          </a:xfrm>
          <a:custGeom>
            <a:avLst/>
            <a:gdLst/>
            <a:ahLst/>
            <a:cxnLst/>
            <a:rect l="l" t="t" r="r" b="b"/>
            <a:pathLst>
              <a:path w="1440000" h="526836">
                <a:moveTo>
                  <a:pt x="1314000" y="0"/>
                </a:moveTo>
                <a:lnTo>
                  <a:pt x="1440000" y="0"/>
                </a:lnTo>
                <a:lnTo>
                  <a:pt x="1440000" y="526836"/>
                </a:lnTo>
                <a:lnTo>
                  <a:pt x="0" y="52683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6192000" y="2869716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7514328" y="280203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7507128" y="283425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cxnSp>
        <p:nvCxnSpPr>
          <p:cNvPr id="351" name="Connector 350"/>
          <p:cNvCxnSpPr/>
          <p:nvPr/>
        </p:nvCxnSpPr>
        <p:spPr>
          <a:xfrm flipV="1">
            <a:off x="7552343" y="2773236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52" name="Freeform 351"/>
          <p:cNvSpPr/>
          <p:nvPr/>
        </p:nvSpPr>
        <p:spPr>
          <a:xfrm>
            <a:off x="7397543" y="263283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444343" y="2647156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445</a:t>
            </a:r>
          </a:p>
        </p:txBody>
      </p:sp>
      <p:sp>
        <p:nvSpPr>
          <p:cNvPr id="354" name="Freeform 353"/>
          <p:cNvSpPr/>
          <p:nvPr/>
        </p:nvSpPr>
        <p:spPr>
          <a:xfrm>
            <a:off x="6192000" y="3060000"/>
            <a:ext cx="1638000" cy="138966"/>
          </a:xfrm>
          <a:custGeom>
            <a:avLst/>
            <a:gdLst/>
            <a:ahLst/>
            <a:cxnLst/>
            <a:rect l="l" t="t" r="r" b="b"/>
            <a:pathLst>
              <a:path w="1638000" h="138966">
                <a:moveTo>
                  <a:pt x="0" y="138966"/>
                </a:moveTo>
                <a:lnTo>
                  <a:pt x="792000" y="138966"/>
                </a:lnTo>
                <a:lnTo>
                  <a:pt x="792000" y="0"/>
                </a:lnTo>
                <a:lnTo>
                  <a:pt x="163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7736400" y="302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6659829" y="309816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6652629" y="313038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cxnSp>
        <p:nvCxnSpPr>
          <p:cNvPr id="358" name="Connector 357"/>
          <p:cNvCxnSpPr/>
          <p:nvPr/>
        </p:nvCxnSpPr>
        <p:spPr>
          <a:xfrm flipV="1">
            <a:off x="6813938" y="3069366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59" name="Freeform 358"/>
          <p:cNvSpPr/>
          <p:nvPr/>
        </p:nvSpPr>
        <p:spPr>
          <a:xfrm>
            <a:off x="6659138" y="292896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705938" y="2943286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528</a:t>
            </a:r>
          </a:p>
        </p:txBody>
      </p:sp>
      <p:sp>
        <p:nvSpPr>
          <p:cNvPr id="361" name="Freeform 360"/>
          <p:cNvSpPr/>
          <p:nvPr/>
        </p:nvSpPr>
        <p:spPr>
          <a:xfrm>
            <a:off x="6192000" y="3060000"/>
            <a:ext cx="2160000" cy="336386"/>
          </a:xfrm>
          <a:custGeom>
            <a:avLst/>
            <a:gdLst/>
            <a:ahLst/>
            <a:cxnLst/>
            <a:rect l="l" t="t" r="r" b="b"/>
            <a:pathLst>
              <a:path w="2160000" h="336386">
                <a:moveTo>
                  <a:pt x="1962000" y="0"/>
                </a:moveTo>
                <a:lnTo>
                  <a:pt x="2160000" y="0"/>
                </a:lnTo>
                <a:lnTo>
                  <a:pt x="2160000" y="336386"/>
                </a:lnTo>
                <a:lnTo>
                  <a:pt x="0" y="33638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6192000" y="3363266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8246709" y="329558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8239509" y="332780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cxnSp>
        <p:nvCxnSpPr>
          <p:cNvPr id="365" name="Connector 364"/>
          <p:cNvCxnSpPr/>
          <p:nvPr/>
        </p:nvCxnSpPr>
        <p:spPr>
          <a:xfrm flipV="1">
            <a:off x="7673913" y="3266786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66" name="Freeform 365"/>
          <p:cNvSpPr/>
          <p:nvPr/>
        </p:nvSpPr>
        <p:spPr>
          <a:xfrm>
            <a:off x="7519113" y="312638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7565913" y="3140706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440</a:t>
            </a:r>
          </a:p>
        </p:txBody>
      </p:sp>
      <p:sp>
        <p:nvSpPr>
          <p:cNvPr id="368" name="Freeform 367"/>
          <p:cNvSpPr/>
          <p:nvPr/>
        </p:nvSpPr>
        <p:spPr>
          <a:xfrm>
            <a:off x="6192000" y="3692517"/>
            <a:ext cx="1350000" cy="123483"/>
          </a:xfrm>
          <a:custGeom>
            <a:avLst/>
            <a:gdLst/>
            <a:ahLst/>
            <a:cxnLst/>
            <a:rect l="l" t="t" r="r" b="b"/>
            <a:pathLst>
              <a:path w="1350000" h="123483">
                <a:moveTo>
                  <a:pt x="0" y="0"/>
                </a:moveTo>
                <a:lnTo>
                  <a:pt x="648000" y="0"/>
                </a:lnTo>
                <a:lnTo>
                  <a:pt x="648000" y="123483"/>
                </a:lnTo>
                <a:lnTo>
                  <a:pt x="1350000" y="123483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7448400" y="378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6562715" y="359171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6555515" y="362393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372" name="Connector 371"/>
          <p:cNvCxnSpPr/>
          <p:nvPr/>
        </p:nvCxnSpPr>
        <p:spPr>
          <a:xfrm flipV="1">
            <a:off x="6707719" y="3562917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3" name="Freeform 372"/>
          <p:cNvSpPr/>
          <p:nvPr/>
        </p:nvSpPr>
        <p:spPr>
          <a:xfrm>
            <a:off x="6552919" y="342251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6599719" y="343683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465</a:t>
            </a:r>
          </a:p>
        </p:txBody>
      </p:sp>
      <p:sp>
        <p:nvSpPr>
          <p:cNvPr id="375" name="Freeform 374"/>
          <p:cNvSpPr/>
          <p:nvPr/>
        </p:nvSpPr>
        <p:spPr>
          <a:xfrm>
            <a:off x="7866000" y="3574293"/>
            <a:ext cx="684000" cy="241707"/>
          </a:xfrm>
          <a:custGeom>
            <a:avLst/>
            <a:gdLst/>
            <a:ahLst/>
            <a:cxnLst/>
            <a:rect l="l" t="t" r="r" b="b"/>
            <a:pathLst>
              <a:path w="684000" h="241707">
                <a:moveTo>
                  <a:pt x="0" y="241707"/>
                </a:moveTo>
                <a:lnTo>
                  <a:pt x="342000" y="241707"/>
                </a:lnTo>
                <a:lnTo>
                  <a:pt x="342000" y="0"/>
                </a:lnTo>
                <a:lnTo>
                  <a:pt x="68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456400" y="3541173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8107200" y="359434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8100000" y="362656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8189997" y="3816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0" name="Freeform 379"/>
          <p:cNvSpPr/>
          <p:nvPr/>
        </p:nvSpPr>
        <p:spPr>
          <a:xfrm>
            <a:off x="8035197" y="3945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8081997" y="3959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  <p:sp>
        <p:nvSpPr>
          <p:cNvPr id="382" name="Freeform 381"/>
          <p:cNvSpPr/>
          <p:nvPr/>
        </p:nvSpPr>
        <p:spPr>
          <a:xfrm>
            <a:off x="7992000" y="2016000"/>
            <a:ext cx="792000" cy="882000"/>
          </a:xfrm>
          <a:custGeom>
            <a:avLst/>
            <a:gdLst/>
            <a:ahLst/>
            <a:cxnLst/>
            <a:rect l="l" t="t" r="r" b="b"/>
            <a:pathLst>
              <a:path w="792000" h="882000">
                <a:moveTo>
                  <a:pt x="792000" y="221867"/>
                </a:moveTo>
                <a:lnTo>
                  <a:pt x="792000" y="0"/>
                </a:lnTo>
                <a:lnTo>
                  <a:pt x="0" y="0"/>
                </a:lnTo>
                <a:lnTo>
                  <a:pt x="0" y="882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7958880" y="2804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7957133" y="191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7949933" y="194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cxnSp>
        <p:nvCxnSpPr>
          <p:cNvPr id="386" name="Connector 385"/>
          <p:cNvCxnSpPr/>
          <p:nvPr/>
        </p:nvCxnSpPr>
        <p:spPr>
          <a:xfrm flipV="1">
            <a:off x="8342313" y="1886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7" name="Freeform 386"/>
          <p:cNvSpPr/>
          <p:nvPr/>
        </p:nvSpPr>
        <p:spPr>
          <a:xfrm>
            <a:off x="8169513" y="1605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8234313" y="1619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389" name="Freeform 388"/>
          <p:cNvSpPr/>
          <p:nvPr/>
        </p:nvSpPr>
        <p:spPr>
          <a:xfrm>
            <a:off x="8187513" y="1746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8234313" y="1760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83</a:t>
            </a:r>
          </a:p>
        </p:txBody>
      </p:sp>
      <p:sp>
        <p:nvSpPr>
          <p:cNvPr id="391" name="Freeform 390"/>
          <p:cNvSpPr/>
          <p:nvPr/>
        </p:nvSpPr>
        <p:spPr>
          <a:xfrm>
            <a:off x="7992000" y="3222000"/>
            <a:ext cx="0" cy="125786"/>
          </a:xfrm>
          <a:custGeom>
            <a:avLst/>
            <a:gdLst/>
            <a:ahLst/>
            <a:cxnLst/>
            <a:rect l="l" t="t" r="r" b="b"/>
            <a:pathLst>
              <a:path w="0" h="125786">
                <a:moveTo>
                  <a:pt x="0" y="0"/>
                </a:moveTo>
                <a:lnTo>
                  <a:pt x="0" y="12578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6984000" y="3444986"/>
            <a:ext cx="1008000" cy="29014"/>
          </a:xfrm>
          <a:custGeom>
            <a:avLst/>
            <a:gdLst/>
            <a:ahLst/>
            <a:cxnLst/>
            <a:rect l="l" t="t" r="r" b="b"/>
            <a:pathLst>
              <a:path w="1008000" h="29014">
                <a:moveTo>
                  <a:pt x="1008000" y="0"/>
                </a:moveTo>
                <a:lnTo>
                  <a:pt x="1008000" y="29014"/>
                </a:lnTo>
                <a:lnTo>
                  <a:pt x="0" y="29014"/>
                </a:ln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6984000" y="2951436"/>
            <a:ext cx="0" cy="396350"/>
          </a:xfrm>
          <a:custGeom>
            <a:avLst/>
            <a:gdLst/>
            <a:ahLst/>
            <a:cxnLst/>
            <a:rect l="l" t="t" r="r" b="b"/>
            <a:pathLst>
              <a:path w="0" h="396350">
                <a:moveTo>
                  <a:pt x="0" y="39635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6984000" y="2424600"/>
            <a:ext cx="0" cy="429636"/>
          </a:xfrm>
          <a:custGeom>
            <a:avLst/>
            <a:gdLst/>
            <a:ahLst/>
            <a:cxnLst/>
            <a:rect l="l" t="t" r="r" b="b"/>
            <a:pathLst>
              <a:path w="0" h="429636">
                <a:moveTo>
                  <a:pt x="0" y="429636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6984000" y="1962000"/>
            <a:ext cx="360000" cy="365400"/>
          </a:xfrm>
          <a:custGeom>
            <a:avLst/>
            <a:gdLst/>
            <a:ahLst/>
            <a:cxnLst/>
            <a:rect l="l" t="t" r="r" b="b"/>
            <a:pathLst>
              <a:path w="360000" h="365400">
                <a:moveTo>
                  <a:pt x="0" y="365400"/>
                </a:moveTo>
                <a:lnTo>
                  <a:pt x="0" y="0"/>
                </a:lnTo>
                <a:lnTo>
                  <a:pt x="360000" y="0"/>
                </a:lnTo>
                <a:lnTo>
                  <a:pt x="360000" y="252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7310880" y="2120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6883200" y="1926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6876000" y="1958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399" name="Freeform 398"/>
          <p:cNvSpPr/>
          <p:nvPr/>
        </p:nvSpPr>
        <p:spPr>
          <a:xfrm>
            <a:off x="7344000" y="2538000"/>
            <a:ext cx="0" cy="316236"/>
          </a:xfrm>
          <a:custGeom>
            <a:avLst/>
            <a:gdLst/>
            <a:ahLst/>
            <a:cxnLst/>
            <a:rect l="l" t="t" r="r" b="b"/>
            <a:pathLst>
              <a:path w="0" h="316236">
                <a:moveTo>
                  <a:pt x="0" y="0"/>
                </a:moveTo>
                <a:lnTo>
                  <a:pt x="0" y="31623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7344000" y="2951436"/>
            <a:ext cx="0" cy="59964"/>
          </a:xfrm>
          <a:custGeom>
            <a:avLst/>
            <a:gdLst/>
            <a:ahLst/>
            <a:cxnLst/>
            <a:rect l="l" t="t" r="r" b="b"/>
            <a:pathLst>
              <a:path w="0" h="59964">
                <a:moveTo>
                  <a:pt x="0" y="0"/>
                </a:moveTo>
                <a:lnTo>
                  <a:pt x="0" y="5996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7344000" y="3108600"/>
            <a:ext cx="0" cy="239186"/>
          </a:xfrm>
          <a:custGeom>
            <a:avLst/>
            <a:gdLst/>
            <a:ahLst/>
            <a:cxnLst/>
            <a:rect l="l" t="t" r="r" b="b"/>
            <a:pathLst>
              <a:path w="0" h="239186">
                <a:moveTo>
                  <a:pt x="0" y="0"/>
                </a:moveTo>
                <a:lnTo>
                  <a:pt x="0" y="23918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7344000" y="3425400"/>
            <a:ext cx="0" cy="19586"/>
          </a:xfrm>
          <a:custGeom>
            <a:avLst/>
            <a:gdLst/>
            <a:ahLst/>
            <a:cxnLst/>
            <a:rect l="l" t="t" r="r" b="b"/>
            <a:pathLst>
              <a:path w="0" h="19586">
                <a:moveTo>
                  <a:pt x="0" y="19586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6192000" y="3522600"/>
            <a:ext cx="1152000" cy="334434"/>
          </a:xfrm>
          <a:custGeom>
            <a:avLst/>
            <a:gdLst/>
            <a:ahLst/>
            <a:cxnLst/>
            <a:rect l="l" t="t" r="r" b="b"/>
            <a:pathLst>
              <a:path w="1152000" h="334434">
                <a:moveTo>
                  <a:pt x="1152000" y="0"/>
                </a:moveTo>
                <a:lnTo>
                  <a:pt x="1152000" y="334434"/>
                </a:lnTo>
                <a:lnTo>
                  <a:pt x="0" y="33443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6192000" y="3823914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7243200" y="367271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7236000" y="370493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cxnSp>
        <p:nvCxnSpPr>
          <p:cNvPr id="407" name="Connector 406"/>
          <p:cNvCxnSpPr/>
          <p:nvPr/>
        </p:nvCxnSpPr>
        <p:spPr>
          <a:xfrm>
            <a:off x="7130993" y="3857034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08" name="Freeform 407"/>
          <p:cNvSpPr/>
          <p:nvPr/>
        </p:nvSpPr>
        <p:spPr>
          <a:xfrm>
            <a:off x="6976193" y="3986634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022993" y="4000954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425</a:t>
            </a:r>
          </a:p>
        </p:txBody>
      </p:sp>
      <p:sp>
        <p:nvSpPr>
          <p:cNvPr id="410" name="Freeform 409"/>
          <p:cNvSpPr/>
          <p:nvPr/>
        </p:nvSpPr>
        <p:spPr>
          <a:xfrm>
            <a:off x="4770000" y="3960000"/>
            <a:ext cx="558000" cy="226068"/>
          </a:xfrm>
          <a:custGeom>
            <a:avLst/>
            <a:gdLst/>
            <a:ahLst/>
            <a:cxnLst/>
            <a:rect l="l" t="t" r="r" b="b"/>
            <a:pathLst>
              <a:path w="558000" h="226068">
                <a:moveTo>
                  <a:pt x="558000" y="226068"/>
                </a:moveTo>
                <a:lnTo>
                  <a:pt x="270000" y="226068"/>
                </a:lnTo>
                <a:lnTo>
                  <a:pt x="270000" y="0"/>
                </a:ln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4770000" y="392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4939200" y="398123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4932000" y="401345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053576" y="4186068"/>
            <a:ext cx="0" cy="237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15" name="Freeform 414"/>
          <p:cNvSpPr/>
          <p:nvPr/>
        </p:nvSpPr>
        <p:spPr>
          <a:xfrm>
            <a:off x="4898776" y="4423668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4945576" y="4437988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441</a:t>
            </a:r>
          </a:p>
        </p:txBody>
      </p:sp>
      <p:sp>
        <p:nvSpPr>
          <p:cNvPr id="417" name="Freeform 416"/>
          <p:cNvSpPr/>
          <p:nvPr/>
        </p:nvSpPr>
        <p:spPr>
          <a:xfrm>
            <a:off x="4176000" y="3960000"/>
            <a:ext cx="1152000" cy="390584"/>
          </a:xfrm>
          <a:custGeom>
            <a:avLst/>
            <a:gdLst/>
            <a:ahLst/>
            <a:cxnLst/>
            <a:rect l="l" t="t" r="r" b="b"/>
            <a:pathLst>
              <a:path w="1152000" h="390584">
                <a:moveTo>
                  <a:pt x="270000" y="0"/>
                </a:moveTo>
                <a:lnTo>
                  <a:pt x="0" y="0"/>
                </a:lnTo>
                <a:lnTo>
                  <a:pt x="0" y="390584"/>
                </a:lnTo>
                <a:lnTo>
                  <a:pt x="1152000" y="39058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5234400" y="4317464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4320908" y="424978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4313708" y="428200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cxnSp>
        <p:nvCxnSpPr>
          <p:cNvPr id="421" name="Connector 420"/>
          <p:cNvCxnSpPr/>
          <p:nvPr/>
        </p:nvCxnSpPr>
        <p:spPr>
          <a:xfrm flipH="1">
            <a:off x="4046400" y="4324405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22" name="Freeform 421"/>
          <p:cNvSpPr/>
          <p:nvPr/>
        </p:nvSpPr>
        <p:spPr>
          <a:xfrm>
            <a:off x="3736800" y="425420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3783600" y="4268525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428</a:t>
            </a:r>
          </a:p>
        </p:txBody>
      </p:sp>
      <p:sp>
        <p:nvSpPr>
          <p:cNvPr id="424" name="Freeform 423"/>
          <p:cNvSpPr/>
          <p:nvPr/>
        </p:nvSpPr>
        <p:spPr>
          <a:xfrm>
            <a:off x="5760000" y="5040000"/>
            <a:ext cx="2214000" cy="360000"/>
          </a:xfrm>
          <a:custGeom>
            <a:avLst/>
            <a:gdLst/>
            <a:ahLst/>
            <a:cxnLst/>
            <a:rect l="l" t="t" r="r" b="b"/>
            <a:pathLst>
              <a:path w="2214000" h="360000">
                <a:moveTo>
                  <a:pt x="0" y="133169"/>
                </a:moveTo>
                <a:lnTo>
                  <a:pt x="0" y="360000"/>
                </a:lnTo>
                <a:lnTo>
                  <a:pt x="1944000" y="360000"/>
                </a:lnTo>
                <a:lnTo>
                  <a:pt x="1944000" y="0"/>
                </a:lnTo>
                <a:lnTo>
                  <a:pt x="221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7880400" y="500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6832784" y="529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6825584" y="533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cxnSp>
        <p:nvCxnSpPr>
          <p:cNvPr id="428" name="Connector 427"/>
          <p:cNvCxnSpPr/>
          <p:nvPr/>
        </p:nvCxnSpPr>
        <p:spPr>
          <a:xfrm flipV="1">
            <a:off x="6513460" y="527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29" name="Freeform 428"/>
          <p:cNvSpPr/>
          <p:nvPr/>
        </p:nvSpPr>
        <p:spPr>
          <a:xfrm>
            <a:off x="6358660" y="513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6405460" y="514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427</a:t>
            </a:r>
          </a:p>
        </p:txBody>
      </p:sp>
      <p:sp>
        <p:nvSpPr>
          <p:cNvPr id="431" name="Freeform 430"/>
          <p:cNvSpPr/>
          <p:nvPr/>
        </p:nvSpPr>
        <p:spPr>
          <a:xfrm>
            <a:off x="8298000" y="4820209"/>
            <a:ext cx="1134000" cy="219791"/>
          </a:xfrm>
          <a:custGeom>
            <a:avLst/>
            <a:gdLst/>
            <a:ahLst/>
            <a:cxnLst/>
            <a:rect l="l" t="t" r="r" b="b"/>
            <a:pathLst>
              <a:path w="1134000" h="219791">
                <a:moveTo>
                  <a:pt x="0" y="219791"/>
                </a:moveTo>
                <a:lnTo>
                  <a:pt x="558000" y="219791"/>
                </a:lnTo>
                <a:lnTo>
                  <a:pt x="558000" y="0"/>
                </a:lnTo>
                <a:lnTo>
                  <a:pt x="113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9338400" y="4787089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8755200" y="4820305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8748000" y="4852525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8771827" y="5040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36" name="Freeform 435"/>
          <p:cNvSpPr/>
          <p:nvPr/>
        </p:nvSpPr>
        <p:spPr>
          <a:xfrm>
            <a:off x="8617027" y="5169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8663827" y="5183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438" name="Freeform 437"/>
          <p:cNvSpPr/>
          <p:nvPr/>
        </p:nvSpPr>
        <p:spPr>
          <a:xfrm>
            <a:off x="9648000" y="3240000"/>
            <a:ext cx="421200" cy="365416"/>
          </a:xfrm>
          <a:custGeom>
            <a:avLst/>
            <a:gdLst/>
            <a:ahLst/>
            <a:cxnLst/>
            <a:rect l="l" t="t" r="r" b="b"/>
            <a:pathLst>
              <a:path w="421200" h="365416">
                <a:moveTo>
                  <a:pt x="0" y="365416"/>
                </a:moveTo>
                <a:lnTo>
                  <a:pt x="0" y="0"/>
                </a:lnTo>
                <a:lnTo>
                  <a:pt x="421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9975600" y="320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9575092" y="313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9567892" y="317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cxnSp>
        <p:nvCxnSpPr>
          <p:cNvPr id="442" name="Connector 441"/>
          <p:cNvCxnSpPr/>
          <p:nvPr/>
        </p:nvCxnSpPr>
        <p:spPr>
          <a:xfrm flipH="1">
            <a:off x="9518400" y="33301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43" name="Freeform 442"/>
          <p:cNvSpPr/>
          <p:nvPr/>
        </p:nvSpPr>
        <p:spPr>
          <a:xfrm>
            <a:off x="9190800" y="32599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9222986" y="32742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245.9</a:t>
            </a:r>
          </a:p>
        </p:txBody>
      </p:sp>
      <p:sp>
        <p:nvSpPr>
          <p:cNvPr id="445" name="Freeform 444"/>
          <p:cNvSpPr/>
          <p:nvPr/>
        </p:nvSpPr>
        <p:spPr>
          <a:xfrm>
            <a:off x="8994170" y="2363648"/>
            <a:ext cx="1075030" cy="12352"/>
          </a:xfrm>
          <a:custGeom>
            <a:avLst/>
            <a:gdLst/>
            <a:ahLst/>
            <a:cxnLst/>
            <a:rect l="l" t="t" r="r" b="b"/>
            <a:pathLst>
              <a:path w="1075030" h="12352">
                <a:moveTo>
                  <a:pt x="1075030" y="12352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8994170" y="2331606"/>
            <a:ext cx="93975" cy="66235"/>
          </a:xfrm>
          <a:custGeom>
            <a:avLst/>
            <a:gdLst/>
            <a:ahLst/>
            <a:cxnLst/>
            <a:rect l="l" t="t" r="r" b="b"/>
            <a:pathLst>
              <a:path w="93975" h="66235">
                <a:moveTo>
                  <a:pt x="0" y="32042"/>
                </a:moveTo>
                <a:lnTo>
                  <a:pt x="93975" y="0"/>
                </a:lnTo>
                <a:lnTo>
                  <a:pt x="93214" y="66235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9430885" y="2269024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9423685" y="2301244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449" name="Connector 448"/>
          <p:cNvCxnSpPr/>
          <p:nvPr/>
        </p:nvCxnSpPr>
        <p:spPr>
          <a:xfrm flipV="1">
            <a:off x="9692940" y="2242077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50" name="Freeform 449"/>
          <p:cNvSpPr/>
          <p:nvPr/>
        </p:nvSpPr>
        <p:spPr>
          <a:xfrm>
            <a:off x="9538140" y="196127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9569648" y="197559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1600</a:t>
            </a:r>
          </a:p>
        </p:txBody>
      </p:sp>
      <p:sp>
        <p:nvSpPr>
          <p:cNvPr id="452" name="Freeform 451"/>
          <p:cNvSpPr/>
          <p:nvPr/>
        </p:nvSpPr>
        <p:spPr>
          <a:xfrm>
            <a:off x="9538140" y="210167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9584940" y="211599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454" name="Freeform 453"/>
          <p:cNvSpPr/>
          <p:nvPr/>
        </p:nvSpPr>
        <p:spPr>
          <a:xfrm>
            <a:off x="8784000" y="3810133"/>
            <a:ext cx="0" cy="427067"/>
          </a:xfrm>
          <a:custGeom>
            <a:avLst/>
            <a:gdLst/>
            <a:ahLst/>
            <a:cxnLst/>
            <a:rect l="l" t="t" r="r" b="b"/>
            <a:pathLst>
              <a:path w="0" h="427067">
                <a:moveTo>
                  <a:pt x="0" y="0"/>
                </a:moveTo>
                <a:lnTo>
                  <a:pt x="0" y="427067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8750880" y="41436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8683200" y="392286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8676000" y="395508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  <p:sp>
        <p:nvSpPr>
          <p:cNvPr id="458" name="Freeform 457"/>
          <p:cNvSpPr/>
          <p:nvPr/>
        </p:nvSpPr>
        <p:spPr>
          <a:xfrm>
            <a:off x="9848555" y="3744000"/>
            <a:ext cx="220645" cy="4332"/>
          </a:xfrm>
          <a:custGeom>
            <a:avLst/>
            <a:gdLst/>
            <a:ahLst/>
            <a:cxnLst/>
            <a:rect l="l" t="t" r="r" b="b"/>
            <a:pathLst>
              <a:path w="220645" h="4332">
                <a:moveTo>
                  <a:pt x="220645" y="0"/>
                </a:moveTo>
                <a:lnTo>
                  <a:pt x="0" y="4332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9848555" y="3713381"/>
            <a:ext cx="94232" cy="66228"/>
          </a:xfrm>
          <a:custGeom>
            <a:avLst/>
            <a:gdLst/>
            <a:ahLst/>
            <a:cxnLst/>
            <a:rect l="l" t="t" r="r" b="b"/>
            <a:pathLst>
              <a:path w="94232" h="66228">
                <a:moveTo>
                  <a:pt x="0" y="34951"/>
                </a:moveTo>
                <a:lnTo>
                  <a:pt x="92932" y="0"/>
                </a:lnTo>
                <a:lnTo>
                  <a:pt x="94232" y="66228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9858078" y="364536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9850878" y="367758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cxnSp>
        <p:nvCxnSpPr>
          <p:cNvPr id="462" name="Connector 461"/>
          <p:cNvCxnSpPr/>
          <p:nvPr/>
        </p:nvCxnSpPr>
        <p:spPr>
          <a:xfrm flipV="1">
            <a:off x="9991974" y="3615916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63" name="Freeform 462"/>
          <p:cNvSpPr/>
          <p:nvPr/>
        </p:nvSpPr>
        <p:spPr>
          <a:xfrm>
            <a:off x="9837174" y="347551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9868683" y="3489836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465" name="Freeform 464"/>
          <p:cNvSpPr/>
          <p:nvPr/>
        </p:nvSpPr>
        <p:spPr>
          <a:xfrm>
            <a:off x="9648000" y="5034584"/>
            <a:ext cx="0" cy="282616"/>
          </a:xfrm>
          <a:custGeom>
            <a:avLst/>
            <a:gdLst/>
            <a:ahLst/>
            <a:cxnLst/>
            <a:rect l="l" t="t" r="r" b="b"/>
            <a:pathLst>
              <a:path w="0" h="282616">
                <a:moveTo>
                  <a:pt x="0" y="0"/>
                </a:moveTo>
                <a:lnTo>
                  <a:pt x="0" y="282616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9614880" y="52236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9547200" y="507509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9540000" y="510731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991701" y="1671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K-101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050662" y="293240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2575701" y="1930320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F-101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3871701" y="174098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B-101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3812646" y="1888795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bw / steam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5599701" y="5494424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R-201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6442441" y="2715255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SH-201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6804000" y="2575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hps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7563600" y="209364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 i="0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7831701" y="3543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E-202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7543701" y="4011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7596000" y="4159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bfw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8211402" y="3843388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T-301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4447701" y="415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E-204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4500000" y="4447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bfw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7975701" y="523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E-205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8028000" y="5383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bfw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9093402" y="5067839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T-302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301748" y="1556690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Dried Air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219859" y="2507702"/>
            <a:ext cx="64028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Molten Sulfur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186282" y="1859702"/>
            <a:ext cx="72217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Fuel (start-up)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9934221" y="3011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To Stack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9872804" y="2147702"/>
            <a:ext cx="55839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Acid 98.5 %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9872804" y="3860690"/>
            <a:ext cx="55839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Acid 98.5 %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7880483" y="4253960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Acid to IPA Tank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9788400" y="5333960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Acid to FAT Tank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3330952" y="725702"/>
            <a:ext cx="92689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Dilution Air, FV-102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2582399" y="2530580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3441166" y="10137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TV-201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4578331" y="2158218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HV-112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