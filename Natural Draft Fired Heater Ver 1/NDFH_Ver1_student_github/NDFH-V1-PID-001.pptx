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4176" cy="1068933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2880" y="182880"/>
            <a:ext cx="14758416" cy="10323576"/>
          </a:xfrm>
          <a:prstGeom prst="rect">
            <a:avLst/>
          </a:prstGeom>
          <a:noFill/>
          <a:ln w="2794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4484096" cy="10049256"/>
          </a:xfrm>
          <a:prstGeom prst="rect">
            <a:avLst/>
          </a:prstGeom>
          <a:noFill/>
          <a:ln w="1143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4544568"/>
            <a:ext cx="694944" cy="198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1">
                <a:solidFill>
                  <a:srgbClr val="000000"/>
                </a:solidFill>
                <a:latin typeface="Arial"/>
              </a:rPr>
              <a:t>FEED FROM</a:t>
            </a:r>
          </a:p>
          <a:p>
            <a:pPr algn="l"/>
            <a:r>
              <a:rPr sz="600" b="1">
                <a:solidFill>
                  <a:srgbClr val="000000"/>
                </a:solidFill>
                <a:latin typeface="Arial"/>
              </a:rPr>
              <a:t>TK-101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" y="4846320"/>
            <a:ext cx="45720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838962" y="481660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4892040"/>
            <a:ext cx="51409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4"-P-101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" y="4343400"/>
            <a:ext cx="0" cy="100584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" y="4343400"/>
            <a:ext cx="5486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783080" y="4343400"/>
            <a:ext cx="7772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1042415" y="4274820"/>
            <a:ext cx="201169" cy="137160"/>
          </a:xfrm>
          <a:custGeom>
            <a:avLst/>
            <a:gdLst/>
            <a:ahLst/>
            <a:cxnLst/>
            <a:rect l="l" t="t" r="r" b="b"/>
            <a:pathLst>
              <a:path w="201169" h="137160">
                <a:moveTo>
                  <a:pt x="0" y="0"/>
                </a:moveTo>
                <a:lnTo>
                  <a:pt x="201169" y="137160"/>
                </a:lnTo>
                <a:lnTo>
                  <a:pt x="201169" y="0"/>
                </a:lnTo>
                <a:lnTo>
                  <a:pt x="0" y="13716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3609" y="4443984"/>
            <a:ext cx="3987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V-101</a:t>
            </a:r>
          </a:p>
        </p:txBody>
      </p:sp>
      <p:sp>
        <p:nvSpPr>
          <p:cNvPr id="13" name="Freeform 12"/>
          <p:cNvSpPr/>
          <p:nvPr/>
        </p:nvSpPr>
        <p:spPr>
          <a:xfrm>
            <a:off x="1444752" y="4453128"/>
            <a:ext cx="310896" cy="164592"/>
          </a:xfrm>
          <a:custGeom>
            <a:avLst/>
            <a:gdLst/>
            <a:ahLst/>
            <a:cxnLst/>
            <a:rect l="l" t="t" r="r" b="b"/>
            <a:pathLst>
              <a:path w="310896" h="164592">
                <a:moveTo>
                  <a:pt x="0" y="164592"/>
                </a:moveTo>
                <a:lnTo>
                  <a:pt x="310896" y="164592"/>
                </a:lnTo>
                <a:lnTo>
                  <a:pt x="155448" y="0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17320" y="4160520"/>
            <a:ext cx="365760" cy="36576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Freeform 14"/>
          <p:cNvSpPr/>
          <p:nvPr/>
        </p:nvSpPr>
        <p:spPr>
          <a:xfrm>
            <a:off x="1517904" y="423367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0" y="0"/>
                </a:moveTo>
                <a:lnTo>
                  <a:pt x="219456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9784" y="3977639"/>
            <a:ext cx="56083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00000"/>
                </a:solidFill>
                <a:latin typeface="Arial"/>
              </a:rPr>
              <a:t>P-100A</a:t>
            </a:r>
          </a:p>
        </p:txBody>
      </p:sp>
      <p:sp>
        <p:nvSpPr>
          <p:cNvPr id="17" name="Freeform 16"/>
          <p:cNvSpPr/>
          <p:nvPr/>
        </p:nvSpPr>
        <p:spPr>
          <a:xfrm>
            <a:off x="1892808" y="4260189"/>
            <a:ext cx="184251" cy="166421"/>
          </a:xfrm>
          <a:custGeom>
            <a:avLst/>
            <a:gdLst/>
            <a:ahLst/>
            <a:cxnLst/>
            <a:rect l="l" t="t" r="r" b="b"/>
            <a:pathLst>
              <a:path w="184251" h="166421">
                <a:moveTo>
                  <a:pt x="0" y="0"/>
                </a:moveTo>
                <a:lnTo>
                  <a:pt x="184251" y="83211"/>
                </a:lnTo>
                <a:lnTo>
                  <a:pt x="0" y="166421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2077059" y="4260189"/>
            <a:ext cx="0" cy="16642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750822" y="4443984"/>
            <a:ext cx="52171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NRV-101</a:t>
            </a:r>
          </a:p>
        </p:txBody>
      </p:sp>
      <p:sp>
        <p:nvSpPr>
          <p:cNvPr id="20" name="Freeform 19"/>
          <p:cNvSpPr/>
          <p:nvPr/>
        </p:nvSpPr>
        <p:spPr>
          <a:xfrm>
            <a:off x="2203704" y="4274820"/>
            <a:ext cx="201168" cy="137160"/>
          </a:xfrm>
          <a:custGeom>
            <a:avLst/>
            <a:gdLst/>
            <a:ahLst/>
            <a:cxnLst/>
            <a:rect l="l" t="t" r="r" b="b"/>
            <a:pathLst>
              <a:path w="201168" h="137160">
                <a:moveTo>
                  <a:pt x="0" y="0"/>
                </a:moveTo>
                <a:lnTo>
                  <a:pt x="201168" y="137160"/>
                </a:lnTo>
                <a:lnTo>
                  <a:pt x="201168" y="0"/>
                </a:lnTo>
                <a:lnTo>
                  <a:pt x="0" y="13716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04898" y="4443984"/>
            <a:ext cx="3987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V-103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68680" y="5349240"/>
            <a:ext cx="5486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783080" y="5349240"/>
            <a:ext cx="77724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Freeform 23"/>
          <p:cNvSpPr/>
          <p:nvPr/>
        </p:nvSpPr>
        <p:spPr>
          <a:xfrm>
            <a:off x="1042415" y="5280659"/>
            <a:ext cx="201169" cy="137161"/>
          </a:xfrm>
          <a:custGeom>
            <a:avLst/>
            <a:gdLst/>
            <a:ahLst/>
            <a:cxnLst/>
            <a:rect l="l" t="t" r="r" b="b"/>
            <a:pathLst>
              <a:path w="201169" h="137161">
                <a:moveTo>
                  <a:pt x="0" y="0"/>
                </a:moveTo>
                <a:lnTo>
                  <a:pt x="201169" y="137161"/>
                </a:lnTo>
                <a:lnTo>
                  <a:pt x="201169" y="0"/>
                </a:lnTo>
                <a:lnTo>
                  <a:pt x="0" y="137161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3609" y="5449824"/>
            <a:ext cx="3987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V-102</a:t>
            </a:r>
          </a:p>
        </p:txBody>
      </p:sp>
      <p:sp>
        <p:nvSpPr>
          <p:cNvPr id="26" name="Freeform 25"/>
          <p:cNvSpPr/>
          <p:nvPr/>
        </p:nvSpPr>
        <p:spPr>
          <a:xfrm>
            <a:off x="1444752" y="5458968"/>
            <a:ext cx="310896" cy="164591"/>
          </a:xfrm>
          <a:custGeom>
            <a:avLst/>
            <a:gdLst/>
            <a:ahLst/>
            <a:cxnLst/>
            <a:rect l="l" t="t" r="r" b="b"/>
            <a:pathLst>
              <a:path w="310896" h="164591">
                <a:moveTo>
                  <a:pt x="0" y="164591"/>
                </a:moveTo>
                <a:lnTo>
                  <a:pt x="310896" y="164591"/>
                </a:lnTo>
                <a:lnTo>
                  <a:pt x="155448" y="0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417320" y="5166359"/>
            <a:ext cx="365760" cy="36576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Freeform 27"/>
          <p:cNvSpPr/>
          <p:nvPr/>
        </p:nvSpPr>
        <p:spPr>
          <a:xfrm>
            <a:off x="1517904" y="5239512"/>
            <a:ext cx="219456" cy="219456"/>
          </a:xfrm>
          <a:custGeom>
            <a:avLst/>
            <a:gdLst/>
            <a:ahLst/>
            <a:cxnLst/>
            <a:rect l="l" t="t" r="r" b="b"/>
            <a:pathLst>
              <a:path w="219456" h="219456">
                <a:moveTo>
                  <a:pt x="0" y="0"/>
                </a:moveTo>
                <a:lnTo>
                  <a:pt x="219456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9784" y="4983479"/>
            <a:ext cx="56083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00000"/>
                </a:solidFill>
                <a:latin typeface="Arial"/>
              </a:rPr>
              <a:t>P-100B</a:t>
            </a:r>
          </a:p>
        </p:txBody>
      </p:sp>
      <p:sp>
        <p:nvSpPr>
          <p:cNvPr id="30" name="Freeform 29"/>
          <p:cNvSpPr/>
          <p:nvPr/>
        </p:nvSpPr>
        <p:spPr>
          <a:xfrm>
            <a:off x="1892808" y="5266029"/>
            <a:ext cx="184251" cy="166421"/>
          </a:xfrm>
          <a:custGeom>
            <a:avLst/>
            <a:gdLst/>
            <a:ahLst/>
            <a:cxnLst/>
            <a:rect l="l" t="t" r="r" b="b"/>
            <a:pathLst>
              <a:path w="184251" h="166421">
                <a:moveTo>
                  <a:pt x="0" y="0"/>
                </a:moveTo>
                <a:lnTo>
                  <a:pt x="184251" y="83211"/>
                </a:lnTo>
                <a:lnTo>
                  <a:pt x="0" y="166421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2077059" y="5266029"/>
            <a:ext cx="0" cy="16642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750822" y="5449824"/>
            <a:ext cx="52171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NRV-102</a:t>
            </a:r>
          </a:p>
        </p:txBody>
      </p:sp>
      <p:sp>
        <p:nvSpPr>
          <p:cNvPr id="33" name="Freeform 32"/>
          <p:cNvSpPr/>
          <p:nvPr/>
        </p:nvSpPr>
        <p:spPr>
          <a:xfrm>
            <a:off x="2203704" y="5280659"/>
            <a:ext cx="201168" cy="137161"/>
          </a:xfrm>
          <a:custGeom>
            <a:avLst/>
            <a:gdLst/>
            <a:ahLst/>
            <a:cxnLst/>
            <a:rect l="l" t="t" r="r" b="b"/>
            <a:pathLst>
              <a:path w="201168" h="137161">
                <a:moveTo>
                  <a:pt x="0" y="0"/>
                </a:moveTo>
                <a:lnTo>
                  <a:pt x="201168" y="137161"/>
                </a:lnTo>
                <a:lnTo>
                  <a:pt x="201168" y="0"/>
                </a:lnTo>
                <a:lnTo>
                  <a:pt x="0" y="137161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04898" y="5449824"/>
            <a:ext cx="3987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V-104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560320" y="4343400"/>
            <a:ext cx="0" cy="100584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2530601" y="481660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>
            <a:off x="868680" y="5349240"/>
            <a:ext cx="0" cy="38404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704088" y="57332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001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560320" y="5349240"/>
            <a:ext cx="0" cy="38404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2395727" y="57332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002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560320" y="4846320"/>
            <a:ext cx="36576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2596896" y="4700016"/>
            <a:ext cx="51409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3"-P-102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4617720"/>
            <a:ext cx="914400" cy="45720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072384" y="4617720"/>
            <a:ext cx="0" cy="45720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3694176" y="4617720"/>
            <a:ext cx="0" cy="45720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72384" y="4846320"/>
            <a:ext cx="621792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141980" y="5093207"/>
            <a:ext cx="48260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000000"/>
                </a:solidFill>
                <a:latin typeface="Arial"/>
              </a:rPr>
              <a:t>E-100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75889" y="5212080"/>
            <a:ext cx="90505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FEED PREHEATER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25880" y="3383280"/>
            <a:ext cx="890524" cy="181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HEATING FLUID</a:t>
            </a:r>
          </a:p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FROM UNIT A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2103120" y="3611880"/>
            <a:ext cx="150876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3611880" y="3611880"/>
            <a:ext cx="0" cy="100584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103120" y="3648456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3"-HF-401</a:t>
            </a:r>
          </a:p>
        </p:txBody>
      </p:sp>
      <p:sp>
        <p:nvSpPr>
          <p:cNvPr id="53" name="Freeform 52"/>
          <p:cNvSpPr/>
          <p:nvPr/>
        </p:nvSpPr>
        <p:spPr>
          <a:xfrm>
            <a:off x="3543300" y="4032503"/>
            <a:ext cx="137160" cy="201169"/>
          </a:xfrm>
          <a:custGeom>
            <a:avLst/>
            <a:gdLst/>
            <a:ahLst/>
            <a:cxnLst/>
            <a:rect l="l" t="t" r="r" b="b"/>
            <a:pathLst>
              <a:path w="137160" h="201169">
                <a:moveTo>
                  <a:pt x="0" y="0"/>
                </a:moveTo>
                <a:lnTo>
                  <a:pt x="137160" y="201169"/>
                </a:lnTo>
                <a:lnTo>
                  <a:pt x="0" y="201169"/>
                </a:lnTo>
                <a:lnTo>
                  <a:pt x="137160" y="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51048" y="4078224"/>
            <a:ext cx="460247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50" b="1">
                <a:solidFill>
                  <a:srgbClr val="000000"/>
                </a:solidFill>
                <a:latin typeface="Arial"/>
              </a:rPr>
              <a:t>HV-063</a:t>
            </a:r>
          </a:p>
        </p:txBody>
      </p:sp>
      <p:sp>
        <p:nvSpPr>
          <p:cNvPr id="55" name="Oval 54"/>
          <p:cNvSpPr/>
          <p:nvPr/>
        </p:nvSpPr>
        <p:spPr>
          <a:xfrm>
            <a:off x="2896362" y="358216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 flipV="1">
            <a:off x="2926080" y="3319272"/>
            <a:ext cx="0" cy="29260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2761488" y="29900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063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3017520" y="5074920"/>
            <a:ext cx="0" cy="64008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081528" y="5596128"/>
            <a:ext cx="644652" cy="181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HF RETURN</a:t>
            </a:r>
          </a:p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TO UNIT A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776472" y="5074920"/>
            <a:ext cx="0" cy="210312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Freeform 60"/>
          <p:cNvSpPr/>
          <p:nvPr/>
        </p:nvSpPr>
        <p:spPr>
          <a:xfrm>
            <a:off x="3726180" y="5285232"/>
            <a:ext cx="100583" cy="146304"/>
          </a:xfrm>
          <a:custGeom>
            <a:avLst/>
            <a:gdLst/>
            <a:ahLst/>
            <a:cxnLst/>
            <a:rect l="l" t="t" r="r" b="b"/>
            <a:pathLst>
              <a:path w="100583" h="146304">
                <a:moveTo>
                  <a:pt x="0" y="0"/>
                </a:moveTo>
                <a:lnTo>
                  <a:pt x="100583" y="146304"/>
                </a:lnTo>
                <a:lnTo>
                  <a:pt x="0" y="146304"/>
                </a:lnTo>
                <a:lnTo>
                  <a:pt x="100583" y="0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776472" y="5431536"/>
            <a:ext cx="0" cy="109728"/>
          </a:xfrm>
          <a:prstGeom prst="line">
            <a:avLst/>
          </a:prstGeom>
          <a:ln w="889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3831336" y="5468112"/>
            <a:ext cx="19710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DR</a:t>
            </a:r>
          </a:p>
        </p:txBody>
      </p:sp>
      <p:sp>
        <p:nvSpPr>
          <p:cNvPr id="64" name="Oval 63"/>
          <p:cNvSpPr/>
          <p:nvPr/>
        </p:nvSpPr>
        <p:spPr>
          <a:xfrm>
            <a:off x="3929634" y="481660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5" name="Connector 64"/>
          <p:cNvCxnSpPr/>
          <p:nvPr/>
        </p:nvCxnSpPr>
        <p:spPr>
          <a:xfrm flipV="1">
            <a:off x="3959352" y="4572000"/>
            <a:ext cx="0" cy="27432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Freeform 65"/>
          <p:cNvSpPr/>
          <p:nvPr/>
        </p:nvSpPr>
        <p:spPr>
          <a:xfrm>
            <a:off x="3899915" y="4407408"/>
            <a:ext cx="118873" cy="164592"/>
          </a:xfrm>
          <a:custGeom>
            <a:avLst/>
            <a:gdLst/>
            <a:ahLst/>
            <a:cxnLst/>
            <a:rect l="l" t="t" r="r" b="b"/>
            <a:pathLst>
              <a:path w="118873" h="164592">
                <a:moveTo>
                  <a:pt x="0" y="0"/>
                </a:moveTo>
                <a:lnTo>
                  <a:pt x="118873" y="164592"/>
                </a:lnTo>
                <a:lnTo>
                  <a:pt x="0" y="164592"/>
                </a:lnTo>
                <a:lnTo>
                  <a:pt x="118873" y="0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 flipV="1">
            <a:off x="3959352" y="4133087"/>
            <a:ext cx="0" cy="274321"/>
          </a:xfrm>
          <a:prstGeom prst="line">
            <a:avLst/>
          </a:prstGeom>
          <a:ln w="889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050791" y="4425696"/>
            <a:ext cx="52171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PSV-101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50791" y="4535424"/>
            <a:ext cx="46126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SET TBC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96640" y="3995928"/>
            <a:ext cx="72542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TO SAFE LOC.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840480" y="4846320"/>
            <a:ext cx="20116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4041648" y="4700016"/>
            <a:ext cx="51409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3"-P-103</a:t>
            </a:r>
          </a:p>
        </p:txBody>
      </p:sp>
      <p:sp>
        <p:nvSpPr>
          <p:cNvPr id="73" name="Oval 72"/>
          <p:cNvSpPr/>
          <p:nvPr/>
        </p:nvSpPr>
        <p:spPr>
          <a:xfrm>
            <a:off x="4085082" y="481660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4" name="Connector 73"/>
          <p:cNvCxnSpPr/>
          <p:nvPr/>
        </p:nvCxnSpPr>
        <p:spPr>
          <a:xfrm>
            <a:off x="4114800" y="4846320"/>
            <a:ext cx="0" cy="38404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Oval 74"/>
          <p:cNvSpPr/>
          <p:nvPr/>
        </p:nvSpPr>
        <p:spPr>
          <a:xfrm>
            <a:off x="3950208" y="523036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010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539996" y="4727448"/>
            <a:ext cx="0" cy="237744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4604004" y="4727448"/>
            <a:ext cx="0" cy="237744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4341876" y="4983480"/>
            <a:ext cx="460247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FE-008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4572000" y="4370832"/>
            <a:ext cx="0" cy="356616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Oval 79"/>
          <p:cNvSpPr/>
          <p:nvPr/>
        </p:nvSpPr>
        <p:spPr>
          <a:xfrm>
            <a:off x="4407408" y="404164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FT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008</a:t>
            </a:r>
          </a:p>
        </p:txBody>
      </p:sp>
      <p:sp>
        <p:nvSpPr>
          <p:cNvPr id="81" name="Oval 80"/>
          <p:cNvSpPr/>
          <p:nvPr/>
        </p:nvSpPr>
        <p:spPr>
          <a:xfrm>
            <a:off x="4407408" y="3474720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FIAL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008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4407408" y="3639312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 flipV="1">
            <a:off x="4572000" y="3803904"/>
            <a:ext cx="0" cy="237744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Rectangle 83"/>
          <p:cNvSpPr/>
          <p:nvPr/>
        </p:nvSpPr>
        <p:spPr>
          <a:xfrm>
            <a:off x="4937760" y="3200400"/>
            <a:ext cx="402336" cy="402336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4974336" y="3236976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FSLL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008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4974336" y="3401568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4736592" y="3639312"/>
            <a:ext cx="201168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Oval 87"/>
          <p:cNvSpPr/>
          <p:nvPr/>
        </p:nvSpPr>
        <p:spPr>
          <a:xfrm>
            <a:off x="5230368" y="39044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FIC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003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230368" y="4069080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 flipV="1">
            <a:off x="4736592" y="4133087"/>
            <a:ext cx="493776" cy="73153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Freeform 90"/>
          <p:cNvSpPr/>
          <p:nvPr/>
        </p:nvSpPr>
        <p:spPr>
          <a:xfrm>
            <a:off x="4837176" y="4777740"/>
            <a:ext cx="201168" cy="137160"/>
          </a:xfrm>
          <a:custGeom>
            <a:avLst/>
            <a:gdLst/>
            <a:ahLst/>
            <a:cxnLst/>
            <a:rect l="l" t="t" r="r" b="b"/>
            <a:pathLst>
              <a:path w="201168" h="137160">
                <a:moveTo>
                  <a:pt x="0" y="0"/>
                </a:moveTo>
                <a:lnTo>
                  <a:pt x="201168" y="137160"/>
                </a:lnTo>
                <a:lnTo>
                  <a:pt x="201168" y="0"/>
                </a:lnTo>
                <a:lnTo>
                  <a:pt x="0" y="13716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738370" y="4946904"/>
            <a:ext cx="3987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V-105</a:t>
            </a:r>
          </a:p>
        </p:txBody>
      </p:sp>
      <p:sp>
        <p:nvSpPr>
          <p:cNvPr id="93" name="Freeform 92"/>
          <p:cNvSpPr/>
          <p:nvPr/>
        </p:nvSpPr>
        <p:spPr>
          <a:xfrm>
            <a:off x="5276088" y="4768596"/>
            <a:ext cx="237744" cy="155448"/>
          </a:xfrm>
          <a:custGeom>
            <a:avLst/>
            <a:gdLst/>
            <a:ahLst/>
            <a:cxnLst/>
            <a:rect l="l" t="t" r="r" b="b"/>
            <a:pathLst>
              <a:path w="237744" h="155448">
                <a:moveTo>
                  <a:pt x="0" y="0"/>
                </a:moveTo>
                <a:lnTo>
                  <a:pt x="237744" y="155448"/>
                </a:lnTo>
                <a:lnTo>
                  <a:pt x="237744" y="0"/>
                </a:lnTo>
                <a:lnTo>
                  <a:pt x="0" y="155448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4" name="Connector 93"/>
          <p:cNvCxnSpPr/>
          <p:nvPr/>
        </p:nvCxnSpPr>
        <p:spPr>
          <a:xfrm flipV="1">
            <a:off x="5394960" y="4617720"/>
            <a:ext cx="0" cy="150876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Freeform 94"/>
          <p:cNvSpPr/>
          <p:nvPr/>
        </p:nvSpPr>
        <p:spPr>
          <a:xfrm>
            <a:off x="5276088" y="4517136"/>
            <a:ext cx="237744" cy="100584"/>
          </a:xfrm>
          <a:custGeom>
            <a:avLst/>
            <a:gdLst/>
            <a:ahLst/>
            <a:cxnLst/>
            <a:rect l="l" t="t" r="r" b="b"/>
            <a:pathLst>
              <a:path w="237744" h="100584">
                <a:moveTo>
                  <a:pt x="0" y="100584"/>
                </a:moveTo>
                <a:lnTo>
                  <a:pt x="0" y="100584"/>
                </a:lnTo>
                <a:lnTo>
                  <a:pt x="9048" y="62092"/>
                </a:lnTo>
                <a:lnTo>
                  <a:pt x="34816" y="29460"/>
                </a:lnTo>
                <a:lnTo>
                  <a:pt x="73381" y="7656"/>
                </a:lnTo>
                <a:lnTo>
                  <a:pt x="118872" y="0"/>
                </a:lnTo>
                <a:lnTo>
                  <a:pt x="164362" y="7656"/>
                </a:lnTo>
                <a:lnTo>
                  <a:pt x="202927" y="29460"/>
                </a:lnTo>
                <a:lnTo>
                  <a:pt x="228695" y="62092"/>
                </a:lnTo>
                <a:lnTo>
                  <a:pt x="237744" y="100584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072634" y="5093208"/>
            <a:ext cx="64465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FV-010 FO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5394960" y="4233672"/>
            <a:ext cx="0" cy="283464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Freeform 97"/>
          <p:cNvSpPr/>
          <p:nvPr/>
        </p:nvSpPr>
        <p:spPr>
          <a:xfrm>
            <a:off x="5550407" y="4777740"/>
            <a:ext cx="201169" cy="137160"/>
          </a:xfrm>
          <a:custGeom>
            <a:avLst/>
            <a:gdLst/>
            <a:ahLst/>
            <a:cxnLst/>
            <a:rect l="l" t="t" r="r" b="b"/>
            <a:pathLst>
              <a:path w="201169" h="137160">
                <a:moveTo>
                  <a:pt x="0" y="0"/>
                </a:moveTo>
                <a:lnTo>
                  <a:pt x="201169" y="137160"/>
                </a:lnTo>
                <a:lnTo>
                  <a:pt x="201169" y="0"/>
                </a:lnTo>
                <a:lnTo>
                  <a:pt x="0" y="13716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451601" y="4946904"/>
            <a:ext cx="3987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V-106</a:t>
            </a:r>
          </a:p>
        </p:txBody>
      </p:sp>
      <p:sp>
        <p:nvSpPr>
          <p:cNvPr id="100" name="Oval 99"/>
          <p:cNvSpPr/>
          <p:nvPr/>
        </p:nvSpPr>
        <p:spPr>
          <a:xfrm>
            <a:off x="4770882" y="481660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5731002" y="481660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>
            <a:off x="4800600" y="4846320"/>
            <a:ext cx="0" cy="59436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 102"/>
          <p:cNvCxnSpPr/>
          <p:nvPr/>
        </p:nvCxnSpPr>
        <p:spPr>
          <a:xfrm>
            <a:off x="4800600" y="5440680"/>
            <a:ext cx="96012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 flipV="1">
            <a:off x="5760720" y="4846320"/>
            <a:ext cx="0" cy="59436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reeform 104"/>
          <p:cNvSpPr/>
          <p:nvPr/>
        </p:nvSpPr>
        <p:spPr>
          <a:xfrm>
            <a:off x="5184648" y="5372100"/>
            <a:ext cx="201168" cy="137160"/>
          </a:xfrm>
          <a:custGeom>
            <a:avLst/>
            <a:gdLst/>
            <a:ahLst/>
            <a:cxnLst/>
            <a:rect l="l" t="t" r="r" b="b"/>
            <a:pathLst>
              <a:path w="201168" h="137160">
                <a:moveTo>
                  <a:pt x="0" y="0"/>
                </a:moveTo>
                <a:lnTo>
                  <a:pt x="201168" y="137160"/>
                </a:lnTo>
                <a:lnTo>
                  <a:pt x="201168" y="0"/>
                </a:lnTo>
                <a:lnTo>
                  <a:pt x="0" y="13716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4809236" y="5532120"/>
            <a:ext cx="95199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V-107 (BYPASS)</a:t>
            </a:r>
          </a:p>
        </p:txBody>
      </p:sp>
      <p:cxnSp>
        <p:nvCxnSpPr>
          <p:cNvPr id="107" name="Connector 106"/>
          <p:cNvCxnSpPr/>
          <p:nvPr/>
        </p:nvCxnSpPr>
        <p:spPr>
          <a:xfrm flipV="1">
            <a:off x="5852160" y="2148840"/>
            <a:ext cx="0" cy="269748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852160" y="2148840"/>
            <a:ext cx="109728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5822442" y="211912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0" name="Connector 109"/>
          <p:cNvCxnSpPr/>
          <p:nvPr/>
        </p:nvCxnSpPr>
        <p:spPr>
          <a:xfrm flipV="1">
            <a:off x="5852160" y="1938528"/>
            <a:ext cx="0" cy="210312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Freeform 110"/>
          <p:cNvSpPr/>
          <p:nvPr/>
        </p:nvSpPr>
        <p:spPr>
          <a:xfrm>
            <a:off x="5801868" y="1792224"/>
            <a:ext cx="100584" cy="146304"/>
          </a:xfrm>
          <a:custGeom>
            <a:avLst/>
            <a:gdLst/>
            <a:ahLst/>
            <a:cxnLst/>
            <a:rect l="l" t="t" r="r" b="b"/>
            <a:pathLst>
              <a:path w="100584" h="146304">
                <a:moveTo>
                  <a:pt x="0" y="0"/>
                </a:moveTo>
                <a:lnTo>
                  <a:pt x="100584" y="146304"/>
                </a:lnTo>
                <a:lnTo>
                  <a:pt x="0" y="146304"/>
                </a:lnTo>
                <a:lnTo>
                  <a:pt x="100584" y="0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2" name="Connector 111"/>
          <p:cNvCxnSpPr/>
          <p:nvPr/>
        </p:nvCxnSpPr>
        <p:spPr>
          <a:xfrm flipV="1">
            <a:off x="5852160" y="1682496"/>
            <a:ext cx="0" cy="109728"/>
          </a:xfrm>
          <a:prstGeom prst="line">
            <a:avLst/>
          </a:prstGeom>
          <a:ln w="889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5476240" y="1591056"/>
            <a:ext cx="30276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000000"/>
                </a:solidFill>
                <a:latin typeface="Arial"/>
              </a:rPr>
              <a:t>VENT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292344" y="3749039"/>
            <a:ext cx="51409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000000"/>
                </a:solidFill>
                <a:latin typeface="Arial"/>
              </a:rPr>
              <a:t>3"-P-103</a:t>
            </a:r>
          </a:p>
        </p:txBody>
      </p:sp>
      <p:sp>
        <p:nvSpPr>
          <p:cNvPr id="115" name="Oval 114"/>
          <p:cNvSpPr/>
          <p:nvPr/>
        </p:nvSpPr>
        <p:spPr>
          <a:xfrm>
            <a:off x="5822442" y="271348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 flipH="1">
            <a:off x="5559552" y="2743200"/>
            <a:ext cx="29260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5230368" y="257860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009</a:t>
            </a:r>
          </a:p>
        </p:txBody>
      </p:sp>
      <p:sp>
        <p:nvSpPr>
          <p:cNvPr id="118" name="Oval 117"/>
          <p:cNvSpPr/>
          <p:nvPr/>
        </p:nvSpPr>
        <p:spPr>
          <a:xfrm>
            <a:off x="6389370" y="211912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 flipV="1">
            <a:off x="6419088" y="1901952"/>
            <a:ext cx="0" cy="24688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6254496" y="157276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020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452360" y="658368"/>
            <a:ext cx="548639" cy="1033272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 flipV="1">
            <a:off x="7726679" y="457200"/>
            <a:ext cx="0" cy="201168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7799831" y="384048"/>
            <a:ext cx="1443736" cy="9080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FLUE GAS TO ATMOSPHERE</a:t>
            </a:r>
          </a:p>
        </p:txBody>
      </p:sp>
      <p:sp>
        <p:nvSpPr>
          <p:cNvPr id="124" name="Freeform 123"/>
          <p:cNvSpPr/>
          <p:nvPr/>
        </p:nvSpPr>
        <p:spPr>
          <a:xfrm>
            <a:off x="6949440" y="1691640"/>
            <a:ext cx="1554480" cy="274320"/>
          </a:xfrm>
          <a:custGeom>
            <a:avLst/>
            <a:gdLst/>
            <a:ahLst/>
            <a:cxnLst/>
            <a:rect l="l" t="t" r="r" b="b"/>
            <a:pathLst>
              <a:path w="1554480" h="274320">
                <a:moveTo>
                  <a:pt x="502920" y="0"/>
                </a:moveTo>
                <a:lnTo>
                  <a:pt x="1051560" y="0"/>
                </a:lnTo>
                <a:lnTo>
                  <a:pt x="1554480" y="274320"/>
                </a:lnTo>
                <a:lnTo>
                  <a:pt x="0" y="27432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949440" y="1965960"/>
            <a:ext cx="1554480" cy="91440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Freeform 125"/>
          <p:cNvSpPr/>
          <p:nvPr/>
        </p:nvSpPr>
        <p:spPr>
          <a:xfrm>
            <a:off x="6492240" y="2880360"/>
            <a:ext cx="2468880" cy="365760"/>
          </a:xfrm>
          <a:custGeom>
            <a:avLst/>
            <a:gdLst/>
            <a:ahLst/>
            <a:cxnLst/>
            <a:rect l="l" t="t" r="r" b="b"/>
            <a:pathLst>
              <a:path w="2468880" h="365760">
                <a:moveTo>
                  <a:pt x="457200" y="0"/>
                </a:moveTo>
                <a:lnTo>
                  <a:pt x="2011680" y="0"/>
                </a:lnTo>
                <a:lnTo>
                  <a:pt x="2468880" y="365760"/>
                </a:lnTo>
                <a:lnTo>
                  <a:pt x="0" y="36576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6492240" y="3246120"/>
            <a:ext cx="2468880" cy="333756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8" name="Connector 127"/>
          <p:cNvCxnSpPr/>
          <p:nvPr/>
        </p:nvCxnSpPr>
        <p:spPr>
          <a:xfrm flipV="1">
            <a:off x="7525512" y="1042416"/>
            <a:ext cx="402336" cy="292608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Oval 128"/>
          <p:cNvSpPr/>
          <p:nvPr/>
        </p:nvSpPr>
        <p:spPr>
          <a:xfrm>
            <a:off x="7699248" y="1161288"/>
            <a:ext cx="54864" cy="54864"/>
          </a:xfrm>
          <a:prstGeom prst="ellipse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0" name="Connector 129"/>
          <p:cNvCxnSpPr/>
          <p:nvPr/>
        </p:nvCxnSpPr>
        <p:spPr>
          <a:xfrm>
            <a:off x="8001000" y="1188720"/>
            <a:ext cx="24688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ctangle 130"/>
          <p:cNvSpPr/>
          <p:nvPr/>
        </p:nvSpPr>
        <p:spPr>
          <a:xfrm>
            <a:off x="8247888" y="1133856"/>
            <a:ext cx="137160" cy="109728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183879" y="1271016"/>
            <a:ext cx="64465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HV-400 FO</a:t>
            </a:r>
          </a:p>
        </p:txBody>
      </p:sp>
      <p:sp>
        <p:nvSpPr>
          <p:cNvPr id="133" name="Oval 132"/>
          <p:cNvSpPr/>
          <p:nvPr/>
        </p:nvSpPr>
        <p:spPr>
          <a:xfrm>
            <a:off x="8631936" y="102412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HIC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400</a:t>
            </a:r>
          </a:p>
        </p:txBody>
      </p:sp>
      <p:cxnSp>
        <p:nvCxnSpPr>
          <p:cNvPr id="134" name="Connector 133"/>
          <p:cNvCxnSpPr/>
          <p:nvPr/>
        </p:nvCxnSpPr>
        <p:spPr>
          <a:xfrm>
            <a:off x="8631936" y="1188720"/>
            <a:ext cx="329183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>
            <a:off x="8385048" y="1188720"/>
            <a:ext cx="246888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7971281" y="811530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8001000" y="841248"/>
            <a:ext cx="630936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137"/>
          <p:cNvSpPr/>
          <p:nvPr/>
        </p:nvSpPr>
        <p:spPr>
          <a:xfrm>
            <a:off x="8631936" y="621792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AI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8988552" y="731520"/>
            <a:ext cx="19710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CO</a:t>
            </a:r>
          </a:p>
        </p:txBody>
      </p:sp>
      <p:sp>
        <p:nvSpPr>
          <p:cNvPr id="140" name="Oval 139"/>
          <p:cNvSpPr/>
          <p:nvPr/>
        </p:nvSpPr>
        <p:spPr>
          <a:xfrm>
            <a:off x="7422642" y="83896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 flipH="1">
            <a:off x="7159752" y="868680"/>
            <a:ext cx="29260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Oval 141"/>
          <p:cNvSpPr/>
          <p:nvPr/>
        </p:nvSpPr>
        <p:spPr>
          <a:xfrm>
            <a:off x="6830568" y="7040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032</a:t>
            </a:r>
          </a:p>
        </p:txBody>
      </p:sp>
      <p:sp>
        <p:nvSpPr>
          <p:cNvPr id="143" name="Oval 142"/>
          <p:cNvSpPr/>
          <p:nvPr/>
        </p:nvSpPr>
        <p:spPr>
          <a:xfrm>
            <a:off x="7422642" y="138760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4" name="Connector 143"/>
          <p:cNvCxnSpPr/>
          <p:nvPr/>
        </p:nvCxnSpPr>
        <p:spPr>
          <a:xfrm flipH="1">
            <a:off x="7159752" y="1417320"/>
            <a:ext cx="29260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Oval 144"/>
          <p:cNvSpPr/>
          <p:nvPr/>
        </p:nvSpPr>
        <p:spPr>
          <a:xfrm>
            <a:off x="6830568" y="125272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021</a:t>
            </a:r>
          </a:p>
        </p:txBody>
      </p:sp>
      <p:sp>
        <p:nvSpPr>
          <p:cNvPr id="146" name="Oval 145"/>
          <p:cNvSpPr/>
          <p:nvPr/>
        </p:nvSpPr>
        <p:spPr>
          <a:xfrm>
            <a:off x="7971281" y="152476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7" name="Connector 146"/>
          <p:cNvCxnSpPr/>
          <p:nvPr/>
        </p:nvCxnSpPr>
        <p:spPr>
          <a:xfrm>
            <a:off x="8001000" y="1554480"/>
            <a:ext cx="630936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Oval 147"/>
          <p:cNvSpPr/>
          <p:nvPr/>
        </p:nvSpPr>
        <p:spPr>
          <a:xfrm>
            <a:off x="8631936" y="1444752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AI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988552" y="1554480"/>
            <a:ext cx="19710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O₂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535671" y="1472184"/>
            <a:ext cx="38201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STACK</a:t>
            </a:r>
          </a:p>
        </p:txBody>
      </p:sp>
      <p:sp>
        <p:nvSpPr>
          <p:cNvPr id="151" name="Freeform 150"/>
          <p:cNvSpPr/>
          <p:nvPr/>
        </p:nvSpPr>
        <p:spPr>
          <a:xfrm>
            <a:off x="6949440" y="2148840"/>
            <a:ext cx="1554480" cy="548640"/>
          </a:xfrm>
          <a:custGeom>
            <a:avLst/>
            <a:gdLst/>
            <a:ahLst/>
            <a:cxnLst/>
            <a:rect l="l" t="t" r="r" b="b"/>
            <a:pathLst>
              <a:path w="1554480" h="548640">
                <a:moveTo>
                  <a:pt x="0" y="0"/>
                </a:moveTo>
                <a:lnTo>
                  <a:pt x="1426464" y="0"/>
                </a:lnTo>
                <a:lnTo>
                  <a:pt x="1426464" y="274320"/>
                </a:lnTo>
                <a:lnTo>
                  <a:pt x="128015" y="274320"/>
                </a:lnTo>
                <a:lnTo>
                  <a:pt x="128015" y="548640"/>
                </a:lnTo>
                <a:lnTo>
                  <a:pt x="1554480" y="54864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7157923" y="2002536"/>
            <a:ext cx="1137513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CONVECTION SECTION</a:t>
            </a:r>
          </a:p>
        </p:txBody>
      </p:sp>
      <p:sp>
        <p:nvSpPr>
          <p:cNvPr id="153" name="Oval 152"/>
          <p:cNvSpPr/>
          <p:nvPr/>
        </p:nvSpPr>
        <p:spPr>
          <a:xfrm>
            <a:off x="6919722" y="2548889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4" name="Connector 153"/>
          <p:cNvCxnSpPr/>
          <p:nvPr/>
        </p:nvCxnSpPr>
        <p:spPr>
          <a:xfrm flipH="1">
            <a:off x="6629400" y="2578608"/>
            <a:ext cx="320040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Oval 154"/>
          <p:cNvSpPr/>
          <p:nvPr/>
        </p:nvSpPr>
        <p:spPr>
          <a:xfrm>
            <a:off x="6300216" y="2414015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031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8503920" y="2697480"/>
            <a:ext cx="73152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 156"/>
          <p:cNvCxnSpPr/>
          <p:nvPr/>
        </p:nvCxnSpPr>
        <p:spPr>
          <a:xfrm>
            <a:off x="9235440" y="2697480"/>
            <a:ext cx="0" cy="77724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 157"/>
          <p:cNvCxnSpPr/>
          <p:nvPr/>
        </p:nvCxnSpPr>
        <p:spPr>
          <a:xfrm flipH="1">
            <a:off x="8961120" y="3474720"/>
            <a:ext cx="27432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9281160" y="2743200"/>
            <a:ext cx="51409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3"-P-104</a:t>
            </a:r>
          </a:p>
        </p:txBody>
      </p:sp>
      <p:sp>
        <p:nvSpPr>
          <p:cNvPr id="160" name="Oval 159"/>
          <p:cNvSpPr/>
          <p:nvPr/>
        </p:nvSpPr>
        <p:spPr>
          <a:xfrm>
            <a:off x="9205722" y="3060953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1" name="Connector 160"/>
          <p:cNvCxnSpPr/>
          <p:nvPr/>
        </p:nvCxnSpPr>
        <p:spPr>
          <a:xfrm>
            <a:off x="9235440" y="3090672"/>
            <a:ext cx="33832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9573768" y="2926079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022</a:t>
            </a:r>
          </a:p>
        </p:txBody>
      </p:sp>
      <p:sp>
        <p:nvSpPr>
          <p:cNvPr id="163" name="Freeform 162"/>
          <p:cNvSpPr/>
          <p:nvPr/>
        </p:nvSpPr>
        <p:spPr>
          <a:xfrm>
            <a:off x="8540496" y="3474720"/>
            <a:ext cx="420624" cy="2880360"/>
          </a:xfrm>
          <a:custGeom>
            <a:avLst/>
            <a:gdLst/>
            <a:ahLst/>
            <a:cxnLst/>
            <a:rect l="l" t="t" r="r" b="b"/>
            <a:pathLst>
              <a:path w="420624" h="2880360">
                <a:moveTo>
                  <a:pt x="420624" y="0"/>
                </a:moveTo>
                <a:lnTo>
                  <a:pt x="256032" y="0"/>
                </a:lnTo>
                <a:lnTo>
                  <a:pt x="256032" y="137159"/>
                </a:lnTo>
                <a:lnTo>
                  <a:pt x="0" y="137159"/>
                </a:lnTo>
                <a:lnTo>
                  <a:pt x="0" y="274319"/>
                </a:lnTo>
                <a:lnTo>
                  <a:pt x="0" y="411480"/>
                </a:lnTo>
                <a:lnTo>
                  <a:pt x="256032" y="411480"/>
                </a:lnTo>
                <a:lnTo>
                  <a:pt x="256032" y="548639"/>
                </a:lnTo>
                <a:lnTo>
                  <a:pt x="256032" y="685800"/>
                </a:lnTo>
                <a:lnTo>
                  <a:pt x="0" y="685800"/>
                </a:lnTo>
                <a:lnTo>
                  <a:pt x="0" y="822959"/>
                </a:lnTo>
                <a:lnTo>
                  <a:pt x="0" y="960120"/>
                </a:lnTo>
                <a:lnTo>
                  <a:pt x="256032" y="960120"/>
                </a:lnTo>
                <a:lnTo>
                  <a:pt x="256032" y="1097279"/>
                </a:lnTo>
                <a:lnTo>
                  <a:pt x="256032" y="1234439"/>
                </a:lnTo>
                <a:lnTo>
                  <a:pt x="0" y="1234439"/>
                </a:lnTo>
                <a:lnTo>
                  <a:pt x="0" y="1371599"/>
                </a:lnTo>
                <a:lnTo>
                  <a:pt x="0" y="1508759"/>
                </a:lnTo>
                <a:lnTo>
                  <a:pt x="256032" y="1508759"/>
                </a:lnTo>
                <a:lnTo>
                  <a:pt x="256032" y="1645919"/>
                </a:lnTo>
                <a:lnTo>
                  <a:pt x="256032" y="1783079"/>
                </a:lnTo>
                <a:lnTo>
                  <a:pt x="0" y="1783079"/>
                </a:lnTo>
                <a:lnTo>
                  <a:pt x="0" y="1920239"/>
                </a:lnTo>
                <a:lnTo>
                  <a:pt x="0" y="2057399"/>
                </a:lnTo>
                <a:lnTo>
                  <a:pt x="256032" y="2057399"/>
                </a:lnTo>
                <a:lnTo>
                  <a:pt x="256032" y="2194559"/>
                </a:lnTo>
                <a:lnTo>
                  <a:pt x="256032" y="2331719"/>
                </a:lnTo>
                <a:lnTo>
                  <a:pt x="0" y="2331719"/>
                </a:lnTo>
                <a:lnTo>
                  <a:pt x="0" y="2468879"/>
                </a:lnTo>
                <a:lnTo>
                  <a:pt x="0" y="2606039"/>
                </a:lnTo>
                <a:lnTo>
                  <a:pt x="256032" y="2606039"/>
                </a:lnTo>
                <a:lnTo>
                  <a:pt x="256032" y="2743199"/>
                </a:lnTo>
                <a:lnTo>
                  <a:pt x="256032" y="2880360"/>
                </a:lnTo>
                <a:lnTo>
                  <a:pt x="420624" y="288036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7320280" y="3310128"/>
            <a:ext cx="5384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H-100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7163409" y="3456432"/>
            <a:ext cx="85222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" b="0">
                <a:solidFill>
                  <a:srgbClr val="000000"/>
                </a:solidFill>
                <a:latin typeface="Arial"/>
              </a:rPr>
              <a:t>FIRED HEATER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701129" y="3566160"/>
            <a:ext cx="17767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NATURAL DRAFT, ONE OIL BURNER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817360" y="3675887"/>
            <a:ext cx="154432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RADIANT SECTION (FIREBOX)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705344" y="4846320"/>
            <a:ext cx="72542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000000"/>
                </a:solidFill>
                <a:latin typeface="Arial"/>
              </a:rPr>
              <a:t>RADIANT COIL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7916672" y="4956048"/>
            <a:ext cx="51409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000000"/>
                </a:solidFill>
                <a:latin typeface="Arial"/>
              </a:rPr>
              <a:t>(NOTE 6)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7498079" y="6583680"/>
            <a:ext cx="457200" cy="228600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7421880" y="6601968"/>
            <a:ext cx="40843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BURNER</a:t>
            </a:r>
          </a:p>
        </p:txBody>
      </p:sp>
      <p:sp>
        <p:nvSpPr>
          <p:cNvPr id="172" name="Freeform 171"/>
          <p:cNvSpPr/>
          <p:nvPr/>
        </p:nvSpPr>
        <p:spPr>
          <a:xfrm>
            <a:off x="7562088" y="5577840"/>
            <a:ext cx="329183" cy="1005840"/>
          </a:xfrm>
          <a:custGeom>
            <a:avLst/>
            <a:gdLst/>
            <a:ahLst/>
            <a:cxnLst/>
            <a:rect l="l" t="t" r="r" b="b"/>
            <a:pathLst>
              <a:path w="329183" h="1005840">
                <a:moveTo>
                  <a:pt x="0" y="1005840"/>
                </a:moveTo>
                <a:lnTo>
                  <a:pt x="164591" y="0"/>
                </a:lnTo>
                <a:lnTo>
                  <a:pt x="329183" y="1005840"/>
                </a:lnTo>
              </a:path>
            </a:pathLst>
          </a:custGeom>
          <a:noFill/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7223760" y="6812280"/>
            <a:ext cx="1005839" cy="320039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7260336" y="6922008"/>
            <a:ext cx="46126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WINDBOX</a:t>
            </a:r>
          </a:p>
        </p:txBody>
      </p:sp>
      <p:sp>
        <p:nvSpPr>
          <p:cNvPr id="175" name="Oval 174"/>
          <p:cNvSpPr/>
          <p:nvPr/>
        </p:nvSpPr>
        <p:spPr>
          <a:xfrm>
            <a:off x="6462522" y="358216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6" name="Connector 175"/>
          <p:cNvCxnSpPr/>
          <p:nvPr/>
        </p:nvCxnSpPr>
        <p:spPr>
          <a:xfrm flipH="1">
            <a:off x="6327648" y="3611880"/>
            <a:ext cx="164592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Oval 176"/>
          <p:cNvSpPr/>
          <p:nvPr/>
        </p:nvSpPr>
        <p:spPr>
          <a:xfrm>
            <a:off x="5998464" y="34472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003</a:t>
            </a:r>
          </a:p>
        </p:txBody>
      </p:sp>
      <p:sp>
        <p:nvSpPr>
          <p:cNvPr id="178" name="Oval 177"/>
          <p:cNvSpPr/>
          <p:nvPr/>
        </p:nvSpPr>
        <p:spPr>
          <a:xfrm>
            <a:off x="6462522" y="4194810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9" name="Connector 178"/>
          <p:cNvCxnSpPr/>
          <p:nvPr/>
        </p:nvCxnSpPr>
        <p:spPr>
          <a:xfrm flipH="1">
            <a:off x="6327648" y="4224528"/>
            <a:ext cx="164592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Oval 179"/>
          <p:cNvSpPr/>
          <p:nvPr/>
        </p:nvSpPr>
        <p:spPr>
          <a:xfrm>
            <a:off x="5998464" y="4059936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TIAH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023</a:t>
            </a:r>
          </a:p>
        </p:txBody>
      </p:sp>
      <p:sp>
        <p:nvSpPr>
          <p:cNvPr id="181" name="Oval 180"/>
          <p:cNvSpPr/>
          <p:nvPr/>
        </p:nvSpPr>
        <p:spPr>
          <a:xfrm>
            <a:off x="6462522" y="6169914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2" name="Connector 181"/>
          <p:cNvCxnSpPr/>
          <p:nvPr/>
        </p:nvCxnSpPr>
        <p:spPr>
          <a:xfrm flipH="1">
            <a:off x="6327648" y="6199632"/>
            <a:ext cx="164592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Oval 182"/>
          <p:cNvSpPr/>
          <p:nvPr/>
        </p:nvSpPr>
        <p:spPr>
          <a:xfrm>
            <a:off x="5998464" y="6035040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428231" y="4983480"/>
            <a:ext cx="64008" cy="329184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537959" y="504748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EXPLOSION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537959" y="5157216"/>
            <a:ext cx="30276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DOOR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8961120" y="5559552"/>
            <a:ext cx="64008" cy="219456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9070848" y="5614416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PEEP DOOR</a:t>
            </a:r>
          </a:p>
        </p:txBody>
      </p:sp>
      <p:sp>
        <p:nvSpPr>
          <p:cNvPr id="189" name="Oval 188"/>
          <p:cNvSpPr/>
          <p:nvPr/>
        </p:nvSpPr>
        <p:spPr>
          <a:xfrm>
            <a:off x="8931402" y="394792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0" name="Connector 189"/>
          <p:cNvCxnSpPr/>
          <p:nvPr/>
        </p:nvCxnSpPr>
        <p:spPr>
          <a:xfrm>
            <a:off x="8961120" y="3977639"/>
            <a:ext cx="61264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9573768" y="381304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AI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028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9930384" y="3922776"/>
            <a:ext cx="19710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O₂</a:t>
            </a:r>
          </a:p>
        </p:txBody>
      </p:sp>
      <p:sp>
        <p:nvSpPr>
          <p:cNvPr id="193" name="Oval 192"/>
          <p:cNvSpPr/>
          <p:nvPr/>
        </p:nvSpPr>
        <p:spPr>
          <a:xfrm>
            <a:off x="10168128" y="381304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AIC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027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10168128" y="3977639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9902952" y="3822191"/>
            <a:ext cx="265176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 flipV="1">
            <a:off x="10332720" y="3566160"/>
            <a:ext cx="0" cy="246888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TextBox 196"/>
          <p:cNvSpPr txBox="1"/>
          <p:nvPr/>
        </p:nvSpPr>
        <p:spPr>
          <a:xfrm>
            <a:off x="9837928" y="3438144"/>
            <a:ext cx="98958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TO FY-005 (REV B)</a:t>
            </a:r>
          </a:p>
        </p:txBody>
      </p:sp>
      <p:sp>
        <p:nvSpPr>
          <p:cNvPr id="198" name="Oval 197"/>
          <p:cNvSpPr/>
          <p:nvPr/>
        </p:nvSpPr>
        <p:spPr>
          <a:xfrm>
            <a:off x="8766809" y="458800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9" name="Connector 198"/>
          <p:cNvCxnSpPr/>
          <p:nvPr/>
        </p:nvCxnSpPr>
        <p:spPr>
          <a:xfrm>
            <a:off x="8796528" y="4617720"/>
            <a:ext cx="777240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Oval 199"/>
          <p:cNvSpPr/>
          <p:nvPr/>
        </p:nvSpPr>
        <p:spPr>
          <a:xfrm>
            <a:off x="9573768" y="445312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024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930384" y="4562856"/>
            <a:ext cx="30276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SKIN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526280" y="5897880"/>
            <a:ext cx="706120" cy="181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LP STEAM</a:t>
            </a:r>
          </a:p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(SNUFFING)</a:t>
            </a:r>
          </a:p>
        </p:txBody>
      </p:sp>
      <p:cxnSp>
        <p:nvCxnSpPr>
          <p:cNvPr id="203" name="Connector 202"/>
          <p:cNvCxnSpPr/>
          <p:nvPr/>
        </p:nvCxnSpPr>
        <p:spPr>
          <a:xfrm>
            <a:off x="4526280" y="5852160"/>
            <a:ext cx="1965960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4" name="Freeform 203"/>
          <p:cNvSpPr/>
          <p:nvPr/>
        </p:nvSpPr>
        <p:spPr>
          <a:xfrm>
            <a:off x="5385816" y="5783580"/>
            <a:ext cx="201168" cy="137160"/>
          </a:xfrm>
          <a:custGeom>
            <a:avLst/>
            <a:gdLst/>
            <a:ahLst/>
            <a:cxnLst/>
            <a:rect l="l" t="t" r="r" b="b"/>
            <a:pathLst>
              <a:path w="201168" h="137160">
                <a:moveTo>
                  <a:pt x="0" y="0"/>
                </a:moveTo>
                <a:lnTo>
                  <a:pt x="201168" y="137160"/>
                </a:lnTo>
                <a:lnTo>
                  <a:pt x="201168" y="0"/>
                </a:lnTo>
                <a:lnTo>
                  <a:pt x="0" y="13716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5164074" y="5952744"/>
            <a:ext cx="64465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HV-221 NC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760720" y="571500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2"-LS-301</a:t>
            </a:r>
          </a:p>
        </p:txBody>
      </p:sp>
      <p:sp>
        <p:nvSpPr>
          <p:cNvPr id="207" name="Oval 206"/>
          <p:cNvSpPr/>
          <p:nvPr/>
        </p:nvSpPr>
        <p:spPr>
          <a:xfrm>
            <a:off x="7468361" y="673684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 flipH="1">
            <a:off x="6976872" y="6766560"/>
            <a:ext cx="521207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" name="Oval 208"/>
          <p:cNvSpPr/>
          <p:nvPr/>
        </p:nvSpPr>
        <p:spPr>
          <a:xfrm>
            <a:off x="6647688" y="660196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BS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5961888" y="6702552"/>
            <a:ext cx="402336" cy="402336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5998464" y="673912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BSLL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005</a:t>
            </a:r>
          </a:p>
        </p:txBody>
      </p:sp>
      <p:cxnSp>
        <p:nvCxnSpPr>
          <p:cNvPr id="212" name="Connector 211"/>
          <p:cNvCxnSpPr/>
          <p:nvPr/>
        </p:nvCxnSpPr>
        <p:spPr>
          <a:xfrm>
            <a:off x="5998464" y="6903720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 212"/>
          <p:cNvCxnSpPr/>
          <p:nvPr/>
        </p:nvCxnSpPr>
        <p:spPr>
          <a:xfrm flipH="1">
            <a:off x="6364224" y="6812280"/>
            <a:ext cx="283464" cy="54864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 213"/>
          <p:cNvCxnSpPr/>
          <p:nvPr/>
        </p:nvCxnSpPr>
        <p:spPr>
          <a:xfrm>
            <a:off x="8961120" y="6355080"/>
            <a:ext cx="219456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5" name="TextBox 214"/>
          <p:cNvSpPr txBox="1"/>
          <p:nvPr/>
        </p:nvSpPr>
        <p:spPr>
          <a:xfrm>
            <a:off x="9144000" y="6217920"/>
            <a:ext cx="51409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3"-P-105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0192511" y="5961888"/>
            <a:ext cx="963168" cy="198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1">
                <a:solidFill>
                  <a:srgbClr val="000000"/>
                </a:solidFill>
                <a:latin typeface="Arial"/>
              </a:rPr>
              <a:t>TO PACKED-BED</a:t>
            </a:r>
          </a:p>
          <a:p>
            <a:pPr algn="r"/>
            <a:r>
              <a:rPr sz="600" b="1">
                <a:solidFill>
                  <a:srgbClr val="000000"/>
                </a:solidFill>
                <a:latin typeface="Arial"/>
              </a:rPr>
              <a:t>REACTOR V-200</a:t>
            </a:r>
          </a:p>
        </p:txBody>
      </p:sp>
      <p:sp>
        <p:nvSpPr>
          <p:cNvPr id="217" name="Oval 216"/>
          <p:cNvSpPr/>
          <p:nvPr/>
        </p:nvSpPr>
        <p:spPr>
          <a:xfrm>
            <a:off x="9434322" y="632536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8" name="Connector 217"/>
          <p:cNvCxnSpPr/>
          <p:nvPr/>
        </p:nvCxnSpPr>
        <p:spPr>
          <a:xfrm>
            <a:off x="9464040" y="6355080"/>
            <a:ext cx="0" cy="29260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Oval 218"/>
          <p:cNvSpPr/>
          <p:nvPr/>
        </p:nvSpPr>
        <p:spPr>
          <a:xfrm>
            <a:off x="9299448" y="66476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TT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040</a:t>
            </a:r>
          </a:p>
        </p:txBody>
      </p:sp>
      <p:sp>
        <p:nvSpPr>
          <p:cNvPr id="220" name="Oval 219"/>
          <p:cNvSpPr/>
          <p:nvPr/>
        </p:nvSpPr>
        <p:spPr>
          <a:xfrm>
            <a:off x="9299448" y="719632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TIC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030</a:t>
            </a:r>
          </a:p>
        </p:txBody>
      </p:sp>
      <p:cxnSp>
        <p:nvCxnSpPr>
          <p:cNvPr id="221" name="Connector 220"/>
          <p:cNvCxnSpPr/>
          <p:nvPr/>
        </p:nvCxnSpPr>
        <p:spPr>
          <a:xfrm>
            <a:off x="9299448" y="7360920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9464040" y="6976872"/>
            <a:ext cx="0" cy="219456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Oval 222"/>
          <p:cNvSpPr/>
          <p:nvPr/>
        </p:nvSpPr>
        <p:spPr>
          <a:xfrm>
            <a:off x="9982961" y="632536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10012680" y="6355080"/>
            <a:ext cx="0" cy="29260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224"/>
          <p:cNvSpPr/>
          <p:nvPr/>
        </p:nvSpPr>
        <p:spPr>
          <a:xfrm>
            <a:off x="9848088" y="66476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TIAH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025</a:t>
            </a:r>
          </a:p>
        </p:txBody>
      </p:sp>
      <p:cxnSp>
        <p:nvCxnSpPr>
          <p:cNvPr id="226" name="Connector 225"/>
          <p:cNvCxnSpPr/>
          <p:nvPr/>
        </p:nvCxnSpPr>
        <p:spPr>
          <a:xfrm>
            <a:off x="9848088" y="6812280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10195560" y="6473952"/>
            <a:ext cx="40843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TE-025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9811511" y="7159752"/>
            <a:ext cx="402336" cy="402336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9848088" y="719632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TSHH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025</a:t>
            </a:r>
          </a:p>
        </p:txBody>
      </p:sp>
      <p:cxnSp>
        <p:nvCxnSpPr>
          <p:cNvPr id="230" name="Connector 229"/>
          <p:cNvCxnSpPr/>
          <p:nvPr/>
        </p:nvCxnSpPr>
        <p:spPr>
          <a:xfrm>
            <a:off x="9848088" y="7360920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1" name="Connector 230"/>
          <p:cNvCxnSpPr/>
          <p:nvPr/>
        </p:nvCxnSpPr>
        <p:spPr>
          <a:xfrm>
            <a:off x="10012680" y="6976872"/>
            <a:ext cx="0" cy="18288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Oval 231"/>
          <p:cNvSpPr/>
          <p:nvPr/>
        </p:nvSpPr>
        <p:spPr>
          <a:xfrm>
            <a:off x="10531602" y="632536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3" name="Connector 232"/>
          <p:cNvCxnSpPr/>
          <p:nvPr/>
        </p:nvCxnSpPr>
        <p:spPr>
          <a:xfrm>
            <a:off x="10561320" y="6355080"/>
            <a:ext cx="0" cy="29260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Oval 233"/>
          <p:cNvSpPr/>
          <p:nvPr/>
        </p:nvSpPr>
        <p:spPr>
          <a:xfrm>
            <a:off x="10396728" y="66476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005</a:t>
            </a:r>
          </a:p>
        </p:txBody>
      </p:sp>
      <p:sp>
        <p:nvSpPr>
          <p:cNvPr id="235" name="Oval 234"/>
          <p:cNvSpPr/>
          <p:nvPr/>
        </p:nvSpPr>
        <p:spPr>
          <a:xfrm>
            <a:off x="10897361" y="6325362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6" name="Connector 235"/>
          <p:cNvCxnSpPr/>
          <p:nvPr/>
        </p:nvCxnSpPr>
        <p:spPr>
          <a:xfrm>
            <a:off x="10927080" y="6355080"/>
            <a:ext cx="0" cy="32004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Freeform 236"/>
          <p:cNvSpPr/>
          <p:nvPr/>
        </p:nvSpPr>
        <p:spPr>
          <a:xfrm>
            <a:off x="10876788" y="6675120"/>
            <a:ext cx="100584" cy="146304"/>
          </a:xfrm>
          <a:custGeom>
            <a:avLst/>
            <a:gdLst/>
            <a:ahLst/>
            <a:cxnLst/>
            <a:rect l="l" t="t" r="r" b="b"/>
            <a:pathLst>
              <a:path w="100584" h="146304">
                <a:moveTo>
                  <a:pt x="0" y="0"/>
                </a:moveTo>
                <a:lnTo>
                  <a:pt x="100584" y="146304"/>
                </a:lnTo>
                <a:lnTo>
                  <a:pt x="0" y="146304"/>
                </a:lnTo>
                <a:lnTo>
                  <a:pt x="100584" y="0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10927080" y="6821424"/>
            <a:ext cx="0" cy="128016"/>
          </a:xfrm>
          <a:prstGeom prst="line">
            <a:avLst/>
          </a:prstGeom>
          <a:ln w="889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/>
          <p:cNvSpPr txBox="1"/>
          <p:nvPr/>
        </p:nvSpPr>
        <p:spPr>
          <a:xfrm>
            <a:off x="10828527" y="6967728"/>
            <a:ext cx="19710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DR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411480" y="7013448"/>
            <a:ext cx="1013460" cy="181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COMBUSTION AIR</a:t>
            </a:r>
          </a:p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FROM ATMOSPHERE</a:t>
            </a:r>
          </a:p>
        </p:txBody>
      </p:sp>
      <p:cxnSp>
        <p:nvCxnSpPr>
          <p:cNvPr id="241" name="Connector 240"/>
          <p:cNvCxnSpPr/>
          <p:nvPr/>
        </p:nvCxnSpPr>
        <p:spPr>
          <a:xfrm>
            <a:off x="411480" y="7315200"/>
            <a:ext cx="960120" cy="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Rectangle 241"/>
          <p:cNvSpPr/>
          <p:nvPr/>
        </p:nvSpPr>
        <p:spPr>
          <a:xfrm>
            <a:off x="1371600" y="7150608"/>
            <a:ext cx="274320" cy="329184"/>
          </a:xfrm>
          <a:prstGeom prst="rect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3" name="Connector 242"/>
          <p:cNvCxnSpPr/>
          <p:nvPr/>
        </p:nvCxnSpPr>
        <p:spPr>
          <a:xfrm flipV="1">
            <a:off x="1371600" y="7150608"/>
            <a:ext cx="274320" cy="329184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TextBox 243"/>
          <p:cNvSpPr txBox="1"/>
          <p:nvPr/>
        </p:nvSpPr>
        <p:spPr>
          <a:xfrm>
            <a:off x="1281430" y="7507224"/>
            <a:ext cx="45466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50" b="1">
                <a:solidFill>
                  <a:srgbClr val="000000"/>
                </a:solidFill>
                <a:latin typeface="Arial"/>
              </a:rPr>
              <a:t>F-100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1119631" y="7616952"/>
            <a:ext cx="77825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INTAKE SCREEN</a:t>
            </a:r>
          </a:p>
        </p:txBody>
      </p:sp>
      <p:cxnSp>
        <p:nvCxnSpPr>
          <p:cNvPr id="246" name="Connector 245"/>
          <p:cNvCxnSpPr/>
          <p:nvPr/>
        </p:nvCxnSpPr>
        <p:spPr>
          <a:xfrm>
            <a:off x="1645920" y="7315200"/>
            <a:ext cx="576072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6"/>
          <p:cNvCxnSpPr/>
          <p:nvPr/>
        </p:nvCxnSpPr>
        <p:spPr>
          <a:xfrm flipV="1">
            <a:off x="7406640" y="7132320"/>
            <a:ext cx="0" cy="18288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TextBox 247"/>
          <p:cNvSpPr txBox="1"/>
          <p:nvPr/>
        </p:nvSpPr>
        <p:spPr>
          <a:xfrm>
            <a:off x="5669280" y="7178040"/>
            <a:ext cx="11480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AIR DUCT DN350 (TBC)</a:t>
            </a:r>
          </a:p>
        </p:txBody>
      </p:sp>
      <p:cxnSp>
        <p:nvCxnSpPr>
          <p:cNvPr id="249" name="Connector 248"/>
          <p:cNvCxnSpPr/>
          <p:nvPr/>
        </p:nvCxnSpPr>
        <p:spPr>
          <a:xfrm>
            <a:off x="2162556" y="7196328"/>
            <a:ext cx="0" cy="237744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Connector 249"/>
          <p:cNvCxnSpPr/>
          <p:nvPr/>
        </p:nvCxnSpPr>
        <p:spPr>
          <a:xfrm>
            <a:off x="2226564" y="7196328"/>
            <a:ext cx="0" cy="237744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1" name="TextBox 250"/>
          <p:cNvSpPr txBox="1"/>
          <p:nvPr/>
        </p:nvSpPr>
        <p:spPr>
          <a:xfrm>
            <a:off x="1964436" y="7452360"/>
            <a:ext cx="460247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FE-005</a:t>
            </a:r>
          </a:p>
        </p:txBody>
      </p:sp>
      <p:cxnSp>
        <p:nvCxnSpPr>
          <p:cNvPr id="252" name="Connector 251"/>
          <p:cNvCxnSpPr/>
          <p:nvPr/>
        </p:nvCxnSpPr>
        <p:spPr>
          <a:xfrm flipV="1">
            <a:off x="2194560" y="6830568"/>
            <a:ext cx="0" cy="36576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3" name="Oval 252"/>
          <p:cNvSpPr/>
          <p:nvPr/>
        </p:nvSpPr>
        <p:spPr>
          <a:xfrm>
            <a:off x="2029967" y="6501384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FT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005</a:t>
            </a:r>
          </a:p>
        </p:txBody>
      </p:sp>
      <p:sp>
        <p:nvSpPr>
          <p:cNvPr id="254" name="Freeform 253"/>
          <p:cNvSpPr/>
          <p:nvPr/>
        </p:nvSpPr>
        <p:spPr>
          <a:xfrm>
            <a:off x="3172968" y="7237476"/>
            <a:ext cx="237744" cy="155448"/>
          </a:xfrm>
          <a:custGeom>
            <a:avLst/>
            <a:gdLst/>
            <a:ahLst/>
            <a:cxnLst/>
            <a:rect l="l" t="t" r="r" b="b"/>
            <a:pathLst>
              <a:path w="237744" h="155448">
                <a:moveTo>
                  <a:pt x="0" y="0"/>
                </a:moveTo>
                <a:lnTo>
                  <a:pt x="237744" y="155448"/>
                </a:lnTo>
                <a:lnTo>
                  <a:pt x="237744" y="0"/>
                </a:lnTo>
                <a:lnTo>
                  <a:pt x="0" y="155448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5" name="Connector 254"/>
          <p:cNvCxnSpPr/>
          <p:nvPr/>
        </p:nvCxnSpPr>
        <p:spPr>
          <a:xfrm flipV="1">
            <a:off x="3291840" y="7086600"/>
            <a:ext cx="0" cy="150876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Freeform 255"/>
          <p:cNvSpPr/>
          <p:nvPr/>
        </p:nvSpPr>
        <p:spPr>
          <a:xfrm>
            <a:off x="3172968" y="6986016"/>
            <a:ext cx="237744" cy="100584"/>
          </a:xfrm>
          <a:custGeom>
            <a:avLst/>
            <a:gdLst/>
            <a:ahLst/>
            <a:cxnLst/>
            <a:rect l="l" t="t" r="r" b="b"/>
            <a:pathLst>
              <a:path w="237744" h="100584">
                <a:moveTo>
                  <a:pt x="0" y="100584"/>
                </a:moveTo>
                <a:lnTo>
                  <a:pt x="0" y="100584"/>
                </a:lnTo>
                <a:lnTo>
                  <a:pt x="9048" y="62092"/>
                </a:lnTo>
                <a:lnTo>
                  <a:pt x="34816" y="29460"/>
                </a:lnTo>
                <a:lnTo>
                  <a:pt x="73381" y="7656"/>
                </a:lnTo>
                <a:lnTo>
                  <a:pt x="118872" y="0"/>
                </a:lnTo>
                <a:lnTo>
                  <a:pt x="164362" y="7656"/>
                </a:lnTo>
                <a:lnTo>
                  <a:pt x="202927" y="29460"/>
                </a:lnTo>
                <a:lnTo>
                  <a:pt x="228695" y="62092"/>
                </a:lnTo>
                <a:lnTo>
                  <a:pt x="237744" y="100584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2969514" y="7424927"/>
            <a:ext cx="64465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FV-200 FO</a:t>
            </a:r>
          </a:p>
        </p:txBody>
      </p:sp>
      <p:sp>
        <p:nvSpPr>
          <p:cNvPr id="258" name="Oval 257"/>
          <p:cNvSpPr/>
          <p:nvPr/>
        </p:nvSpPr>
        <p:spPr>
          <a:xfrm>
            <a:off x="3127248" y="628192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FIC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005</a:t>
            </a:r>
          </a:p>
        </p:txBody>
      </p:sp>
      <p:cxnSp>
        <p:nvCxnSpPr>
          <p:cNvPr id="259" name="Connector 258"/>
          <p:cNvCxnSpPr/>
          <p:nvPr/>
        </p:nvCxnSpPr>
        <p:spPr>
          <a:xfrm>
            <a:off x="3127248" y="6446520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Connector 259"/>
          <p:cNvCxnSpPr/>
          <p:nvPr/>
        </p:nvCxnSpPr>
        <p:spPr>
          <a:xfrm>
            <a:off x="3291840" y="6611112"/>
            <a:ext cx="0" cy="374904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1" name="Connector 260"/>
          <p:cNvCxnSpPr/>
          <p:nvPr/>
        </p:nvCxnSpPr>
        <p:spPr>
          <a:xfrm flipV="1">
            <a:off x="2359152" y="6492240"/>
            <a:ext cx="768096" cy="173736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1"/>
          <p:cNvSpPr/>
          <p:nvPr/>
        </p:nvSpPr>
        <p:spPr>
          <a:xfrm>
            <a:off x="3767328" y="628192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FY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005</a:t>
            </a:r>
          </a:p>
        </p:txBody>
      </p:sp>
      <p:cxnSp>
        <p:nvCxnSpPr>
          <p:cNvPr id="263" name="Connector 262"/>
          <p:cNvCxnSpPr/>
          <p:nvPr/>
        </p:nvCxnSpPr>
        <p:spPr>
          <a:xfrm>
            <a:off x="3767328" y="6446520"/>
            <a:ext cx="329183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Connector 263"/>
          <p:cNvCxnSpPr/>
          <p:nvPr/>
        </p:nvCxnSpPr>
        <p:spPr>
          <a:xfrm flipH="1">
            <a:off x="3456432" y="6446520"/>
            <a:ext cx="310896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5" name="TextBox 264"/>
          <p:cNvSpPr txBox="1"/>
          <p:nvPr/>
        </p:nvSpPr>
        <p:spPr>
          <a:xfrm>
            <a:off x="4133087" y="6291072"/>
            <a:ext cx="125374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AIR/FUEL RATIO (REV B)</a:t>
            </a:r>
          </a:p>
        </p:txBody>
      </p:sp>
      <p:sp>
        <p:nvSpPr>
          <p:cNvPr id="266" name="TextBox 265"/>
          <p:cNvSpPr txBox="1"/>
          <p:nvPr/>
        </p:nvSpPr>
        <p:spPr>
          <a:xfrm>
            <a:off x="4133087" y="6400800"/>
            <a:ext cx="120091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FROM FI-001 &amp; AIC-027</a:t>
            </a:r>
          </a:p>
        </p:txBody>
      </p:sp>
      <p:sp>
        <p:nvSpPr>
          <p:cNvPr id="267" name="Oval 266"/>
          <p:cNvSpPr/>
          <p:nvPr/>
        </p:nvSpPr>
        <p:spPr>
          <a:xfrm>
            <a:off x="8199881" y="6938010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8" name="Connector 267"/>
          <p:cNvCxnSpPr/>
          <p:nvPr/>
        </p:nvCxnSpPr>
        <p:spPr>
          <a:xfrm>
            <a:off x="8229600" y="6967728"/>
            <a:ext cx="219456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9" name="Oval 268"/>
          <p:cNvSpPr/>
          <p:nvPr/>
        </p:nvSpPr>
        <p:spPr>
          <a:xfrm>
            <a:off x="8449056" y="6803136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PT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030</a:t>
            </a:r>
          </a:p>
        </p:txBody>
      </p:sp>
      <p:sp>
        <p:nvSpPr>
          <p:cNvPr id="270" name="Oval 269"/>
          <p:cNvSpPr/>
          <p:nvPr/>
        </p:nvSpPr>
        <p:spPr>
          <a:xfrm>
            <a:off x="8449056" y="728776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PIAL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030</a:t>
            </a:r>
          </a:p>
        </p:txBody>
      </p:sp>
      <p:cxnSp>
        <p:nvCxnSpPr>
          <p:cNvPr id="271" name="Connector 270"/>
          <p:cNvCxnSpPr/>
          <p:nvPr/>
        </p:nvCxnSpPr>
        <p:spPr>
          <a:xfrm>
            <a:off x="8449056" y="7452360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8613648" y="7132320"/>
            <a:ext cx="0" cy="155448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TextBox 272"/>
          <p:cNvSpPr txBox="1"/>
          <p:nvPr/>
        </p:nvSpPr>
        <p:spPr>
          <a:xfrm>
            <a:off x="8805672" y="7296912"/>
            <a:ext cx="5384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00000"/>
                </a:solidFill>
                <a:latin typeface="Arial"/>
              </a:rPr>
              <a:t>PSLL-030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8805672" y="740664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(SIS-100)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411480" y="7699248"/>
            <a:ext cx="890524" cy="18161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FUEL OIL FROM</a:t>
            </a:r>
          </a:p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FUEL SYSTEM</a:t>
            </a:r>
          </a:p>
        </p:txBody>
      </p:sp>
      <p:cxnSp>
        <p:nvCxnSpPr>
          <p:cNvPr id="276" name="Connector 275"/>
          <p:cNvCxnSpPr/>
          <p:nvPr/>
        </p:nvCxnSpPr>
        <p:spPr>
          <a:xfrm>
            <a:off x="411480" y="8001000"/>
            <a:ext cx="7470647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276"/>
          <p:cNvCxnSpPr/>
          <p:nvPr/>
        </p:nvCxnSpPr>
        <p:spPr>
          <a:xfrm flipV="1">
            <a:off x="7882127" y="6629400"/>
            <a:ext cx="0" cy="137160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277"/>
          <p:cNvCxnSpPr/>
          <p:nvPr/>
        </p:nvCxnSpPr>
        <p:spPr>
          <a:xfrm flipV="1">
            <a:off x="7882127" y="6601968"/>
            <a:ext cx="0" cy="228600"/>
          </a:xfrm>
          <a:prstGeom prst="line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9" name="TextBox 278"/>
          <p:cNvSpPr txBox="1"/>
          <p:nvPr/>
        </p:nvSpPr>
        <p:spPr>
          <a:xfrm>
            <a:off x="457200" y="804672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1"-FO-201</a:t>
            </a:r>
          </a:p>
        </p:txBody>
      </p:sp>
      <p:sp>
        <p:nvSpPr>
          <p:cNvPr id="280" name="Freeform 279"/>
          <p:cNvSpPr/>
          <p:nvPr/>
        </p:nvSpPr>
        <p:spPr>
          <a:xfrm>
            <a:off x="1453895" y="7932420"/>
            <a:ext cx="201169" cy="137159"/>
          </a:xfrm>
          <a:custGeom>
            <a:avLst/>
            <a:gdLst/>
            <a:ahLst/>
            <a:cxnLst/>
            <a:rect l="l" t="t" r="r" b="b"/>
            <a:pathLst>
              <a:path w="201169" h="137159">
                <a:moveTo>
                  <a:pt x="0" y="0"/>
                </a:moveTo>
                <a:lnTo>
                  <a:pt x="201169" y="137159"/>
                </a:lnTo>
                <a:lnTo>
                  <a:pt x="201169" y="0"/>
                </a:lnTo>
                <a:lnTo>
                  <a:pt x="0" y="137159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355089" y="8101583"/>
            <a:ext cx="3987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V-121</a:t>
            </a:r>
          </a:p>
        </p:txBody>
      </p:sp>
      <p:sp>
        <p:nvSpPr>
          <p:cNvPr id="282" name="Oval 281"/>
          <p:cNvSpPr/>
          <p:nvPr/>
        </p:nvSpPr>
        <p:spPr>
          <a:xfrm>
            <a:off x="1799082" y="7971281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3" name="Connector 282"/>
          <p:cNvCxnSpPr/>
          <p:nvPr/>
        </p:nvCxnSpPr>
        <p:spPr>
          <a:xfrm>
            <a:off x="1828800" y="8001000"/>
            <a:ext cx="0" cy="24688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Oval 283"/>
          <p:cNvSpPr/>
          <p:nvPr/>
        </p:nvSpPr>
        <p:spPr>
          <a:xfrm>
            <a:off x="1664208" y="82478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019</a:t>
            </a:r>
          </a:p>
        </p:txBody>
      </p:sp>
      <p:cxnSp>
        <p:nvCxnSpPr>
          <p:cNvPr id="285" name="Connector 284"/>
          <p:cNvCxnSpPr/>
          <p:nvPr/>
        </p:nvCxnSpPr>
        <p:spPr>
          <a:xfrm>
            <a:off x="2299715" y="7882127"/>
            <a:ext cx="0" cy="237745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6" name="Connector 285"/>
          <p:cNvCxnSpPr/>
          <p:nvPr/>
        </p:nvCxnSpPr>
        <p:spPr>
          <a:xfrm>
            <a:off x="2363724" y="7882127"/>
            <a:ext cx="0" cy="237745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TextBox 286"/>
          <p:cNvSpPr txBox="1"/>
          <p:nvPr/>
        </p:nvSpPr>
        <p:spPr>
          <a:xfrm>
            <a:off x="2101596" y="7763256"/>
            <a:ext cx="460247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FE-001</a:t>
            </a:r>
          </a:p>
        </p:txBody>
      </p:sp>
      <p:cxnSp>
        <p:nvCxnSpPr>
          <p:cNvPr id="288" name="Connector 287"/>
          <p:cNvCxnSpPr/>
          <p:nvPr/>
        </p:nvCxnSpPr>
        <p:spPr>
          <a:xfrm>
            <a:off x="2331720" y="8119872"/>
            <a:ext cx="0" cy="128016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Oval 288"/>
          <p:cNvSpPr/>
          <p:nvPr/>
        </p:nvSpPr>
        <p:spPr>
          <a:xfrm>
            <a:off x="2167127" y="82478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001</a:t>
            </a:r>
          </a:p>
        </p:txBody>
      </p:sp>
      <p:cxnSp>
        <p:nvCxnSpPr>
          <p:cNvPr id="290" name="Connector 289"/>
          <p:cNvCxnSpPr/>
          <p:nvPr/>
        </p:nvCxnSpPr>
        <p:spPr>
          <a:xfrm>
            <a:off x="2167127" y="8412480"/>
            <a:ext cx="329185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2496312" y="8357616"/>
            <a:ext cx="201168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TextBox 291"/>
          <p:cNvSpPr txBox="1"/>
          <p:nvPr/>
        </p:nvSpPr>
        <p:spPr>
          <a:xfrm>
            <a:off x="2724912" y="8302752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TO FY-005</a:t>
            </a:r>
          </a:p>
        </p:txBody>
      </p:sp>
      <p:sp>
        <p:nvSpPr>
          <p:cNvPr id="293" name="Freeform 292"/>
          <p:cNvSpPr/>
          <p:nvPr/>
        </p:nvSpPr>
        <p:spPr>
          <a:xfrm>
            <a:off x="2944368" y="7923275"/>
            <a:ext cx="237744" cy="155449"/>
          </a:xfrm>
          <a:custGeom>
            <a:avLst/>
            <a:gdLst/>
            <a:ahLst/>
            <a:cxnLst/>
            <a:rect l="l" t="t" r="r" b="b"/>
            <a:pathLst>
              <a:path w="237744" h="155449">
                <a:moveTo>
                  <a:pt x="0" y="0"/>
                </a:moveTo>
                <a:lnTo>
                  <a:pt x="237744" y="155449"/>
                </a:lnTo>
                <a:lnTo>
                  <a:pt x="237744" y="0"/>
                </a:lnTo>
                <a:lnTo>
                  <a:pt x="0" y="155449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4" name="Connector 293"/>
          <p:cNvCxnSpPr/>
          <p:nvPr/>
        </p:nvCxnSpPr>
        <p:spPr>
          <a:xfrm flipV="1">
            <a:off x="3063240" y="7799831"/>
            <a:ext cx="0" cy="123444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5" name="Rectangle 294"/>
          <p:cNvSpPr/>
          <p:nvPr/>
        </p:nvSpPr>
        <p:spPr>
          <a:xfrm>
            <a:off x="2994660" y="7690104"/>
            <a:ext cx="137160" cy="109728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TextBox 295"/>
          <p:cNvSpPr txBox="1"/>
          <p:nvPr/>
        </p:nvSpPr>
        <p:spPr>
          <a:xfrm>
            <a:off x="2788920" y="8110727"/>
            <a:ext cx="5486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XV-301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2994660" y="7690104"/>
            <a:ext cx="13716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00000"/>
                </a:solidFill>
                <a:latin typeface="Arial"/>
              </a:rPr>
              <a:t>S</a:t>
            </a:r>
          </a:p>
        </p:txBody>
      </p:sp>
      <p:sp>
        <p:nvSpPr>
          <p:cNvPr id="298" name="Oval 297"/>
          <p:cNvSpPr/>
          <p:nvPr/>
        </p:nvSpPr>
        <p:spPr>
          <a:xfrm>
            <a:off x="3445001" y="7971281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9" name="Connector 298"/>
          <p:cNvCxnSpPr/>
          <p:nvPr/>
        </p:nvCxnSpPr>
        <p:spPr>
          <a:xfrm>
            <a:off x="3474720" y="8001000"/>
            <a:ext cx="0" cy="530352"/>
          </a:xfrm>
          <a:prstGeom prst="line">
            <a:avLst/>
          </a:prstGeom>
          <a:ln w="889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Freeform 299"/>
          <p:cNvSpPr/>
          <p:nvPr/>
        </p:nvSpPr>
        <p:spPr>
          <a:xfrm>
            <a:off x="3410712" y="8183880"/>
            <a:ext cx="128015" cy="182880"/>
          </a:xfrm>
          <a:custGeom>
            <a:avLst/>
            <a:gdLst/>
            <a:ahLst/>
            <a:cxnLst/>
            <a:rect l="l" t="t" r="r" b="b"/>
            <a:pathLst>
              <a:path w="128015" h="182880">
                <a:moveTo>
                  <a:pt x="0" y="0"/>
                </a:moveTo>
                <a:lnTo>
                  <a:pt x="128015" y="182880"/>
                </a:lnTo>
                <a:lnTo>
                  <a:pt x="0" y="182880"/>
                </a:lnTo>
                <a:lnTo>
                  <a:pt x="128015" y="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1" name="Connector 300"/>
          <p:cNvCxnSpPr/>
          <p:nvPr/>
        </p:nvCxnSpPr>
        <p:spPr>
          <a:xfrm flipH="1">
            <a:off x="3319272" y="8275320"/>
            <a:ext cx="82296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ctangle 301"/>
          <p:cNvSpPr/>
          <p:nvPr/>
        </p:nvSpPr>
        <p:spPr>
          <a:xfrm>
            <a:off x="3186684" y="8220456"/>
            <a:ext cx="137160" cy="109728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3186684" y="8220456"/>
            <a:ext cx="13716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00000"/>
                </a:solidFill>
                <a:latin typeface="Arial"/>
              </a:rPr>
              <a:t>S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584448" y="8321040"/>
            <a:ext cx="460247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XV-303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359152" y="8485632"/>
            <a:ext cx="1042416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00" b="0">
                <a:solidFill>
                  <a:srgbClr val="000000"/>
                </a:solidFill>
                <a:latin typeface="Arial"/>
              </a:rPr>
              <a:t>BLEED TO SAFE LOC.</a:t>
            </a:r>
          </a:p>
        </p:txBody>
      </p:sp>
      <p:sp>
        <p:nvSpPr>
          <p:cNvPr id="306" name="Freeform 305"/>
          <p:cNvSpPr/>
          <p:nvPr/>
        </p:nvSpPr>
        <p:spPr>
          <a:xfrm>
            <a:off x="3904488" y="7923275"/>
            <a:ext cx="237744" cy="155449"/>
          </a:xfrm>
          <a:custGeom>
            <a:avLst/>
            <a:gdLst/>
            <a:ahLst/>
            <a:cxnLst/>
            <a:rect l="l" t="t" r="r" b="b"/>
            <a:pathLst>
              <a:path w="237744" h="155449">
                <a:moveTo>
                  <a:pt x="0" y="0"/>
                </a:moveTo>
                <a:lnTo>
                  <a:pt x="237744" y="155449"/>
                </a:lnTo>
                <a:lnTo>
                  <a:pt x="237744" y="0"/>
                </a:lnTo>
                <a:lnTo>
                  <a:pt x="0" y="155449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7" name="Connector 306"/>
          <p:cNvCxnSpPr/>
          <p:nvPr/>
        </p:nvCxnSpPr>
        <p:spPr>
          <a:xfrm flipV="1">
            <a:off x="4023360" y="7799831"/>
            <a:ext cx="0" cy="123444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Rectangle 307"/>
          <p:cNvSpPr/>
          <p:nvPr/>
        </p:nvSpPr>
        <p:spPr>
          <a:xfrm>
            <a:off x="3954780" y="7690104"/>
            <a:ext cx="137160" cy="109728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3749040" y="8110727"/>
            <a:ext cx="54864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XV-302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954780" y="7690104"/>
            <a:ext cx="13716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00000"/>
                </a:solidFill>
                <a:latin typeface="Arial"/>
              </a:rPr>
              <a:t>S</a:t>
            </a:r>
          </a:p>
        </p:txBody>
      </p:sp>
      <p:sp>
        <p:nvSpPr>
          <p:cNvPr id="311" name="Freeform 310"/>
          <p:cNvSpPr/>
          <p:nvPr/>
        </p:nvSpPr>
        <p:spPr>
          <a:xfrm>
            <a:off x="4681728" y="7923275"/>
            <a:ext cx="237744" cy="155449"/>
          </a:xfrm>
          <a:custGeom>
            <a:avLst/>
            <a:gdLst/>
            <a:ahLst/>
            <a:cxnLst/>
            <a:rect l="l" t="t" r="r" b="b"/>
            <a:pathLst>
              <a:path w="237744" h="155449">
                <a:moveTo>
                  <a:pt x="0" y="0"/>
                </a:moveTo>
                <a:lnTo>
                  <a:pt x="237744" y="155449"/>
                </a:lnTo>
                <a:lnTo>
                  <a:pt x="237744" y="0"/>
                </a:lnTo>
                <a:lnTo>
                  <a:pt x="0" y="155449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2" name="Connector 311"/>
          <p:cNvCxnSpPr/>
          <p:nvPr/>
        </p:nvCxnSpPr>
        <p:spPr>
          <a:xfrm flipV="1">
            <a:off x="4800600" y="7772400"/>
            <a:ext cx="0" cy="150875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Freeform 312"/>
          <p:cNvSpPr/>
          <p:nvPr/>
        </p:nvSpPr>
        <p:spPr>
          <a:xfrm>
            <a:off x="4681728" y="7671816"/>
            <a:ext cx="237744" cy="100584"/>
          </a:xfrm>
          <a:custGeom>
            <a:avLst/>
            <a:gdLst/>
            <a:ahLst/>
            <a:cxnLst/>
            <a:rect l="l" t="t" r="r" b="b"/>
            <a:pathLst>
              <a:path w="237744" h="100584">
                <a:moveTo>
                  <a:pt x="0" y="100584"/>
                </a:moveTo>
                <a:lnTo>
                  <a:pt x="0" y="100584"/>
                </a:lnTo>
                <a:lnTo>
                  <a:pt x="9048" y="62092"/>
                </a:lnTo>
                <a:lnTo>
                  <a:pt x="34816" y="29460"/>
                </a:lnTo>
                <a:lnTo>
                  <a:pt x="73381" y="7656"/>
                </a:lnTo>
                <a:lnTo>
                  <a:pt x="118872" y="0"/>
                </a:lnTo>
                <a:lnTo>
                  <a:pt x="164362" y="7656"/>
                </a:lnTo>
                <a:lnTo>
                  <a:pt x="202927" y="29460"/>
                </a:lnTo>
                <a:lnTo>
                  <a:pt x="228695" y="62092"/>
                </a:lnTo>
                <a:lnTo>
                  <a:pt x="237744" y="100584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4478274" y="8110727"/>
            <a:ext cx="64465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FV-300 FC</a:t>
            </a:r>
          </a:p>
        </p:txBody>
      </p:sp>
      <p:cxnSp>
        <p:nvCxnSpPr>
          <p:cNvPr id="315" name="Connector 314"/>
          <p:cNvCxnSpPr/>
          <p:nvPr/>
        </p:nvCxnSpPr>
        <p:spPr>
          <a:xfrm>
            <a:off x="9464040" y="7525512"/>
            <a:ext cx="0" cy="155448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6" name="Connector 315"/>
          <p:cNvCxnSpPr/>
          <p:nvPr/>
        </p:nvCxnSpPr>
        <p:spPr>
          <a:xfrm flipH="1">
            <a:off x="4956048" y="7680960"/>
            <a:ext cx="4507992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7" name="Connector 316"/>
          <p:cNvCxnSpPr/>
          <p:nvPr/>
        </p:nvCxnSpPr>
        <p:spPr>
          <a:xfrm flipH="1">
            <a:off x="4919472" y="7680960"/>
            <a:ext cx="36576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Oval 317"/>
          <p:cNvSpPr/>
          <p:nvPr/>
        </p:nvSpPr>
        <p:spPr>
          <a:xfrm>
            <a:off x="5319522" y="7971281"/>
            <a:ext cx="59436" cy="59436"/>
          </a:xfrm>
          <a:prstGeom prst="ellipse">
            <a:avLst/>
          </a:prstGeom>
          <a:solidFill>
            <a:srgbClr val="000000"/>
          </a:solidFill>
          <a:ln w="63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9" name="Connector 318"/>
          <p:cNvCxnSpPr/>
          <p:nvPr/>
        </p:nvCxnSpPr>
        <p:spPr>
          <a:xfrm>
            <a:off x="5349240" y="8001000"/>
            <a:ext cx="0" cy="24688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0" name="Oval 319"/>
          <p:cNvSpPr/>
          <p:nvPr/>
        </p:nvSpPr>
        <p:spPr>
          <a:xfrm>
            <a:off x="5184648" y="82478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PT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020</a:t>
            </a:r>
          </a:p>
        </p:txBody>
      </p:sp>
      <p:sp>
        <p:nvSpPr>
          <p:cNvPr id="321" name="Oval 320"/>
          <p:cNvSpPr/>
          <p:nvPr/>
        </p:nvSpPr>
        <p:spPr>
          <a:xfrm>
            <a:off x="5705856" y="8247888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PIAL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020</a:t>
            </a:r>
          </a:p>
        </p:txBody>
      </p:sp>
      <p:cxnSp>
        <p:nvCxnSpPr>
          <p:cNvPr id="322" name="Connector 321"/>
          <p:cNvCxnSpPr/>
          <p:nvPr/>
        </p:nvCxnSpPr>
        <p:spPr>
          <a:xfrm>
            <a:off x="5705856" y="8412480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Connector 322"/>
          <p:cNvCxnSpPr/>
          <p:nvPr/>
        </p:nvCxnSpPr>
        <p:spPr>
          <a:xfrm>
            <a:off x="5513832" y="8412480"/>
            <a:ext cx="192024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TextBox 323"/>
          <p:cNvSpPr txBox="1"/>
          <p:nvPr/>
        </p:nvSpPr>
        <p:spPr>
          <a:xfrm>
            <a:off x="6089904" y="8302752"/>
            <a:ext cx="5384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1">
                <a:solidFill>
                  <a:srgbClr val="000000"/>
                </a:solidFill>
                <a:latin typeface="Arial"/>
              </a:rPr>
              <a:t>PSLL-020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6089904" y="841248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(SIS-100)</a:t>
            </a:r>
          </a:p>
        </p:txBody>
      </p:sp>
      <p:sp>
        <p:nvSpPr>
          <p:cNvPr id="326" name="Freeform 325"/>
          <p:cNvSpPr/>
          <p:nvPr/>
        </p:nvSpPr>
        <p:spPr>
          <a:xfrm>
            <a:off x="6665976" y="7932420"/>
            <a:ext cx="201168" cy="137159"/>
          </a:xfrm>
          <a:custGeom>
            <a:avLst/>
            <a:gdLst/>
            <a:ahLst/>
            <a:cxnLst/>
            <a:rect l="l" t="t" r="r" b="b"/>
            <a:pathLst>
              <a:path w="201168" h="137159">
                <a:moveTo>
                  <a:pt x="0" y="0"/>
                </a:moveTo>
                <a:lnTo>
                  <a:pt x="201168" y="137159"/>
                </a:lnTo>
                <a:lnTo>
                  <a:pt x="201168" y="0"/>
                </a:lnTo>
                <a:lnTo>
                  <a:pt x="0" y="137159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TextBox 326"/>
          <p:cNvSpPr txBox="1"/>
          <p:nvPr/>
        </p:nvSpPr>
        <p:spPr>
          <a:xfrm>
            <a:off x="6567170" y="8101583"/>
            <a:ext cx="39878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V-122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7936992" y="7790688"/>
            <a:ext cx="619760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00" b="0">
                <a:solidFill>
                  <a:srgbClr val="000000"/>
                </a:solidFill>
                <a:latin typeface="Arial"/>
              </a:rPr>
              <a:t>BURNER GUN</a:t>
            </a:r>
          </a:p>
        </p:txBody>
      </p:sp>
      <p:sp>
        <p:nvSpPr>
          <p:cNvPr id="329" name="Rectangle 328"/>
          <p:cNvSpPr/>
          <p:nvPr/>
        </p:nvSpPr>
        <p:spPr>
          <a:xfrm>
            <a:off x="11475720" y="502920"/>
            <a:ext cx="3246120" cy="7982711"/>
          </a:xfrm>
          <a:prstGeom prst="rect">
            <a:avLst/>
          </a:prstGeom>
          <a:noFill/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TextBox 329"/>
          <p:cNvSpPr txBox="1"/>
          <p:nvPr/>
        </p:nvSpPr>
        <p:spPr>
          <a:xfrm>
            <a:off x="11567160" y="576072"/>
            <a:ext cx="56083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700" b="1">
                <a:solidFill>
                  <a:srgbClr val="000000"/>
                </a:solidFill>
                <a:latin typeface="Arial"/>
              </a:rPr>
              <a:t>LEGEND</a:t>
            </a:r>
          </a:p>
        </p:txBody>
      </p:sp>
      <p:cxnSp>
        <p:nvCxnSpPr>
          <p:cNvPr id="331" name="Connector 330"/>
          <p:cNvCxnSpPr/>
          <p:nvPr/>
        </p:nvCxnSpPr>
        <p:spPr>
          <a:xfrm>
            <a:off x="11585448" y="886968"/>
            <a:ext cx="66751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331"/>
          <p:cNvSpPr txBox="1"/>
          <p:nvPr/>
        </p:nvSpPr>
        <p:spPr>
          <a:xfrm>
            <a:off x="12435840" y="832103"/>
            <a:ext cx="78882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PROCESS LINE</a:t>
            </a:r>
          </a:p>
        </p:txBody>
      </p:sp>
      <p:cxnSp>
        <p:nvCxnSpPr>
          <p:cNvPr id="333" name="Connector 332"/>
          <p:cNvCxnSpPr/>
          <p:nvPr/>
        </p:nvCxnSpPr>
        <p:spPr>
          <a:xfrm>
            <a:off x="11585448" y="1124712"/>
            <a:ext cx="66751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4" name="TextBox 333"/>
          <p:cNvSpPr txBox="1"/>
          <p:nvPr/>
        </p:nvSpPr>
        <p:spPr>
          <a:xfrm>
            <a:off x="12435840" y="1069848"/>
            <a:ext cx="78882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UTILITY LINE</a:t>
            </a:r>
          </a:p>
        </p:txBody>
      </p:sp>
      <p:cxnSp>
        <p:nvCxnSpPr>
          <p:cNvPr id="335" name="Connector 334"/>
          <p:cNvCxnSpPr/>
          <p:nvPr/>
        </p:nvCxnSpPr>
        <p:spPr>
          <a:xfrm>
            <a:off x="11585448" y="1362456"/>
            <a:ext cx="667512" cy="0"/>
          </a:xfrm>
          <a:prstGeom prst="line">
            <a:avLst/>
          </a:prstGeom>
          <a:ln w="8890">
            <a:solidFill>
              <a:srgbClr val="0000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6" name="TextBox 335"/>
          <p:cNvSpPr txBox="1"/>
          <p:nvPr/>
        </p:nvSpPr>
        <p:spPr>
          <a:xfrm>
            <a:off x="12435840" y="1307592"/>
            <a:ext cx="107939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INSTRUMENT SIGNAL</a:t>
            </a:r>
          </a:p>
        </p:txBody>
      </p:sp>
      <p:cxnSp>
        <p:nvCxnSpPr>
          <p:cNvPr id="337" name="Connector 336"/>
          <p:cNvCxnSpPr/>
          <p:nvPr/>
        </p:nvCxnSpPr>
        <p:spPr>
          <a:xfrm>
            <a:off x="11585448" y="1636776"/>
            <a:ext cx="66751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8" name="Freeform 337"/>
          <p:cNvSpPr/>
          <p:nvPr/>
        </p:nvSpPr>
        <p:spPr>
          <a:xfrm>
            <a:off x="11814048" y="1568196"/>
            <a:ext cx="201168" cy="137160"/>
          </a:xfrm>
          <a:custGeom>
            <a:avLst/>
            <a:gdLst/>
            <a:ahLst/>
            <a:cxnLst/>
            <a:rect l="l" t="t" r="r" b="b"/>
            <a:pathLst>
              <a:path w="201168" h="137160">
                <a:moveTo>
                  <a:pt x="0" y="0"/>
                </a:moveTo>
                <a:lnTo>
                  <a:pt x="201168" y="137160"/>
                </a:lnTo>
                <a:lnTo>
                  <a:pt x="201168" y="0"/>
                </a:lnTo>
                <a:lnTo>
                  <a:pt x="0" y="137160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12435840" y="1581912"/>
            <a:ext cx="119562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MANUAL VALVE (GATE)</a:t>
            </a:r>
          </a:p>
        </p:txBody>
      </p:sp>
      <p:cxnSp>
        <p:nvCxnSpPr>
          <p:cNvPr id="340" name="Connector 339"/>
          <p:cNvCxnSpPr/>
          <p:nvPr/>
        </p:nvCxnSpPr>
        <p:spPr>
          <a:xfrm>
            <a:off x="11585448" y="2057400"/>
            <a:ext cx="66751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Freeform 340"/>
          <p:cNvSpPr/>
          <p:nvPr/>
        </p:nvSpPr>
        <p:spPr>
          <a:xfrm>
            <a:off x="11795760" y="1979676"/>
            <a:ext cx="237744" cy="155448"/>
          </a:xfrm>
          <a:custGeom>
            <a:avLst/>
            <a:gdLst/>
            <a:ahLst/>
            <a:cxnLst/>
            <a:rect l="l" t="t" r="r" b="b"/>
            <a:pathLst>
              <a:path w="237744" h="155448">
                <a:moveTo>
                  <a:pt x="0" y="0"/>
                </a:moveTo>
                <a:lnTo>
                  <a:pt x="237744" y="155448"/>
                </a:lnTo>
                <a:lnTo>
                  <a:pt x="237744" y="0"/>
                </a:lnTo>
                <a:lnTo>
                  <a:pt x="0" y="155448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2" name="Connector 341"/>
          <p:cNvCxnSpPr/>
          <p:nvPr/>
        </p:nvCxnSpPr>
        <p:spPr>
          <a:xfrm flipV="1">
            <a:off x="11914632" y="1828800"/>
            <a:ext cx="0" cy="150876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Freeform 342"/>
          <p:cNvSpPr/>
          <p:nvPr/>
        </p:nvSpPr>
        <p:spPr>
          <a:xfrm>
            <a:off x="11795760" y="1728216"/>
            <a:ext cx="237744" cy="100584"/>
          </a:xfrm>
          <a:custGeom>
            <a:avLst/>
            <a:gdLst/>
            <a:ahLst/>
            <a:cxnLst/>
            <a:rect l="l" t="t" r="r" b="b"/>
            <a:pathLst>
              <a:path w="237744" h="100584">
                <a:moveTo>
                  <a:pt x="0" y="100584"/>
                </a:moveTo>
                <a:lnTo>
                  <a:pt x="0" y="100584"/>
                </a:lnTo>
                <a:lnTo>
                  <a:pt x="9048" y="62092"/>
                </a:lnTo>
                <a:lnTo>
                  <a:pt x="34816" y="29460"/>
                </a:lnTo>
                <a:lnTo>
                  <a:pt x="73381" y="7656"/>
                </a:lnTo>
                <a:lnTo>
                  <a:pt x="118872" y="0"/>
                </a:lnTo>
                <a:lnTo>
                  <a:pt x="164362" y="7656"/>
                </a:lnTo>
                <a:lnTo>
                  <a:pt x="202927" y="29460"/>
                </a:lnTo>
                <a:lnTo>
                  <a:pt x="228695" y="62092"/>
                </a:lnTo>
                <a:lnTo>
                  <a:pt x="237744" y="100584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1838178" y="2167128"/>
            <a:ext cx="152908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 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12435840" y="2002536"/>
            <a:ext cx="2590393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CONTROL VALVE, FO / FC = FAIL OPEN / CLOSED</a:t>
            </a:r>
          </a:p>
        </p:txBody>
      </p:sp>
      <p:cxnSp>
        <p:nvCxnSpPr>
          <p:cNvPr id="346" name="Connector 345"/>
          <p:cNvCxnSpPr/>
          <p:nvPr/>
        </p:nvCxnSpPr>
        <p:spPr>
          <a:xfrm>
            <a:off x="11585448" y="2459736"/>
            <a:ext cx="66751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7" name="Freeform 346"/>
          <p:cNvSpPr/>
          <p:nvPr/>
        </p:nvSpPr>
        <p:spPr>
          <a:xfrm>
            <a:off x="11795760" y="2382012"/>
            <a:ext cx="237744" cy="155448"/>
          </a:xfrm>
          <a:custGeom>
            <a:avLst/>
            <a:gdLst/>
            <a:ahLst/>
            <a:cxnLst/>
            <a:rect l="l" t="t" r="r" b="b"/>
            <a:pathLst>
              <a:path w="237744" h="155448">
                <a:moveTo>
                  <a:pt x="0" y="0"/>
                </a:moveTo>
                <a:lnTo>
                  <a:pt x="237744" y="155448"/>
                </a:lnTo>
                <a:lnTo>
                  <a:pt x="237744" y="0"/>
                </a:lnTo>
                <a:lnTo>
                  <a:pt x="0" y="155448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 flipV="1">
            <a:off x="11914632" y="2258568"/>
            <a:ext cx="0" cy="123444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ctangle 348"/>
          <p:cNvSpPr/>
          <p:nvPr/>
        </p:nvSpPr>
        <p:spPr>
          <a:xfrm>
            <a:off x="11846052" y="2148840"/>
            <a:ext cx="137160" cy="109728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11846052" y="2148840"/>
            <a:ext cx="137160" cy="1097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00000"/>
                </a:solidFill>
                <a:latin typeface="Arial"/>
              </a:rPr>
              <a:t>S</a:t>
            </a:r>
          </a:p>
        </p:txBody>
      </p:sp>
      <p:sp>
        <p:nvSpPr>
          <p:cNvPr id="351" name="TextBox 350"/>
          <p:cNvSpPr txBox="1"/>
          <p:nvPr/>
        </p:nvSpPr>
        <p:spPr>
          <a:xfrm>
            <a:off x="12435840" y="2404872"/>
            <a:ext cx="1718665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SIS SHUT-OFF VALVE, SOLENOID</a:t>
            </a:r>
          </a:p>
        </p:txBody>
      </p:sp>
      <p:cxnSp>
        <p:nvCxnSpPr>
          <p:cNvPr id="352" name="Connector 351"/>
          <p:cNvCxnSpPr/>
          <p:nvPr/>
        </p:nvCxnSpPr>
        <p:spPr>
          <a:xfrm>
            <a:off x="11585448" y="2770632"/>
            <a:ext cx="66751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3" name="Freeform 352"/>
          <p:cNvSpPr/>
          <p:nvPr/>
        </p:nvSpPr>
        <p:spPr>
          <a:xfrm>
            <a:off x="11795760" y="2687421"/>
            <a:ext cx="184251" cy="166421"/>
          </a:xfrm>
          <a:custGeom>
            <a:avLst/>
            <a:gdLst/>
            <a:ahLst/>
            <a:cxnLst/>
            <a:rect l="l" t="t" r="r" b="b"/>
            <a:pathLst>
              <a:path w="184251" h="166421">
                <a:moveTo>
                  <a:pt x="0" y="0"/>
                </a:moveTo>
                <a:lnTo>
                  <a:pt x="184251" y="83211"/>
                </a:lnTo>
                <a:lnTo>
                  <a:pt x="0" y="166421"/>
                </a:lnTo>
                <a:close/>
              </a:path>
            </a:pathLst>
          </a:cu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11980011" y="2687421"/>
            <a:ext cx="0" cy="166421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TextBox 354"/>
          <p:cNvSpPr txBox="1"/>
          <p:nvPr/>
        </p:nvSpPr>
        <p:spPr>
          <a:xfrm>
            <a:off x="12435840" y="2715768"/>
            <a:ext cx="730707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CHECK VALVE</a:t>
            </a:r>
          </a:p>
        </p:txBody>
      </p:sp>
      <p:cxnSp>
        <p:nvCxnSpPr>
          <p:cNvPr id="356" name="Connector 355"/>
          <p:cNvCxnSpPr/>
          <p:nvPr/>
        </p:nvCxnSpPr>
        <p:spPr>
          <a:xfrm>
            <a:off x="11585448" y="3044951"/>
            <a:ext cx="667512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7" name="Connector 356"/>
          <p:cNvCxnSpPr/>
          <p:nvPr/>
        </p:nvCxnSpPr>
        <p:spPr>
          <a:xfrm>
            <a:off x="11882628" y="2926079"/>
            <a:ext cx="0" cy="237744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8" name="Connector 357"/>
          <p:cNvCxnSpPr/>
          <p:nvPr/>
        </p:nvCxnSpPr>
        <p:spPr>
          <a:xfrm>
            <a:off x="11946636" y="2926079"/>
            <a:ext cx="0" cy="237744"/>
          </a:xfrm>
          <a:prstGeom prst="line">
            <a:avLst/>
          </a:prstGeom>
          <a:ln w="1397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9" name="TextBox 358"/>
          <p:cNvSpPr txBox="1"/>
          <p:nvPr/>
        </p:nvSpPr>
        <p:spPr>
          <a:xfrm>
            <a:off x="12435840" y="2990087"/>
            <a:ext cx="136997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FLOW ELEMENT (ORIFICE)</a:t>
            </a:r>
          </a:p>
        </p:txBody>
      </p:sp>
      <p:sp>
        <p:nvSpPr>
          <p:cNvPr id="360" name="Freeform 359"/>
          <p:cNvSpPr/>
          <p:nvPr/>
        </p:nvSpPr>
        <p:spPr>
          <a:xfrm>
            <a:off x="11855196" y="3273551"/>
            <a:ext cx="118872" cy="164592"/>
          </a:xfrm>
          <a:custGeom>
            <a:avLst/>
            <a:gdLst/>
            <a:ahLst/>
            <a:cxnLst/>
            <a:rect l="l" t="t" r="r" b="b"/>
            <a:pathLst>
              <a:path w="118872" h="164592">
                <a:moveTo>
                  <a:pt x="0" y="0"/>
                </a:moveTo>
                <a:lnTo>
                  <a:pt x="118872" y="164592"/>
                </a:lnTo>
                <a:lnTo>
                  <a:pt x="0" y="164592"/>
                </a:lnTo>
                <a:lnTo>
                  <a:pt x="118872" y="0"/>
                </a:lnTo>
                <a:close/>
              </a:path>
            </a:pathLst>
          </a:cu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1" name="Connector 360"/>
          <p:cNvCxnSpPr/>
          <p:nvPr/>
        </p:nvCxnSpPr>
        <p:spPr>
          <a:xfrm flipV="1">
            <a:off x="11914632" y="3172967"/>
            <a:ext cx="0" cy="100584"/>
          </a:xfrm>
          <a:prstGeom prst="line">
            <a:avLst/>
          </a:prstGeom>
          <a:ln w="889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TextBox 361"/>
          <p:cNvSpPr txBox="1"/>
          <p:nvPr/>
        </p:nvSpPr>
        <p:spPr>
          <a:xfrm>
            <a:off x="12435840" y="3300983"/>
            <a:ext cx="1137513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RELIEF VALVE (PSV)</a:t>
            </a:r>
          </a:p>
        </p:txBody>
      </p:sp>
      <p:sp>
        <p:nvSpPr>
          <p:cNvPr id="363" name="Oval 362"/>
          <p:cNvSpPr/>
          <p:nvPr/>
        </p:nvSpPr>
        <p:spPr>
          <a:xfrm>
            <a:off x="11750040" y="3557015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PI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001</a:t>
            </a:r>
          </a:p>
        </p:txBody>
      </p:sp>
      <p:sp>
        <p:nvSpPr>
          <p:cNvPr id="364" name="TextBox 363"/>
          <p:cNvSpPr txBox="1"/>
          <p:nvPr/>
        </p:nvSpPr>
        <p:spPr>
          <a:xfrm>
            <a:off x="12435840" y="3666744"/>
            <a:ext cx="148620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FIELD-MOUNTED INSTRUMENT</a:t>
            </a:r>
          </a:p>
        </p:txBody>
      </p:sp>
      <p:sp>
        <p:nvSpPr>
          <p:cNvPr id="365" name="Oval 364"/>
          <p:cNvSpPr/>
          <p:nvPr/>
        </p:nvSpPr>
        <p:spPr>
          <a:xfrm>
            <a:off x="11750040" y="3977639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FIC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003</a:t>
            </a:r>
          </a:p>
        </p:txBody>
      </p:sp>
      <p:cxnSp>
        <p:nvCxnSpPr>
          <p:cNvPr id="366" name="Connector 365"/>
          <p:cNvCxnSpPr/>
          <p:nvPr/>
        </p:nvCxnSpPr>
        <p:spPr>
          <a:xfrm>
            <a:off x="11750040" y="4142231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7" name="TextBox 366"/>
          <p:cNvSpPr txBox="1"/>
          <p:nvPr/>
        </p:nvSpPr>
        <p:spPr>
          <a:xfrm>
            <a:off x="12435840" y="4087368"/>
            <a:ext cx="1893011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DCS FUNCTION (OPERATOR CONSOLE)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11713464" y="4416551"/>
            <a:ext cx="402336" cy="402336"/>
          </a:xfrm>
          <a:prstGeom prst="rect">
            <a:avLst/>
          </a:prstGeom>
          <a:solidFill>
            <a:srgbClr val="FFFFFF"/>
          </a:solidFill>
          <a:ln w="889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1750040" y="4453127"/>
            <a:ext cx="329184" cy="329184"/>
          </a:xfrm>
          <a:prstGeom prst="ellipse">
            <a:avLst/>
          </a:prstGeom>
          <a:solidFill>
            <a:srgbClr val="FFFFFF"/>
          </a:solidFill>
          <a:ln w="1397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TSHH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025</a:t>
            </a:r>
          </a:p>
        </p:txBody>
      </p:sp>
      <p:cxnSp>
        <p:nvCxnSpPr>
          <p:cNvPr id="370" name="Connector 369"/>
          <p:cNvCxnSpPr/>
          <p:nvPr/>
        </p:nvCxnSpPr>
        <p:spPr>
          <a:xfrm>
            <a:off x="11750040" y="4617719"/>
            <a:ext cx="329184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1" name="TextBox 370"/>
          <p:cNvSpPr txBox="1"/>
          <p:nvPr/>
        </p:nvSpPr>
        <p:spPr>
          <a:xfrm>
            <a:off x="12435840" y="4562855"/>
            <a:ext cx="136997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SIS-100 / BMS FUNCTION</a:t>
            </a:r>
          </a:p>
        </p:txBody>
      </p:sp>
      <p:sp>
        <p:nvSpPr>
          <p:cNvPr id="372" name="TextBox 371"/>
          <p:cNvSpPr txBox="1"/>
          <p:nvPr/>
        </p:nvSpPr>
        <p:spPr>
          <a:xfrm>
            <a:off x="11585448" y="4983479"/>
            <a:ext cx="3003539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SERVICE CODES:  P PROCESS HYDROCARBON  ·  FO FUEL OIL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11585448" y="5102351"/>
            <a:ext cx="2563977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HF HEATING FLUID  ·  LS LP STEAM  ·  DR DRAIN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11585448" y="5221223"/>
            <a:ext cx="1959579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LINE NO. = SIZE - SERVICE - NUMBER</a:t>
            </a:r>
          </a:p>
        </p:txBody>
      </p:sp>
      <p:cxnSp>
        <p:nvCxnSpPr>
          <p:cNvPr id="375" name="Connector 374"/>
          <p:cNvCxnSpPr/>
          <p:nvPr/>
        </p:nvCxnSpPr>
        <p:spPr>
          <a:xfrm>
            <a:off x="11475720" y="5440679"/>
            <a:ext cx="3246120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6" name="TextBox 375"/>
          <p:cNvSpPr txBox="1"/>
          <p:nvPr/>
        </p:nvSpPr>
        <p:spPr>
          <a:xfrm>
            <a:off x="11567160" y="5513831"/>
            <a:ext cx="2706624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50" b="1">
                <a:solidFill>
                  <a:srgbClr val="000000"/>
                </a:solidFill>
                <a:latin typeface="Arial"/>
              </a:rPr>
              <a:t>INTERLOCK SCHEDULE  ·  SIS-100 / BMS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11612880" y="5733288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TRIP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2179807" y="5733288"/>
            <a:ext cx="1234439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CAUSE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13441679" y="5733288"/>
            <a:ext cx="722375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SETTING</a:t>
            </a:r>
          </a:p>
        </p:txBody>
      </p:sp>
      <p:sp>
        <p:nvSpPr>
          <p:cNvPr id="380" name="TextBox 379"/>
          <p:cNvSpPr txBox="1"/>
          <p:nvPr/>
        </p:nvSpPr>
        <p:spPr>
          <a:xfrm>
            <a:off x="14191487" y="5733288"/>
            <a:ext cx="338328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DELAY</a:t>
            </a:r>
          </a:p>
        </p:txBody>
      </p:sp>
      <p:sp>
        <p:nvSpPr>
          <p:cNvPr id="381" name="TextBox 380"/>
          <p:cNvSpPr txBox="1"/>
          <p:nvPr/>
        </p:nvSpPr>
        <p:spPr>
          <a:xfrm>
            <a:off x="11612880" y="5907024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FSLL-008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2179807" y="5907024"/>
            <a:ext cx="1234439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LOW FEED FLOW</a:t>
            </a:r>
          </a:p>
        </p:txBody>
      </p:sp>
      <p:sp>
        <p:nvSpPr>
          <p:cNvPr id="383" name="TextBox 382"/>
          <p:cNvSpPr txBox="1"/>
          <p:nvPr/>
        </p:nvSpPr>
        <p:spPr>
          <a:xfrm>
            <a:off x="13441679" y="5907024"/>
            <a:ext cx="722375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&lt; 3.4 L/s</a:t>
            </a:r>
          </a:p>
        </p:txBody>
      </p:sp>
      <p:sp>
        <p:nvSpPr>
          <p:cNvPr id="384" name="TextBox 383"/>
          <p:cNvSpPr txBox="1"/>
          <p:nvPr/>
        </p:nvSpPr>
        <p:spPr>
          <a:xfrm>
            <a:off x="14191487" y="5907024"/>
            <a:ext cx="338328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5 s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11612880" y="6080759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TSHH-025</a:t>
            </a:r>
          </a:p>
        </p:txBody>
      </p:sp>
      <p:sp>
        <p:nvSpPr>
          <p:cNvPr id="386" name="TextBox 385"/>
          <p:cNvSpPr txBox="1"/>
          <p:nvPr/>
        </p:nvSpPr>
        <p:spPr>
          <a:xfrm>
            <a:off x="12179807" y="6080759"/>
            <a:ext cx="1234439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HIGH OUTLET TEMP.</a:t>
            </a:r>
          </a:p>
        </p:txBody>
      </p:sp>
      <p:sp>
        <p:nvSpPr>
          <p:cNvPr id="387" name="TextBox 386"/>
          <p:cNvSpPr txBox="1"/>
          <p:nvPr/>
        </p:nvSpPr>
        <p:spPr>
          <a:xfrm>
            <a:off x="13441679" y="6080759"/>
            <a:ext cx="722375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&gt; 375 °C</a:t>
            </a:r>
          </a:p>
        </p:txBody>
      </p:sp>
      <p:sp>
        <p:nvSpPr>
          <p:cNvPr id="388" name="TextBox 387"/>
          <p:cNvSpPr txBox="1"/>
          <p:nvPr/>
        </p:nvSpPr>
        <p:spPr>
          <a:xfrm>
            <a:off x="14191487" y="6080759"/>
            <a:ext cx="338328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5 s</a:t>
            </a:r>
          </a:p>
        </p:txBody>
      </p:sp>
      <p:sp>
        <p:nvSpPr>
          <p:cNvPr id="389" name="TextBox 388"/>
          <p:cNvSpPr txBox="1"/>
          <p:nvPr/>
        </p:nvSpPr>
        <p:spPr>
          <a:xfrm>
            <a:off x="11612880" y="6254496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PSLL-020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2179807" y="6254496"/>
            <a:ext cx="1234439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LOW FUEL P AT GUN*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13441679" y="6254496"/>
            <a:ext cx="722375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&lt; 40 kPa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14191487" y="6254496"/>
            <a:ext cx="338328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3 s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11612880" y="6428231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PSLL-030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12179807" y="6428231"/>
            <a:ext cx="1234439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LOSS OF WINDBOX DRAFT*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13441679" y="6428231"/>
            <a:ext cx="722375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&lt; 0.5 mmH₂O</a:t>
            </a:r>
          </a:p>
        </p:txBody>
      </p:sp>
      <p:sp>
        <p:nvSpPr>
          <p:cNvPr id="396" name="TextBox 395"/>
          <p:cNvSpPr txBox="1"/>
          <p:nvPr/>
        </p:nvSpPr>
        <p:spPr>
          <a:xfrm>
            <a:off x="14191487" y="6428231"/>
            <a:ext cx="338328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3 s</a:t>
            </a:r>
          </a:p>
        </p:txBody>
      </p:sp>
      <p:sp>
        <p:nvSpPr>
          <p:cNvPr id="397" name="TextBox 396"/>
          <p:cNvSpPr txBox="1"/>
          <p:nvPr/>
        </p:nvSpPr>
        <p:spPr>
          <a:xfrm>
            <a:off x="11612880" y="6601968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BSLL-005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2179807" y="6601968"/>
            <a:ext cx="1234439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FLAME FAILURE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13441679" y="6601968"/>
            <a:ext cx="722375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NO FLAME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4191487" y="6601968"/>
            <a:ext cx="338328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2 s</a:t>
            </a:r>
          </a:p>
        </p:txBody>
      </p:sp>
      <p:sp>
        <p:nvSpPr>
          <p:cNvPr id="401" name="TextBox 400"/>
          <p:cNvSpPr txBox="1"/>
          <p:nvPr/>
        </p:nvSpPr>
        <p:spPr>
          <a:xfrm>
            <a:off x="11612880" y="6775704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1">
                <a:solidFill>
                  <a:srgbClr val="000000"/>
                </a:solidFill>
                <a:latin typeface="Arial"/>
              </a:rPr>
              <a:t>HS-001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12179807" y="6775704"/>
            <a:ext cx="1234439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ESD PUSHBUTTON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13441679" y="6775704"/>
            <a:ext cx="722375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MANUAL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14191487" y="6775704"/>
            <a:ext cx="338328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0 s</a:t>
            </a:r>
          </a:p>
        </p:txBody>
      </p:sp>
      <p:cxnSp>
        <p:nvCxnSpPr>
          <p:cNvPr id="405" name="Connector 404"/>
          <p:cNvCxnSpPr/>
          <p:nvPr/>
        </p:nvCxnSpPr>
        <p:spPr>
          <a:xfrm>
            <a:off x="11585448" y="5733288"/>
            <a:ext cx="294436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6" name="Connector 405"/>
          <p:cNvCxnSpPr/>
          <p:nvPr/>
        </p:nvCxnSpPr>
        <p:spPr>
          <a:xfrm>
            <a:off x="11585448" y="5907024"/>
            <a:ext cx="294436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7" name="Connector 406"/>
          <p:cNvCxnSpPr/>
          <p:nvPr/>
        </p:nvCxnSpPr>
        <p:spPr>
          <a:xfrm>
            <a:off x="11585448" y="6080759"/>
            <a:ext cx="294436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8" name="Connector 407"/>
          <p:cNvCxnSpPr/>
          <p:nvPr/>
        </p:nvCxnSpPr>
        <p:spPr>
          <a:xfrm>
            <a:off x="11585448" y="6254496"/>
            <a:ext cx="294436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9" name="Connector 408"/>
          <p:cNvCxnSpPr/>
          <p:nvPr/>
        </p:nvCxnSpPr>
        <p:spPr>
          <a:xfrm>
            <a:off x="11585448" y="6428231"/>
            <a:ext cx="294436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0" name="Connector 409"/>
          <p:cNvCxnSpPr/>
          <p:nvPr/>
        </p:nvCxnSpPr>
        <p:spPr>
          <a:xfrm>
            <a:off x="11585448" y="6601968"/>
            <a:ext cx="294436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1" name="Connector 410"/>
          <p:cNvCxnSpPr/>
          <p:nvPr/>
        </p:nvCxnSpPr>
        <p:spPr>
          <a:xfrm>
            <a:off x="11585448" y="6775704"/>
            <a:ext cx="294436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411"/>
          <p:cNvCxnSpPr/>
          <p:nvPr/>
        </p:nvCxnSpPr>
        <p:spPr>
          <a:xfrm>
            <a:off x="11585448" y="6949440"/>
            <a:ext cx="2944368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3" name="Connector 412"/>
          <p:cNvCxnSpPr/>
          <p:nvPr/>
        </p:nvCxnSpPr>
        <p:spPr>
          <a:xfrm>
            <a:off x="11585448" y="5733288"/>
            <a:ext cx="0" cy="1216152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4" name="Connector 413"/>
          <p:cNvCxnSpPr/>
          <p:nvPr/>
        </p:nvCxnSpPr>
        <p:spPr>
          <a:xfrm>
            <a:off x="12152376" y="5733288"/>
            <a:ext cx="0" cy="1216152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5" name="Connector 414"/>
          <p:cNvCxnSpPr/>
          <p:nvPr/>
        </p:nvCxnSpPr>
        <p:spPr>
          <a:xfrm>
            <a:off x="13414247" y="5733288"/>
            <a:ext cx="0" cy="1216152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6" name="Connector 415"/>
          <p:cNvCxnSpPr/>
          <p:nvPr/>
        </p:nvCxnSpPr>
        <p:spPr>
          <a:xfrm>
            <a:off x="14164055" y="5733288"/>
            <a:ext cx="0" cy="1216152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7" name="Connector 416"/>
          <p:cNvCxnSpPr/>
          <p:nvPr/>
        </p:nvCxnSpPr>
        <p:spPr>
          <a:xfrm>
            <a:off x="14529815" y="5733288"/>
            <a:ext cx="0" cy="1216152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8" name="TextBox 417"/>
          <p:cNvSpPr txBox="1"/>
          <p:nvPr/>
        </p:nvSpPr>
        <p:spPr>
          <a:xfrm>
            <a:off x="11585448" y="7040879"/>
            <a:ext cx="1190345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* ARMED WHEN FIRING.</a:t>
            </a:r>
          </a:p>
        </p:txBody>
      </p:sp>
      <p:sp>
        <p:nvSpPr>
          <p:cNvPr id="419" name="TextBox 418"/>
          <p:cNvSpPr txBox="1"/>
          <p:nvPr/>
        </p:nvSpPr>
        <p:spPr>
          <a:xfrm>
            <a:off x="11585448" y="7159751"/>
            <a:ext cx="2893649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ANY TRIP: CLOSE XV-301 &amp; XV-302, OPEN XV-303 BLEED,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1585448" y="7278623"/>
            <a:ext cx="2728813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CLOSE FV-300, OPEN FV-200 &amp; HV-400 (POST-PURGE).</a:t>
            </a:r>
          </a:p>
        </p:txBody>
      </p:sp>
      <p:sp>
        <p:nvSpPr>
          <p:cNvPr id="421" name="TextBox 420"/>
          <p:cNvSpPr txBox="1"/>
          <p:nvPr/>
        </p:nvSpPr>
        <p:spPr>
          <a:xfrm>
            <a:off x="11585448" y="7397496"/>
            <a:ext cx="2728813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RESET ONLY FROM BMS AFTER 300 s PURGE; LIGHT-OFF</a:t>
            </a:r>
          </a:p>
        </p:txBody>
      </p:sp>
      <p:sp>
        <p:nvSpPr>
          <p:cNvPr id="422" name="TextBox 421"/>
          <p:cNvSpPr txBox="1"/>
          <p:nvPr/>
        </p:nvSpPr>
        <p:spPr>
          <a:xfrm>
            <a:off x="11585448" y="7516368"/>
            <a:ext cx="2618922" cy="1097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20" b="0">
                <a:solidFill>
                  <a:srgbClr val="000000"/>
                </a:solidFill>
                <a:latin typeface="Arial"/>
              </a:rPr>
              <a:t>AT LOW FIRE (TIC-030 MAN 10-20 %), 10 s TRIAL.</a:t>
            </a:r>
          </a:p>
        </p:txBody>
      </p:sp>
      <p:sp>
        <p:nvSpPr>
          <p:cNvPr id="423" name="TextBox 422"/>
          <p:cNvSpPr txBox="1"/>
          <p:nvPr/>
        </p:nvSpPr>
        <p:spPr>
          <a:xfrm>
            <a:off x="457200" y="8732520"/>
            <a:ext cx="5486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GENERAL NOTES: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1. DESIGN BASIS: NATURAL DRAFT FIRED HEATER VER 1 OTS MODEL, DESIGN CASE. PRESSURES kPa g, DRAFT mmH₂O.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    FEED 6.8 L/s = 19 584 kg/h (0.80 kg/L): 40 → 180 (E-100) → 233 (CROSSOVER) → 350 °C; PUMP DISCH. ≈ 1030, OUTLET ≈ 545.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    FUEL 243 kg/h, LHV 42 MJ/kg: FIRED 2.84 MW, ABSORBED 2.31 MW (81.5 %). AIR 3 892 kg/h (11 % EXCESS).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    FLUE GAS 4 380 kg/h AT 400 °C (INCL. ≈ 245 kg/h TRAMP AIR). DRAFT: ARCH -2.5, FLOOR -6.0, WINDBOX 5.25.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2. LINE SIZES PRELIMINARY FROM VELOCITY (LIQUID 1.5-2.5 m/s, AIR DUCT 10 m/s) - TBC BY HYDRAULIC CALCULATION.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3. PRESSURE INSTRUMENTS C/W ROOT AND TEST VALVES (TYP., NOT SHOWN). PUMP CASING VENTS/DRAINS TYP., NOT SHOWN.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4. XV-301 / XV-302 / XV-303 FORM A DOUBLE BLOCK AND BLEED, OPERATED BY SIS-100 (BMS); SIGNALS NOT SHOWN.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5. FV-010 FAILS OPEN SO THE COIL KEEPS FLOW ON AIR OR SIGNAL FAILURE; FV-300 FAILS CLOSED; FV-200 &amp; HV-400 FAIL OPEN.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6. RADIANT AND CONVECTION COILS SHOWN SCHEMATICALLY; TUBE COUNT AND PASSES PER DESIGN TAB (SINGLE PASS).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7. FT-008 SERVES FIC-003, FIAL-008 AND FSLL-008 (HAZOP GAP: ADD FT-008B FOR THE TRIP - HOLD).</a:t>
            </a:r>
          </a:p>
        </p:txBody>
      </p:sp>
      <p:sp>
        <p:nvSpPr>
          <p:cNvPr id="424" name="TextBox 423"/>
          <p:cNvSpPr txBox="1"/>
          <p:nvPr/>
        </p:nvSpPr>
        <p:spPr>
          <a:xfrm>
            <a:off x="6035040" y="8732520"/>
            <a:ext cx="55778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50" b="1">
                <a:solidFill>
                  <a:srgbClr val="000000"/>
                </a:solidFill>
                <a:latin typeface="Arial"/>
              </a:rPr>
              <a:t>NOTES (CONT.):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8. TIC-030 MOVES FUEL ONLY. REV A: FIC-005 ON OWN SET POINT. REV B OPTION: FY-005 AIR/FUEL RATIO ON FI-001 + AIC-027 O₂ TRIM.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9. PSV-101 PROTECTS E-100 FEED SIDE (BLOCKED-IN WITH HOT FLUID, TUBE RUPTURE). SET PRESSURE AND SIZE TBC.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10. PI-019 = FUEL HEADER (≈ 1940 kPa g). PT-020 = GUN PRESSURE (≈ 600 kPa g), DOWNSTREAM OF FV-300.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11. BS-005 UV FLAME SCANNER ON THE BURNER; LIGHT-OFF AND PURGE PER BMS SEQUENCE (LEGEND PANEL).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12. HV-221 SNUFFING STEAM, NORMALLY CLOSED; OPEN ONLY FOR A FIREBOX FIRE. EXPLOSION DOOR ON RADIANT WALL.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13. LOW-POINT DRAIN ON 3"-P-105 AND HIGH-POINT VENT AT COIL INLET FOR HYDROTEST AND DECOKING.</a:t>
            </a:r>
          </a:p>
          <a:p>
            <a:pPr algn="l"/>
            <a:r>
              <a:rPr sz="550" b="0">
                <a:solidFill>
                  <a:srgbClr val="000000"/>
                </a:solidFill>
                <a:latin typeface="Arial"/>
              </a:rPr>
              <a:t>14. ALARM SET POINTS: SEE WORKBOOK (ALARM TABLE); TRIP SET POINTS: INTERLOCK SCHEDULE.</a:t>
            </a:r>
          </a:p>
        </p:txBody>
      </p:sp>
      <p:cxnSp>
        <p:nvCxnSpPr>
          <p:cNvPr id="425" name="Connector 424"/>
          <p:cNvCxnSpPr/>
          <p:nvPr/>
        </p:nvCxnSpPr>
        <p:spPr>
          <a:xfrm>
            <a:off x="11750040" y="8641080"/>
            <a:ext cx="3054095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6" name="Connector 425"/>
          <p:cNvCxnSpPr/>
          <p:nvPr/>
        </p:nvCxnSpPr>
        <p:spPr>
          <a:xfrm>
            <a:off x="11750040" y="8771382"/>
            <a:ext cx="3054095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7" name="Connector 426"/>
          <p:cNvCxnSpPr/>
          <p:nvPr/>
        </p:nvCxnSpPr>
        <p:spPr>
          <a:xfrm>
            <a:off x="11750040" y="8901684"/>
            <a:ext cx="3054095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8" name="Connector 427"/>
          <p:cNvCxnSpPr/>
          <p:nvPr/>
        </p:nvCxnSpPr>
        <p:spPr>
          <a:xfrm>
            <a:off x="11750040" y="9031986"/>
            <a:ext cx="3054095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9" name="Connector 428"/>
          <p:cNvCxnSpPr/>
          <p:nvPr/>
        </p:nvCxnSpPr>
        <p:spPr>
          <a:xfrm>
            <a:off x="11750040" y="9162288"/>
            <a:ext cx="3054095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429"/>
          <p:cNvCxnSpPr/>
          <p:nvPr/>
        </p:nvCxnSpPr>
        <p:spPr>
          <a:xfrm>
            <a:off x="11750040" y="8641080"/>
            <a:ext cx="0" cy="52120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430"/>
          <p:cNvCxnSpPr/>
          <p:nvPr/>
        </p:nvCxnSpPr>
        <p:spPr>
          <a:xfrm>
            <a:off x="12070080" y="8641080"/>
            <a:ext cx="0" cy="52120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431"/>
          <p:cNvCxnSpPr/>
          <p:nvPr/>
        </p:nvCxnSpPr>
        <p:spPr>
          <a:xfrm>
            <a:off x="14026896" y="8641080"/>
            <a:ext cx="0" cy="52120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432"/>
          <p:cNvCxnSpPr/>
          <p:nvPr/>
        </p:nvCxnSpPr>
        <p:spPr>
          <a:xfrm>
            <a:off x="14804135" y="8641080"/>
            <a:ext cx="0" cy="521208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TextBox 433"/>
          <p:cNvSpPr txBox="1"/>
          <p:nvPr/>
        </p:nvSpPr>
        <p:spPr>
          <a:xfrm>
            <a:off x="11750040" y="8641080"/>
            <a:ext cx="320040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00000"/>
                </a:solidFill>
                <a:latin typeface="Arial"/>
              </a:rPr>
              <a:t>REV</a:t>
            </a:r>
          </a:p>
        </p:txBody>
      </p:sp>
      <p:sp>
        <p:nvSpPr>
          <p:cNvPr id="435" name="TextBox 434"/>
          <p:cNvSpPr txBox="1"/>
          <p:nvPr/>
        </p:nvSpPr>
        <p:spPr>
          <a:xfrm>
            <a:off x="12070080" y="8641080"/>
            <a:ext cx="1956816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00000"/>
                </a:solidFill>
                <a:latin typeface="Arial"/>
              </a:rPr>
              <a:t>DESCRIPTION</a:t>
            </a:r>
          </a:p>
        </p:txBody>
      </p:sp>
      <p:sp>
        <p:nvSpPr>
          <p:cNvPr id="436" name="TextBox 435"/>
          <p:cNvSpPr txBox="1"/>
          <p:nvPr/>
        </p:nvSpPr>
        <p:spPr>
          <a:xfrm>
            <a:off x="14026896" y="8641080"/>
            <a:ext cx="777240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1">
                <a:solidFill>
                  <a:srgbClr val="000000"/>
                </a:solidFill>
                <a:latin typeface="Arial"/>
              </a:rPr>
              <a:t>DATE</a:t>
            </a:r>
          </a:p>
        </p:txBody>
      </p:sp>
      <p:sp>
        <p:nvSpPr>
          <p:cNvPr id="437" name="TextBox 436"/>
          <p:cNvSpPr txBox="1"/>
          <p:nvPr/>
        </p:nvSpPr>
        <p:spPr>
          <a:xfrm>
            <a:off x="11750040" y="8771382"/>
            <a:ext cx="320040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B</a:t>
            </a:r>
          </a:p>
        </p:txBody>
      </p:sp>
      <p:sp>
        <p:nvSpPr>
          <p:cNvPr id="438" name="TextBox 437"/>
          <p:cNvSpPr txBox="1"/>
          <p:nvPr/>
        </p:nvSpPr>
        <p:spPr>
          <a:xfrm>
            <a:off x="12070080" y="8771382"/>
            <a:ext cx="1956816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RATIO FY-005 + O₂ TRIM AIC-027 (OPTION)</a:t>
            </a:r>
          </a:p>
        </p:txBody>
      </p:sp>
      <p:sp>
        <p:nvSpPr>
          <p:cNvPr id="439" name="TextBox 438"/>
          <p:cNvSpPr txBox="1"/>
          <p:nvPr/>
        </p:nvSpPr>
        <p:spPr>
          <a:xfrm>
            <a:off x="14026896" y="8771382"/>
            <a:ext cx="777240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--</a:t>
            </a:r>
          </a:p>
        </p:txBody>
      </p:sp>
      <p:sp>
        <p:nvSpPr>
          <p:cNvPr id="440" name="TextBox 439"/>
          <p:cNvSpPr txBox="1"/>
          <p:nvPr/>
        </p:nvSpPr>
        <p:spPr>
          <a:xfrm>
            <a:off x="11750040" y="8901684"/>
            <a:ext cx="320040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C</a:t>
            </a:r>
          </a:p>
        </p:txBody>
      </p:sp>
      <p:sp>
        <p:nvSpPr>
          <p:cNvPr id="441" name="TextBox 440"/>
          <p:cNvSpPr txBox="1"/>
          <p:nvPr/>
        </p:nvSpPr>
        <p:spPr>
          <a:xfrm>
            <a:off x="12070080" y="8901684"/>
            <a:ext cx="1956816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OTS SCREEN DRAWING (CURRENT, USED IN DECKS)</a:t>
            </a:r>
          </a:p>
        </p:txBody>
      </p:sp>
      <p:sp>
        <p:nvSpPr>
          <p:cNvPr id="442" name="TextBox 441"/>
          <p:cNvSpPr txBox="1"/>
          <p:nvPr/>
        </p:nvSpPr>
        <p:spPr>
          <a:xfrm>
            <a:off x="14026896" y="8901684"/>
            <a:ext cx="777240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--</a:t>
            </a:r>
          </a:p>
        </p:txBody>
      </p:sp>
      <p:sp>
        <p:nvSpPr>
          <p:cNvPr id="443" name="TextBox 442"/>
          <p:cNvSpPr txBox="1"/>
          <p:nvPr/>
        </p:nvSpPr>
        <p:spPr>
          <a:xfrm>
            <a:off x="11750040" y="9031986"/>
            <a:ext cx="320040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444" name="TextBox 443"/>
          <p:cNvSpPr txBox="1"/>
          <p:nvPr/>
        </p:nvSpPr>
        <p:spPr>
          <a:xfrm>
            <a:off x="12070080" y="9031986"/>
            <a:ext cx="1956816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ALTERNATIVE VERSION, EPC STANDARD</a:t>
            </a:r>
          </a:p>
        </p:txBody>
      </p:sp>
      <p:sp>
        <p:nvSpPr>
          <p:cNvPr id="445" name="TextBox 444"/>
          <p:cNvSpPr txBox="1"/>
          <p:nvPr/>
        </p:nvSpPr>
        <p:spPr>
          <a:xfrm>
            <a:off x="14026896" y="9031986"/>
            <a:ext cx="777240" cy="13030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>
                <a:solidFill>
                  <a:srgbClr val="000000"/>
                </a:solidFill>
                <a:latin typeface="Arial"/>
              </a:rPr>
              <a:t>29-SEP-26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11750040" y="9162288"/>
            <a:ext cx="3054096" cy="1207008"/>
          </a:xfrm>
          <a:prstGeom prst="rect">
            <a:avLst/>
          </a:prstGeom>
          <a:solidFill>
            <a:srgbClr val="FFFFFF"/>
          </a:solidFill>
          <a:ln w="1778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7" name="Connector 446"/>
          <p:cNvCxnSpPr/>
          <p:nvPr/>
        </p:nvCxnSpPr>
        <p:spPr>
          <a:xfrm>
            <a:off x="11750040" y="9473184"/>
            <a:ext cx="3054095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nector 447"/>
          <p:cNvCxnSpPr/>
          <p:nvPr/>
        </p:nvCxnSpPr>
        <p:spPr>
          <a:xfrm>
            <a:off x="11750040" y="9802367"/>
            <a:ext cx="3054095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9" name="Connector 448"/>
          <p:cNvCxnSpPr/>
          <p:nvPr/>
        </p:nvCxnSpPr>
        <p:spPr>
          <a:xfrm>
            <a:off x="11750040" y="10076688"/>
            <a:ext cx="3054095" cy="0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0" name="TextBox 449"/>
          <p:cNvSpPr txBox="1"/>
          <p:nvPr/>
        </p:nvSpPr>
        <p:spPr>
          <a:xfrm>
            <a:off x="11750040" y="9180576"/>
            <a:ext cx="3054096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000000"/>
                </a:solidFill>
                <a:latin typeface="Arial"/>
              </a:rPr>
              <a:t>NATURAL DRAFT FIRED HEATER VER 1 · OTS</a:t>
            </a:r>
          </a:p>
        </p:txBody>
      </p:sp>
      <p:sp>
        <p:nvSpPr>
          <p:cNvPr id="451" name="TextBox 450"/>
          <p:cNvSpPr txBox="1"/>
          <p:nvPr/>
        </p:nvSpPr>
        <p:spPr>
          <a:xfrm>
            <a:off x="11750040" y="9491472"/>
            <a:ext cx="3054096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000000"/>
                </a:solidFill>
                <a:latin typeface="Arial"/>
              </a:rPr>
              <a:t>P&amp;ID — H-100 · ALTERNATIVE VERSION</a:t>
            </a:r>
          </a:p>
        </p:txBody>
      </p:sp>
      <p:cxnSp>
        <p:nvCxnSpPr>
          <p:cNvPr id="452" name="Connector 451"/>
          <p:cNvCxnSpPr/>
          <p:nvPr/>
        </p:nvCxnSpPr>
        <p:spPr>
          <a:xfrm>
            <a:off x="12513563" y="9802367"/>
            <a:ext cx="0" cy="566929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3" name="Connector 452"/>
          <p:cNvCxnSpPr/>
          <p:nvPr/>
        </p:nvCxnSpPr>
        <p:spPr>
          <a:xfrm>
            <a:off x="13277088" y="9802367"/>
            <a:ext cx="0" cy="566929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4" name="Connector 453"/>
          <p:cNvCxnSpPr/>
          <p:nvPr/>
        </p:nvCxnSpPr>
        <p:spPr>
          <a:xfrm>
            <a:off x="14040612" y="9802367"/>
            <a:ext cx="0" cy="566929"/>
          </a:xfrm>
          <a:prstGeom prst="line">
            <a:avLst/>
          </a:prstGeom>
          <a:ln w="889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5" name="TextBox 454"/>
          <p:cNvSpPr txBox="1"/>
          <p:nvPr/>
        </p:nvSpPr>
        <p:spPr>
          <a:xfrm>
            <a:off x="11750040" y="9802367"/>
            <a:ext cx="76352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DRAWN: APINAN</a:t>
            </a:r>
          </a:p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SOOTTITANTAWAT</a:t>
            </a:r>
          </a:p>
        </p:txBody>
      </p:sp>
      <p:sp>
        <p:nvSpPr>
          <p:cNvPr id="456" name="TextBox 455"/>
          <p:cNvSpPr txBox="1"/>
          <p:nvPr/>
        </p:nvSpPr>
        <p:spPr>
          <a:xfrm>
            <a:off x="12513563" y="9802367"/>
            <a:ext cx="76352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CHK'D: --</a:t>
            </a:r>
          </a:p>
        </p:txBody>
      </p:sp>
      <p:sp>
        <p:nvSpPr>
          <p:cNvPr id="457" name="TextBox 456"/>
          <p:cNvSpPr txBox="1"/>
          <p:nvPr/>
        </p:nvSpPr>
        <p:spPr>
          <a:xfrm>
            <a:off x="13277088" y="9802367"/>
            <a:ext cx="76352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APP'D: --</a:t>
            </a:r>
          </a:p>
        </p:txBody>
      </p:sp>
      <p:sp>
        <p:nvSpPr>
          <p:cNvPr id="458" name="TextBox 457"/>
          <p:cNvSpPr txBox="1"/>
          <p:nvPr/>
        </p:nvSpPr>
        <p:spPr>
          <a:xfrm>
            <a:off x="14040612" y="9802367"/>
            <a:ext cx="763524" cy="274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DATE: 29-SEP-26</a:t>
            </a:r>
          </a:p>
        </p:txBody>
      </p:sp>
      <p:sp>
        <p:nvSpPr>
          <p:cNvPr id="459" name="TextBox 458"/>
          <p:cNvSpPr txBox="1"/>
          <p:nvPr/>
        </p:nvSpPr>
        <p:spPr>
          <a:xfrm>
            <a:off x="11750040" y="10076688"/>
            <a:ext cx="763524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DWG NO.</a:t>
            </a:r>
          </a:p>
          <a:p>
            <a:pPr algn="ctr"/>
            <a:r>
              <a:rPr sz="550" b="1">
                <a:solidFill>
                  <a:srgbClr val="000000"/>
                </a:solidFill>
                <a:latin typeface="Arial"/>
              </a:rPr>
              <a:t>NDFH-V1-PID-001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12513563" y="10076688"/>
            <a:ext cx="763524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REV</a:t>
            </a:r>
          </a:p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D</a:t>
            </a:r>
          </a:p>
        </p:txBody>
      </p:sp>
      <p:sp>
        <p:nvSpPr>
          <p:cNvPr id="461" name="TextBox 460"/>
          <p:cNvSpPr txBox="1"/>
          <p:nvPr/>
        </p:nvSpPr>
        <p:spPr>
          <a:xfrm>
            <a:off x="13277088" y="10076688"/>
            <a:ext cx="763524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SCALE</a:t>
            </a:r>
          </a:p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N.T.S.</a:t>
            </a:r>
          </a:p>
        </p:txBody>
      </p:sp>
      <p:sp>
        <p:nvSpPr>
          <p:cNvPr id="462" name="TextBox 461"/>
          <p:cNvSpPr txBox="1"/>
          <p:nvPr/>
        </p:nvSpPr>
        <p:spPr>
          <a:xfrm>
            <a:off x="14040612" y="10076688"/>
            <a:ext cx="763524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SHEET</a:t>
            </a:r>
          </a:p>
          <a:p>
            <a:pPr algn="ctr"/>
            <a:r>
              <a:rPr sz="550" b="0">
                <a:solidFill>
                  <a:srgbClr val="000000"/>
                </a:solidFill>
                <a:latin typeface="Arial"/>
              </a:rPr>
              <a:t>1 OF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