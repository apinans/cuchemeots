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4176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4758416" cy="10323576"/>
          </a:xfrm>
          <a:prstGeom prst="rect">
            <a:avLst/>
          </a:prstGeom>
          <a:noFill/>
          <a:ln w="279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4484096" cy="10049256"/>
          </a:xfrm>
          <a:prstGeom prst="rect">
            <a:avLst/>
          </a:prstGeom>
          <a:noFill/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4544568"/>
            <a:ext cx="694944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00" b="1">
                <a:solidFill>
                  <a:srgbClr val="000000"/>
                </a:solidFill>
                <a:latin typeface="Arial"/>
              </a:rPr>
              <a:t>FEED FROM</a:t>
            </a:r>
          </a:p>
          <a:p>
            <a:pPr algn="l"/>
            <a:r>
              <a:rPr sz="600" b="1">
                <a:solidFill>
                  <a:srgbClr val="000000"/>
                </a:solidFill>
                <a:latin typeface="Arial"/>
              </a:rPr>
              <a:t>TK-101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4846320"/>
            <a:ext cx="45720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838962" y="48166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4892040"/>
            <a:ext cx="51409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4"-P-101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" y="4343400"/>
            <a:ext cx="0" cy="10058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68680" y="4343400"/>
            <a:ext cx="5486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783080" y="4343400"/>
            <a:ext cx="7772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reeform 10"/>
          <p:cNvSpPr/>
          <p:nvPr/>
        </p:nvSpPr>
        <p:spPr>
          <a:xfrm>
            <a:off x="1042415" y="4274820"/>
            <a:ext cx="201169" cy="137160"/>
          </a:xfrm>
          <a:custGeom>
            <a:avLst/>
            <a:gdLst/>
            <a:ahLst/>
            <a:cxnLst/>
            <a:rect l="l" t="t" r="r" b="b"/>
            <a:pathLst>
              <a:path w="201169" h="137160">
                <a:moveTo>
                  <a:pt x="0" y="0"/>
                </a:moveTo>
                <a:lnTo>
                  <a:pt x="201169" y="137160"/>
                </a:lnTo>
                <a:lnTo>
                  <a:pt x="201169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3609" y="4443984"/>
            <a:ext cx="3987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V-101</a:t>
            </a:r>
          </a:p>
        </p:txBody>
      </p:sp>
      <p:sp>
        <p:nvSpPr>
          <p:cNvPr id="13" name="Freeform 12"/>
          <p:cNvSpPr/>
          <p:nvPr/>
        </p:nvSpPr>
        <p:spPr>
          <a:xfrm>
            <a:off x="1444752" y="4453128"/>
            <a:ext cx="310896" cy="164592"/>
          </a:xfrm>
          <a:custGeom>
            <a:avLst/>
            <a:gdLst/>
            <a:ahLst/>
            <a:cxnLst/>
            <a:rect l="l" t="t" r="r" b="b"/>
            <a:pathLst>
              <a:path w="310896" h="164592">
                <a:moveTo>
                  <a:pt x="0" y="164592"/>
                </a:moveTo>
                <a:lnTo>
                  <a:pt x="310896" y="164592"/>
                </a:lnTo>
                <a:lnTo>
                  <a:pt x="155448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17320" y="4160520"/>
            <a:ext cx="365760" cy="36576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reeform 14"/>
          <p:cNvSpPr/>
          <p:nvPr/>
        </p:nvSpPr>
        <p:spPr>
          <a:xfrm>
            <a:off x="1517904" y="4233672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19456" h="219456">
                <a:moveTo>
                  <a:pt x="0" y="0"/>
                </a:moveTo>
                <a:lnTo>
                  <a:pt x="219456" y="109728"/>
                </a:lnTo>
                <a:lnTo>
                  <a:pt x="0" y="219456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19784" y="3977639"/>
            <a:ext cx="56083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00000"/>
                </a:solidFill>
                <a:latin typeface="Arial"/>
              </a:rPr>
              <a:t>P-100A</a:t>
            </a:r>
          </a:p>
        </p:txBody>
      </p:sp>
      <p:sp>
        <p:nvSpPr>
          <p:cNvPr id="17" name="Freeform 16"/>
          <p:cNvSpPr/>
          <p:nvPr/>
        </p:nvSpPr>
        <p:spPr>
          <a:xfrm>
            <a:off x="1892808" y="4260189"/>
            <a:ext cx="184251" cy="166421"/>
          </a:xfrm>
          <a:custGeom>
            <a:avLst/>
            <a:gdLst/>
            <a:ahLst/>
            <a:cxnLst/>
            <a:rect l="l" t="t" r="r" b="b"/>
            <a:pathLst>
              <a:path w="184251" h="166421">
                <a:moveTo>
                  <a:pt x="0" y="0"/>
                </a:moveTo>
                <a:lnTo>
                  <a:pt x="184251" y="83211"/>
                </a:lnTo>
                <a:lnTo>
                  <a:pt x="0" y="166421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2077059" y="4260189"/>
            <a:ext cx="0" cy="166421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750822" y="4443984"/>
            <a:ext cx="52171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NRV-101</a:t>
            </a:r>
          </a:p>
        </p:txBody>
      </p:sp>
      <p:sp>
        <p:nvSpPr>
          <p:cNvPr id="20" name="Freeform 19"/>
          <p:cNvSpPr/>
          <p:nvPr/>
        </p:nvSpPr>
        <p:spPr>
          <a:xfrm>
            <a:off x="2203704" y="4274820"/>
            <a:ext cx="201168" cy="137160"/>
          </a:xfrm>
          <a:custGeom>
            <a:avLst/>
            <a:gdLst/>
            <a:ahLst/>
            <a:cxnLst/>
            <a:rect l="l" t="t" r="r" b="b"/>
            <a:pathLst>
              <a:path w="201168" h="137160">
                <a:moveTo>
                  <a:pt x="0" y="0"/>
                </a:moveTo>
                <a:lnTo>
                  <a:pt x="201168" y="137160"/>
                </a:lnTo>
                <a:lnTo>
                  <a:pt x="201168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04898" y="4443984"/>
            <a:ext cx="3987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V-103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8680" y="5349240"/>
            <a:ext cx="5486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783080" y="5349240"/>
            <a:ext cx="77724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Freeform 23"/>
          <p:cNvSpPr/>
          <p:nvPr/>
        </p:nvSpPr>
        <p:spPr>
          <a:xfrm>
            <a:off x="1042415" y="5280659"/>
            <a:ext cx="201169" cy="137161"/>
          </a:xfrm>
          <a:custGeom>
            <a:avLst/>
            <a:gdLst/>
            <a:ahLst/>
            <a:cxnLst/>
            <a:rect l="l" t="t" r="r" b="b"/>
            <a:pathLst>
              <a:path w="201169" h="137161">
                <a:moveTo>
                  <a:pt x="0" y="0"/>
                </a:moveTo>
                <a:lnTo>
                  <a:pt x="201169" y="137161"/>
                </a:lnTo>
                <a:lnTo>
                  <a:pt x="201169" y="0"/>
                </a:lnTo>
                <a:lnTo>
                  <a:pt x="0" y="137161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3609" y="5449824"/>
            <a:ext cx="3987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V-102</a:t>
            </a:r>
          </a:p>
        </p:txBody>
      </p:sp>
      <p:sp>
        <p:nvSpPr>
          <p:cNvPr id="26" name="Freeform 25"/>
          <p:cNvSpPr/>
          <p:nvPr/>
        </p:nvSpPr>
        <p:spPr>
          <a:xfrm>
            <a:off x="1444752" y="5458968"/>
            <a:ext cx="310896" cy="164591"/>
          </a:xfrm>
          <a:custGeom>
            <a:avLst/>
            <a:gdLst/>
            <a:ahLst/>
            <a:cxnLst/>
            <a:rect l="l" t="t" r="r" b="b"/>
            <a:pathLst>
              <a:path w="310896" h="164591">
                <a:moveTo>
                  <a:pt x="0" y="164591"/>
                </a:moveTo>
                <a:lnTo>
                  <a:pt x="310896" y="164591"/>
                </a:lnTo>
                <a:lnTo>
                  <a:pt x="155448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417320" y="5166359"/>
            <a:ext cx="365760" cy="365760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Freeform 27"/>
          <p:cNvSpPr/>
          <p:nvPr/>
        </p:nvSpPr>
        <p:spPr>
          <a:xfrm>
            <a:off x="1517904" y="5239512"/>
            <a:ext cx="219456" cy="219456"/>
          </a:xfrm>
          <a:custGeom>
            <a:avLst/>
            <a:gdLst/>
            <a:ahLst/>
            <a:cxnLst/>
            <a:rect l="l" t="t" r="r" b="b"/>
            <a:pathLst>
              <a:path w="219456" h="219456">
                <a:moveTo>
                  <a:pt x="0" y="0"/>
                </a:moveTo>
                <a:lnTo>
                  <a:pt x="219456" y="109728"/>
                </a:lnTo>
                <a:lnTo>
                  <a:pt x="0" y="219456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9784" y="4983479"/>
            <a:ext cx="56083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00000"/>
                </a:solidFill>
                <a:latin typeface="Arial"/>
              </a:rPr>
              <a:t>P-100B</a:t>
            </a:r>
          </a:p>
        </p:txBody>
      </p:sp>
      <p:sp>
        <p:nvSpPr>
          <p:cNvPr id="30" name="Freeform 29"/>
          <p:cNvSpPr/>
          <p:nvPr/>
        </p:nvSpPr>
        <p:spPr>
          <a:xfrm>
            <a:off x="1892808" y="5266029"/>
            <a:ext cx="184251" cy="166421"/>
          </a:xfrm>
          <a:custGeom>
            <a:avLst/>
            <a:gdLst/>
            <a:ahLst/>
            <a:cxnLst/>
            <a:rect l="l" t="t" r="r" b="b"/>
            <a:pathLst>
              <a:path w="184251" h="166421">
                <a:moveTo>
                  <a:pt x="0" y="0"/>
                </a:moveTo>
                <a:lnTo>
                  <a:pt x="184251" y="83211"/>
                </a:lnTo>
                <a:lnTo>
                  <a:pt x="0" y="166421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2077059" y="5266029"/>
            <a:ext cx="0" cy="166421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750822" y="5449824"/>
            <a:ext cx="52171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NRV-102</a:t>
            </a:r>
          </a:p>
        </p:txBody>
      </p:sp>
      <p:sp>
        <p:nvSpPr>
          <p:cNvPr id="33" name="Freeform 32"/>
          <p:cNvSpPr/>
          <p:nvPr/>
        </p:nvSpPr>
        <p:spPr>
          <a:xfrm>
            <a:off x="2203704" y="5280659"/>
            <a:ext cx="201168" cy="137161"/>
          </a:xfrm>
          <a:custGeom>
            <a:avLst/>
            <a:gdLst/>
            <a:ahLst/>
            <a:cxnLst/>
            <a:rect l="l" t="t" r="r" b="b"/>
            <a:pathLst>
              <a:path w="201168" h="137161">
                <a:moveTo>
                  <a:pt x="0" y="0"/>
                </a:moveTo>
                <a:lnTo>
                  <a:pt x="201168" y="137161"/>
                </a:lnTo>
                <a:lnTo>
                  <a:pt x="201168" y="0"/>
                </a:lnTo>
                <a:lnTo>
                  <a:pt x="0" y="137161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4898" y="5449824"/>
            <a:ext cx="3987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V-104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560320" y="4343400"/>
            <a:ext cx="0" cy="10058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2530601" y="48166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868680" y="5349240"/>
            <a:ext cx="0" cy="38404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704088" y="57332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001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2560320" y="5349240"/>
            <a:ext cx="0" cy="38404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2395727" y="57332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002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560320" y="4846320"/>
            <a:ext cx="3657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596896" y="4700016"/>
            <a:ext cx="51409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3"-P-102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926080" y="4617720"/>
            <a:ext cx="914400" cy="4572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3072384" y="4617720"/>
            <a:ext cx="0" cy="45720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694176" y="4617720"/>
            <a:ext cx="0" cy="45720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3072384" y="4846320"/>
            <a:ext cx="621792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141980" y="5093207"/>
            <a:ext cx="48260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000000"/>
                </a:solidFill>
                <a:latin typeface="Arial"/>
              </a:rPr>
              <a:t>E-100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49041" y="5212080"/>
            <a:ext cx="90505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FEED PREHEATER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25880" y="3383280"/>
            <a:ext cx="890524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HEATING FLUID</a:t>
            </a:r>
          </a:p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FROM UNIT A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103120" y="3611880"/>
            <a:ext cx="15087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611880" y="3611880"/>
            <a:ext cx="0" cy="100584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103120" y="3648456"/>
            <a:ext cx="56692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3"-HF-401</a:t>
            </a:r>
          </a:p>
        </p:txBody>
      </p:sp>
      <p:sp>
        <p:nvSpPr>
          <p:cNvPr id="53" name="Freeform 52"/>
          <p:cNvSpPr/>
          <p:nvPr/>
        </p:nvSpPr>
        <p:spPr>
          <a:xfrm>
            <a:off x="2569464" y="3543300"/>
            <a:ext cx="201168" cy="137160"/>
          </a:xfrm>
          <a:custGeom>
            <a:avLst/>
            <a:gdLst/>
            <a:ahLst/>
            <a:cxnLst/>
            <a:rect l="l" t="t" r="r" b="b"/>
            <a:pathLst>
              <a:path w="201168" h="137160">
                <a:moveTo>
                  <a:pt x="0" y="0"/>
                </a:moveTo>
                <a:lnTo>
                  <a:pt x="201168" y="137160"/>
                </a:lnTo>
                <a:lnTo>
                  <a:pt x="201168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470658" y="3712464"/>
            <a:ext cx="3987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V-401</a:t>
            </a:r>
          </a:p>
        </p:txBody>
      </p:sp>
      <p:sp>
        <p:nvSpPr>
          <p:cNvPr id="55" name="Freeform 54"/>
          <p:cNvSpPr/>
          <p:nvPr/>
        </p:nvSpPr>
        <p:spPr>
          <a:xfrm>
            <a:off x="3543300" y="4032503"/>
            <a:ext cx="137160" cy="201169"/>
          </a:xfrm>
          <a:custGeom>
            <a:avLst/>
            <a:gdLst/>
            <a:ahLst/>
            <a:cxnLst/>
            <a:rect l="l" t="t" r="r" b="b"/>
            <a:pathLst>
              <a:path w="137160" h="201169">
                <a:moveTo>
                  <a:pt x="0" y="0"/>
                </a:moveTo>
                <a:lnTo>
                  <a:pt x="137160" y="201169"/>
                </a:lnTo>
                <a:lnTo>
                  <a:pt x="0" y="201169"/>
                </a:lnTo>
                <a:lnTo>
                  <a:pt x="137160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051048" y="4078224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HV-063</a:t>
            </a:r>
          </a:p>
        </p:txBody>
      </p:sp>
      <p:sp>
        <p:nvSpPr>
          <p:cNvPr id="57" name="Oval 56"/>
          <p:cNvSpPr/>
          <p:nvPr/>
        </p:nvSpPr>
        <p:spPr>
          <a:xfrm>
            <a:off x="2896362" y="35821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 flipV="1">
            <a:off x="2926080" y="3319272"/>
            <a:ext cx="0" cy="2926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2761488" y="29900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063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3017520" y="5074920"/>
            <a:ext cx="0" cy="64008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Freeform 60"/>
          <p:cNvSpPr/>
          <p:nvPr/>
        </p:nvSpPr>
        <p:spPr>
          <a:xfrm>
            <a:off x="2948939" y="5358383"/>
            <a:ext cx="137161" cy="201169"/>
          </a:xfrm>
          <a:custGeom>
            <a:avLst/>
            <a:gdLst/>
            <a:ahLst/>
            <a:cxnLst/>
            <a:rect l="l" t="t" r="r" b="b"/>
            <a:pathLst>
              <a:path w="137161" h="201169">
                <a:moveTo>
                  <a:pt x="0" y="0"/>
                </a:moveTo>
                <a:lnTo>
                  <a:pt x="137161" y="201169"/>
                </a:lnTo>
                <a:lnTo>
                  <a:pt x="0" y="201169"/>
                </a:lnTo>
                <a:lnTo>
                  <a:pt x="137161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518155" y="5404104"/>
            <a:ext cx="3987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50" b="1">
                <a:solidFill>
                  <a:srgbClr val="000000"/>
                </a:solidFill>
                <a:latin typeface="Arial"/>
              </a:rPr>
              <a:t>V-402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081528" y="5596128"/>
            <a:ext cx="644652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HF RETURN</a:t>
            </a:r>
          </a:p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TO UNIT A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3776472" y="5074920"/>
            <a:ext cx="0" cy="21031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Freeform 64"/>
          <p:cNvSpPr/>
          <p:nvPr/>
        </p:nvSpPr>
        <p:spPr>
          <a:xfrm>
            <a:off x="3726180" y="5285232"/>
            <a:ext cx="100583" cy="146304"/>
          </a:xfrm>
          <a:custGeom>
            <a:avLst/>
            <a:gdLst/>
            <a:ahLst/>
            <a:cxnLst/>
            <a:rect l="l" t="t" r="r" b="b"/>
            <a:pathLst>
              <a:path w="100583" h="146304">
                <a:moveTo>
                  <a:pt x="0" y="0"/>
                </a:moveTo>
                <a:lnTo>
                  <a:pt x="100583" y="146304"/>
                </a:lnTo>
                <a:lnTo>
                  <a:pt x="0" y="146304"/>
                </a:lnTo>
                <a:lnTo>
                  <a:pt x="100583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" name="Connector 65"/>
          <p:cNvCxnSpPr/>
          <p:nvPr/>
        </p:nvCxnSpPr>
        <p:spPr>
          <a:xfrm>
            <a:off x="3776472" y="5431536"/>
            <a:ext cx="0" cy="109728"/>
          </a:xfrm>
          <a:prstGeom prst="line">
            <a:avLst/>
          </a:prstGeom>
          <a:ln w="889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3831336" y="5468112"/>
            <a:ext cx="19710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DR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173983" y="5440680"/>
            <a:ext cx="5384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1">
                <a:solidFill>
                  <a:srgbClr val="000000"/>
                </a:solidFill>
                <a:latin typeface="Arial"/>
              </a:rPr>
              <a:t>V-109 LC</a:t>
            </a:r>
          </a:p>
        </p:txBody>
      </p:sp>
      <p:sp>
        <p:nvSpPr>
          <p:cNvPr id="69" name="Oval 68"/>
          <p:cNvSpPr/>
          <p:nvPr/>
        </p:nvSpPr>
        <p:spPr>
          <a:xfrm>
            <a:off x="3929634" y="48166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 flipV="1">
            <a:off x="3959352" y="4572000"/>
            <a:ext cx="0" cy="27432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Freeform 70"/>
          <p:cNvSpPr/>
          <p:nvPr/>
        </p:nvSpPr>
        <p:spPr>
          <a:xfrm>
            <a:off x="3899915" y="4407408"/>
            <a:ext cx="118873" cy="164592"/>
          </a:xfrm>
          <a:custGeom>
            <a:avLst/>
            <a:gdLst/>
            <a:ahLst/>
            <a:cxnLst/>
            <a:rect l="l" t="t" r="r" b="b"/>
            <a:pathLst>
              <a:path w="118873" h="164592">
                <a:moveTo>
                  <a:pt x="0" y="0"/>
                </a:moveTo>
                <a:lnTo>
                  <a:pt x="118873" y="164592"/>
                </a:lnTo>
                <a:lnTo>
                  <a:pt x="0" y="164592"/>
                </a:lnTo>
                <a:lnTo>
                  <a:pt x="118873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Freeform 71"/>
          <p:cNvSpPr/>
          <p:nvPr/>
        </p:nvSpPr>
        <p:spPr>
          <a:xfrm>
            <a:off x="3913632" y="4654296"/>
            <a:ext cx="91440" cy="128016"/>
          </a:xfrm>
          <a:custGeom>
            <a:avLst/>
            <a:gdLst/>
            <a:ahLst/>
            <a:cxnLst/>
            <a:rect l="l" t="t" r="r" b="b"/>
            <a:pathLst>
              <a:path w="91440" h="128016">
                <a:moveTo>
                  <a:pt x="0" y="0"/>
                </a:moveTo>
                <a:lnTo>
                  <a:pt x="91440" y="128016"/>
                </a:lnTo>
                <a:lnTo>
                  <a:pt x="0" y="128016"/>
                </a:lnTo>
                <a:lnTo>
                  <a:pt x="91440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050791" y="4645152"/>
            <a:ext cx="88392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INLET V-110 CSO</a:t>
            </a:r>
          </a:p>
        </p:txBody>
      </p:sp>
      <p:cxnSp>
        <p:nvCxnSpPr>
          <p:cNvPr id="74" name="Connector 73"/>
          <p:cNvCxnSpPr/>
          <p:nvPr/>
        </p:nvCxnSpPr>
        <p:spPr>
          <a:xfrm flipV="1">
            <a:off x="3959352" y="4133087"/>
            <a:ext cx="0" cy="274321"/>
          </a:xfrm>
          <a:prstGeom prst="line">
            <a:avLst/>
          </a:prstGeom>
          <a:ln w="889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4050791" y="4425696"/>
            <a:ext cx="52171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PSV-101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50791" y="4535424"/>
            <a:ext cx="83108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SET 1700 kPa 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96640" y="3995928"/>
            <a:ext cx="72542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TO SAFE LOC.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3840480" y="4846320"/>
            <a:ext cx="20116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4142232" y="4882896"/>
            <a:ext cx="51409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3"-P-103</a:t>
            </a:r>
          </a:p>
        </p:txBody>
      </p:sp>
      <p:sp>
        <p:nvSpPr>
          <p:cNvPr id="80" name="Oval 79"/>
          <p:cNvSpPr/>
          <p:nvPr/>
        </p:nvSpPr>
        <p:spPr>
          <a:xfrm>
            <a:off x="4085082" y="48166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4114800" y="4846320"/>
            <a:ext cx="0" cy="38404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Oval 81"/>
          <p:cNvSpPr/>
          <p:nvPr/>
        </p:nvSpPr>
        <p:spPr>
          <a:xfrm>
            <a:off x="3950208" y="52303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010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4539996" y="4727448"/>
            <a:ext cx="0" cy="237744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604004" y="4727448"/>
            <a:ext cx="0" cy="237744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4341876" y="4983480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FE-008</a:t>
            </a:r>
          </a:p>
        </p:txBody>
      </p:sp>
      <p:cxnSp>
        <p:nvCxnSpPr>
          <p:cNvPr id="86" name="Connector 85"/>
          <p:cNvCxnSpPr/>
          <p:nvPr/>
        </p:nvCxnSpPr>
        <p:spPr>
          <a:xfrm flipV="1">
            <a:off x="4572000" y="4370832"/>
            <a:ext cx="0" cy="35661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4407408" y="40416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008</a:t>
            </a:r>
          </a:p>
        </p:txBody>
      </p:sp>
      <p:sp>
        <p:nvSpPr>
          <p:cNvPr id="88" name="Oval 87"/>
          <p:cNvSpPr/>
          <p:nvPr/>
        </p:nvSpPr>
        <p:spPr>
          <a:xfrm>
            <a:off x="4407408" y="347472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FIAL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008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4407408" y="3639312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4572000" y="3803904"/>
            <a:ext cx="0" cy="237744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ectangle 90"/>
          <p:cNvSpPr/>
          <p:nvPr/>
        </p:nvSpPr>
        <p:spPr>
          <a:xfrm>
            <a:off x="4937760" y="3200400"/>
            <a:ext cx="402336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974336" y="323697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FSLL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008</a:t>
            </a:r>
          </a:p>
        </p:txBody>
      </p:sp>
      <p:cxnSp>
        <p:nvCxnSpPr>
          <p:cNvPr id="93" name="Connector 92"/>
          <p:cNvCxnSpPr/>
          <p:nvPr/>
        </p:nvCxnSpPr>
        <p:spPr>
          <a:xfrm>
            <a:off x="4974336" y="340156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736592" y="3639312"/>
            <a:ext cx="20116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Oval 94"/>
          <p:cNvSpPr/>
          <p:nvPr/>
        </p:nvSpPr>
        <p:spPr>
          <a:xfrm>
            <a:off x="5230368" y="39044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003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5230368" y="40690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4736592" y="4133087"/>
            <a:ext cx="493776" cy="73153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Freeform 97"/>
          <p:cNvSpPr/>
          <p:nvPr/>
        </p:nvSpPr>
        <p:spPr>
          <a:xfrm>
            <a:off x="4837176" y="4777740"/>
            <a:ext cx="201168" cy="137160"/>
          </a:xfrm>
          <a:custGeom>
            <a:avLst/>
            <a:gdLst/>
            <a:ahLst/>
            <a:cxnLst/>
            <a:rect l="l" t="t" r="r" b="b"/>
            <a:pathLst>
              <a:path w="201168" h="137160">
                <a:moveTo>
                  <a:pt x="0" y="0"/>
                </a:moveTo>
                <a:lnTo>
                  <a:pt x="201168" y="137160"/>
                </a:lnTo>
                <a:lnTo>
                  <a:pt x="201168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738370" y="4946904"/>
            <a:ext cx="3987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V-105</a:t>
            </a:r>
          </a:p>
        </p:txBody>
      </p:sp>
      <p:sp>
        <p:nvSpPr>
          <p:cNvPr id="100" name="Freeform 99"/>
          <p:cNvSpPr/>
          <p:nvPr/>
        </p:nvSpPr>
        <p:spPr>
          <a:xfrm>
            <a:off x="5276088" y="476859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1" name="Connector 100"/>
          <p:cNvCxnSpPr/>
          <p:nvPr/>
        </p:nvCxnSpPr>
        <p:spPr>
          <a:xfrm flipV="1">
            <a:off x="5394960" y="4617720"/>
            <a:ext cx="0" cy="15087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Freeform 101"/>
          <p:cNvSpPr/>
          <p:nvPr/>
        </p:nvSpPr>
        <p:spPr>
          <a:xfrm>
            <a:off x="5276088" y="4517136"/>
            <a:ext cx="237744" cy="100584"/>
          </a:xfrm>
          <a:custGeom>
            <a:avLst/>
            <a:gdLst/>
            <a:ahLst/>
            <a:cxnLst/>
            <a:rect l="l" t="t" r="r" b="b"/>
            <a:pathLst>
              <a:path w="237744" h="100584">
                <a:moveTo>
                  <a:pt x="0" y="100584"/>
                </a:moveTo>
                <a:lnTo>
                  <a:pt x="0" y="100584"/>
                </a:lnTo>
                <a:lnTo>
                  <a:pt x="9048" y="62092"/>
                </a:lnTo>
                <a:lnTo>
                  <a:pt x="34816" y="29460"/>
                </a:lnTo>
                <a:lnTo>
                  <a:pt x="73381" y="7656"/>
                </a:lnTo>
                <a:lnTo>
                  <a:pt x="118872" y="0"/>
                </a:lnTo>
                <a:lnTo>
                  <a:pt x="164362" y="7656"/>
                </a:lnTo>
                <a:lnTo>
                  <a:pt x="202927" y="29460"/>
                </a:lnTo>
                <a:lnTo>
                  <a:pt x="228695" y="62092"/>
                </a:lnTo>
                <a:lnTo>
                  <a:pt x="237744" y="100584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072634" y="5093208"/>
            <a:ext cx="64465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FV-010 FO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5394960" y="4233672"/>
            <a:ext cx="0" cy="283464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5550407" y="4777740"/>
            <a:ext cx="201169" cy="137160"/>
          </a:xfrm>
          <a:custGeom>
            <a:avLst/>
            <a:gdLst/>
            <a:ahLst/>
            <a:cxnLst/>
            <a:rect l="l" t="t" r="r" b="b"/>
            <a:pathLst>
              <a:path w="201169" h="137160">
                <a:moveTo>
                  <a:pt x="0" y="0"/>
                </a:moveTo>
                <a:lnTo>
                  <a:pt x="201169" y="137160"/>
                </a:lnTo>
                <a:lnTo>
                  <a:pt x="201169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451601" y="4946904"/>
            <a:ext cx="3987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V-106</a:t>
            </a:r>
          </a:p>
        </p:txBody>
      </p:sp>
      <p:sp>
        <p:nvSpPr>
          <p:cNvPr id="107" name="Oval 106"/>
          <p:cNvSpPr/>
          <p:nvPr/>
        </p:nvSpPr>
        <p:spPr>
          <a:xfrm>
            <a:off x="4770882" y="48166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5731002" y="48166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>
            <a:off x="4800600" y="4846320"/>
            <a:ext cx="0" cy="59436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4800600" y="5440680"/>
            <a:ext cx="9601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5760720" y="4846320"/>
            <a:ext cx="0" cy="59436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Freeform 111"/>
          <p:cNvSpPr/>
          <p:nvPr/>
        </p:nvSpPr>
        <p:spPr>
          <a:xfrm>
            <a:off x="5184648" y="5372100"/>
            <a:ext cx="201168" cy="137160"/>
          </a:xfrm>
          <a:custGeom>
            <a:avLst/>
            <a:gdLst/>
            <a:ahLst/>
            <a:cxnLst/>
            <a:rect l="l" t="t" r="r" b="b"/>
            <a:pathLst>
              <a:path w="201168" h="137160">
                <a:moveTo>
                  <a:pt x="0" y="0"/>
                </a:moveTo>
                <a:lnTo>
                  <a:pt x="201168" y="137160"/>
                </a:lnTo>
                <a:lnTo>
                  <a:pt x="201168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4809236" y="5532120"/>
            <a:ext cx="95199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V-107 (BYPASS)</a:t>
            </a:r>
          </a:p>
        </p:txBody>
      </p:sp>
      <p:cxnSp>
        <p:nvCxnSpPr>
          <p:cNvPr id="114" name="Connector 113"/>
          <p:cNvCxnSpPr/>
          <p:nvPr/>
        </p:nvCxnSpPr>
        <p:spPr>
          <a:xfrm flipV="1">
            <a:off x="5852160" y="2148840"/>
            <a:ext cx="0" cy="26974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5852160" y="2148840"/>
            <a:ext cx="109728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5822442" y="21191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 flipV="1">
            <a:off x="5852160" y="1938528"/>
            <a:ext cx="0" cy="21031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Freeform 117"/>
          <p:cNvSpPr/>
          <p:nvPr/>
        </p:nvSpPr>
        <p:spPr>
          <a:xfrm>
            <a:off x="5801868" y="1792224"/>
            <a:ext cx="100584" cy="146304"/>
          </a:xfrm>
          <a:custGeom>
            <a:avLst/>
            <a:gdLst/>
            <a:ahLst/>
            <a:cxnLst/>
            <a:rect l="l" t="t" r="r" b="b"/>
            <a:pathLst>
              <a:path w="100584" h="146304">
                <a:moveTo>
                  <a:pt x="0" y="0"/>
                </a:moveTo>
                <a:lnTo>
                  <a:pt x="100584" y="146304"/>
                </a:lnTo>
                <a:lnTo>
                  <a:pt x="0" y="146304"/>
                </a:lnTo>
                <a:lnTo>
                  <a:pt x="100584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 flipV="1">
            <a:off x="5852160" y="1682496"/>
            <a:ext cx="0" cy="109728"/>
          </a:xfrm>
          <a:prstGeom prst="line">
            <a:avLst/>
          </a:prstGeom>
          <a:ln w="889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5476240" y="1591056"/>
            <a:ext cx="30276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000000"/>
                </a:solidFill>
                <a:latin typeface="Arial"/>
              </a:rPr>
              <a:t>VENT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5943600" y="1810512"/>
            <a:ext cx="5384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V-108 NC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5292344" y="3749039"/>
            <a:ext cx="51409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000000"/>
                </a:solidFill>
                <a:latin typeface="Arial"/>
              </a:rPr>
              <a:t>3"-P-103</a:t>
            </a:r>
          </a:p>
        </p:txBody>
      </p:sp>
      <p:sp>
        <p:nvSpPr>
          <p:cNvPr id="123" name="Oval 122"/>
          <p:cNvSpPr/>
          <p:nvPr/>
        </p:nvSpPr>
        <p:spPr>
          <a:xfrm>
            <a:off x="5822442" y="27134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Connector 123"/>
          <p:cNvCxnSpPr/>
          <p:nvPr/>
        </p:nvCxnSpPr>
        <p:spPr>
          <a:xfrm flipH="1">
            <a:off x="5559552" y="2743200"/>
            <a:ext cx="2926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Oval 124"/>
          <p:cNvSpPr/>
          <p:nvPr/>
        </p:nvSpPr>
        <p:spPr>
          <a:xfrm>
            <a:off x="5230368" y="25786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009</a:t>
            </a:r>
          </a:p>
        </p:txBody>
      </p:sp>
      <p:sp>
        <p:nvSpPr>
          <p:cNvPr id="126" name="Oval 125"/>
          <p:cNvSpPr/>
          <p:nvPr/>
        </p:nvSpPr>
        <p:spPr>
          <a:xfrm>
            <a:off x="6389370" y="21191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 flipV="1">
            <a:off x="6419088" y="1901952"/>
            <a:ext cx="0" cy="24688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6254496" y="15727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020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452360" y="658368"/>
            <a:ext cx="548639" cy="1033272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0" name="Connector 129"/>
          <p:cNvCxnSpPr/>
          <p:nvPr/>
        </p:nvCxnSpPr>
        <p:spPr>
          <a:xfrm flipV="1">
            <a:off x="7726679" y="457200"/>
            <a:ext cx="0" cy="201168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1" name="TextBox 130"/>
          <p:cNvSpPr txBox="1"/>
          <p:nvPr/>
        </p:nvSpPr>
        <p:spPr>
          <a:xfrm>
            <a:off x="7799831" y="384048"/>
            <a:ext cx="1443736" cy="908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FLUE GAS TO ATMOSPHERE</a:t>
            </a:r>
          </a:p>
        </p:txBody>
      </p:sp>
      <p:sp>
        <p:nvSpPr>
          <p:cNvPr id="132" name="Freeform 131"/>
          <p:cNvSpPr/>
          <p:nvPr/>
        </p:nvSpPr>
        <p:spPr>
          <a:xfrm>
            <a:off x="6949440" y="1691640"/>
            <a:ext cx="1554480" cy="274320"/>
          </a:xfrm>
          <a:custGeom>
            <a:avLst/>
            <a:gdLst/>
            <a:ahLst/>
            <a:cxnLst/>
            <a:rect l="l" t="t" r="r" b="b"/>
            <a:pathLst>
              <a:path w="1554480" h="274320">
                <a:moveTo>
                  <a:pt x="502920" y="0"/>
                </a:moveTo>
                <a:lnTo>
                  <a:pt x="1051560" y="0"/>
                </a:lnTo>
                <a:lnTo>
                  <a:pt x="1554480" y="274320"/>
                </a:lnTo>
                <a:lnTo>
                  <a:pt x="0" y="27432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949440" y="1965960"/>
            <a:ext cx="1554480" cy="9144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6492240" y="2880360"/>
            <a:ext cx="2468880" cy="365760"/>
          </a:xfrm>
          <a:custGeom>
            <a:avLst/>
            <a:gdLst/>
            <a:ahLst/>
            <a:cxnLst/>
            <a:rect l="l" t="t" r="r" b="b"/>
            <a:pathLst>
              <a:path w="2468880" h="365760">
                <a:moveTo>
                  <a:pt x="457200" y="0"/>
                </a:moveTo>
                <a:lnTo>
                  <a:pt x="2011680" y="0"/>
                </a:lnTo>
                <a:lnTo>
                  <a:pt x="246888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6492240" y="3246120"/>
            <a:ext cx="2468880" cy="333756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6" name="Connector 135"/>
          <p:cNvCxnSpPr/>
          <p:nvPr/>
        </p:nvCxnSpPr>
        <p:spPr>
          <a:xfrm flipV="1">
            <a:off x="7525512" y="1042416"/>
            <a:ext cx="402336" cy="292608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" name="Oval 136"/>
          <p:cNvSpPr/>
          <p:nvPr/>
        </p:nvSpPr>
        <p:spPr>
          <a:xfrm>
            <a:off x="7699248" y="1161288"/>
            <a:ext cx="54864" cy="54864"/>
          </a:xfrm>
          <a:prstGeom prst="ellipse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>
            <a:off x="8001000" y="1188720"/>
            <a:ext cx="2468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ectangle 138"/>
          <p:cNvSpPr/>
          <p:nvPr/>
        </p:nvSpPr>
        <p:spPr>
          <a:xfrm>
            <a:off x="8247888" y="1133856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183879" y="1271016"/>
            <a:ext cx="64465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HV-400 FO</a:t>
            </a:r>
          </a:p>
        </p:txBody>
      </p:sp>
      <p:sp>
        <p:nvSpPr>
          <p:cNvPr id="141" name="Oval 140"/>
          <p:cNvSpPr/>
          <p:nvPr/>
        </p:nvSpPr>
        <p:spPr>
          <a:xfrm>
            <a:off x="8631936" y="10241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HIC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400</a:t>
            </a:r>
          </a:p>
        </p:txBody>
      </p:sp>
      <p:cxnSp>
        <p:nvCxnSpPr>
          <p:cNvPr id="142" name="Connector 141"/>
          <p:cNvCxnSpPr/>
          <p:nvPr/>
        </p:nvCxnSpPr>
        <p:spPr>
          <a:xfrm>
            <a:off x="8631936" y="1188720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8385048" y="1188720"/>
            <a:ext cx="24688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Oval 143"/>
          <p:cNvSpPr/>
          <p:nvPr/>
        </p:nvSpPr>
        <p:spPr>
          <a:xfrm>
            <a:off x="7971281" y="811530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5" name="Connector 144"/>
          <p:cNvCxnSpPr/>
          <p:nvPr/>
        </p:nvCxnSpPr>
        <p:spPr>
          <a:xfrm>
            <a:off x="8001000" y="841248"/>
            <a:ext cx="63093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Oval 145"/>
          <p:cNvSpPr/>
          <p:nvPr/>
        </p:nvSpPr>
        <p:spPr>
          <a:xfrm>
            <a:off x="8631936" y="621792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AI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026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988552" y="731520"/>
            <a:ext cx="19710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CO</a:t>
            </a:r>
          </a:p>
        </p:txBody>
      </p:sp>
      <p:sp>
        <p:nvSpPr>
          <p:cNvPr id="148" name="Oval 147"/>
          <p:cNvSpPr/>
          <p:nvPr/>
        </p:nvSpPr>
        <p:spPr>
          <a:xfrm>
            <a:off x="7422642" y="8389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9" name="Connector 148"/>
          <p:cNvCxnSpPr/>
          <p:nvPr/>
        </p:nvCxnSpPr>
        <p:spPr>
          <a:xfrm flipH="1">
            <a:off x="7159752" y="868680"/>
            <a:ext cx="2926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Oval 149"/>
          <p:cNvSpPr/>
          <p:nvPr/>
        </p:nvSpPr>
        <p:spPr>
          <a:xfrm>
            <a:off x="6830568" y="7040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032</a:t>
            </a:r>
          </a:p>
        </p:txBody>
      </p:sp>
      <p:sp>
        <p:nvSpPr>
          <p:cNvPr id="151" name="Oval 150"/>
          <p:cNvSpPr/>
          <p:nvPr/>
        </p:nvSpPr>
        <p:spPr>
          <a:xfrm>
            <a:off x="7422642" y="13876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2" name="Connector 151"/>
          <p:cNvCxnSpPr/>
          <p:nvPr/>
        </p:nvCxnSpPr>
        <p:spPr>
          <a:xfrm flipH="1">
            <a:off x="7159752" y="1417320"/>
            <a:ext cx="29260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" name="Oval 152"/>
          <p:cNvSpPr/>
          <p:nvPr/>
        </p:nvSpPr>
        <p:spPr>
          <a:xfrm>
            <a:off x="6830568" y="12527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021</a:t>
            </a:r>
          </a:p>
        </p:txBody>
      </p:sp>
      <p:sp>
        <p:nvSpPr>
          <p:cNvPr id="154" name="Oval 153"/>
          <p:cNvSpPr/>
          <p:nvPr/>
        </p:nvSpPr>
        <p:spPr>
          <a:xfrm>
            <a:off x="7971281" y="15247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5" name="Connector 154"/>
          <p:cNvCxnSpPr/>
          <p:nvPr/>
        </p:nvCxnSpPr>
        <p:spPr>
          <a:xfrm>
            <a:off x="8001000" y="1554480"/>
            <a:ext cx="63093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Oval 155"/>
          <p:cNvSpPr/>
          <p:nvPr/>
        </p:nvSpPr>
        <p:spPr>
          <a:xfrm>
            <a:off x="8631936" y="1444752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AI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029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988552" y="1554480"/>
            <a:ext cx="19710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O₂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535671" y="1472184"/>
            <a:ext cx="38201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STACK</a:t>
            </a:r>
          </a:p>
        </p:txBody>
      </p:sp>
      <p:sp>
        <p:nvSpPr>
          <p:cNvPr id="159" name="Freeform 158"/>
          <p:cNvSpPr/>
          <p:nvPr/>
        </p:nvSpPr>
        <p:spPr>
          <a:xfrm>
            <a:off x="6949440" y="2148840"/>
            <a:ext cx="1554480" cy="548640"/>
          </a:xfrm>
          <a:custGeom>
            <a:avLst/>
            <a:gdLst/>
            <a:ahLst/>
            <a:cxnLst/>
            <a:rect l="l" t="t" r="r" b="b"/>
            <a:pathLst>
              <a:path w="1554480" h="548640">
                <a:moveTo>
                  <a:pt x="0" y="0"/>
                </a:moveTo>
                <a:lnTo>
                  <a:pt x="1426464" y="0"/>
                </a:lnTo>
                <a:lnTo>
                  <a:pt x="1426464" y="274320"/>
                </a:lnTo>
                <a:lnTo>
                  <a:pt x="128015" y="274320"/>
                </a:lnTo>
                <a:lnTo>
                  <a:pt x="128015" y="548640"/>
                </a:lnTo>
                <a:lnTo>
                  <a:pt x="1554480" y="54864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7157923" y="2002536"/>
            <a:ext cx="1137513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CONVECTION SECTION</a:t>
            </a:r>
          </a:p>
        </p:txBody>
      </p:sp>
      <p:sp>
        <p:nvSpPr>
          <p:cNvPr id="161" name="Oval 160"/>
          <p:cNvSpPr/>
          <p:nvPr/>
        </p:nvSpPr>
        <p:spPr>
          <a:xfrm>
            <a:off x="6919722" y="2548889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2" name="Connector 161"/>
          <p:cNvCxnSpPr/>
          <p:nvPr/>
        </p:nvCxnSpPr>
        <p:spPr>
          <a:xfrm flipH="1">
            <a:off x="6629400" y="2578608"/>
            <a:ext cx="32004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Oval 162"/>
          <p:cNvSpPr/>
          <p:nvPr/>
        </p:nvSpPr>
        <p:spPr>
          <a:xfrm>
            <a:off x="6300216" y="2414015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031</a:t>
            </a:r>
          </a:p>
        </p:txBody>
      </p:sp>
      <p:cxnSp>
        <p:nvCxnSpPr>
          <p:cNvPr id="164" name="Connector 163"/>
          <p:cNvCxnSpPr/>
          <p:nvPr/>
        </p:nvCxnSpPr>
        <p:spPr>
          <a:xfrm>
            <a:off x="8503920" y="2697480"/>
            <a:ext cx="7315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9235440" y="2697480"/>
            <a:ext cx="0" cy="7772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H="1">
            <a:off x="8961120" y="3474720"/>
            <a:ext cx="27432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9281160" y="2743200"/>
            <a:ext cx="51409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3"-P-104</a:t>
            </a:r>
          </a:p>
        </p:txBody>
      </p:sp>
      <p:sp>
        <p:nvSpPr>
          <p:cNvPr id="168" name="Oval 167"/>
          <p:cNvSpPr/>
          <p:nvPr/>
        </p:nvSpPr>
        <p:spPr>
          <a:xfrm>
            <a:off x="9205722" y="3060953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9" name="Connector 168"/>
          <p:cNvCxnSpPr/>
          <p:nvPr/>
        </p:nvCxnSpPr>
        <p:spPr>
          <a:xfrm>
            <a:off x="9235440" y="3090672"/>
            <a:ext cx="33832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Oval 169"/>
          <p:cNvSpPr/>
          <p:nvPr/>
        </p:nvSpPr>
        <p:spPr>
          <a:xfrm>
            <a:off x="9573768" y="2926079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022</a:t>
            </a:r>
          </a:p>
        </p:txBody>
      </p:sp>
      <p:sp>
        <p:nvSpPr>
          <p:cNvPr id="171" name="Freeform 170"/>
          <p:cNvSpPr/>
          <p:nvPr/>
        </p:nvSpPr>
        <p:spPr>
          <a:xfrm>
            <a:off x="8540496" y="3474720"/>
            <a:ext cx="420624" cy="2880360"/>
          </a:xfrm>
          <a:custGeom>
            <a:avLst/>
            <a:gdLst/>
            <a:ahLst/>
            <a:cxnLst/>
            <a:rect l="l" t="t" r="r" b="b"/>
            <a:pathLst>
              <a:path w="420624" h="2880360">
                <a:moveTo>
                  <a:pt x="420624" y="0"/>
                </a:moveTo>
                <a:lnTo>
                  <a:pt x="256032" y="0"/>
                </a:lnTo>
                <a:lnTo>
                  <a:pt x="256032" y="137159"/>
                </a:lnTo>
                <a:lnTo>
                  <a:pt x="0" y="137159"/>
                </a:lnTo>
                <a:lnTo>
                  <a:pt x="0" y="274319"/>
                </a:lnTo>
                <a:lnTo>
                  <a:pt x="0" y="411480"/>
                </a:lnTo>
                <a:lnTo>
                  <a:pt x="256032" y="411480"/>
                </a:lnTo>
                <a:lnTo>
                  <a:pt x="256032" y="548639"/>
                </a:lnTo>
                <a:lnTo>
                  <a:pt x="256032" y="685800"/>
                </a:lnTo>
                <a:lnTo>
                  <a:pt x="0" y="685800"/>
                </a:lnTo>
                <a:lnTo>
                  <a:pt x="0" y="822959"/>
                </a:lnTo>
                <a:lnTo>
                  <a:pt x="0" y="960120"/>
                </a:lnTo>
                <a:lnTo>
                  <a:pt x="256032" y="960120"/>
                </a:lnTo>
                <a:lnTo>
                  <a:pt x="256032" y="1097279"/>
                </a:lnTo>
                <a:lnTo>
                  <a:pt x="256032" y="1234439"/>
                </a:lnTo>
                <a:lnTo>
                  <a:pt x="0" y="1234439"/>
                </a:lnTo>
                <a:lnTo>
                  <a:pt x="0" y="1371599"/>
                </a:lnTo>
                <a:lnTo>
                  <a:pt x="0" y="1508759"/>
                </a:lnTo>
                <a:lnTo>
                  <a:pt x="256032" y="1508759"/>
                </a:lnTo>
                <a:lnTo>
                  <a:pt x="256032" y="1645919"/>
                </a:lnTo>
                <a:lnTo>
                  <a:pt x="256032" y="1783079"/>
                </a:lnTo>
                <a:lnTo>
                  <a:pt x="0" y="1783079"/>
                </a:lnTo>
                <a:lnTo>
                  <a:pt x="0" y="1920239"/>
                </a:lnTo>
                <a:lnTo>
                  <a:pt x="0" y="2057399"/>
                </a:lnTo>
                <a:lnTo>
                  <a:pt x="256032" y="2057399"/>
                </a:lnTo>
                <a:lnTo>
                  <a:pt x="256032" y="2194559"/>
                </a:lnTo>
                <a:lnTo>
                  <a:pt x="256032" y="2331719"/>
                </a:lnTo>
                <a:lnTo>
                  <a:pt x="0" y="2331719"/>
                </a:lnTo>
                <a:lnTo>
                  <a:pt x="0" y="2468879"/>
                </a:lnTo>
                <a:lnTo>
                  <a:pt x="0" y="2606039"/>
                </a:lnTo>
                <a:lnTo>
                  <a:pt x="256032" y="2606039"/>
                </a:lnTo>
                <a:lnTo>
                  <a:pt x="256032" y="2743199"/>
                </a:lnTo>
                <a:lnTo>
                  <a:pt x="256032" y="2880360"/>
                </a:lnTo>
                <a:lnTo>
                  <a:pt x="420624" y="288036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7320280" y="3310128"/>
            <a:ext cx="5384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H-100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163409" y="3456432"/>
            <a:ext cx="85222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00" b="0">
                <a:solidFill>
                  <a:srgbClr val="000000"/>
                </a:solidFill>
                <a:latin typeface="Arial"/>
              </a:rPr>
              <a:t>FIRED HEATER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6701129" y="3566160"/>
            <a:ext cx="17767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NATURAL DRAFT, ONE OIL BURNER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817360" y="3675887"/>
            <a:ext cx="154432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RADIANT SECTION (FIREBOX)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705344" y="4846320"/>
            <a:ext cx="72542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000000"/>
                </a:solidFill>
                <a:latin typeface="Arial"/>
              </a:rPr>
              <a:t>RADIANT COIL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916672" y="4956048"/>
            <a:ext cx="51409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000000"/>
                </a:solidFill>
                <a:latin typeface="Arial"/>
              </a:rPr>
              <a:t>(NOTE 6)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7498079" y="6583680"/>
            <a:ext cx="457200" cy="228600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421880" y="6601968"/>
            <a:ext cx="40843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BURNER</a:t>
            </a:r>
          </a:p>
        </p:txBody>
      </p:sp>
      <p:sp>
        <p:nvSpPr>
          <p:cNvPr id="180" name="Freeform 179"/>
          <p:cNvSpPr/>
          <p:nvPr/>
        </p:nvSpPr>
        <p:spPr>
          <a:xfrm>
            <a:off x="7562088" y="5577840"/>
            <a:ext cx="329183" cy="1005840"/>
          </a:xfrm>
          <a:custGeom>
            <a:avLst/>
            <a:gdLst/>
            <a:ahLst/>
            <a:cxnLst/>
            <a:rect l="l" t="t" r="r" b="b"/>
            <a:pathLst>
              <a:path w="329183" h="1005840">
                <a:moveTo>
                  <a:pt x="0" y="1005840"/>
                </a:moveTo>
                <a:lnTo>
                  <a:pt x="164591" y="0"/>
                </a:lnTo>
                <a:lnTo>
                  <a:pt x="329183" y="1005840"/>
                </a:lnTo>
              </a:path>
            </a:pathLst>
          </a:cu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223760" y="6812280"/>
            <a:ext cx="1005839" cy="320039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7260336" y="6922008"/>
            <a:ext cx="46126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WINDBOX</a:t>
            </a:r>
          </a:p>
        </p:txBody>
      </p:sp>
      <p:sp>
        <p:nvSpPr>
          <p:cNvPr id="183" name="Oval 182"/>
          <p:cNvSpPr/>
          <p:nvPr/>
        </p:nvSpPr>
        <p:spPr>
          <a:xfrm>
            <a:off x="6462522" y="35821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4" name="Connector 183"/>
          <p:cNvCxnSpPr/>
          <p:nvPr/>
        </p:nvCxnSpPr>
        <p:spPr>
          <a:xfrm flipH="1">
            <a:off x="6327648" y="3611880"/>
            <a:ext cx="16459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Oval 184"/>
          <p:cNvSpPr/>
          <p:nvPr/>
        </p:nvSpPr>
        <p:spPr>
          <a:xfrm>
            <a:off x="5998464" y="34472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003</a:t>
            </a:r>
          </a:p>
        </p:txBody>
      </p:sp>
      <p:sp>
        <p:nvSpPr>
          <p:cNvPr id="186" name="Oval 185"/>
          <p:cNvSpPr/>
          <p:nvPr/>
        </p:nvSpPr>
        <p:spPr>
          <a:xfrm>
            <a:off x="6462522" y="4194810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 flipH="1">
            <a:off x="6327648" y="4224528"/>
            <a:ext cx="16459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5998464" y="405993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TIAH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023</a:t>
            </a:r>
          </a:p>
        </p:txBody>
      </p:sp>
      <p:sp>
        <p:nvSpPr>
          <p:cNvPr id="189" name="Oval 188"/>
          <p:cNvSpPr/>
          <p:nvPr/>
        </p:nvSpPr>
        <p:spPr>
          <a:xfrm>
            <a:off x="6462522" y="6169914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0" name="Connector 189"/>
          <p:cNvCxnSpPr/>
          <p:nvPr/>
        </p:nvCxnSpPr>
        <p:spPr>
          <a:xfrm flipH="1">
            <a:off x="6327648" y="6199632"/>
            <a:ext cx="16459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Oval 190"/>
          <p:cNvSpPr/>
          <p:nvPr/>
        </p:nvSpPr>
        <p:spPr>
          <a:xfrm>
            <a:off x="5998464" y="603504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004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6428231" y="4983480"/>
            <a:ext cx="64008" cy="329184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6537959" y="5047488"/>
            <a:ext cx="56692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EXPLOSION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6537959" y="5157216"/>
            <a:ext cx="30276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DOOR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961120" y="5559552"/>
            <a:ext cx="64008" cy="219456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9070848" y="5614416"/>
            <a:ext cx="56692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PEEP DOOR</a:t>
            </a:r>
          </a:p>
        </p:txBody>
      </p:sp>
      <p:sp>
        <p:nvSpPr>
          <p:cNvPr id="197" name="Oval 196"/>
          <p:cNvSpPr/>
          <p:nvPr/>
        </p:nvSpPr>
        <p:spPr>
          <a:xfrm>
            <a:off x="8931402" y="39479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8" name="Connector 197"/>
          <p:cNvCxnSpPr/>
          <p:nvPr/>
        </p:nvCxnSpPr>
        <p:spPr>
          <a:xfrm>
            <a:off x="8961120" y="3977639"/>
            <a:ext cx="61264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9" name="Oval 198"/>
          <p:cNvSpPr/>
          <p:nvPr/>
        </p:nvSpPr>
        <p:spPr>
          <a:xfrm>
            <a:off x="9573768" y="38130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AI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028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9930384" y="3922776"/>
            <a:ext cx="19710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O₂</a:t>
            </a:r>
          </a:p>
        </p:txBody>
      </p:sp>
      <p:sp>
        <p:nvSpPr>
          <p:cNvPr id="201" name="Oval 200"/>
          <p:cNvSpPr/>
          <p:nvPr/>
        </p:nvSpPr>
        <p:spPr>
          <a:xfrm>
            <a:off x="10168128" y="381304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AIC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027</a:t>
            </a:r>
          </a:p>
        </p:txBody>
      </p:sp>
      <p:cxnSp>
        <p:nvCxnSpPr>
          <p:cNvPr id="202" name="Connector 201"/>
          <p:cNvCxnSpPr/>
          <p:nvPr/>
        </p:nvCxnSpPr>
        <p:spPr>
          <a:xfrm>
            <a:off x="10168128" y="3977639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9902952" y="3822191"/>
            <a:ext cx="265176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10332720" y="3566160"/>
            <a:ext cx="0" cy="246888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TextBox 204"/>
          <p:cNvSpPr txBox="1"/>
          <p:nvPr/>
        </p:nvSpPr>
        <p:spPr>
          <a:xfrm>
            <a:off x="9837928" y="3438144"/>
            <a:ext cx="98958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TO FY-005 (REV B)</a:t>
            </a:r>
          </a:p>
        </p:txBody>
      </p:sp>
      <p:sp>
        <p:nvSpPr>
          <p:cNvPr id="206" name="Oval 205"/>
          <p:cNvSpPr/>
          <p:nvPr/>
        </p:nvSpPr>
        <p:spPr>
          <a:xfrm>
            <a:off x="8766809" y="458800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7" name="Connector 206"/>
          <p:cNvCxnSpPr/>
          <p:nvPr/>
        </p:nvCxnSpPr>
        <p:spPr>
          <a:xfrm>
            <a:off x="8796528" y="4617720"/>
            <a:ext cx="77724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Oval 207"/>
          <p:cNvSpPr/>
          <p:nvPr/>
        </p:nvSpPr>
        <p:spPr>
          <a:xfrm>
            <a:off x="9573768" y="44531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024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9930384" y="4562856"/>
            <a:ext cx="30276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SKIN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4526280" y="5897880"/>
            <a:ext cx="706120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LP STEAM</a:t>
            </a:r>
          </a:p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(SNUFFING)</a:t>
            </a:r>
          </a:p>
        </p:txBody>
      </p:sp>
      <p:cxnSp>
        <p:nvCxnSpPr>
          <p:cNvPr id="211" name="Connector 210"/>
          <p:cNvCxnSpPr/>
          <p:nvPr/>
        </p:nvCxnSpPr>
        <p:spPr>
          <a:xfrm>
            <a:off x="4526280" y="5852160"/>
            <a:ext cx="1965960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2" name="Freeform 211"/>
          <p:cNvSpPr/>
          <p:nvPr/>
        </p:nvSpPr>
        <p:spPr>
          <a:xfrm>
            <a:off x="5385816" y="5783580"/>
            <a:ext cx="201168" cy="137160"/>
          </a:xfrm>
          <a:custGeom>
            <a:avLst/>
            <a:gdLst/>
            <a:ahLst/>
            <a:cxnLst/>
            <a:rect l="l" t="t" r="r" b="b"/>
            <a:pathLst>
              <a:path w="201168" h="137160">
                <a:moveTo>
                  <a:pt x="0" y="0"/>
                </a:moveTo>
                <a:lnTo>
                  <a:pt x="201168" y="137160"/>
                </a:lnTo>
                <a:lnTo>
                  <a:pt x="201168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5164074" y="5952744"/>
            <a:ext cx="64465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HV-221 NC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5760720" y="5715000"/>
            <a:ext cx="56692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2"-LS-301</a:t>
            </a:r>
          </a:p>
        </p:txBody>
      </p:sp>
      <p:sp>
        <p:nvSpPr>
          <p:cNvPr id="215" name="Oval 214"/>
          <p:cNvSpPr/>
          <p:nvPr/>
        </p:nvSpPr>
        <p:spPr>
          <a:xfrm>
            <a:off x="7468361" y="673684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6" name="Connector 215"/>
          <p:cNvCxnSpPr/>
          <p:nvPr/>
        </p:nvCxnSpPr>
        <p:spPr>
          <a:xfrm flipH="1">
            <a:off x="6976872" y="6766560"/>
            <a:ext cx="521207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7" name="Oval 216"/>
          <p:cNvSpPr/>
          <p:nvPr/>
        </p:nvSpPr>
        <p:spPr>
          <a:xfrm>
            <a:off x="6647688" y="66019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BS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005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5961888" y="6702552"/>
            <a:ext cx="402336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5998464" y="67391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BSLL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005</a:t>
            </a:r>
          </a:p>
        </p:txBody>
      </p:sp>
      <p:cxnSp>
        <p:nvCxnSpPr>
          <p:cNvPr id="220" name="Connector 219"/>
          <p:cNvCxnSpPr/>
          <p:nvPr/>
        </p:nvCxnSpPr>
        <p:spPr>
          <a:xfrm>
            <a:off x="5998464" y="69037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H="1">
            <a:off x="6364224" y="6812280"/>
            <a:ext cx="283464" cy="54864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>
            <a:off x="8961120" y="6355080"/>
            <a:ext cx="21945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TextBox 222"/>
          <p:cNvSpPr txBox="1"/>
          <p:nvPr/>
        </p:nvSpPr>
        <p:spPr>
          <a:xfrm>
            <a:off x="9144000" y="6217920"/>
            <a:ext cx="51409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3"-P-105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10192511" y="5961888"/>
            <a:ext cx="963168" cy="198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600" b="1">
                <a:solidFill>
                  <a:srgbClr val="000000"/>
                </a:solidFill>
                <a:latin typeface="Arial"/>
              </a:rPr>
              <a:t>TO PACKED-BED</a:t>
            </a:r>
          </a:p>
          <a:p>
            <a:pPr algn="r"/>
            <a:r>
              <a:rPr sz="600" b="1">
                <a:solidFill>
                  <a:srgbClr val="000000"/>
                </a:solidFill>
                <a:latin typeface="Arial"/>
              </a:rPr>
              <a:t>REACTOR V-200</a:t>
            </a:r>
          </a:p>
        </p:txBody>
      </p:sp>
      <p:sp>
        <p:nvSpPr>
          <p:cNvPr id="225" name="Oval 224"/>
          <p:cNvSpPr/>
          <p:nvPr/>
        </p:nvSpPr>
        <p:spPr>
          <a:xfrm>
            <a:off x="9434322" y="63253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6" name="Connector 225"/>
          <p:cNvCxnSpPr/>
          <p:nvPr/>
        </p:nvCxnSpPr>
        <p:spPr>
          <a:xfrm>
            <a:off x="9464040" y="6355080"/>
            <a:ext cx="0" cy="2926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Oval 226"/>
          <p:cNvSpPr/>
          <p:nvPr/>
        </p:nvSpPr>
        <p:spPr>
          <a:xfrm>
            <a:off x="9299448" y="66476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040</a:t>
            </a:r>
          </a:p>
        </p:txBody>
      </p:sp>
      <p:sp>
        <p:nvSpPr>
          <p:cNvPr id="228" name="Oval 227"/>
          <p:cNvSpPr/>
          <p:nvPr/>
        </p:nvSpPr>
        <p:spPr>
          <a:xfrm>
            <a:off x="9299448" y="71963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030</a:t>
            </a:r>
          </a:p>
        </p:txBody>
      </p:sp>
      <p:cxnSp>
        <p:nvCxnSpPr>
          <p:cNvPr id="229" name="Connector 228"/>
          <p:cNvCxnSpPr/>
          <p:nvPr/>
        </p:nvCxnSpPr>
        <p:spPr>
          <a:xfrm>
            <a:off x="9299448" y="73609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Connector 229"/>
          <p:cNvCxnSpPr/>
          <p:nvPr/>
        </p:nvCxnSpPr>
        <p:spPr>
          <a:xfrm>
            <a:off x="9464040" y="6976872"/>
            <a:ext cx="0" cy="21945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Oval 230"/>
          <p:cNvSpPr/>
          <p:nvPr/>
        </p:nvSpPr>
        <p:spPr>
          <a:xfrm>
            <a:off x="9982961" y="63253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2" name="Connector 231"/>
          <p:cNvCxnSpPr/>
          <p:nvPr/>
        </p:nvCxnSpPr>
        <p:spPr>
          <a:xfrm>
            <a:off x="10012680" y="6355080"/>
            <a:ext cx="0" cy="2926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Oval 232"/>
          <p:cNvSpPr/>
          <p:nvPr/>
        </p:nvSpPr>
        <p:spPr>
          <a:xfrm>
            <a:off x="9848088" y="66476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TIAH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025</a:t>
            </a:r>
          </a:p>
        </p:txBody>
      </p:sp>
      <p:cxnSp>
        <p:nvCxnSpPr>
          <p:cNvPr id="234" name="Connector 233"/>
          <p:cNvCxnSpPr/>
          <p:nvPr/>
        </p:nvCxnSpPr>
        <p:spPr>
          <a:xfrm>
            <a:off x="9848088" y="68122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TextBox 234"/>
          <p:cNvSpPr txBox="1"/>
          <p:nvPr/>
        </p:nvSpPr>
        <p:spPr>
          <a:xfrm>
            <a:off x="10195560" y="6473952"/>
            <a:ext cx="40843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TE-025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9811511" y="7159752"/>
            <a:ext cx="402336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9848088" y="71963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TSHH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025</a:t>
            </a:r>
          </a:p>
        </p:txBody>
      </p:sp>
      <p:cxnSp>
        <p:nvCxnSpPr>
          <p:cNvPr id="238" name="Connector 237"/>
          <p:cNvCxnSpPr/>
          <p:nvPr/>
        </p:nvCxnSpPr>
        <p:spPr>
          <a:xfrm>
            <a:off x="9848088" y="73609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>
            <a:off x="10012680" y="6976872"/>
            <a:ext cx="0" cy="18288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Oval 239"/>
          <p:cNvSpPr/>
          <p:nvPr/>
        </p:nvSpPr>
        <p:spPr>
          <a:xfrm>
            <a:off x="10531602" y="63253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1" name="Connector 240"/>
          <p:cNvCxnSpPr/>
          <p:nvPr/>
        </p:nvCxnSpPr>
        <p:spPr>
          <a:xfrm>
            <a:off x="10561320" y="6355080"/>
            <a:ext cx="0" cy="2926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Oval 241"/>
          <p:cNvSpPr/>
          <p:nvPr/>
        </p:nvSpPr>
        <p:spPr>
          <a:xfrm>
            <a:off x="10396728" y="66476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005</a:t>
            </a:r>
          </a:p>
        </p:txBody>
      </p:sp>
      <p:sp>
        <p:nvSpPr>
          <p:cNvPr id="243" name="Oval 242"/>
          <p:cNvSpPr/>
          <p:nvPr/>
        </p:nvSpPr>
        <p:spPr>
          <a:xfrm>
            <a:off x="10897361" y="632536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4" name="Connector 243"/>
          <p:cNvCxnSpPr/>
          <p:nvPr/>
        </p:nvCxnSpPr>
        <p:spPr>
          <a:xfrm>
            <a:off x="10927080" y="6355080"/>
            <a:ext cx="0" cy="32004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Freeform 244"/>
          <p:cNvSpPr/>
          <p:nvPr/>
        </p:nvSpPr>
        <p:spPr>
          <a:xfrm>
            <a:off x="10876788" y="6675120"/>
            <a:ext cx="100584" cy="146304"/>
          </a:xfrm>
          <a:custGeom>
            <a:avLst/>
            <a:gdLst/>
            <a:ahLst/>
            <a:cxnLst/>
            <a:rect l="l" t="t" r="r" b="b"/>
            <a:pathLst>
              <a:path w="100584" h="146304">
                <a:moveTo>
                  <a:pt x="0" y="0"/>
                </a:moveTo>
                <a:lnTo>
                  <a:pt x="100584" y="146304"/>
                </a:lnTo>
                <a:lnTo>
                  <a:pt x="0" y="146304"/>
                </a:lnTo>
                <a:lnTo>
                  <a:pt x="100584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6" name="Connector 245"/>
          <p:cNvCxnSpPr/>
          <p:nvPr/>
        </p:nvCxnSpPr>
        <p:spPr>
          <a:xfrm>
            <a:off x="10927080" y="6821424"/>
            <a:ext cx="0" cy="128016"/>
          </a:xfrm>
          <a:prstGeom prst="line">
            <a:avLst/>
          </a:prstGeom>
          <a:ln w="889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TextBox 246"/>
          <p:cNvSpPr txBox="1"/>
          <p:nvPr/>
        </p:nvSpPr>
        <p:spPr>
          <a:xfrm>
            <a:off x="10828527" y="6967728"/>
            <a:ext cx="19710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DR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411480" y="7013448"/>
            <a:ext cx="1013460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COMBUSTION AIR</a:t>
            </a:r>
          </a:p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FROM ATMOSPHERE</a:t>
            </a:r>
          </a:p>
        </p:txBody>
      </p:sp>
      <p:cxnSp>
        <p:nvCxnSpPr>
          <p:cNvPr id="249" name="Connector 248"/>
          <p:cNvCxnSpPr/>
          <p:nvPr/>
        </p:nvCxnSpPr>
        <p:spPr>
          <a:xfrm>
            <a:off x="411480" y="7315200"/>
            <a:ext cx="96012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Rectangle 249"/>
          <p:cNvSpPr/>
          <p:nvPr/>
        </p:nvSpPr>
        <p:spPr>
          <a:xfrm>
            <a:off x="1371600" y="7150608"/>
            <a:ext cx="274320" cy="329184"/>
          </a:xfrm>
          <a:prstGeom prst="rect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1" name="Connector 250"/>
          <p:cNvCxnSpPr/>
          <p:nvPr/>
        </p:nvCxnSpPr>
        <p:spPr>
          <a:xfrm flipV="1">
            <a:off x="1371600" y="7150608"/>
            <a:ext cx="274320" cy="329184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TextBox 251"/>
          <p:cNvSpPr txBox="1"/>
          <p:nvPr/>
        </p:nvSpPr>
        <p:spPr>
          <a:xfrm>
            <a:off x="1281430" y="7507224"/>
            <a:ext cx="45466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000000"/>
                </a:solidFill>
                <a:latin typeface="Arial"/>
              </a:rPr>
              <a:t>F-100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1119631" y="7616952"/>
            <a:ext cx="77825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INTAKE SCREEN</a:t>
            </a:r>
          </a:p>
        </p:txBody>
      </p:sp>
      <p:cxnSp>
        <p:nvCxnSpPr>
          <p:cNvPr id="254" name="Connector 253"/>
          <p:cNvCxnSpPr/>
          <p:nvPr/>
        </p:nvCxnSpPr>
        <p:spPr>
          <a:xfrm>
            <a:off x="1645920" y="7315200"/>
            <a:ext cx="57607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Connector 254"/>
          <p:cNvCxnSpPr/>
          <p:nvPr/>
        </p:nvCxnSpPr>
        <p:spPr>
          <a:xfrm flipV="1">
            <a:off x="7406640" y="7132320"/>
            <a:ext cx="0" cy="1828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TextBox 255"/>
          <p:cNvSpPr txBox="1"/>
          <p:nvPr/>
        </p:nvSpPr>
        <p:spPr>
          <a:xfrm>
            <a:off x="5669280" y="7178040"/>
            <a:ext cx="11480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AIR DUCT DN350 (TBC)</a:t>
            </a:r>
          </a:p>
        </p:txBody>
      </p:sp>
      <p:cxnSp>
        <p:nvCxnSpPr>
          <p:cNvPr id="257" name="Connector 256"/>
          <p:cNvCxnSpPr/>
          <p:nvPr/>
        </p:nvCxnSpPr>
        <p:spPr>
          <a:xfrm>
            <a:off x="2162556" y="7196328"/>
            <a:ext cx="0" cy="237744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Connector 257"/>
          <p:cNvCxnSpPr/>
          <p:nvPr/>
        </p:nvCxnSpPr>
        <p:spPr>
          <a:xfrm>
            <a:off x="2226564" y="7196328"/>
            <a:ext cx="0" cy="237744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9" name="TextBox 258"/>
          <p:cNvSpPr txBox="1"/>
          <p:nvPr/>
        </p:nvSpPr>
        <p:spPr>
          <a:xfrm>
            <a:off x="1964436" y="7452360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FE-005</a:t>
            </a:r>
          </a:p>
        </p:txBody>
      </p:sp>
      <p:cxnSp>
        <p:nvCxnSpPr>
          <p:cNvPr id="260" name="Connector 259"/>
          <p:cNvCxnSpPr/>
          <p:nvPr/>
        </p:nvCxnSpPr>
        <p:spPr>
          <a:xfrm flipV="1">
            <a:off x="2194560" y="6830568"/>
            <a:ext cx="0" cy="36576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1" name="Oval 260"/>
          <p:cNvSpPr/>
          <p:nvPr/>
        </p:nvSpPr>
        <p:spPr>
          <a:xfrm>
            <a:off x="2029967" y="6501384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005</a:t>
            </a:r>
          </a:p>
        </p:txBody>
      </p:sp>
      <p:sp>
        <p:nvSpPr>
          <p:cNvPr id="262" name="Freeform 261"/>
          <p:cNvSpPr/>
          <p:nvPr/>
        </p:nvSpPr>
        <p:spPr>
          <a:xfrm>
            <a:off x="3172968" y="723747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3" name="Connector 262"/>
          <p:cNvCxnSpPr/>
          <p:nvPr/>
        </p:nvCxnSpPr>
        <p:spPr>
          <a:xfrm flipV="1">
            <a:off x="3291840" y="7086600"/>
            <a:ext cx="0" cy="15087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Freeform 263"/>
          <p:cNvSpPr/>
          <p:nvPr/>
        </p:nvSpPr>
        <p:spPr>
          <a:xfrm>
            <a:off x="3172968" y="6986016"/>
            <a:ext cx="237744" cy="100584"/>
          </a:xfrm>
          <a:custGeom>
            <a:avLst/>
            <a:gdLst/>
            <a:ahLst/>
            <a:cxnLst/>
            <a:rect l="l" t="t" r="r" b="b"/>
            <a:pathLst>
              <a:path w="237744" h="100584">
                <a:moveTo>
                  <a:pt x="0" y="100584"/>
                </a:moveTo>
                <a:lnTo>
                  <a:pt x="0" y="100584"/>
                </a:lnTo>
                <a:lnTo>
                  <a:pt x="9048" y="62092"/>
                </a:lnTo>
                <a:lnTo>
                  <a:pt x="34816" y="29460"/>
                </a:lnTo>
                <a:lnTo>
                  <a:pt x="73381" y="7656"/>
                </a:lnTo>
                <a:lnTo>
                  <a:pt x="118872" y="0"/>
                </a:lnTo>
                <a:lnTo>
                  <a:pt x="164362" y="7656"/>
                </a:lnTo>
                <a:lnTo>
                  <a:pt x="202927" y="29460"/>
                </a:lnTo>
                <a:lnTo>
                  <a:pt x="228695" y="62092"/>
                </a:lnTo>
                <a:lnTo>
                  <a:pt x="237744" y="100584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TextBox 264"/>
          <p:cNvSpPr txBox="1"/>
          <p:nvPr/>
        </p:nvSpPr>
        <p:spPr>
          <a:xfrm>
            <a:off x="2969514" y="7424927"/>
            <a:ext cx="64465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FV-200 FO</a:t>
            </a:r>
          </a:p>
        </p:txBody>
      </p:sp>
      <p:sp>
        <p:nvSpPr>
          <p:cNvPr id="266" name="Oval 265"/>
          <p:cNvSpPr/>
          <p:nvPr/>
        </p:nvSpPr>
        <p:spPr>
          <a:xfrm>
            <a:off x="3127248" y="62819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005</a:t>
            </a:r>
          </a:p>
        </p:txBody>
      </p:sp>
      <p:cxnSp>
        <p:nvCxnSpPr>
          <p:cNvPr id="267" name="Connector 266"/>
          <p:cNvCxnSpPr/>
          <p:nvPr/>
        </p:nvCxnSpPr>
        <p:spPr>
          <a:xfrm>
            <a:off x="3127248" y="64465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Connector 267"/>
          <p:cNvCxnSpPr/>
          <p:nvPr/>
        </p:nvCxnSpPr>
        <p:spPr>
          <a:xfrm>
            <a:off x="3291840" y="6611112"/>
            <a:ext cx="0" cy="374904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Connector 268"/>
          <p:cNvCxnSpPr/>
          <p:nvPr/>
        </p:nvCxnSpPr>
        <p:spPr>
          <a:xfrm flipV="1">
            <a:off x="2359152" y="6492240"/>
            <a:ext cx="768096" cy="17373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Oval 269"/>
          <p:cNvSpPr/>
          <p:nvPr/>
        </p:nvSpPr>
        <p:spPr>
          <a:xfrm>
            <a:off x="3767328" y="62819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FY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005</a:t>
            </a:r>
          </a:p>
        </p:txBody>
      </p:sp>
      <p:cxnSp>
        <p:nvCxnSpPr>
          <p:cNvPr id="271" name="Connector 270"/>
          <p:cNvCxnSpPr/>
          <p:nvPr/>
        </p:nvCxnSpPr>
        <p:spPr>
          <a:xfrm>
            <a:off x="3767328" y="6446520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2" name="Connector 271"/>
          <p:cNvCxnSpPr/>
          <p:nvPr/>
        </p:nvCxnSpPr>
        <p:spPr>
          <a:xfrm flipH="1">
            <a:off x="3456432" y="6446520"/>
            <a:ext cx="310896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TextBox 272"/>
          <p:cNvSpPr txBox="1"/>
          <p:nvPr/>
        </p:nvSpPr>
        <p:spPr>
          <a:xfrm>
            <a:off x="4133087" y="6291072"/>
            <a:ext cx="125374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AIR/FUEL RATIO (REV B)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4133087" y="6400800"/>
            <a:ext cx="120091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FROM FI-001 &amp; AIC-027</a:t>
            </a:r>
          </a:p>
        </p:txBody>
      </p:sp>
      <p:sp>
        <p:nvSpPr>
          <p:cNvPr id="275" name="Oval 274"/>
          <p:cNvSpPr/>
          <p:nvPr/>
        </p:nvSpPr>
        <p:spPr>
          <a:xfrm>
            <a:off x="8199881" y="6938010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6" name="Connector 275"/>
          <p:cNvCxnSpPr/>
          <p:nvPr/>
        </p:nvCxnSpPr>
        <p:spPr>
          <a:xfrm>
            <a:off x="8229600" y="6967728"/>
            <a:ext cx="21945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Oval 276"/>
          <p:cNvSpPr/>
          <p:nvPr/>
        </p:nvSpPr>
        <p:spPr>
          <a:xfrm>
            <a:off x="8449056" y="680313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030</a:t>
            </a:r>
          </a:p>
        </p:txBody>
      </p:sp>
      <p:sp>
        <p:nvSpPr>
          <p:cNvPr id="278" name="Oval 277"/>
          <p:cNvSpPr/>
          <p:nvPr/>
        </p:nvSpPr>
        <p:spPr>
          <a:xfrm>
            <a:off x="8449056" y="728776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PIAL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030</a:t>
            </a:r>
          </a:p>
        </p:txBody>
      </p:sp>
      <p:cxnSp>
        <p:nvCxnSpPr>
          <p:cNvPr id="279" name="Connector 278"/>
          <p:cNvCxnSpPr/>
          <p:nvPr/>
        </p:nvCxnSpPr>
        <p:spPr>
          <a:xfrm>
            <a:off x="8449056" y="745236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8613648" y="7132320"/>
            <a:ext cx="0" cy="155448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1" name="TextBox 280"/>
          <p:cNvSpPr txBox="1"/>
          <p:nvPr/>
        </p:nvSpPr>
        <p:spPr>
          <a:xfrm>
            <a:off x="8805672" y="7296912"/>
            <a:ext cx="5384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PSLL-030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8805672" y="7406640"/>
            <a:ext cx="56692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(SIS-100)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411480" y="7699248"/>
            <a:ext cx="890524" cy="18161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FUEL OIL FROM</a:t>
            </a:r>
          </a:p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FUEL SYSTEM</a:t>
            </a:r>
          </a:p>
        </p:txBody>
      </p:sp>
      <p:cxnSp>
        <p:nvCxnSpPr>
          <p:cNvPr id="284" name="Connector 283"/>
          <p:cNvCxnSpPr/>
          <p:nvPr/>
        </p:nvCxnSpPr>
        <p:spPr>
          <a:xfrm>
            <a:off x="411480" y="8001000"/>
            <a:ext cx="7470647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5" name="Connector 284"/>
          <p:cNvCxnSpPr/>
          <p:nvPr/>
        </p:nvCxnSpPr>
        <p:spPr>
          <a:xfrm flipV="1">
            <a:off x="7882127" y="6629400"/>
            <a:ext cx="0" cy="137160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6" name="Connector 285"/>
          <p:cNvCxnSpPr/>
          <p:nvPr/>
        </p:nvCxnSpPr>
        <p:spPr>
          <a:xfrm flipV="1">
            <a:off x="7882127" y="6601968"/>
            <a:ext cx="0" cy="22860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7" name="TextBox 286"/>
          <p:cNvSpPr txBox="1"/>
          <p:nvPr/>
        </p:nvSpPr>
        <p:spPr>
          <a:xfrm>
            <a:off x="457200" y="8046720"/>
            <a:ext cx="56692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1"-FO-201</a:t>
            </a:r>
          </a:p>
        </p:txBody>
      </p:sp>
      <p:sp>
        <p:nvSpPr>
          <p:cNvPr id="288" name="Freeform 287"/>
          <p:cNvSpPr/>
          <p:nvPr/>
        </p:nvSpPr>
        <p:spPr>
          <a:xfrm>
            <a:off x="1453895" y="7932420"/>
            <a:ext cx="201169" cy="137159"/>
          </a:xfrm>
          <a:custGeom>
            <a:avLst/>
            <a:gdLst/>
            <a:ahLst/>
            <a:cxnLst/>
            <a:rect l="l" t="t" r="r" b="b"/>
            <a:pathLst>
              <a:path w="201169" h="137159">
                <a:moveTo>
                  <a:pt x="0" y="0"/>
                </a:moveTo>
                <a:lnTo>
                  <a:pt x="201169" y="137159"/>
                </a:lnTo>
                <a:lnTo>
                  <a:pt x="201169" y="0"/>
                </a:lnTo>
                <a:lnTo>
                  <a:pt x="0" y="13715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1355089" y="8101583"/>
            <a:ext cx="3987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V-121</a:t>
            </a:r>
          </a:p>
        </p:txBody>
      </p:sp>
      <p:sp>
        <p:nvSpPr>
          <p:cNvPr id="290" name="Oval 289"/>
          <p:cNvSpPr/>
          <p:nvPr/>
        </p:nvSpPr>
        <p:spPr>
          <a:xfrm>
            <a:off x="1799082" y="797128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1" name="Connector 290"/>
          <p:cNvCxnSpPr/>
          <p:nvPr/>
        </p:nvCxnSpPr>
        <p:spPr>
          <a:xfrm>
            <a:off x="1828800" y="8001000"/>
            <a:ext cx="0" cy="24688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2" name="Oval 291"/>
          <p:cNvSpPr/>
          <p:nvPr/>
        </p:nvSpPr>
        <p:spPr>
          <a:xfrm>
            <a:off x="1664208" y="82478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019</a:t>
            </a:r>
          </a:p>
        </p:txBody>
      </p:sp>
      <p:cxnSp>
        <p:nvCxnSpPr>
          <p:cNvPr id="293" name="Connector 292"/>
          <p:cNvCxnSpPr/>
          <p:nvPr/>
        </p:nvCxnSpPr>
        <p:spPr>
          <a:xfrm>
            <a:off x="2299715" y="7882127"/>
            <a:ext cx="0" cy="237745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2363724" y="7882127"/>
            <a:ext cx="0" cy="237745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5" name="TextBox 294"/>
          <p:cNvSpPr txBox="1"/>
          <p:nvPr/>
        </p:nvSpPr>
        <p:spPr>
          <a:xfrm>
            <a:off x="2101596" y="7763256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FE-001</a:t>
            </a:r>
          </a:p>
        </p:txBody>
      </p:sp>
      <p:cxnSp>
        <p:nvCxnSpPr>
          <p:cNvPr id="296" name="Connector 295"/>
          <p:cNvCxnSpPr/>
          <p:nvPr/>
        </p:nvCxnSpPr>
        <p:spPr>
          <a:xfrm>
            <a:off x="2331720" y="8119872"/>
            <a:ext cx="0" cy="12801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Oval 296"/>
          <p:cNvSpPr/>
          <p:nvPr/>
        </p:nvSpPr>
        <p:spPr>
          <a:xfrm>
            <a:off x="2167127" y="82478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001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2167127" y="8412480"/>
            <a:ext cx="32918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9" name="Connector 298"/>
          <p:cNvCxnSpPr/>
          <p:nvPr/>
        </p:nvCxnSpPr>
        <p:spPr>
          <a:xfrm>
            <a:off x="2496312" y="8357616"/>
            <a:ext cx="20116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0" name="TextBox 299"/>
          <p:cNvSpPr txBox="1"/>
          <p:nvPr/>
        </p:nvSpPr>
        <p:spPr>
          <a:xfrm>
            <a:off x="2724912" y="8302752"/>
            <a:ext cx="56692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TO FY-005</a:t>
            </a:r>
          </a:p>
        </p:txBody>
      </p:sp>
      <p:sp>
        <p:nvSpPr>
          <p:cNvPr id="301" name="Freeform 300"/>
          <p:cNvSpPr/>
          <p:nvPr/>
        </p:nvSpPr>
        <p:spPr>
          <a:xfrm>
            <a:off x="2944368" y="7923275"/>
            <a:ext cx="237744" cy="155449"/>
          </a:xfrm>
          <a:custGeom>
            <a:avLst/>
            <a:gdLst/>
            <a:ahLst/>
            <a:cxnLst/>
            <a:rect l="l" t="t" r="r" b="b"/>
            <a:pathLst>
              <a:path w="237744" h="155449">
                <a:moveTo>
                  <a:pt x="0" y="0"/>
                </a:moveTo>
                <a:lnTo>
                  <a:pt x="237744" y="155449"/>
                </a:lnTo>
                <a:lnTo>
                  <a:pt x="237744" y="0"/>
                </a:lnTo>
                <a:lnTo>
                  <a:pt x="0" y="15544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2" name="Connector 301"/>
          <p:cNvCxnSpPr/>
          <p:nvPr/>
        </p:nvCxnSpPr>
        <p:spPr>
          <a:xfrm flipV="1">
            <a:off x="3063240" y="7799831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3" name="Rectangle 302"/>
          <p:cNvSpPr/>
          <p:nvPr/>
        </p:nvSpPr>
        <p:spPr>
          <a:xfrm>
            <a:off x="2994660" y="7690104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TextBox 303"/>
          <p:cNvSpPr txBox="1"/>
          <p:nvPr/>
        </p:nvSpPr>
        <p:spPr>
          <a:xfrm>
            <a:off x="2788920" y="8110727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XV-301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2994660" y="7690104"/>
            <a:ext cx="13716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sp>
        <p:nvSpPr>
          <p:cNvPr id="306" name="Oval 305"/>
          <p:cNvSpPr/>
          <p:nvPr/>
        </p:nvSpPr>
        <p:spPr>
          <a:xfrm>
            <a:off x="3445001" y="797128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7" name="Connector 306"/>
          <p:cNvCxnSpPr/>
          <p:nvPr/>
        </p:nvCxnSpPr>
        <p:spPr>
          <a:xfrm>
            <a:off x="3474720" y="8001000"/>
            <a:ext cx="0" cy="530352"/>
          </a:xfrm>
          <a:prstGeom prst="line">
            <a:avLst/>
          </a:prstGeom>
          <a:ln w="889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8" name="Freeform 307"/>
          <p:cNvSpPr/>
          <p:nvPr/>
        </p:nvSpPr>
        <p:spPr>
          <a:xfrm>
            <a:off x="3410712" y="8183880"/>
            <a:ext cx="128015" cy="182880"/>
          </a:xfrm>
          <a:custGeom>
            <a:avLst/>
            <a:gdLst/>
            <a:ahLst/>
            <a:cxnLst/>
            <a:rect l="l" t="t" r="r" b="b"/>
            <a:pathLst>
              <a:path w="128015" h="182880">
                <a:moveTo>
                  <a:pt x="0" y="0"/>
                </a:moveTo>
                <a:lnTo>
                  <a:pt x="128015" y="182880"/>
                </a:lnTo>
                <a:lnTo>
                  <a:pt x="0" y="182880"/>
                </a:lnTo>
                <a:lnTo>
                  <a:pt x="128015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9" name="Connector 308"/>
          <p:cNvCxnSpPr/>
          <p:nvPr/>
        </p:nvCxnSpPr>
        <p:spPr>
          <a:xfrm flipH="1">
            <a:off x="3319272" y="8275320"/>
            <a:ext cx="822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0" name="Rectangle 309"/>
          <p:cNvSpPr/>
          <p:nvPr/>
        </p:nvSpPr>
        <p:spPr>
          <a:xfrm>
            <a:off x="3186684" y="8220456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TextBox 310"/>
          <p:cNvSpPr txBox="1"/>
          <p:nvPr/>
        </p:nvSpPr>
        <p:spPr>
          <a:xfrm>
            <a:off x="3186684" y="8220456"/>
            <a:ext cx="13716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3584448" y="8321040"/>
            <a:ext cx="46024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XV-303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2359152" y="8485632"/>
            <a:ext cx="1042416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000000"/>
                </a:solidFill>
                <a:latin typeface="Arial"/>
              </a:rPr>
              <a:t>BLEED TO SAFE LOC.</a:t>
            </a:r>
          </a:p>
        </p:txBody>
      </p:sp>
      <p:sp>
        <p:nvSpPr>
          <p:cNvPr id="314" name="Freeform 313"/>
          <p:cNvSpPr/>
          <p:nvPr/>
        </p:nvSpPr>
        <p:spPr>
          <a:xfrm>
            <a:off x="3904488" y="7923275"/>
            <a:ext cx="237744" cy="155449"/>
          </a:xfrm>
          <a:custGeom>
            <a:avLst/>
            <a:gdLst/>
            <a:ahLst/>
            <a:cxnLst/>
            <a:rect l="l" t="t" r="r" b="b"/>
            <a:pathLst>
              <a:path w="237744" h="155449">
                <a:moveTo>
                  <a:pt x="0" y="0"/>
                </a:moveTo>
                <a:lnTo>
                  <a:pt x="237744" y="155449"/>
                </a:lnTo>
                <a:lnTo>
                  <a:pt x="237744" y="0"/>
                </a:lnTo>
                <a:lnTo>
                  <a:pt x="0" y="15544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5" name="Connector 314"/>
          <p:cNvCxnSpPr/>
          <p:nvPr/>
        </p:nvCxnSpPr>
        <p:spPr>
          <a:xfrm flipV="1">
            <a:off x="4023360" y="7799831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6" name="Rectangle 315"/>
          <p:cNvSpPr/>
          <p:nvPr/>
        </p:nvSpPr>
        <p:spPr>
          <a:xfrm>
            <a:off x="3954780" y="7690104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3749040" y="8110727"/>
            <a:ext cx="54864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XV-302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3954780" y="7690104"/>
            <a:ext cx="13716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sp>
        <p:nvSpPr>
          <p:cNvPr id="319" name="Freeform 318"/>
          <p:cNvSpPr/>
          <p:nvPr/>
        </p:nvSpPr>
        <p:spPr>
          <a:xfrm>
            <a:off x="4681728" y="7923275"/>
            <a:ext cx="237744" cy="155449"/>
          </a:xfrm>
          <a:custGeom>
            <a:avLst/>
            <a:gdLst/>
            <a:ahLst/>
            <a:cxnLst/>
            <a:rect l="l" t="t" r="r" b="b"/>
            <a:pathLst>
              <a:path w="237744" h="155449">
                <a:moveTo>
                  <a:pt x="0" y="0"/>
                </a:moveTo>
                <a:lnTo>
                  <a:pt x="237744" y="155449"/>
                </a:lnTo>
                <a:lnTo>
                  <a:pt x="237744" y="0"/>
                </a:lnTo>
                <a:lnTo>
                  <a:pt x="0" y="15544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0" name="Connector 319"/>
          <p:cNvCxnSpPr/>
          <p:nvPr/>
        </p:nvCxnSpPr>
        <p:spPr>
          <a:xfrm flipV="1">
            <a:off x="4800600" y="7772400"/>
            <a:ext cx="0" cy="150875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1" name="Freeform 320"/>
          <p:cNvSpPr/>
          <p:nvPr/>
        </p:nvSpPr>
        <p:spPr>
          <a:xfrm>
            <a:off x="4681728" y="7671816"/>
            <a:ext cx="237744" cy="100584"/>
          </a:xfrm>
          <a:custGeom>
            <a:avLst/>
            <a:gdLst/>
            <a:ahLst/>
            <a:cxnLst/>
            <a:rect l="l" t="t" r="r" b="b"/>
            <a:pathLst>
              <a:path w="237744" h="100584">
                <a:moveTo>
                  <a:pt x="0" y="100584"/>
                </a:moveTo>
                <a:lnTo>
                  <a:pt x="0" y="100584"/>
                </a:lnTo>
                <a:lnTo>
                  <a:pt x="9048" y="62092"/>
                </a:lnTo>
                <a:lnTo>
                  <a:pt x="34816" y="29460"/>
                </a:lnTo>
                <a:lnTo>
                  <a:pt x="73381" y="7656"/>
                </a:lnTo>
                <a:lnTo>
                  <a:pt x="118872" y="0"/>
                </a:lnTo>
                <a:lnTo>
                  <a:pt x="164362" y="7656"/>
                </a:lnTo>
                <a:lnTo>
                  <a:pt x="202927" y="29460"/>
                </a:lnTo>
                <a:lnTo>
                  <a:pt x="228695" y="62092"/>
                </a:lnTo>
                <a:lnTo>
                  <a:pt x="237744" y="100584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TextBox 321"/>
          <p:cNvSpPr txBox="1"/>
          <p:nvPr/>
        </p:nvSpPr>
        <p:spPr>
          <a:xfrm>
            <a:off x="4478274" y="8110727"/>
            <a:ext cx="64465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FV-300 FC</a:t>
            </a:r>
          </a:p>
        </p:txBody>
      </p:sp>
      <p:cxnSp>
        <p:nvCxnSpPr>
          <p:cNvPr id="323" name="Connector 322"/>
          <p:cNvCxnSpPr/>
          <p:nvPr/>
        </p:nvCxnSpPr>
        <p:spPr>
          <a:xfrm>
            <a:off x="9464040" y="7525512"/>
            <a:ext cx="0" cy="155448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 flipH="1">
            <a:off x="4956048" y="7680960"/>
            <a:ext cx="4507992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 flipH="1">
            <a:off x="4919472" y="7680960"/>
            <a:ext cx="36576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6" name="Oval 325"/>
          <p:cNvSpPr/>
          <p:nvPr/>
        </p:nvSpPr>
        <p:spPr>
          <a:xfrm>
            <a:off x="5319522" y="797128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7" name="Connector 326"/>
          <p:cNvCxnSpPr/>
          <p:nvPr/>
        </p:nvCxnSpPr>
        <p:spPr>
          <a:xfrm>
            <a:off x="5349240" y="8001000"/>
            <a:ext cx="0" cy="24688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8" name="Oval 327"/>
          <p:cNvSpPr/>
          <p:nvPr/>
        </p:nvSpPr>
        <p:spPr>
          <a:xfrm>
            <a:off x="5184648" y="82478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020</a:t>
            </a:r>
          </a:p>
        </p:txBody>
      </p:sp>
      <p:sp>
        <p:nvSpPr>
          <p:cNvPr id="329" name="Oval 328"/>
          <p:cNvSpPr/>
          <p:nvPr/>
        </p:nvSpPr>
        <p:spPr>
          <a:xfrm>
            <a:off x="5705856" y="82478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PIAL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020</a:t>
            </a:r>
          </a:p>
        </p:txBody>
      </p:sp>
      <p:cxnSp>
        <p:nvCxnSpPr>
          <p:cNvPr id="330" name="Connector 329"/>
          <p:cNvCxnSpPr/>
          <p:nvPr/>
        </p:nvCxnSpPr>
        <p:spPr>
          <a:xfrm>
            <a:off x="5705856" y="84124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5513832" y="8412480"/>
            <a:ext cx="192024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2" name="TextBox 331"/>
          <p:cNvSpPr txBox="1"/>
          <p:nvPr/>
        </p:nvSpPr>
        <p:spPr>
          <a:xfrm>
            <a:off x="6089904" y="8302752"/>
            <a:ext cx="5384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1">
                <a:solidFill>
                  <a:srgbClr val="000000"/>
                </a:solidFill>
                <a:latin typeface="Arial"/>
              </a:rPr>
              <a:t>PSLL-020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6089904" y="8412480"/>
            <a:ext cx="56692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(SIS-100)</a:t>
            </a:r>
          </a:p>
        </p:txBody>
      </p:sp>
      <p:sp>
        <p:nvSpPr>
          <p:cNvPr id="334" name="Freeform 333"/>
          <p:cNvSpPr/>
          <p:nvPr/>
        </p:nvSpPr>
        <p:spPr>
          <a:xfrm>
            <a:off x="6665976" y="7932420"/>
            <a:ext cx="201168" cy="137159"/>
          </a:xfrm>
          <a:custGeom>
            <a:avLst/>
            <a:gdLst/>
            <a:ahLst/>
            <a:cxnLst/>
            <a:rect l="l" t="t" r="r" b="b"/>
            <a:pathLst>
              <a:path w="201168" h="137159">
                <a:moveTo>
                  <a:pt x="0" y="0"/>
                </a:moveTo>
                <a:lnTo>
                  <a:pt x="201168" y="137159"/>
                </a:lnTo>
                <a:lnTo>
                  <a:pt x="201168" y="0"/>
                </a:lnTo>
                <a:lnTo>
                  <a:pt x="0" y="137159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TextBox 334"/>
          <p:cNvSpPr txBox="1"/>
          <p:nvPr/>
        </p:nvSpPr>
        <p:spPr>
          <a:xfrm>
            <a:off x="6567170" y="8101583"/>
            <a:ext cx="39878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V-122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7936992" y="7790688"/>
            <a:ext cx="619760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BURNER GUN</a:t>
            </a:r>
          </a:p>
        </p:txBody>
      </p:sp>
      <p:sp>
        <p:nvSpPr>
          <p:cNvPr id="337" name="Rectangle 336"/>
          <p:cNvSpPr/>
          <p:nvPr/>
        </p:nvSpPr>
        <p:spPr>
          <a:xfrm>
            <a:off x="11475720" y="502920"/>
            <a:ext cx="3246120" cy="7982711"/>
          </a:xfrm>
          <a:prstGeom prst="rect">
            <a:avLst/>
          </a:pr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TextBox 337"/>
          <p:cNvSpPr txBox="1"/>
          <p:nvPr/>
        </p:nvSpPr>
        <p:spPr>
          <a:xfrm>
            <a:off x="11567160" y="576072"/>
            <a:ext cx="56083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LEGEND</a:t>
            </a:r>
          </a:p>
        </p:txBody>
      </p:sp>
      <p:cxnSp>
        <p:nvCxnSpPr>
          <p:cNvPr id="339" name="Connector 338"/>
          <p:cNvCxnSpPr/>
          <p:nvPr/>
        </p:nvCxnSpPr>
        <p:spPr>
          <a:xfrm>
            <a:off x="11585448" y="886968"/>
            <a:ext cx="66751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0" name="TextBox 339"/>
          <p:cNvSpPr txBox="1"/>
          <p:nvPr/>
        </p:nvSpPr>
        <p:spPr>
          <a:xfrm>
            <a:off x="12435840" y="832103"/>
            <a:ext cx="78882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PROCESS LINE</a:t>
            </a:r>
          </a:p>
        </p:txBody>
      </p:sp>
      <p:cxnSp>
        <p:nvCxnSpPr>
          <p:cNvPr id="341" name="Connector 340"/>
          <p:cNvCxnSpPr/>
          <p:nvPr/>
        </p:nvCxnSpPr>
        <p:spPr>
          <a:xfrm>
            <a:off x="11585448" y="1124712"/>
            <a:ext cx="66751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2" name="TextBox 341"/>
          <p:cNvSpPr txBox="1"/>
          <p:nvPr/>
        </p:nvSpPr>
        <p:spPr>
          <a:xfrm>
            <a:off x="12435840" y="1069848"/>
            <a:ext cx="78882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UTILITY LINE</a:t>
            </a:r>
          </a:p>
        </p:txBody>
      </p:sp>
      <p:cxnSp>
        <p:nvCxnSpPr>
          <p:cNvPr id="343" name="Connector 342"/>
          <p:cNvCxnSpPr/>
          <p:nvPr/>
        </p:nvCxnSpPr>
        <p:spPr>
          <a:xfrm>
            <a:off x="11585448" y="1362456"/>
            <a:ext cx="667512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4" name="TextBox 343"/>
          <p:cNvSpPr txBox="1"/>
          <p:nvPr/>
        </p:nvSpPr>
        <p:spPr>
          <a:xfrm>
            <a:off x="12435840" y="1307592"/>
            <a:ext cx="107939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INSTRUMENT SIGNAL</a:t>
            </a:r>
          </a:p>
        </p:txBody>
      </p:sp>
      <p:cxnSp>
        <p:nvCxnSpPr>
          <p:cNvPr id="345" name="Connector 344"/>
          <p:cNvCxnSpPr/>
          <p:nvPr/>
        </p:nvCxnSpPr>
        <p:spPr>
          <a:xfrm>
            <a:off x="11585448" y="1636776"/>
            <a:ext cx="66751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6" name="Freeform 345"/>
          <p:cNvSpPr/>
          <p:nvPr/>
        </p:nvSpPr>
        <p:spPr>
          <a:xfrm>
            <a:off x="11814048" y="1568196"/>
            <a:ext cx="201168" cy="137160"/>
          </a:xfrm>
          <a:custGeom>
            <a:avLst/>
            <a:gdLst/>
            <a:ahLst/>
            <a:cxnLst/>
            <a:rect l="l" t="t" r="r" b="b"/>
            <a:pathLst>
              <a:path w="201168" h="137160">
                <a:moveTo>
                  <a:pt x="0" y="0"/>
                </a:moveTo>
                <a:lnTo>
                  <a:pt x="201168" y="137160"/>
                </a:lnTo>
                <a:lnTo>
                  <a:pt x="201168" y="0"/>
                </a:lnTo>
                <a:lnTo>
                  <a:pt x="0" y="13716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TextBox 346"/>
          <p:cNvSpPr txBox="1"/>
          <p:nvPr/>
        </p:nvSpPr>
        <p:spPr>
          <a:xfrm>
            <a:off x="12435840" y="1581912"/>
            <a:ext cx="119562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MANUAL VALVE (GATE)</a:t>
            </a:r>
          </a:p>
        </p:txBody>
      </p:sp>
      <p:cxnSp>
        <p:nvCxnSpPr>
          <p:cNvPr id="348" name="Connector 347"/>
          <p:cNvCxnSpPr/>
          <p:nvPr/>
        </p:nvCxnSpPr>
        <p:spPr>
          <a:xfrm>
            <a:off x="11585448" y="2057400"/>
            <a:ext cx="66751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9" name="Freeform 348"/>
          <p:cNvSpPr/>
          <p:nvPr/>
        </p:nvSpPr>
        <p:spPr>
          <a:xfrm>
            <a:off x="11795760" y="197967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0" name="Connector 349"/>
          <p:cNvCxnSpPr/>
          <p:nvPr/>
        </p:nvCxnSpPr>
        <p:spPr>
          <a:xfrm flipV="1">
            <a:off x="11914632" y="1828800"/>
            <a:ext cx="0" cy="15087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1" name="Freeform 350"/>
          <p:cNvSpPr/>
          <p:nvPr/>
        </p:nvSpPr>
        <p:spPr>
          <a:xfrm>
            <a:off x="11795760" y="1728216"/>
            <a:ext cx="237744" cy="100584"/>
          </a:xfrm>
          <a:custGeom>
            <a:avLst/>
            <a:gdLst/>
            <a:ahLst/>
            <a:cxnLst/>
            <a:rect l="l" t="t" r="r" b="b"/>
            <a:pathLst>
              <a:path w="237744" h="100584">
                <a:moveTo>
                  <a:pt x="0" y="100584"/>
                </a:moveTo>
                <a:lnTo>
                  <a:pt x="0" y="100584"/>
                </a:lnTo>
                <a:lnTo>
                  <a:pt x="9048" y="62092"/>
                </a:lnTo>
                <a:lnTo>
                  <a:pt x="34816" y="29460"/>
                </a:lnTo>
                <a:lnTo>
                  <a:pt x="73381" y="7656"/>
                </a:lnTo>
                <a:lnTo>
                  <a:pt x="118872" y="0"/>
                </a:lnTo>
                <a:lnTo>
                  <a:pt x="164362" y="7656"/>
                </a:lnTo>
                <a:lnTo>
                  <a:pt x="202927" y="29460"/>
                </a:lnTo>
                <a:lnTo>
                  <a:pt x="228695" y="62092"/>
                </a:lnTo>
                <a:lnTo>
                  <a:pt x="237744" y="100584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11838178" y="2167128"/>
            <a:ext cx="152908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 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12435840" y="2002536"/>
            <a:ext cx="2590393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CONTROL VALVE, FO / FC = FAIL OPEN / CLOSED</a:t>
            </a:r>
          </a:p>
        </p:txBody>
      </p:sp>
      <p:cxnSp>
        <p:nvCxnSpPr>
          <p:cNvPr id="354" name="Connector 353"/>
          <p:cNvCxnSpPr/>
          <p:nvPr/>
        </p:nvCxnSpPr>
        <p:spPr>
          <a:xfrm>
            <a:off x="11585448" y="2459736"/>
            <a:ext cx="66751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5" name="Freeform 354"/>
          <p:cNvSpPr/>
          <p:nvPr/>
        </p:nvSpPr>
        <p:spPr>
          <a:xfrm>
            <a:off x="11795760" y="2382012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6" name="Connector 355"/>
          <p:cNvCxnSpPr/>
          <p:nvPr/>
        </p:nvCxnSpPr>
        <p:spPr>
          <a:xfrm flipV="1">
            <a:off x="11914632" y="2258568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7" name="Rectangle 356"/>
          <p:cNvSpPr/>
          <p:nvPr/>
        </p:nvSpPr>
        <p:spPr>
          <a:xfrm>
            <a:off x="11846052" y="2148840"/>
            <a:ext cx="137160" cy="109728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TextBox 357"/>
          <p:cNvSpPr txBox="1"/>
          <p:nvPr/>
        </p:nvSpPr>
        <p:spPr>
          <a:xfrm>
            <a:off x="11846052" y="2148840"/>
            <a:ext cx="137160" cy="10972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S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12435840" y="2404872"/>
            <a:ext cx="1718665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SIS SHUT-OFF VALVE, SOLENOID</a:t>
            </a:r>
          </a:p>
        </p:txBody>
      </p:sp>
      <p:cxnSp>
        <p:nvCxnSpPr>
          <p:cNvPr id="360" name="Connector 359"/>
          <p:cNvCxnSpPr/>
          <p:nvPr/>
        </p:nvCxnSpPr>
        <p:spPr>
          <a:xfrm>
            <a:off x="11585448" y="2770632"/>
            <a:ext cx="66751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1" name="Freeform 360"/>
          <p:cNvSpPr/>
          <p:nvPr/>
        </p:nvSpPr>
        <p:spPr>
          <a:xfrm>
            <a:off x="11795760" y="2687421"/>
            <a:ext cx="184251" cy="166421"/>
          </a:xfrm>
          <a:custGeom>
            <a:avLst/>
            <a:gdLst/>
            <a:ahLst/>
            <a:cxnLst/>
            <a:rect l="l" t="t" r="r" b="b"/>
            <a:pathLst>
              <a:path w="184251" h="166421">
                <a:moveTo>
                  <a:pt x="0" y="0"/>
                </a:moveTo>
                <a:lnTo>
                  <a:pt x="184251" y="83211"/>
                </a:lnTo>
                <a:lnTo>
                  <a:pt x="0" y="166421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2" name="Connector 361"/>
          <p:cNvCxnSpPr/>
          <p:nvPr/>
        </p:nvCxnSpPr>
        <p:spPr>
          <a:xfrm>
            <a:off x="11980011" y="2687421"/>
            <a:ext cx="0" cy="166421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3" name="TextBox 362"/>
          <p:cNvSpPr txBox="1"/>
          <p:nvPr/>
        </p:nvSpPr>
        <p:spPr>
          <a:xfrm>
            <a:off x="12435840" y="2715768"/>
            <a:ext cx="73070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CHECK VALVE</a:t>
            </a:r>
          </a:p>
        </p:txBody>
      </p:sp>
      <p:cxnSp>
        <p:nvCxnSpPr>
          <p:cNvPr id="364" name="Connector 363"/>
          <p:cNvCxnSpPr/>
          <p:nvPr/>
        </p:nvCxnSpPr>
        <p:spPr>
          <a:xfrm>
            <a:off x="11585448" y="3044951"/>
            <a:ext cx="667512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>
            <a:off x="11882628" y="2926079"/>
            <a:ext cx="0" cy="237744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>
            <a:off x="11946636" y="2926079"/>
            <a:ext cx="0" cy="237744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7" name="TextBox 366"/>
          <p:cNvSpPr txBox="1"/>
          <p:nvPr/>
        </p:nvSpPr>
        <p:spPr>
          <a:xfrm>
            <a:off x="12435840" y="2990087"/>
            <a:ext cx="136997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FLOW ELEMENT (ORIFICE)</a:t>
            </a:r>
          </a:p>
        </p:txBody>
      </p:sp>
      <p:sp>
        <p:nvSpPr>
          <p:cNvPr id="368" name="Freeform 367"/>
          <p:cNvSpPr/>
          <p:nvPr/>
        </p:nvSpPr>
        <p:spPr>
          <a:xfrm>
            <a:off x="11855196" y="3273551"/>
            <a:ext cx="118872" cy="164592"/>
          </a:xfrm>
          <a:custGeom>
            <a:avLst/>
            <a:gdLst/>
            <a:ahLst/>
            <a:cxnLst/>
            <a:rect l="l" t="t" r="r" b="b"/>
            <a:pathLst>
              <a:path w="118872" h="164592">
                <a:moveTo>
                  <a:pt x="0" y="0"/>
                </a:moveTo>
                <a:lnTo>
                  <a:pt x="118872" y="164592"/>
                </a:lnTo>
                <a:lnTo>
                  <a:pt x="0" y="164592"/>
                </a:lnTo>
                <a:lnTo>
                  <a:pt x="118872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9" name="Connector 368"/>
          <p:cNvCxnSpPr/>
          <p:nvPr/>
        </p:nvCxnSpPr>
        <p:spPr>
          <a:xfrm flipV="1">
            <a:off x="11914632" y="3172967"/>
            <a:ext cx="0" cy="100584"/>
          </a:xfrm>
          <a:prstGeom prst="line">
            <a:avLst/>
          </a:prstGeom>
          <a:ln w="889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0" name="TextBox 369"/>
          <p:cNvSpPr txBox="1"/>
          <p:nvPr/>
        </p:nvSpPr>
        <p:spPr>
          <a:xfrm>
            <a:off x="12435840" y="3300983"/>
            <a:ext cx="1137513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RELIEF VALVE (PSV)</a:t>
            </a:r>
          </a:p>
        </p:txBody>
      </p:sp>
      <p:sp>
        <p:nvSpPr>
          <p:cNvPr id="371" name="Oval 370"/>
          <p:cNvSpPr/>
          <p:nvPr/>
        </p:nvSpPr>
        <p:spPr>
          <a:xfrm>
            <a:off x="11750040" y="3557015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001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12435840" y="3666744"/>
            <a:ext cx="148620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FIELD-MOUNTED INSTRUMENT</a:t>
            </a:r>
          </a:p>
        </p:txBody>
      </p:sp>
      <p:sp>
        <p:nvSpPr>
          <p:cNvPr id="373" name="Oval 372"/>
          <p:cNvSpPr/>
          <p:nvPr/>
        </p:nvSpPr>
        <p:spPr>
          <a:xfrm>
            <a:off x="11750040" y="3977639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003</a:t>
            </a:r>
          </a:p>
        </p:txBody>
      </p:sp>
      <p:cxnSp>
        <p:nvCxnSpPr>
          <p:cNvPr id="374" name="Connector 373"/>
          <p:cNvCxnSpPr/>
          <p:nvPr/>
        </p:nvCxnSpPr>
        <p:spPr>
          <a:xfrm>
            <a:off x="11750040" y="4142231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5" name="TextBox 374"/>
          <p:cNvSpPr txBox="1"/>
          <p:nvPr/>
        </p:nvSpPr>
        <p:spPr>
          <a:xfrm>
            <a:off x="12435840" y="4087368"/>
            <a:ext cx="1893011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DCS FUNCTION (OPERATOR CONSOLE)</a:t>
            </a:r>
          </a:p>
        </p:txBody>
      </p:sp>
      <p:sp>
        <p:nvSpPr>
          <p:cNvPr id="376" name="Rectangle 375"/>
          <p:cNvSpPr/>
          <p:nvPr/>
        </p:nvSpPr>
        <p:spPr>
          <a:xfrm>
            <a:off x="11713464" y="4416551"/>
            <a:ext cx="402336" cy="402336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11750040" y="4453127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TSHH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025</a:t>
            </a:r>
          </a:p>
        </p:txBody>
      </p:sp>
      <p:cxnSp>
        <p:nvCxnSpPr>
          <p:cNvPr id="378" name="Connector 377"/>
          <p:cNvCxnSpPr/>
          <p:nvPr/>
        </p:nvCxnSpPr>
        <p:spPr>
          <a:xfrm>
            <a:off x="11750040" y="4617719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9" name="TextBox 378"/>
          <p:cNvSpPr txBox="1"/>
          <p:nvPr/>
        </p:nvSpPr>
        <p:spPr>
          <a:xfrm>
            <a:off x="12435840" y="4562855"/>
            <a:ext cx="136997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SIS-100 / BMS FUNCTION</a:t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11585448" y="4983479"/>
            <a:ext cx="3003539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SERVICE CODES:  P PROCESS HYDROCARBON  ·  FO FUEL OIL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11585448" y="5102351"/>
            <a:ext cx="2563977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HF HEATING FLUID  ·  LS LP STEAM  ·  DR DRAIN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11585448" y="5221223"/>
            <a:ext cx="1959579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LINE NO. = SIZE - SERVICE - NUMBER</a:t>
            </a:r>
          </a:p>
        </p:txBody>
      </p:sp>
      <p:cxnSp>
        <p:nvCxnSpPr>
          <p:cNvPr id="383" name="Connector 382"/>
          <p:cNvCxnSpPr/>
          <p:nvPr/>
        </p:nvCxnSpPr>
        <p:spPr>
          <a:xfrm>
            <a:off x="11475720" y="5440679"/>
            <a:ext cx="32461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4" name="TextBox 383"/>
          <p:cNvSpPr txBox="1"/>
          <p:nvPr/>
        </p:nvSpPr>
        <p:spPr>
          <a:xfrm>
            <a:off x="11567160" y="5513831"/>
            <a:ext cx="2706624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650" b="1">
                <a:solidFill>
                  <a:srgbClr val="000000"/>
                </a:solidFill>
                <a:latin typeface="Arial"/>
              </a:rPr>
              <a:t>INTERLOCK SCHEDULE  ·  SIS-100 / BMS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11612880" y="5733288"/>
            <a:ext cx="5394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TRIP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12179807" y="5733288"/>
            <a:ext cx="1234439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CAUSE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13441679" y="5733288"/>
            <a:ext cx="722375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SETTING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14191487" y="5733288"/>
            <a:ext cx="33832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DELAY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11612880" y="5907024"/>
            <a:ext cx="5394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FSLL-008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12179807" y="5907024"/>
            <a:ext cx="1234439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LOW FEED FLOW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13441679" y="5907024"/>
            <a:ext cx="722375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&lt; 3.4 L/s</a:t>
            </a:r>
          </a:p>
        </p:txBody>
      </p:sp>
      <p:sp>
        <p:nvSpPr>
          <p:cNvPr id="392" name="TextBox 391"/>
          <p:cNvSpPr txBox="1"/>
          <p:nvPr/>
        </p:nvSpPr>
        <p:spPr>
          <a:xfrm>
            <a:off x="14191487" y="5907024"/>
            <a:ext cx="33832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5 s</a:t>
            </a:r>
          </a:p>
        </p:txBody>
      </p:sp>
      <p:sp>
        <p:nvSpPr>
          <p:cNvPr id="393" name="TextBox 392"/>
          <p:cNvSpPr txBox="1"/>
          <p:nvPr/>
        </p:nvSpPr>
        <p:spPr>
          <a:xfrm>
            <a:off x="11612880" y="6080759"/>
            <a:ext cx="5394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TSHH-025</a:t>
            </a:r>
          </a:p>
        </p:txBody>
      </p:sp>
      <p:sp>
        <p:nvSpPr>
          <p:cNvPr id="394" name="TextBox 393"/>
          <p:cNvSpPr txBox="1"/>
          <p:nvPr/>
        </p:nvSpPr>
        <p:spPr>
          <a:xfrm>
            <a:off x="12179807" y="6080759"/>
            <a:ext cx="1234439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HIGH OUTLET TEMP.</a:t>
            </a:r>
          </a:p>
        </p:txBody>
      </p:sp>
      <p:sp>
        <p:nvSpPr>
          <p:cNvPr id="395" name="TextBox 394"/>
          <p:cNvSpPr txBox="1"/>
          <p:nvPr/>
        </p:nvSpPr>
        <p:spPr>
          <a:xfrm>
            <a:off x="13441679" y="6080759"/>
            <a:ext cx="722375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&gt; 375 °C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14191487" y="6080759"/>
            <a:ext cx="33832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5 s</a:t>
            </a:r>
          </a:p>
        </p:txBody>
      </p:sp>
      <p:sp>
        <p:nvSpPr>
          <p:cNvPr id="397" name="TextBox 396"/>
          <p:cNvSpPr txBox="1"/>
          <p:nvPr/>
        </p:nvSpPr>
        <p:spPr>
          <a:xfrm>
            <a:off x="11612880" y="6254496"/>
            <a:ext cx="5394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PSLL-020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12179807" y="6254496"/>
            <a:ext cx="1234439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LOW FUEL P AT GUN*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13441679" y="6254496"/>
            <a:ext cx="722375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&lt; 40 kPa</a:t>
            </a:r>
          </a:p>
        </p:txBody>
      </p:sp>
      <p:sp>
        <p:nvSpPr>
          <p:cNvPr id="400" name="TextBox 399"/>
          <p:cNvSpPr txBox="1"/>
          <p:nvPr/>
        </p:nvSpPr>
        <p:spPr>
          <a:xfrm>
            <a:off x="14191487" y="6254496"/>
            <a:ext cx="33832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3 s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11612880" y="6428231"/>
            <a:ext cx="5394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PSLL-030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12179807" y="6428231"/>
            <a:ext cx="1234439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LOSS OF WINDBOX DRAFT*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13441679" y="6428231"/>
            <a:ext cx="722375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&lt; 0.5 mmH₂O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14191487" y="6428231"/>
            <a:ext cx="33832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3 s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11612880" y="6601968"/>
            <a:ext cx="5394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BSLL-005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12179807" y="6601968"/>
            <a:ext cx="1234439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FLAME FAILURE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13441679" y="6601968"/>
            <a:ext cx="722375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NO FLAME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14191487" y="6601968"/>
            <a:ext cx="33832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2 s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11612880" y="6775704"/>
            <a:ext cx="539496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1">
                <a:solidFill>
                  <a:srgbClr val="000000"/>
                </a:solidFill>
                <a:latin typeface="Arial"/>
              </a:rPr>
              <a:t>HS-001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12179807" y="6775704"/>
            <a:ext cx="1234439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ESD PUSHBUTTON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13441679" y="6775704"/>
            <a:ext cx="722375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MANUAL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14191487" y="6775704"/>
            <a:ext cx="338328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0 s</a:t>
            </a:r>
          </a:p>
        </p:txBody>
      </p:sp>
      <p:cxnSp>
        <p:nvCxnSpPr>
          <p:cNvPr id="413" name="Connector 412"/>
          <p:cNvCxnSpPr/>
          <p:nvPr/>
        </p:nvCxnSpPr>
        <p:spPr>
          <a:xfrm>
            <a:off x="11585448" y="5733288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4" name="Connector 413"/>
          <p:cNvCxnSpPr/>
          <p:nvPr/>
        </p:nvCxnSpPr>
        <p:spPr>
          <a:xfrm>
            <a:off x="11585448" y="5907024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5" name="Connector 414"/>
          <p:cNvCxnSpPr/>
          <p:nvPr/>
        </p:nvCxnSpPr>
        <p:spPr>
          <a:xfrm>
            <a:off x="11585448" y="6080759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6" name="Connector 415"/>
          <p:cNvCxnSpPr/>
          <p:nvPr/>
        </p:nvCxnSpPr>
        <p:spPr>
          <a:xfrm>
            <a:off x="11585448" y="6254496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>
            <a:off x="11585448" y="6428231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>
            <a:off x="11585448" y="6601968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>
            <a:off x="11585448" y="6775704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>
            <a:off x="11585448" y="6949440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1" name="Connector 420"/>
          <p:cNvCxnSpPr/>
          <p:nvPr/>
        </p:nvCxnSpPr>
        <p:spPr>
          <a:xfrm>
            <a:off x="11585448" y="5733288"/>
            <a:ext cx="0" cy="121615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2" name="Connector 421"/>
          <p:cNvCxnSpPr/>
          <p:nvPr/>
        </p:nvCxnSpPr>
        <p:spPr>
          <a:xfrm>
            <a:off x="12152376" y="5733288"/>
            <a:ext cx="0" cy="121615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>
            <a:off x="13414247" y="5733288"/>
            <a:ext cx="0" cy="121615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>
            <a:off x="14164055" y="5733288"/>
            <a:ext cx="0" cy="121615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>
            <a:off x="14529815" y="5733288"/>
            <a:ext cx="0" cy="1216152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6" name="TextBox 425"/>
          <p:cNvSpPr txBox="1"/>
          <p:nvPr/>
        </p:nvSpPr>
        <p:spPr>
          <a:xfrm>
            <a:off x="11585448" y="7040879"/>
            <a:ext cx="1190345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* ARMED WHEN FIRING.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11585448" y="7159751"/>
            <a:ext cx="2893649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ANY TRIP: CLOSE XV-301 &amp; XV-302, OPEN XV-303 BLEED,</a:t>
            </a:r>
          </a:p>
        </p:txBody>
      </p:sp>
      <p:sp>
        <p:nvSpPr>
          <p:cNvPr id="428" name="TextBox 427"/>
          <p:cNvSpPr txBox="1"/>
          <p:nvPr/>
        </p:nvSpPr>
        <p:spPr>
          <a:xfrm>
            <a:off x="11585448" y="7278623"/>
            <a:ext cx="2728813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CLOSE FV-300, OPEN FV-200 &amp; HV-400 (POST-PURGE).</a:t>
            </a:r>
          </a:p>
        </p:txBody>
      </p:sp>
      <p:sp>
        <p:nvSpPr>
          <p:cNvPr id="429" name="TextBox 428"/>
          <p:cNvSpPr txBox="1"/>
          <p:nvPr/>
        </p:nvSpPr>
        <p:spPr>
          <a:xfrm>
            <a:off x="11585448" y="7397496"/>
            <a:ext cx="2728813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RESET ONLY FROM BMS AFTER 300 s PURGE; LIGHT-OFF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11585448" y="7516368"/>
            <a:ext cx="2618922" cy="1097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>AT LOW FIRE (TIC-030 MAN 10-20 %), 10 s TRIAL.</a:t>
            </a:r>
          </a:p>
        </p:txBody>
      </p:sp>
      <p:sp>
        <p:nvSpPr>
          <p:cNvPr id="431" name="TextBox 430"/>
          <p:cNvSpPr txBox="1"/>
          <p:nvPr/>
        </p:nvSpPr>
        <p:spPr>
          <a:xfrm>
            <a:off x="457200" y="8732520"/>
            <a:ext cx="548640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GENERAL NOTES: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1. DESIGN BASIS: NATURAL DRAFT FIRED HEATER VER 1 OTS MODEL, DESIGN CASE. PRESSURES kPa g, DRAFT mmH₂O.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    FEED 6.8 L/s = 19 584 kg/h (0.80 kg/L): 40 → 180 (E-100) → 233 (CROSSOVER) → 350 °C; PUMP DISCH. ≈ 1030, OUTLET ≈ 545.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    FUEL 243 kg/h, LHV 42 MJ/kg: FIRED 2.84 MW, ABSORBED 2.31 MW (81.5 %). AIR 3 892 kg/h (11 % EXCESS).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    FLUE GAS 4 380 kg/h AT 400 °C (INCL. ≈ 245 kg/h TRAMP AIR). DRAFT: ARCH -2.5, FLOOR -6.0, WINDBOX 5.25.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2. LINE SIZES PRELIMINARY FROM VELOCITY (LIQUID 1.5-2.5 m/s, AIR DUCT 10 m/s) - TBC BY HYDRAULIC CALCULATION.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3. PRESSURE INSTRUMENTS C/W ROOT AND TEST VALVES (TYP., NOT SHOWN). PUMP CASING VENTS/DRAINS TYP., NOT SHOWN.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4. XV-301 / XV-302 / XV-303 FORM A DOUBLE BLOCK AND BLEED, OPERATED BY SIS-100 (BMS); SIGNALS NOT SHOWN.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5. FV-010 FAILS OPEN SO THE COIL KEEPS FLOW ON AIR OR SIGNAL FAILURE; FV-300 FAILS CLOSED; FV-200 &amp; HV-400 FAIL OPEN.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6. RADIANT AND CONVECTION COILS SHOWN SCHEMATICALLY; TUBE COUNT AND PASSES PER DESIGN TAB (SINGLE PASS).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7. FT-008 SERVES FIC-003, FIAL-008 AND FSLL-008 (HAZOP GAP: ADD FT-008B FOR THE TRIP - HOLD).</a:t>
            </a:r>
          </a:p>
        </p:txBody>
      </p:sp>
      <p:sp>
        <p:nvSpPr>
          <p:cNvPr id="432" name="TextBox 431"/>
          <p:cNvSpPr txBox="1"/>
          <p:nvPr/>
        </p:nvSpPr>
        <p:spPr>
          <a:xfrm>
            <a:off x="6035040" y="8732520"/>
            <a:ext cx="55778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NOTES (CONT.):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8. TIC-030 MOVES FUEL ONLY. REV A: FIC-005 ON OWN SET POINT. REV B OPTION: FY-005 AIR/FUEL RATIO ON FI-001 + AIC-027 O₂ TRIM.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9. PSV-101 PROTECTS E-100 FEED SIDE; SET 1700 kPa g, F ORIFICE, GOVERNED BY FIRE (RELIEF LOAD BASIS NDFH-V1-PE-RLB-001).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10. PI-019 = FUEL HEADER (≈ 1940 kPa g). PT-020 = GUN PRESSURE (≈ 600 kPa g), DOWNSTREAM OF FV-300.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11. BS-005 UV FLAME SCANNER ON THE BURNER; LIGHT-OFF AND PURGE PER BMS SEQUENCE (LEGEND PANEL).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12. HV-221 SNUFFING STEAM, NORMALLY CLOSED; OPEN ONLY FOR A FIREBOX FIRE. EXPLOSION DOOR ON RADIANT WALL.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13. V-108 HIGH-POINT VENT AT COIL INLET (NC); V-109 E-100 CHANNEL DRAIN (LC); V-110 PSV-101 INLET (CSO). REV E: HAND VALVES TAGGED FOR THE 3-D PLANT.</a:t>
            </a:r>
          </a:p>
          <a:p>
            <a:pPr algn="l"/>
            <a:r>
              <a:rPr sz="550" b="0">
                <a:solidFill>
                  <a:srgbClr val="000000"/>
                </a:solidFill>
                <a:latin typeface="Arial"/>
              </a:rPr>
              <a:t>14. ALARM SET POINTS: SEE WORKBOOK (ALARM TABLE); TRIP SET POINTS: INTERLOCK SCHEDULE.</a:t>
            </a:r>
          </a:p>
        </p:txBody>
      </p:sp>
      <p:cxnSp>
        <p:nvCxnSpPr>
          <p:cNvPr id="433" name="Connector 432"/>
          <p:cNvCxnSpPr/>
          <p:nvPr/>
        </p:nvCxnSpPr>
        <p:spPr>
          <a:xfrm>
            <a:off x="11750040" y="8641080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11750040" y="8745321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>
            <a:off x="11750040" y="8849563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11750040" y="8953804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11750040" y="9058046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>
            <a:off x="11750040" y="91622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1175004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0" name="Connector 439"/>
          <p:cNvCxnSpPr/>
          <p:nvPr/>
        </p:nvCxnSpPr>
        <p:spPr>
          <a:xfrm>
            <a:off x="1207008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1" name="Connector 440"/>
          <p:cNvCxnSpPr/>
          <p:nvPr/>
        </p:nvCxnSpPr>
        <p:spPr>
          <a:xfrm>
            <a:off x="14026896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2" name="Connector 441"/>
          <p:cNvCxnSpPr/>
          <p:nvPr/>
        </p:nvCxnSpPr>
        <p:spPr>
          <a:xfrm>
            <a:off x="14804135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3" name="TextBox 442"/>
          <p:cNvSpPr txBox="1"/>
          <p:nvPr/>
        </p:nvSpPr>
        <p:spPr>
          <a:xfrm>
            <a:off x="11750040" y="8641080"/>
            <a:ext cx="320040" cy="10424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REV</a:t>
            </a:r>
          </a:p>
        </p:txBody>
      </p:sp>
      <p:sp>
        <p:nvSpPr>
          <p:cNvPr id="444" name="TextBox 443"/>
          <p:cNvSpPr txBox="1"/>
          <p:nvPr/>
        </p:nvSpPr>
        <p:spPr>
          <a:xfrm>
            <a:off x="12070080" y="8641080"/>
            <a:ext cx="1956816" cy="10424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DESCRIPTION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14026896" y="8641080"/>
            <a:ext cx="777240" cy="10424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1">
                <a:solidFill>
                  <a:srgbClr val="000000"/>
                </a:solidFill>
                <a:latin typeface="Arial"/>
              </a:rPr>
              <a:t>DATE</a:t>
            </a:r>
          </a:p>
        </p:txBody>
      </p:sp>
      <p:sp>
        <p:nvSpPr>
          <p:cNvPr id="446" name="TextBox 445"/>
          <p:cNvSpPr txBox="1"/>
          <p:nvPr/>
        </p:nvSpPr>
        <p:spPr>
          <a:xfrm>
            <a:off x="11750040" y="8745321"/>
            <a:ext cx="320040" cy="10424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447" name="TextBox 446"/>
          <p:cNvSpPr txBox="1"/>
          <p:nvPr/>
        </p:nvSpPr>
        <p:spPr>
          <a:xfrm>
            <a:off x="12070080" y="8745321"/>
            <a:ext cx="1956816" cy="10424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RATIO FY-005 + O₂ TRIM AIC-027 (OPTION)</a:t>
            </a:r>
          </a:p>
        </p:txBody>
      </p:sp>
      <p:sp>
        <p:nvSpPr>
          <p:cNvPr id="448" name="TextBox 447"/>
          <p:cNvSpPr txBox="1"/>
          <p:nvPr/>
        </p:nvSpPr>
        <p:spPr>
          <a:xfrm>
            <a:off x="14026896" y="8745321"/>
            <a:ext cx="777240" cy="10424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--</a:t>
            </a:r>
          </a:p>
        </p:txBody>
      </p:sp>
      <p:sp>
        <p:nvSpPr>
          <p:cNvPr id="449" name="TextBox 448"/>
          <p:cNvSpPr txBox="1"/>
          <p:nvPr/>
        </p:nvSpPr>
        <p:spPr>
          <a:xfrm>
            <a:off x="11750040" y="8849563"/>
            <a:ext cx="320040" cy="10424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450" name="TextBox 449"/>
          <p:cNvSpPr txBox="1"/>
          <p:nvPr/>
        </p:nvSpPr>
        <p:spPr>
          <a:xfrm>
            <a:off x="12070080" y="8849563"/>
            <a:ext cx="1956816" cy="10424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OTS SCREEN DRAWING (CURRENT, USED IN DECKS)</a:t>
            </a:r>
          </a:p>
        </p:txBody>
      </p:sp>
      <p:sp>
        <p:nvSpPr>
          <p:cNvPr id="451" name="TextBox 450"/>
          <p:cNvSpPr txBox="1"/>
          <p:nvPr/>
        </p:nvSpPr>
        <p:spPr>
          <a:xfrm>
            <a:off x="14026896" y="8849563"/>
            <a:ext cx="777240" cy="10424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--</a:t>
            </a:r>
          </a:p>
        </p:txBody>
      </p:sp>
      <p:sp>
        <p:nvSpPr>
          <p:cNvPr id="452" name="TextBox 451"/>
          <p:cNvSpPr txBox="1"/>
          <p:nvPr/>
        </p:nvSpPr>
        <p:spPr>
          <a:xfrm>
            <a:off x="11750040" y="8953804"/>
            <a:ext cx="320040" cy="10424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12070080" y="8953804"/>
            <a:ext cx="1956816" cy="10424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ALTERNATIVE VERSION, EPC STANDARD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14026896" y="8953804"/>
            <a:ext cx="777240" cy="10424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29-SEP-26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11750040" y="9058046"/>
            <a:ext cx="320040" cy="10424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E</a:t>
            </a:r>
          </a:p>
        </p:txBody>
      </p:sp>
      <p:sp>
        <p:nvSpPr>
          <p:cNvPr id="456" name="TextBox 455"/>
          <p:cNvSpPr txBox="1"/>
          <p:nvPr/>
        </p:nvSpPr>
        <p:spPr>
          <a:xfrm>
            <a:off x="12070080" y="9058046"/>
            <a:ext cx="1956816" cy="10424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HAND VALVES V-108 TO V-110, V-401, V-402 TAGGED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14026896" y="9058046"/>
            <a:ext cx="777240" cy="10424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25-OCT-26</a:t>
            </a:r>
          </a:p>
        </p:txBody>
      </p:sp>
      <p:sp>
        <p:nvSpPr>
          <p:cNvPr id="458" name="Rectangle 457"/>
          <p:cNvSpPr/>
          <p:nvPr/>
        </p:nvSpPr>
        <p:spPr>
          <a:xfrm>
            <a:off x="11750040" y="9162288"/>
            <a:ext cx="3054096" cy="1207008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9" name="Connector 458"/>
          <p:cNvCxnSpPr/>
          <p:nvPr/>
        </p:nvCxnSpPr>
        <p:spPr>
          <a:xfrm>
            <a:off x="11750040" y="9473184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0" name="Connector 459"/>
          <p:cNvCxnSpPr/>
          <p:nvPr/>
        </p:nvCxnSpPr>
        <p:spPr>
          <a:xfrm>
            <a:off x="11750040" y="9802367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1" name="Connector 460"/>
          <p:cNvCxnSpPr/>
          <p:nvPr/>
        </p:nvCxnSpPr>
        <p:spPr>
          <a:xfrm>
            <a:off x="11750040" y="100766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2" name="TextBox 461"/>
          <p:cNvSpPr txBox="1"/>
          <p:nvPr/>
        </p:nvSpPr>
        <p:spPr>
          <a:xfrm>
            <a:off x="11750040" y="9180576"/>
            <a:ext cx="305409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NATURAL DRAFT FIRED HEATER VER 1 · OTS</a:t>
            </a:r>
          </a:p>
        </p:txBody>
      </p:sp>
      <p:sp>
        <p:nvSpPr>
          <p:cNvPr id="463" name="TextBox 462"/>
          <p:cNvSpPr txBox="1"/>
          <p:nvPr/>
        </p:nvSpPr>
        <p:spPr>
          <a:xfrm>
            <a:off x="11750040" y="9491472"/>
            <a:ext cx="3054096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P&amp;ID — H-100 · ALTERNATIVE VERSION</a:t>
            </a:r>
          </a:p>
        </p:txBody>
      </p:sp>
      <p:cxnSp>
        <p:nvCxnSpPr>
          <p:cNvPr id="464" name="Connector 463"/>
          <p:cNvCxnSpPr/>
          <p:nvPr/>
        </p:nvCxnSpPr>
        <p:spPr>
          <a:xfrm>
            <a:off x="12513563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>
            <a:off x="13277088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6" name="Connector 465"/>
          <p:cNvCxnSpPr/>
          <p:nvPr/>
        </p:nvCxnSpPr>
        <p:spPr>
          <a:xfrm>
            <a:off x="14040612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7" name="TextBox 466"/>
          <p:cNvSpPr txBox="1"/>
          <p:nvPr/>
        </p:nvSpPr>
        <p:spPr>
          <a:xfrm>
            <a:off x="11750040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DRAWN: APINAN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SOOTTITANTAWAT</a:t>
            </a:r>
          </a:p>
        </p:txBody>
      </p:sp>
      <p:sp>
        <p:nvSpPr>
          <p:cNvPr id="468" name="TextBox 467"/>
          <p:cNvSpPr txBox="1"/>
          <p:nvPr/>
        </p:nvSpPr>
        <p:spPr>
          <a:xfrm>
            <a:off x="12513563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CHK'D: --</a:t>
            </a:r>
          </a:p>
        </p:txBody>
      </p:sp>
      <p:sp>
        <p:nvSpPr>
          <p:cNvPr id="469" name="TextBox 468"/>
          <p:cNvSpPr txBox="1"/>
          <p:nvPr/>
        </p:nvSpPr>
        <p:spPr>
          <a:xfrm>
            <a:off x="13277088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APP'D: --</a:t>
            </a:r>
          </a:p>
        </p:txBody>
      </p:sp>
      <p:sp>
        <p:nvSpPr>
          <p:cNvPr id="470" name="TextBox 469"/>
          <p:cNvSpPr txBox="1"/>
          <p:nvPr/>
        </p:nvSpPr>
        <p:spPr>
          <a:xfrm>
            <a:off x="14040612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DATE: 25-OCT-26</a:t>
            </a:r>
          </a:p>
        </p:txBody>
      </p:sp>
      <p:sp>
        <p:nvSpPr>
          <p:cNvPr id="471" name="TextBox 470"/>
          <p:cNvSpPr txBox="1"/>
          <p:nvPr/>
        </p:nvSpPr>
        <p:spPr>
          <a:xfrm>
            <a:off x="11750040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DWG NO.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NDFH-V1-PID-001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12513563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REV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E</a:t>
            </a:r>
          </a:p>
        </p:txBody>
      </p:sp>
      <p:sp>
        <p:nvSpPr>
          <p:cNvPr id="473" name="TextBox 472"/>
          <p:cNvSpPr txBox="1"/>
          <p:nvPr/>
        </p:nvSpPr>
        <p:spPr>
          <a:xfrm>
            <a:off x="13277088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SCALE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N.T.S.</a:t>
            </a:r>
          </a:p>
        </p:txBody>
      </p:sp>
      <p:sp>
        <p:nvSpPr>
          <p:cNvPr id="474" name="TextBox 473"/>
          <p:cNvSpPr txBox="1"/>
          <p:nvPr/>
        </p:nvSpPr>
        <p:spPr>
          <a:xfrm>
            <a:off x="14040612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SHEET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1 OF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