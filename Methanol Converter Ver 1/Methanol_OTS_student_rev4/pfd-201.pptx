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252000"/>
            <a:ext cx="10188000" cy="7056000"/>
          </a:xfrm>
          <a:prstGeom prst="rect">
            <a:avLst/>
          </a:prstGeom>
          <a:noFill/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815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C-201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7587" y="393968"/>
            <a:ext cx="627684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Loop Circulator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5672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E-202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27798" y="393968"/>
            <a:ext cx="696975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Cold Interchanger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70529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E-201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9978" y="393968"/>
            <a:ext cx="66233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Hot Interchanger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0538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E-204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32158" y="393968"/>
            <a:ext cx="627684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Start-up Heater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0243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R-201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9692" y="393968"/>
            <a:ext cx="66233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Quench Converter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5100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E-203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3841" y="393968"/>
            <a:ext cx="523747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Final Cooler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957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V-201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40666" y="393968"/>
            <a:ext cx="41981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Separator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2000" y="509877"/>
            <a:ext cx="10188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8" name="Rectangle 17"/>
          <p:cNvSpPr/>
          <p:nvPr/>
        </p:nvSpPr>
        <p:spPr>
          <a:xfrm>
            <a:off x="7056000" y="6192000"/>
            <a:ext cx="3384000" cy="11160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7056000" y="6357600"/>
            <a:ext cx="338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7056000" y="6753600"/>
            <a:ext cx="338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7056000" y="7005600"/>
            <a:ext cx="338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7128000" y="6222817"/>
            <a:ext cx="1612721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OPERATOR TRAINING SIMULATOR - HAZID STUDY DRAWING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4316" y="6432180"/>
            <a:ext cx="1147368" cy="1676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000000"/>
                </a:solidFill>
                <a:latin typeface="Arial"/>
              </a:rPr>
              <a:t>PROCESS FLOW DIAGRAM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3844" y="6616400"/>
            <a:ext cx="158831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000000"/>
                </a:solidFill>
                <a:latin typeface="Arial"/>
              </a:rPr>
              <a:t>METHANOL CONVERTER VER 1 - R-201 SYNTHESIS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6400" y="6779122"/>
            <a:ext cx="393826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DRAWING No.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6400" y="6878390"/>
            <a:ext cx="339496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PFD-201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77280" y="6753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8527680" y="6779122"/>
            <a:ext cx="216000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REV.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7680" y="6878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086400" y="6753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1" name="TextBox 30"/>
          <p:cNvSpPr txBox="1"/>
          <p:nvPr/>
        </p:nvSpPr>
        <p:spPr>
          <a:xfrm>
            <a:off x="9136800" y="6779122"/>
            <a:ext cx="216000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SIZE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6800" y="6878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A4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627840" y="6753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4" name="TextBox 33"/>
          <p:cNvSpPr txBox="1"/>
          <p:nvPr/>
        </p:nvSpPr>
        <p:spPr>
          <a:xfrm>
            <a:off x="9678240" y="6779122"/>
            <a:ext cx="237921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SHEET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8240" y="6878390"/>
            <a:ext cx="306425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1 OF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06400" y="7031122"/>
            <a:ext cx="237921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DRAWN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06400" y="7130390"/>
            <a:ext cx="802487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Apinan Soottitantawat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477280" y="7005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9" name="TextBox 38"/>
          <p:cNvSpPr txBox="1"/>
          <p:nvPr/>
        </p:nvSpPr>
        <p:spPr>
          <a:xfrm>
            <a:off x="8527680" y="7031122"/>
            <a:ext cx="289889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CHECKED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27680" y="7130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086400" y="7005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42" name="TextBox 41"/>
          <p:cNvSpPr txBox="1"/>
          <p:nvPr/>
        </p:nvSpPr>
        <p:spPr>
          <a:xfrm>
            <a:off x="9136800" y="7031122"/>
            <a:ext cx="237921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SCALE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36800" y="7130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NTS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627840" y="7005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9678240" y="7031122"/>
            <a:ext cx="216000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DATE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78240" y="7130390"/>
            <a:ext cx="438708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2026-09-29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2000" y="6292800"/>
            <a:ext cx="6768000" cy="10152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4000" y="6350195"/>
            <a:ext cx="325322" cy="1168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1" i="0">
                <a:solidFill>
                  <a:srgbClr val="000000"/>
                </a:solidFill>
                <a:latin typeface="Arial"/>
              </a:rPr>
              <a:t>LEGEND</a:t>
            </a:r>
          </a:p>
        </p:txBody>
      </p:sp>
      <p:sp>
        <p:nvSpPr>
          <p:cNvPr id="49" name="Freeform 48"/>
          <p:cNvSpPr/>
          <p:nvPr/>
        </p:nvSpPr>
        <p:spPr>
          <a:xfrm>
            <a:off x="342000" y="6501472"/>
            <a:ext cx="252000" cy="115200"/>
          </a:xfrm>
          <a:custGeom>
            <a:avLst/>
            <a:gdLst/>
            <a:ahLst/>
            <a:cxnLst/>
            <a:rect l="l" t="t" r="r" b="b"/>
            <a:pathLst>
              <a:path w="252000" h="115200">
                <a:moveTo>
                  <a:pt x="52200" y="0"/>
                </a:moveTo>
                <a:lnTo>
                  <a:pt x="199800" y="0"/>
                </a:lnTo>
                <a:lnTo>
                  <a:pt x="252000" y="57600"/>
                </a:lnTo>
                <a:lnTo>
                  <a:pt x="199800" y="115200"/>
                </a:lnTo>
                <a:lnTo>
                  <a:pt x="52200" y="115200"/>
                </a:lnTo>
                <a:lnTo>
                  <a:pt x="0" y="576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0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8000" y="6512082"/>
            <a:ext cx="603275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Gas Flow (kNm3/h)</a:t>
            </a:r>
          </a:p>
        </p:txBody>
      </p:sp>
      <p:sp>
        <p:nvSpPr>
          <p:cNvPr id="52" name="Freeform 51"/>
          <p:cNvSpPr/>
          <p:nvPr/>
        </p:nvSpPr>
        <p:spPr>
          <a:xfrm>
            <a:off x="1656000" y="6501472"/>
            <a:ext cx="288000" cy="115200"/>
          </a:xfrm>
          <a:custGeom>
            <a:avLst/>
            <a:gdLst/>
            <a:ahLst/>
            <a:cxnLst/>
            <a:rect l="l" t="t" r="r" b="b"/>
            <a:pathLst>
              <a:path w="288000" h="115200">
                <a:moveTo>
                  <a:pt x="68400" y="0"/>
                </a:moveTo>
                <a:lnTo>
                  <a:pt x="288000" y="0"/>
                </a:lnTo>
                <a:lnTo>
                  <a:pt x="219600" y="115200"/>
                </a:lnTo>
                <a:lnTo>
                  <a:pt x="0" y="115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92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80000" y="6512082"/>
            <a:ext cx="545007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Mass Flow (t/h)</a:t>
            </a:r>
          </a:p>
        </p:txBody>
      </p:sp>
      <p:sp>
        <p:nvSpPr>
          <p:cNvPr id="55" name="Freeform 54"/>
          <p:cNvSpPr/>
          <p:nvPr/>
        </p:nvSpPr>
        <p:spPr>
          <a:xfrm>
            <a:off x="3006000" y="6501472"/>
            <a:ext cx="252000" cy="115200"/>
          </a:xfrm>
          <a:custGeom>
            <a:avLst/>
            <a:gdLst/>
            <a:ahLst/>
            <a:cxnLst/>
            <a:rect l="l" t="t" r="r" b="b"/>
            <a:pathLst>
              <a:path w="252000" h="115200">
                <a:moveTo>
                  <a:pt x="0" y="0"/>
                </a:moveTo>
                <a:lnTo>
                  <a:pt x="252000" y="0"/>
                </a:lnTo>
                <a:lnTo>
                  <a:pt x="252000" y="115200"/>
                </a:lnTo>
                <a:lnTo>
                  <a:pt x="0" y="115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024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12000" y="6512082"/>
            <a:ext cx="574141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Temperature (°C)</a:t>
            </a:r>
          </a:p>
        </p:txBody>
      </p:sp>
      <p:sp>
        <p:nvSpPr>
          <p:cNvPr id="58" name="Freeform 57"/>
          <p:cNvSpPr/>
          <p:nvPr/>
        </p:nvSpPr>
        <p:spPr>
          <a:xfrm>
            <a:off x="4338000" y="6501472"/>
            <a:ext cx="252000" cy="115200"/>
          </a:xfrm>
          <a:custGeom>
            <a:avLst/>
            <a:gdLst/>
            <a:ahLst/>
            <a:cxnLst/>
            <a:rect l="l" t="t" r="r" b="b"/>
            <a:pathLst>
              <a:path w="252000" h="115200">
                <a:moveTo>
                  <a:pt x="50400" y="0"/>
                </a:moveTo>
                <a:lnTo>
                  <a:pt x="201600" y="0"/>
                </a:lnTo>
                <a:lnTo>
                  <a:pt x="252000" y="115200"/>
                </a:lnTo>
                <a:lnTo>
                  <a:pt x="0" y="115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56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44000" y="6512082"/>
            <a:ext cx="574141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Pressure (bar g)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666400" y="6559072"/>
            <a:ext cx="259200" cy="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sp>
        <p:nvSpPr>
          <p:cNvPr id="62" name="TextBox 61"/>
          <p:cNvSpPr txBox="1"/>
          <p:nvPr/>
        </p:nvSpPr>
        <p:spPr>
          <a:xfrm>
            <a:off x="5976000" y="6512082"/>
            <a:ext cx="457606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Process Line</a:t>
            </a:r>
          </a:p>
        </p:txBody>
      </p:sp>
      <p:sp>
        <p:nvSpPr>
          <p:cNvPr id="63" name="Freeform 62"/>
          <p:cNvSpPr/>
          <p:nvPr/>
        </p:nvSpPr>
        <p:spPr>
          <a:xfrm>
            <a:off x="385200" y="6760672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468000" y="6760672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 flipV="1">
            <a:off x="468000" y="6668152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>
            <a:off x="413568" y="6668152"/>
            <a:ext cx="108864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67" name="TextBox 66"/>
          <p:cNvSpPr txBox="1"/>
          <p:nvPr/>
        </p:nvSpPr>
        <p:spPr>
          <a:xfrm>
            <a:off x="648000" y="6778482"/>
            <a:ext cx="428472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Block Valve</a:t>
            </a:r>
          </a:p>
        </p:txBody>
      </p:sp>
      <p:sp>
        <p:nvSpPr>
          <p:cNvPr id="68" name="Freeform 67"/>
          <p:cNvSpPr/>
          <p:nvPr/>
        </p:nvSpPr>
        <p:spPr>
          <a:xfrm>
            <a:off x="1717200" y="6760672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1800000" y="6760672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 flipV="1">
            <a:off x="1800000" y="6668152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71" name="Freeform 70"/>
          <p:cNvSpPr/>
          <p:nvPr/>
        </p:nvSpPr>
        <p:spPr>
          <a:xfrm>
            <a:off x="1761120" y="6613720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980000" y="67784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Control Valve</a:t>
            </a:r>
          </a:p>
        </p:txBody>
      </p:sp>
      <p:sp>
        <p:nvSpPr>
          <p:cNvPr id="73" name="Oval 72"/>
          <p:cNvSpPr/>
          <p:nvPr/>
        </p:nvSpPr>
        <p:spPr>
          <a:xfrm>
            <a:off x="3067200" y="6760672"/>
            <a:ext cx="129600" cy="129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3067200" y="6760672"/>
            <a:ext cx="64800" cy="129600"/>
          </a:xfrm>
          <a:custGeom>
            <a:avLst/>
            <a:gdLst/>
            <a:ahLst/>
            <a:cxnLst/>
            <a:rect l="l" t="t" r="r" b="b"/>
            <a:pathLst>
              <a:path w="64800" h="129600">
                <a:moveTo>
                  <a:pt x="64800" y="64800"/>
                </a:moveTo>
                <a:lnTo>
                  <a:pt x="64800" y="129600"/>
                </a:lnTo>
                <a:lnTo>
                  <a:pt x="56342" y="129046"/>
                </a:lnTo>
                <a:lnTo>
                  <a:pt x="48029" y="127392"/>
                </a:lnTo>
                <a:lnTo>
                  <a:pt x="40002" y="124667"/>
                </a:lnTo>
                <a:lnTo>
                  <a:pt x="32400" y="120918"/>
                </a:lnTo>
                <a:lnTo>
                  <a:pt x="25352" y="116209"/>
                </a:lnTo>
                <a:lnTo>
                  <a:pt x="18979" y="110621"/>
                </a:lnTo>
                <a:lnTo>
                  <a:pt x="13391" y="104248"/>
                </a:lnTo>
                <a:lnTo>
                  <a:pt x="8682" y="97200"/>
                </a:lnTo>
                <a:lnTo>
                  <a:pt x="4933" y="89598"/>
                </a:lnTo>
                <a:lnTo>
                  <a:pt x="2208" y="81571"/>
                </a:lnTo>
                <a:lnTo>
                  <a:pt x="554" y="73258"/>
                </a:lnTo>
                <a:lnTo>
                  <a:pt x="0" y="64800"/>
                </a:lnTo>
                <a:lnTo>
                  <a:pt x="554" y="56342"/>
                </a:lnTo>
                <a:lnTo>
                  <a:pt x="2208" y="48029"/>
                </a:lnTo>
                <a:lnTo>
                  <a:pt x="4933" y="40002"/>
                </a:lnTo>
                <a:lnTo>
                  <a:pt x="8682" y="32400"/>
                </a:lnTo>
                <a:lnTo>
                  <a:pt x="13391" y="25352"/>
                </a:lnTo>
                <a:lnTo>
                  <a:pt x="18979" y="18979"/>
                </a:lnTo>
                <a:lnTo>
                  <a:pt x="25352" y="13391"/>
                </a:lnTo>
                <a:lnTo>
                  <a:pt x="32400" y="8682"/>
                </a:lnTo>
                <a:lnTo>
                  <a:pt x="40002" y="4933"/>
                </a:lnTo>
                <a:lnTo>
                  <a:pt x="48029" y="2208"/>
                </a:lnTo>
                <a:lnTo>
                  <a:pt x="56342" y="554"/>
                </a:lnTo>
                <a:lnTo>
                  <a:pt x="64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312000" y="6778482"/>
            <a:ext cx="748944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Process Input / Output</a:t>
            </a:r>
          </a:p>
        </p:txBody>
      </p:sp>
      <p:sp>
        <p:nvSpPr>
          <p:cNvPr id="76" name="Freeform 75"/>
          <p:cNvSpPr/>
          <p:nvPr/>
        </p:nvSpPr>
        <p:spPr>
          <a:xfrm>
            <a:off x="4377600" y="6739072"/>
            <a:ext cx="172800" cy="172800"/>
          </a:xfrm>
          <a:custGeom>
            <a:avLst/>
            <a:gdLst/>
            <a:ahLst/>
            <a:cxnLst/>
            <a:rect l="l" t="t" r="r" b="b"/>
            <a:pathLst>
              <a:path w="172800" h="172800">
                <a:moveTo>
                  <a:pt x="86400" y="0"/>
                </a:moveTo>
                <a:lnTo>
                  <a:pt x="172800" y="86400"/>
                </a:lnTo>
                <a:lnTo>
                  <a:pt x="86400" y="172800"/>
                </a:lnTo>
                <a:lnTo>
                  <a:pt x="0" y="864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356000" y="6756892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644000" y="67784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Stream Number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5666400" y="6825472"/>
            <a:ext cx="259200" cy="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cxnSp>
        <p:nvCxnSpPr>
          <p:cNvPr id="80" name="Connector 79"/>
          <p:cNvCxnSpPr/>
          <p:nvPr/>
        </p:nvCxnSpPr>
        <p:spPr>
          <a:xfrm>
            <a:off x="5796000" y="6717472"/>
            <a:ext cx="0" cy="6120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cxnSp>
        <p:nvCxnSpPr>
          <p:cNvPr id="81" name="Connector 80"/>
          <p:cNvCxnSpPr/>
          <p:nvPr/>
        </p:nvCxnSpPr>
        <p:spPr>
          <a:xfrm>
            <a:off x="5796000" y="6872272"/>
            <a:ext cx="0" cy="6120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sp>
        <p:nvSpPr>
          <p:cNvPr id="82" name="TextBox 81"/>
          <p:cNvSpPr txBox="1"/>
          <p:nvPr/>
        </p:nvSpPr>
        <p:spPr>
          <a:xfrm>
            <a:off x="5976000" y="67784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Line Crossing</a:t>
            </a:r>
          </a:p>
        </p:txBody>
      </p:sp>
      <p:sp>
        <p:nvSpPr>
          <p:cNvPr id="83" name="Freeform 82"/>
          <p:cNvSpPr/>
          <p:nvPr/>
        </p:nvSpPr>
        <p:spPr>
          <a:xfrm>
            <a:off x="360000" y="7012672"/>
            <a:ext cx="216000" cy="158400"/>
          </a:xfrm>
          <a:custGeom>
            <a:avLst/>
            <a:gdLst/>
            <a:ahLst/>
            <a:cxnLst/>
            <a:rect l="l" t="t" r="r" b="b"/>
            <a:pathLst>
              <a:path w="216000" h="158400">
                <a:moveTo>
                  <a:pt x="0" y="0"/>
                </a:moveTo>
                <a:lnTo>
                  <a:pt x="216000" y="39600"/>
                </a:lnTo>
                <a:lnTo>
                  <a:pt x="216000" y="118800"/>
                </a:lnTo>
                <a:lnTo>
                  <a:pt x="0" y="1584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8000" y="7044882"/>
            <a:ext cx="399338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Compressor</a:t>
            </a:r>
          </a:p>
        </p:txBody>
      </p:sp>
      <p:sp>
        <p:nvSpPr>
          <p:cNvPr id="85" name="Oval 84"/>
          <p:cNvSpPr/>
          <p:nvPr/>
        </p:nvSpPr>
        <p:spPr>
          <a:xfrm>
            <a:off x="1710000" y="7001872"/>
            <a:ext cx="180000" cy="1800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1758600" y="7045072"/>
            <a:ext cx="82800" cy="93600"/>
          </a:xfrm>
          <a:custGeom>
            <a:avLst/>
            <a:gdLst/>
            <a:ahLst/>
            <a:cxnLst/>
            <a:rect l="l" t="t" r="r" b="b"/>
            <a:pathLst>
              <a:path w="82800" h="93600">
                <a:moveTo>
                  <a:pt x="41400" y="0"/>
                </a:moveTo>
                <a:lnTo>
                  <a:pt x="82800" y="18720"/>
                </a:lnTo>
                <a:lnTo>
                  <a:pt x="0" y="46800"/>
                </a:lnTo>
                <a:lnTo>
                  <a:pt x="82800" y="74880"/>
                </a:lnTo>
                <a:lnTo>
                  <a:pt x="41400" y="93600"/>
                </a:lnTo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980000" y="7044882"/>
            <a:ext cx="515873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Heat Exchanger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056400" y="6976672"/>
            <a:ext cx="151200" cy="230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3056400" y="7056232"/>
            <a:ext cx="1512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90" name="Connector 89"/>
          <p:cNvCxnSpPr/>
          <p:nvPr/>
        </p:nvCxnSpPr>
        <p:spPr>
          <a:xfrm>
            <a:off x="3056400" y="7127512"/>
            <a:ext cx="1512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91" name="Connector 90"/>
          <p:cNvCxnSpPr/>
          <p:nvPr/>
        </p:nvCxnSpPr>
        <p:spPr>
          <a:xfrm>
            <a:off x="3056400" y="7056232"/>
            <a:ext cx="151200" cy="7128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92" name="Connector 91"/>
          <p:cNvCxnSpPr/>
          <p:nvPr/>
        </p:nvCxnSpPr>
        <p:spPr>
          <a:xfrm flipV="1">
            <a:off x="3056400" y="7056232"/>
            <a:ext cx="151200" cy="7128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93" name="TextBox 92"/>
          <p:cNvSpPr txBox="1"/>
          <p:nvPr/>
        </p:nvSpPr>
        <p:spPr>
          <a:xfrm>
            <a:off x="3312000" y="7044882"/>
            <a:ext cx="632408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Packed-Bed Reactor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392000" y="6980272"/>
            <a:ext cx="144000" cy="22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644000" y="7044882"/>
            <a:ext cx="370204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Separator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52000" y="5580000"/>
            <a:ext cx="3348000" cy="6768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24000" y="5637395"/>
            <a:ext cx="1520596" cy="1168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1" i="0">
                <a:solidFill>
                  <a:srgbClr val="000000"/>
                </a:solidFill>
                <a:latin typeface="Arial"/>
              </a:rPr>
              <a:t>REACTIONS (Cu/ZnO/Al2O3, 4 quench beds)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24000" y="5733089"/>
            <a:ext cx="906424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CO2 + 3 H2 &lt;-&gt; CH3OH + H2O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24000" y="5825384"/>
            <a:ext cx="752881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CO2 + H2 &lt;-&gt; CO + H2O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24000" y="5917679"/>
            <a:ext cx="1121384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Methanol 112.5 t/h; loop 75 bar g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636000" y="5580000"/>
            <a:ext cx="3348000" cy="6768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708000" y="5637395"/>
            <a:ext cx="289102" cy="1168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1" i="0">
                <a:solidFill>
                  <a:srgbClr val="000000"/>
                </a:solidFill>
                <a:latin typeface="Arial"/>
              </a:rPr>
              <a:t>NOTES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708000" y="5733089"/>
            <a:ext cx="2871774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1. Gas flows in kNm3/h; liquid in t/h; T in °C; P in bar g. Design point of the simulator.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708000" y="5825384"/>
            <a:ext cx="2564688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2. Stream numbers 1-12 as in the Process tab stream table; others carry no data.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708000" y="5917679"/>
            <a:ext cx="2319019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3. Let-down drum, reformer fuel and flare are outside the battery limit.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708000" y="6009974"/>
            <a:ext cx="3086734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4. PSV-201 (set 88 bar g) protects the loop and relieves to flare; HV-205 is the manual blowdown.</a:t>
            </a:r>
          </a:p>
        </p:txBody>
      </p:sp>
      <p:sp>
        <p:nvSpPr>
          <p:cNvPr id="107" name="Freeform 106"/>
          <p:cNvSpPr/>
          <p:nvPr/>
        </p:nvSpPr>
        <p:spPr>
          <a:xfrm>
            <a:off x="1872000" y="2790000"/>
            <a:ext cx="576000" cy="468000"/>
          </a:xfrm>
          <a:custGeom>
            <a:avLst/>
            <a:gdLst/>
            <a:ahLst/>
            <a:cxnLst/>
            <a:rect l="l" t="t" r="r" b="b"/>
            <a:pathLst>
              <a:path w="576000" h="468000">
                <a:moveTo>
                  <a:pt x="0" y="0"/>
                </a:moveTo>
                <a:lnTo>
                  <a:pt x="576000" y="117000"/>
                </a:lnTo>
                <a:lnTo>
                  <a:pt x="576000" y="351000"/>
                </a:lnTo>
                <a:lnTo>
                  <a:pt x="0" y="4680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3006000" y="4086000"/>
            <a:ext cx="324000" cy="3240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3093480" y="4163760"/>
            <a:ext cx="149040" cy="168480"/>
          </a:xfrm>
          <a:custGeom>
            <a:avLst/>
            <a:gdLst/>
            <a:ahLst/>
            <a:cxnLst/>
            <a:rect l="l" t="t" r="r" b="b"/>
            <a:pathLst>
              <a:path w="149040" h="168480">
                <a:moveTo>
                  <a:pt x="74520" y="0"/>
                </a:moveTo>
                <a:lnTo>
                  <a:pt x="149040" y="33696"/>
                </a:lnTo>
                <a:lnTo>
                  <a:pt x="0" y="84240"/>
                </a:lnTo>
                <a:lnTo>
                  <a:pt x="149040" y="134784"/>
                </a:lnTo>
                <a:lnTo>
                  <a:pt x="74520" y="168480"/>
                </a:lnTo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806000" y="4086000"/>
            <a:ext cx="324000" cy="3240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4893480" y="4163760"/>
            <a:ext cx="149040" cy="168480"/>
          </a:xfrm>
          <a:custGeom>
            <a:avLst/>
            <a:gdLst/>
            <a:ahLst/>
            <a:cxnLst/>
            <a:rect l="l" t="t" r="r" b="b"/>
            <a:pathLst>
              <a:path w="149040" h="168480">
                <a:moveTo>
                  <a:pt x="74520" y="0"/>
                </a:moveTo>
                <a:lnTo>
                  <a:pt x="149040" y="33696"/>
                </a:lnTo>
                <a:lnTo>
                  <a:pt x="0" y="84240"/>
                </a:lnTo>
                <a:lnTo>
                  <a:pt x="149040" y="134784"/>
                </a:lnTo>
                <a:lnTo>
                  <a:pt x="74520" y="168480"/>
                </a:lnTo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5958000" y="4086000"/>
            <a:ext cx="324000" cy="3240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6045480" y="4163760"/>
            <a:ext cx="149040" cy="168480"/>
          </a:xfrm>
          <a:custGeom>
            <a:avLst/>
            <a:gdLst/>
            <a:ahLst/>
            <a:cxnLst/>
            <a:rect l="l" t="t" r="r" b="b"/>
            <a:pathLst>
              <a:path w="149040" h="168480">
                <a:moveTo>
                  <a:pt x="74520" y="0"/>
                </a:moveTo>
                <a:lnTo>
                  <a:pt x="149040" y="33696"/>
                </a:lnTo>
                <a:lnTo>
                  <a:pt x="0" y="84240"/>
                </a:lnTo>
                <a:lnTo>
                  <a:pt x="149040" y="134784"/>
                </a:lnTo>
                <a:lnTo>
                  <a:pt x="74520" y="168480"/>
                </a:lnTo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4" name="Connector 113"/>
          <p:cNvCxnSpPr/>
          <p:nvPr/>
        </p:nvCxnSpPr>
        <p:spPr>
          <a:xfrm>
            <a:off x="6120000" y="4086000"/>
            <a:ext cx="0" cy="7776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15" name="Connector 114"/>
          <p:cNvCxnSpPr/>
          <p:nvPr/>
        </p:nvCxnSpPr>
        <p:spPr>
          <a:xfrm flipV="1">
            <a:off x="6120000" y="4332240"/>
            <a:ext cx="0" cy="7776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16" name="Rounded Rectangle 115"/>
          <p:cNvSpPr/>
          <p:nvPr/>
        </p:nvSpPr>
        <p:spPr>
          <a:xfrm>
            <a:off x="7118014" y="2088693"/>
            <a:ext cx="739973" cy="18706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7118014" y="2472812"/>
            <a:ext cx="739972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18" name="Connector 117"/>
          <p:cNvCxnSpPr/>
          <p:nvPr/>
        </p:nvCxnSpPr>
        <p:spPr>
          <a:xfrm>
            <a:off x="7118014" y="2727207"/>
            <a:ext cx="739972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19" name="Connector 118"/>
          <p:cNvCxnSpPr/>
          <p:nvPr/>
        </p:nvCxnSpPr>
        <p:spPr>
          <a:xfrm>
            <a:off x="7118014" y="2472812"/>
            <a:ext cx="739972" cy="254395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20" name="Connector 119"/>
          <p:cNvCxnSpPr/>
          <p:nvPr/>
        </p:nvCxnSpPr>
        <p:spPr>
          <a:xfrm flipV="1">
            <a:off x="7118014" y="2472812"/>
            <a:ext cx="739972" cy="254395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21" name="Connector 120"/>
          <p:cNvCxnSpPr/>
          <p:nvPr/>
        </p:nvCxnSpPr>
        <p:spPr>
          <a:xfrm>
            <a:off x="7118014" y="2755473"/>
            <a:ext cx="739972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22" name="Connector 121"/>
          <p:cNvCxnSpPr/>
          <p:nvPr/>
        </p:nvCxnSpPr>
        <p:spPr>
          <a:xfrm>
            <a:off x="7118014" y="3009867"/>
            <a:ext cx="739972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23" name="Connector 122"/>
          <p:cNvCxnSpPr/>
          <p:nvPr/>
        </p:nvCxnSpPr>
        <p:spPr>
          <a:xfrm>
            <a:off x="7118014" y="2755473"/>
            <a:ext cx="739972" cy="254394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24" name="Connector 123"/>
          <p:cNvCxnSpPr/>
          <p:nvPr/>
        </p:nvCxnSpPr>
        <p:spPr>
          <a:xfrm flipV="1">
            <a:off x="7118014" y="2755473"/>
            <a:ext cx="739972" cy="254394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25" name="Connector 124"/>
          <p:cNvCxnSpPr/>
          <p:nvPr/>
        </p:nvCxnSpPr>
        <p:spPr>
          <a:xfrm>
            <a:off x="7118014" y="3038133"/>
            <a:ext cx="739972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26" name="Connector 125"/>
          <p:cNvCxnSpPr/>
          <p:nvPr/>
        </p:nvCxnSpPr>
        <p:spPr>
          <a:xfrm>
            <a:off x="7118014" y="3292527"/>
            <a:ext cx="739972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27" name="Connector 126"/>
          <p:cNvCxnSpPr/>
          <p:nvPr/>
        </p:nvCxnSpPr>
        <p:spPr>
          <a:xfrm>
            <a:off x="7118014" y="3038133"/>
            <a:ext cx="739972" cy="254394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28" name="Connector 127"/>
          <p:cNvCxnSpPr/>
          <p:nvPr/>
        </p:nvCxnSpPr>
        <p:spPr>
          <a:xfrm flipV="1">
            <a:off x="7118014" y="3038133"/>
            <a:ext cx="739972" cy="254394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29" name="Connector 128"/>
          <p:cNvCxnSpPr/>
          <p:nvPr/>
        </p:nvCxnSpPr>
        <p:spPr>
          <a:xfrm>
            <a:off x="7118014" y="3320793"/>
            <a:ext cx="739972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30" name="Connector 129"/>
          <p:cNvCxnSpPr/>
          <p:nvPr/>
        </p:nvCxnSpPr>
        <p:spPr>
          <a:xfrm>
            <a:off x="7118014" y="3575188"/>
            <a:ext cx="739972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31" name="Connector 130"/>
          <p:cNvCxnSpPr/>
          <p:nvPr/>
        </p:nvCxnSpPr>
        <p:spPr>
          <a:xfrm>
            <a:off x="7118014" y="3320793"/>
            <a:ext cx="739972" cy="254395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32" name="Connector 131"/>
          <p:cNvCxnSpPr/>
          <p:nvPr/>
        </p:nvCxnSpPr>
        <p:spPr>
          <a:xfrm flipV="1">
            <a:off x="7118014" y="3320793"/>
            <a:ext cx="739972" cy="254395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33" name="Oval 132"/>
          <p:cNvSpPr/>
          <p:nvPr/>
        </p:nvSpPr>
        <p:spPr>
          <a:xfrm>
            <a:off x="8190000" y="5094000"/>
            <a:ext cx="324000" cy="3240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8277480" y="5171760"/>
            <a:ext cx="149040" cy="168480"/>
          </a:xfrm>
          <a:custGeom>
            <a:avLst/>
            <a:gdLst/>
            <a:ahLst/>
            <a:cxnLst/>
            <a:rect l="l" t="t" r="r" b="b"/>
            <a:pathLst>
              <a:path w="149040" h="168480">
                <a:moveTo>
                  <a:pt x="74520" y="0"/>
                </a:moveTo>
                <a:lnTo>
                  <a:pt x="149040" y="33696"/>
                </a:lnTo>
                <a:lnTo>
                  <a:pt x="0" y="84240"/>
                </a:lnTo>
                <a:lnTo>
                  <a:pt x="149040" y="134784"/>
                </a:lnTo>
                <a:lnTo>
                  <a:pt x="74520" y="168480"/>
                </a:lnTo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5" name="Connector 134"/>
          <p:cNvCxnSpPr/>
          <p:nvPr/>
        </p:nvCxnSpPr>
        <p:spPr>
          <a:xfrm>
            <a:off x="8352000" y="5094000"/>
            <a:ext cx="0" cy="7776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36" name="Connector 135"/>
          <p:cNvCxnSpPr/>
          <p:nvPr/>
        </p:nvCxnSpPr>
        <p:spPr>
          <a:xfrm flipV="1">
            <a:off x="8352000" y="5340240"/>
            <a:ext cx="0" cy="7776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37" name="Rounded Rectangle 136"/>
          <p:cNvSpPr/>
          <p:nvPr/>
        </p:nvSpPr>
        <p:spPr>
          <a:xfrm>
            <a:off x="9018000" y="3600000"/>
            <a:ext cx="396000" cy="86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8" name="Connector 137"/>
          <p:cNvCxnSpPr/>
          <p:nvPr/>
        </p:nvCxnSpPr>
        <p:spPr>
          <a:xfrm>
            <a:off x="9018000" y="3755520"/>
            <a:ext cx="396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39" name="Connector 138"/>
          <p:cNvCxnSpPr/>
          <p:nvPr/>
        </p:nvCxnSpPr>
        <p:spPr>
          <a:xfrm>
            <a:off x="9018000" y="3798720"/>
            <a:ext cx="396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40" name="Connector 139"/>
          <p:cNvCxnSpPr/>
          <p:nvPr/>
        </p:nvCxnSpPr>
        <p:spPr>
          <a:xfrm flipV="1">
            <a:off x="9039600" y="4014720"/>
            <a:ext cx="352800" cy="10368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41" name="Oval 140"/>
          <p:cNvSpPr/>
          <p:nvPr/>
        </p:nvSpPr>
        <p:spPr>
          <a:xfrm>
            <a:off x="457200" y="2149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457200" y="2149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0069200" y="2797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10069200" y="2797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0069200" y="5065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10069200" y="5065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0069200" y="1357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10069200" y="1357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845000" y="2205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3789000" y="4221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3789000" y="3303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3789000" y="3015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4293000" y="4221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5517000" y="4221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9189000" y="2853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622800" y="2232000"/>
            <a:ext cx="1249200" cy="0"/>
          </a:xfrm>
          <a:custGeom>
            <a:avLst/>
            <a:gdLst/>
            <a:ahLst/>
            <a:cxnLst/>
            <a:rect l="l" t="t" r="r" b="b"/>
            <a:pathLst>
              <a:path w="1249200" h="0">
                <a:moveTo>
                  <a:pt x="0" y="0"/>
                </a:moveTo>
                <a:lnTo>
                  <a:pt x="12492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914760" y="2167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997560" y="2167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9" name="Connector 158"/>
          <p:cNvCxnSpPr/>
          <p:nvPr/>
        </p:nvCxnSpPr>
        <p:spPr>
          <a:xfrm flipV="1">
            <a:off x="997560" y="2074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60" name="Connector 159"/>
          <p:cNvCxnSpPr/>
          <p:nvPr/>
        </p:nvCxnSpPr>
        <p:spPr>
          <a:xfrm>
            <a:off x="943128" y="2074680"/>
            <a:ext cx="108864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61" name="Freeform 160"/>
          <p:cNvSpPr/>
          <p:nvPr/>
        </p:nvSpPr>
        <p:spPr>
          <a:xfrm>
            <a:off x="1289520" y="2167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1372320" y="2167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3" name="Connector 162"/>
          <p:cNvCxnSpPr/>
          <p:nvPr/>
        </p:nvCxnSpPr>
        <p:spPr>
          <a:xfrm flipV="1">
            <a:off x="1372320" y="2074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64" name="Freeform 163"/>
          <p:cNvSpPr/>
          <p:nvPr/>
        </p:nvSpPr>
        <p:spPr>
          <a:xfrm>
            <a:off x="1333440" y="2020248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1546344" y="2131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539144" y="2163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cxnSp>
        <p:nvCxnSpPr>
          <p:cNvPr id="167" name="Connector 166"/>
          <p:cNvCxnSpPr/>
          <p:nvPr/>
        </p:nvCxnSpPr>
        <p:spPr>
          <a:xfrm>
            <a:off x="1747080" y="22320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68" name="Freeform 167"/>
          <p:cNvSpPr/>
          <p:nvPr/>
        </p:nvSpPr>
        <p:spPr>
          <a:xfrm>
            <a:off x="1592280" y="23616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2200" y="0"/>
                </a:moveTo>
                <a:lnTo>
                  <a:pt x="257400" y="0"/>
                </a:lnTo>
                <a:lnTo>
                  <a:pt x="309600" y="70200"/>
                </a:lnTo>
                <a:lnTo>
                  <a:pt x="257400" y="140400"/>
                </a:lnTo>
                <a:lnTo>
                  <a:pt x="52200" y="140400"/>
                </a:lnTo>
                <a:lnTo>
                  <a:pt x="0" y="70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606466" y="237592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365.6</a:t>
            </a:r>
          </a:p>
        </p:txBody>
      </p:sp>
      <p:sp>
        <p:nvSpPr>
          <p:cNvPr id="170" name="Freeform 169"/>
          <p:cNvSpPr/>
          <p:nvPr/>
        </p:nvSpPr>
        <p:spPr>
          <a:xfrm>
            <a:off x="1592280" y="2502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639080" y="25163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172" name="Freeform 171"/>
          <p:cNvSpPr/>
          <p:nvPr/>
        </p:nvSpPr>
        <p:spPr>
          <a:xfrm>
            <a:off x="1592280" y="26424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1639080" y="26567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86</a:t>
            </a:r>
          </a:p>
        </p:txBody>
      </p:sp>
      <p:sp>
        <p:nvSpPr>
          <p:cNvPr id="174" name="Freeform 173"/>
          <p:cNvSpPr/>
          <p:nvPr/>
        </p:nvSpPr>
        <p:spPr>
          <a:xfrm>
            <a:off x="9216000" y="1488600"/>
            <a:ext cx="0" cy="1391400"/>
          </a:xfrm>
          <a:custGeom>
            <a:avLst/>
            <a:gdLst/>
            <a:ahLst/>
            <a:cxnLst/>
            <a:rect l="l" t="t" r="r" b="b"/>
            <a:pathLst>
              <a:path w="0" h="1391400">
                <a:moveTo>
                  <a:pt x="0" y="1391400"/>
                </a:moveTo>
                <a:lnTo>
                  <a:pt x="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1872000" y="1224000"/>
            <a:ext cx="7344000" cy="1008000"/>
          </a:xfrm>
          <a:custGeom>
            <a:avLst/>
            <a:gdLst/>
            <a:ahLst/>
            <a:cxnLst/>
            <a:rect l="l" t="t" r="r" b="b"/>
            <a:pathLst>
              <a:path w="7344000" h="1008000">
                <a:moveTo>
                  <a:pt x="7344000" y="167400"/>
                </a:moveTo>
                <a:lnTo>
                  <a:pt x="7344000" y="0"/>
                </a:lnTo>
                <a:lnTo>
                  <a:pt x="0" y="0"/>
                </a:lnTo>
                <a:lnTo>
                  <a:pt x="0" y="10080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5767200" y="1123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5760000" y="1155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cxnSp>
        <p:nvCxnSpPr>
          <p:cNvPr id="178" name="Connector 177"/>
          <p:cNvCxnSpPr/>
          <p:nvPr/>
        </p:nvCxnSpPr>
        <p:spPr>
          <a:xfrm flipV="1">
            <a:off x="7369200" y="1094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79" name="Freeform 178"/>
          <p:cNvSpPr/>
          <p:nvPr/>
        </p:nvSpPr>
        <p:spPr>
          <a:xfrm>
            <a:off x="7214400" y="6732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2200" y="0"/>
                </a:moveTo>
                <a:lnTo>
                  <a:pt x="257400" y="0"/>
                </a:lnTo>
                <a:lnTo>
                  <a:pt x="309600" y="70200"/>
                </a:lnTo>
                <a:lnTo>
                  <a:pt x="257400" y="140400"/>
                </a:lnTo>
                <a:lnTo>
                  <a:pt x="52200" y="140400"/>
                </a:lnTo>
                <a:lnTo>
                  <a:pt x="0" y="70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7245909" y="6875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1562</a:t>
            </a:r>
          </a:p>
        </p:txBody>
      </p:sp>
      <p:sp>
        <p:nvSpPr>
          <p:cNvPr id="181" name="Freeform 180"/>
          <p:cNvSpPr/>
          <p:nvPr/>
        </p:nvSpPr>
        <p:spPr>
          <a:xfrm>
            <a:off x="7214400" y="8136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7261200" y="8279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183" name="Freeform 182"/>
          <p:cNvSpPr/>
          <p:nvPr/>
        </p:nvSpPr>
        <p:spPr>
          <a:xfrm>
            <a:off x="7214400" y="954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7261200" y="9683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75</a:t>
            </a:r>
          </a:p>
        </p:txBody>
      </p:sp>
      <p:sp>
        <p:nvSpPr>
          <p:cNvPr id="185" name="Freeform 184"/>
          <p:cNvSpPr/>
          <p:nvPr/>
        </p:nvSpPr>
        <p:spPr>
          <a:xfrm>
            <a:off x="1872000" y="2232000"/>
            <a:ext cx="115200" cy="581400"/>
          </a:xfrm>
          <a:custGeom>
            <a:avLst/>
            <a:gdLst/>
            <a:ahLst/>
            <a:cxnLst/>
            <a:rect l="l" t="t" r="r" b="b"/>
            <a:pathLst>
              <a:path w="115200" h="581400">
                <a:moveTo>
                  <a:pt x="0" y="0"/>
                </a:moveTo>
                <a:lnTo>
                  <a:pt x="115200" y="0"/>
                </a:lnTo>
                <a:lnTo>
                  <a:pt x="115200" y="5814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1954080" y="2719800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93600"/>
                </a:moveTo>
                <a:lnTo>
                  <a:pt x="0" y="0"/>
                </a:lnTo>
                <a:lnTo>
                  <a:pt x="6624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1886400" y="215532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879200" y="218754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13</a:t>
            </a:r>
          </a:p>
        </p:txBody>
      </p:sp>
      <p:sp>
        <p:nvSpPr>
          <p:cNvPr id="189" name="Freeform 188"/>
          <p:cNvSpPr/>
          <p:nvPr/>
        </p:nvSpPr>
        <p:spPr>
          <a:xfrm>
            <a:off x="2332800" y="3164400"/>
            <a:ext cx="673200" cy="1083600"/>
          </a:xfrm>
          <a:custGeom>
            <a:avLst/>
            <a:gdLst/>
            <a:ahLst/>
            <a:cxnLst/>
            <a:rect l="l" t="t" r="r" b="b"/>
            <a:pathLst>
              <a:path w="673200" h="1083600">
                <a:moveTo>
                  <a:pt x="0" y="0"/>
                </a:moveTo>
                <a:lnTo>
                  <a:pt x="0" y="1083600"/>
                </a:lnTo>
                <a:lnTo>
                  <a:pt x="673200" y="10836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2912400" y="4214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2232000" y="39420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2224800" y="39742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cxnSp>
        <p:nvCxnSpPr>
          <p:cNvPr id="193" name="Connector 192"/>
          <p:cNvCxnSpPr/>
          <p:nvPr/>
        </p:nvCxnSpPr>
        <p:spPr>
          <a:xfrm>
            <a:off x="2332800" y="3779280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94" name="Freeform 193"/>
          <p:cNvSpPr/>
          <p:nvPr/>
        </p:nvSpPr>
        <p:spPr>
          <a:xfrm>
            <a:off x="2462400" y="356868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2200" y="0"/>
                </a:moveTo>
                <a:lnTo>
                  <a:pt x="257400" y="0"/>
                </a:lnTo>
                <a:lnTo>
                  <a:pt x="309600" y="70200"/>
                </a:lnTo>
                <a:lnTo>
                  <a:pt x="257400" y="140400"/>
                </a:lnTo>
                <a:lnTo>
                  <a:pt x="52200" y="140400"/>
                </a:lnTo>
                <a:lnTo>
                  <a:pt x="0" y="70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2493909" y="358300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1928</a:t>
            </a:r>
          </a:p>
        </p:txBody>
      </p:sp>
      <p:sp>
        <p:nvSpPr>
          <p:cNvPr id="196" name="Freeform 195"/>
          <p:cNvSpPr/>
          <p:nvPr/>
        </p:nvSpPr>
        <p:spPr>
          <a:xfrm>
            <a:off x="2462400" y="370908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2493909" y="372340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48.6</a:t>
            </a:r>
          </a:p>
        </p:txBody>
      </p:sp>
      <p:sp>
        <p:nvSpPr>
          <p:cNvPr id="198" name="Freeform 197"/>
          <p:cNvSpPr/>
          <p:nvPr/>
        </p:nvSpPr>
        <p:spPr>
          <a:xfrm>
            <a:off x="2462400" y="384948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2493909" y="386380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80.6</a:t>
            </a:r>
          </a:p>
        </p:txBody>
      </p:sp>
      <p:sp>
        <p:nvSpPr>
          <p:cNvPr id="200" name="Freeform 199"/>
          <p:cNvSpPr/>
          <p:nvPr/>
        </p:nvSpPr>
        <p:spPr>
          <a:xfrm>
            <a:off x="3330000" y="4248000"/>
            <a:ext cx="486000" cy="0"/>
          </a:xfrm>
          <a:custGeom>
            <a:avLst/>
            <a:gdLst/>
            <a:ahLst/>
            <a:cxnLst/>
            <a:rect l="l" t="t" r="r" b="b"/>
            <a:pathLst>
              <a:path w="486000" h="0">
                <a:moveTo>
                  <a:pt x="0" y="0"/>
                </a:moveTo>
                <a:lnTo>
                  <a:pt x="4860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3472200" y="4147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3465000" y="4179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cxnSp>
        <p:nvCxnSpPr>
          <p:cNvPr id="203" name="Connector 202"/>
          <p:cNvCxnSpPr/>
          <p:nvPr/>
        </p:nvCxnSpPr>
        <p:spPr>
          <a:xfrm flipV="1">
            <a:off x="3500100" y="4118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04" name="Freeform 203"/>
          <p:cNvSpPr/>
          <p:nvPr/>
        </p:nvSpPr>
        <p:spPr>
          <a:xfrm>
            <a:off x="3345300" y="3978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3376809" y="39923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96.8</a:t>
            </a:r>
          </a:p>
        </p:txBody>
      </p:sp>
      <p:sp>
        <p:nvSpPr>
          <p:cNvPr id="206" name="Freeform 205"/>
          <p:cNvSpPr/>
          <p:nvPr/>
        </p:nvSpPr>
        <p:spPr>
          <a:xfrm>
            <a:off x="3816000" y="3864600"/>
            <a:ext cx="0" cy="383400"/>
          </a:xfrm>
          <a:custGeom>
            <a:avLst/>
            <a:gdLst/>
            <a:ahLst/>
            <a:cxnLst/>
            <a:rect l="l" t="t" r="r" b="b"/>
            <a:pathLst>
              <a:path w="0" h="383400">
                <a:moveTo>
                  <a:pt x="0" y="383400"/>
                </a:moveTo>
                <a:lnTo>
                  <a:pt x="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3816000" y="3330000"/>
            <a:ext cx="0" cy="437400"/>
          </a:xfrm>
          <a:custGeom>
            <a:avLst/>
            <a:gdLst/>
            <a:ahLst/>
            <a:cxnLst/>
            <a:rect l="l" t="t" r="r" b="b"/>
            <a:pathLst>
              <a:path w="0" h="437400">
                <a:moveTo>
                  <a:pt x="0" y="437400"/>
                </a:moveTo>
                <a:lnTo>
                  <a:pt x="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Freeform 207"/>
          <p:cNvSpPr/>
          <p:nvPr/>
        </p:nvSpPr>
        <p:spPr>
          <a:xfrm>
            <a:off x="3715200" y="385344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3708000" y="388566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cxnSp>
        <p:nvCxnSpPr>
          <p:cNvPr id="210" name="Connector 209"/>
          <p:cNvCxnSpPr/>
          <p:nvPr/>
        </p:nvCxnSpPr>
        <p:spPr>
          <a:xfrm flipH="1">
            <a:off x="3686400" y="3678840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11" name="Freeform 210"/>
          <p:cNvSpPr/>
          <p:nvPr/>
        </p:nvSpPr>
        <p:spPr>
          <a:xfrm>
            <a:off x="3376800" y="360864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2200" y="0"/>
                </a:moveTo>
                <a:lnTo>
                  <a:pt x="257400" y="0"/>
                </a:lnTo>
                <a:lnTo>
                  <a:pt x="309600" y="70200"/>
                </a:lnTo>
                <a:lnTo>
                  <a:pt x="257400" y="140400"/>
                </a:lnTo>
                <a:lnTo>
                  <a:pt x="52200" y="140400"/>
                </a:lnTo>
                <a:lnTo>
                  <a:pt x="0" y="70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3408309" y="362296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1014</a:t>
            </a:r>
          </a:p>
        </p:txBody>
      </p:sp>
      <p:sp>
        <p:nvSpPr>
          <p:cNvPr id="213" name="Freeform 212"/>
          <p:cNvSpPr/>
          <p:nvPr/>
        </p:nvSpPr>
        <p:spPr>
          <a:xfrm>
            <a:off x="3816000" y="3320330"/>
            <a:ext cx="3302014" cy="9670"/>
          </a:xfrm>
          <a:custGeom>
            <a:avLst/>
            <a:gdLst/>
            <a:ahLst/>
            <a:cxnLst/>
            <a:rect l="l" t="t" r="r" b="b"/>
            <a:pathLst>
              <a:path w="3302014" h="9670">
                <a:moveTo>
                  <a:pt x="0" y="9670"/>
                </a:moveTo>
                <a:lnTo>
                  <a:pt x="3302014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Freeform 213"/>
          <p:cNvSpPr/>
          <p:nvPr/>
        </p:nvSpPr>
        <p:spPr>
          <a:xfrm>
            <a:off x="7024317" y="3287484"/>
            <a:ext cx="93697" cy="66240"/>
          </a:xfrm>
          <a:custGeom>
            <a:avLst/>
            <a:gdLst/>
            <a:ahLst/>
            <a:cxnLst/>
            <a:rect l="l" t="t" r="r" b="b"/>
            <a:pathLst>
              <a:path w="93697" h="66240">
                <a:moveTo>
                  <a:pt x="93697" y="32846"/>
                </a:moveTo>
                <a:lnTo>
                  <a:pt x="194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Freeform 214"/>
          <p:cNvSpPr/>
          <p:nvPr/>
        </p:nvSpPr>
        <p:spPr>
          <a:xfrm>
            <a:off x="5219106" y="3260848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5301906" y="3260848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7" name="Connector 216"/>
          <p:cNvCxnSpPr/>
          <p:nvPr/>
        </p:nvCxnSpPr>
        <p:spPr>
          <a:xfrm flipV="1">
            <a:off x="5301906" y="3168328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18" name="Freeform 217"/>
          <p:cNvSpPr/>
          <p:nvPr/>
        </p:nvSpPr>
        <p:spPr>
          <a:xfrm>
            <a:off x="5263026" y="3113896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Freeform 218"/>
          <p:cNvSpPr/>
          <p:nvPr/>
        </p:nvSpPr>
        <p:spPr>
          <a:xfrm>
            <a:off x="4771844" y="3226106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4764644" y="3258326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16</a:t>
            </a:r>
          </a:p>
        </p:txBody>
      </p:sp>
      <p:sp>
        <p:nvSpPr>
          <p:cNvPr id="221" name="Freeform 220"/>
          <p:cNvSpPr/>
          <p:nvPr/>
        </p:nvSpPr>
        <p:spPr>
          <a:xfrm>
            <a:off x="3816000" y="3042000"/>
            <a:ext cx="0" cy="288000"/>
          </a:xfrm>
          <a:custGeom>
            <a:avLst/>
            <a:gdLst/>
            <a:ahLst/>
            <a:cxnLst/>
            <a:rect l="l" t="t" r="r" b="b"/>
            <a:pathLst>
              <a:path w="0" h="288000">
                <a:moveTo>
                  <a:pt x="0" y="288000"/>
                </a:moveTo>
                <a:lnTo>
                  <a:pt x="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Freeform 221"/>
          <p:cNvSpPr/>
          <p:nvPr/>
        </p:nvSpPr>
        <p:spPr>
          <a:xfrm>
            <a:off x="3715200" y="3085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3708000" y="3117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sp>
        <p:nvSpPr>
          <p:cNvPr id="224" name="Freeform 223"/>
          <p:cNvSpPr/>
          <p:nvPr/>
        </p:nvSpPr>
        <p:spPr>
          <a:xfrm>
            <a:off x="3816000" y="3042000"/>
            <a:ext cx="3302014" cy="521"/>
          </a:xfrm>
          <a:custGeom>
            <a:avLst/>
            <a:gdLst/>
            <a:ahLst/>
            <a:cxnLst/>
            <a:rect l="l" t="t" r="r" b="b"/>
            <a:pathLst>
              <a:path w="3302014" h="521">
                <a:moveTo>
                  <a:pt x="0" y="0"/>
                </a:moveTo>
                <a:lnTo>
                  <a:pt x="3302014" y="521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Freeform 224"/>
          <p:cNvSpPr/>
          <p:nvPr/>
        </p:nvSpPr>
        <p:spPr>
          <a:xfrm>
            <a:off x="7024408" y="3009386"/>
            <a:ext cx="93606" cy="66240"/>
          </a:xfrm>
          <a:custGeom>
            <a:avLst/>
            <a:gdLst/>
            <a:ahLst/>
            <a:cxnLst/>
            <a:rect l="l" t="t" r="r" b="b"/>
            <a:pathLst>
              <a:path w="93606" h="66240">
                <a:moveTo>
                  <a:pt x="93606" y="33135"/>
                </a:moveTo>
                <a:lnTo>
                  <a:pt x="0" y="66240"/>
                </a:lnTo>
                <a:lnTo>
                  <a:pt x="11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Freeform 225"/>
          <p:cNvSpPr/>
          <p:nvPr/>
        </p:nvSpPr>
        <p:spPr>
          <a:xfrm>
            <a:off x="5219106" y="2977434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5301906" y="2977434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8" name="Connector 227"/>
          <p:cNvCxnSpPr/>
          <p:nvPr/>
        </p:nvCxnSpPr>
        <p:spPr>
          <a:xfrm flipV="1">
            <a:off x="5301906" y="2884914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29" name="Freeform 228"/>
          <p:cNvSpPr/>
          <p:nvPr/>
        </p:nvSpPr>
        <p:spPr>
          <a:xfrm>
            <a:off x="5263026" y="2830482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4771844" y="2941367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4764644" y="2973587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232" name="Freeform 231"/>
          <p:cNvSpPr/>
          <p:nvPr/>
        </p:nvSpPr>
        <p:spPr>
          <a:xfrm>
            <a:off x="3816000" y="2746191"/>
            <a:ext cx="3302014" cy="295809"/>
          </a:xfrm>
          <a:custGeom>
            <a:avLst/>
            <a:gdLst/>
            <a:ahLst/>
            <a:cxnLst/>
            <a:rect l="l" t="t" r="r" b="b"/>
            <a:pathLst>
              <a:path w="3302014" h="295809">
                <a:moveTo>
                  <a:pt x="0" y="295809"/>
                </a:moveTo>
                <a:lnTo>
                  <a:pt x="0" y="0"/>
                </a:lnTo>
                <a:lnTo>
                  <a:pt x="3302014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Freeform 232"/>
          <p:cNvSpPr/>
          <p:nvPr/>
        </p:nvSpPr>
        <p:spPr>
          <a:xfrm>
            <a:off x="7024414" y="2713071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Freeform 233"/>
          <p:cNvSpPr/>
          <p:nvPr/>
        </p:nvSpPr>
        <p:spPr>
          <a:xfrm>
            <a:off x="5056411" y="2681391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Freeform 234"/>
          <p:cNvSpPr/>
          <p:nvPr/>
        </p:nvSpPr>
        <p:spPr>
          <a:xfrm>
            <a:off x="5139211" y="2681391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6" name="Connector 235"/>
          <p:cNvCxnSpPr/>
          <p:nvPr/>
        </p:nvCxnSpPr>
        <p:spPr>
          <a:xfrm flipV="1">
            <a:off x="5139211" y="2588871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37" name="Freeform 236"/>
          <p:cNvSpPr/>
          <p:nvPr/>
        </p:nvSpPr>
        <p:spPr>
          <a:xfrm>
            <a:off x="5100331" y="2534439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Freeform 237"/>
          <p:cNvSpPr/>
          <p:nvPr/>
        </p:nvSpPr>
        <p:spPr>
          <a:xfrm>
            <a:off x="4570694" y="2645391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4563494" y="2677611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14</a:t>
            </a:r>
          </a:p>
        </p:txBody>
      </p:sp>
      <p:sp>
        <p:nvSpPr>
          <p:cNvPr id="240" name="Freeform 239"/>
          <p:cNvSpPr/>
          <p:nvPr/>
        </p:nvSpPr>
        <p:spPr>
          <a:xfrm>
            <a:off x="3816000" y="4248000"/>
            <a:ext cx="504000" cy="0"/>
          </a:xfrm>
          <a:custGeom>
            <a:avLst/>
            <a:gdLst/>
            <a:ahLst/>
            <a:cxnLst/>
            <a:rect l="l" t="t" r="r" b="b"/>
            <a:pathLst>
              <a:path w="504000" h="0">
                <a:moveTo>
                  <a:pt x="0" y="0"/>
                </a:moveTo>
                <a:lnTo>
                  <a:pt x="5040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Freeform 240"/>
          <p:cNvSpPr/>
          <p:nvPr/>
        </p:nvSpPr>
        <p:spPr>
          <a:xfrm>
            <a:off x="3967200" y="4147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3960000" y="4179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17</a:t>
            </a:r>
          </a:p>
        </p:txBody>
      </p:sp>
      <p:sp>
        <p:nvSpPr>
          <p:cNvPr id="243" name="Freeform 242"/>
          <p:cNvSpPr/>
          <p:nvPr/>
        </p:nvSpPr>
        <p:spPr>
          <a:xfrm>
            <a:off x="4320000" y="4248000"/>
            <a:ext cx="486000" cy="0"/>
          </a:xfrm>
          <a:custGeom>
            <a:avLst/>
            <a:gdLst/>
            <a:ahLst/>
            <a:cxnLst/>
            <a:rect l="l" t="t" r="r" b="b"/>
            <a:pathLst>
              <a:path w="486000" h="0">
                <a:moveTo>
                  <a:pt x="0" y="0"/>
                </a:moveTo>
                <a:lnTo>
                  <a:pt x="4860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Freeform 243"/>
          <p:cNvSpPr/>
          <p:nvPr/>
        </p:nvSpPr>
        <p:spPr>
          <a:xfrm>
            <a:off x="4712400" y="4214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Freeform 244"/>
          <p:cNvSpPr/>
          <p:nvPr/>
        </p:nvSpPr>
        <p:spPr>
          <a:xfrm>
            <a:off x="4462200" y="4147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4455000" y="4179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18</a:t>
            </a:r>
          </a:p>
        </p:txBody>
      </p:sp>
      <p:sp>
        <p:nvSpPr>
          <p:cNvPr id="247" name="Freeform 246"/>
          <p:cNvSpPr/>
          <p:nvPr/>
        </p:nvSpPr>
        <p:spPr>
          <a:xfrm>
            <a:off x="5130000" y="4248000"/>
            <a:ext cx="414000" cy="0"/>
          </a:xfrm>
          <a:custGeom>
            <a:avLst/>
            <a:gdLst/>
            <a:ahLst/>
            <a:cxnLst/>
            <a:rect l="l" t="t" r="r" b="b"/>
            <a:pathLst>
              <a:path w="414000" h="0">
                <a:moveTo>
                  <a:pt x="0" y="0"/>
                </a:moveTo>
                <a:lnTo>
                  <a:pt x="4140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5236200" y="4147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5229000" y="4179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19</a:t>
            </a:r>
          </a:p>
        </p:txBody>
      </p:sp>
      <p:sp>
        <p:nvSpPr>
          <p:cNvPr id="250" name="Freeform 249"/>
          <p:cNvSpPr/>
          <p:nvPr/>
        </p:nvSpPr>
        <p:spPr>
          <a:xfrm>
            <a:off x="4320000" y="4248000"/>
            <a:ext cx="1224000" cy="756000"/>
          </a:xfrm>
          <a:custGeom>
            <a:avLst/>
            <a:gdLst/>
            <a:ahLst/>
            <a:cxnLst/>
            <a:rect l="l" t="t" r="r" b="b"/>
            <a:pathLst>
              <a:path w="1224000" h="756000">
                <a:moveTo>
                  <a:pt x="0" y="0"/>
                </a:moveTo>
                <a:lnTo>
                  <a:pt x="0" y="756000"/>
                </a:lnTo>
                <a:lnTo>
                  <a:pt x="1224000" y="756000"/>
                </a:lnTo>
                <a:lnTo>
                  <a:pt x="1224000" y="4806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5544000" y="4248000"/>
            <a:ext cx="0" cy="383400"/>
          </a:xfrm>
          <a:custGeom>
            <a:avLst/>
            <a:gdLst/>
            <a:ahLst/>
            <a:cxnLst/>
            <a:rect l="l" t="t" r="r" b="b"/>
            <a:pathLst>
              <a:path w="0" h="383400">
                <a:moveTo>
                  <a:pt x="0" y="383400"/>
                </a:moveTo>
                <a:lnTo>
                  <a:pt x="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Freeform 251"/>
          <p:cNvSpPr/>
          <p:nvPr/>
        </p:nvSpPr>
        <p:spPr>
          <a:xfrm>
            <a:off x="5232240" y="4939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Freeform 252"/>
          <p:cNvSpPr/>
          <p:nvPr/>
        </p:nvSpPr>
        <p:spPr>
          <a:xfrm>
            <a:off x="5315040" y="4939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54" name="Connector 253"/>
          <p:cNvCxnSpPr/>
          <p:nvPr/>
        </p:nvCxnSpPr>
        <p:spPr>
          <a:xfrm flipV="1">
            <a:off x="5315040" y="4846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55" name="Freeform 254"/>
          <p:cNvSpPr/>
          <p:nvPr/>
        </p:nvSpPr>
        <p:spPr>
          <a:xfrm>
            <a:off x="5276160" y="4792248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Freeform 255"/>
          <p:cNvSpPr/>
          <p:nvPr/>
        </p:nvSpPr>
        <p:spPr>
          <a:xfrm>
            <a:off x="4831200" y="4903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4824000" y="4935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258" name="Freeform 257"/>
          <p:cNvSpPr/>
          <p:nvPr/>
        </p:nvSpPr>
        <p:spPr>
          <a:xfrm>
            <a:off x="5544000" y="4248000"/>
            <a:ext cx="414000" cy="0"/>
          </a:xfrm>
          <a:custGeom>
            <a:avLst/>
            <a:gdLst/>
            <a:ahLst/>
            <a:cxnLst/>
            <a:rect l="l" t="t" r="r" b="b"/>
            <a:pathLst>
              <a:path w="414000" h="0">
                <a:moveTo>
                  <a:pt x="0" y="0"/>
                </a:moveTo>
                <a:lnTo>
                  <a:pt x="4140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Freeform 258"/>
          <p:cNvSpPr/>
          <p:nvPr/>
        </p:nvSpPr>
        <p:spPr>
          <a:xfrm>
            <a:off x="5864400" y="4214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Freeform 259"/>
          <p:cNvSpPr/>
          <p:nvPr/>
        </p:nvSpPr>
        <p:spPr>
          <a:xfrm>
            <a:off x="5650200" y="4147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5643000" y="4179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21</a:t>
            </a:r>
          </a:p>
        </p:txBody>
      </p:sp>
      <p:sp>
        <p:nvSpPr>
          <p:cNvPr id="262" name="Freeform 261"/>
          <p:cNvSpPr/>
          <p:nvPr/>
        </p:nvSpPr>
        <p:spPr>
          <a:xfrm>
            <a:off x="6282000" y="2794791"/>
            <a:ext cx="270000" cy="1453209"/>
          </a:xfrm>
          <a:custGeom>
            <a:avLst/>
            <a:gdLst/>
            <a:ahLst/>
            <a:cxnLst/>
            <a:rect l="l" t="t" r="r" b="b"/>
            <a:pathLst>
              <a:path w="270000" h="1453209">
                <a:moveTo>
                  <a:pt x="0" y="1453209"/>
                </a:moveTo>
                <a:lnTo>
                  <a:pt x="270000" y="1453209"/>
                </a:lnTo>
                <a:lnTo>
                  <a:pt x="2700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Freeform 262"/>
          <p:cNvSpPr/>
          <p:nvPr/>
        </p:nvSpPr>
        <p:spPr>
          <a:xfrm>
            <a:off x="6552000" y="1872000"/>
            <a:ext cx="936000" cy="825591"/>
          </a:xfrm>
          <a:custGeom>
            <a:avLst/>
            <a:gdLst/>
            <a:ahLst/>
            <a:cxnLst/>
            <a:rect l="l" t="t" r="r" b="b"/>
            <a:pathLst>
              <a:path w="936000" h="825591">
                <a:moveTo>
                  <a:pt x="0" y="825591"/>
                </a:moveTo>
                <a:lnTo>
                  <a:pt x="0" y="0"/>
                </a:lnTo>
                <a:lnTo>
                  <a:pt x="936000" y="0"/>
                </a:lnTo>
                <a:lnTo>
                  <a:pt x="936000" y="225969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Freeform 263"/>
          <p:cNvSpPr/>
          <p:nvPr/>
        </p:nvSpPr>
        <p:spPr>
          <a:xfrm>
            <a:off x="7454880" y="2004369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93600"/>
                </a:moveTo>
                <a:lnTo>
                  <a:pt x="0" y="0"/>
                </a:lnTo>
                <a:lnTo>
                  <a:pt x="6624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Freeform 264"/>
          <p:cNvSpPr/>
          <p:nvPr/>
        </p:nvSpPr>
        <p:spPr>
          <a:xfrm>
            <a:off x="6451200" y="2513216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6444000" y="2545436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cxnSp>
        <p:nvCxnSpPr>
          <p:cNvPr id="267" name="Connector 266"/>
          <p:cNvCxnSpPr/>
          <p:nvPr/>
        </p:nvCxnSpPr>
        <p:spPr>
          <a:xfrm>
            <a:off x="6552000" y="3680247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68" name="Freeform 267"/>
          <p:cNvSpPr/>
          <p:nvPr/>
        </p:nvSpPr>
        <p:spPr>
          <a:xfrm>
            <a:off x="6681600" y="3469647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2200" y="0"/>
                </a:moveTo>
                <a:lnTo>
                  <a:pt x="257400" y="0"/>
                </a:lnTo>
                <a:lnTo>
                  <a:pt x="309600" y="70200"/>
                </a:lnTo>
                <a:lnTo>
                  <a:pt x="257400" y="140400"/>
                </a:lnTo>
                <a:lnTo>
                  <a:pt x="52200" y="140400"/>
                </a:lnTo>
                <a:lnTo>
                  <a:pt x="0" y="70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6695786" y="3483967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913.5</a:t>
            </a:r>
          </a:p>
        </p:txBody>
      </p:sp>
      <p:sp>
        <p:nvSpPr>
          <p:cNvPr id="270" name="Freeform 269"/>
          <p:cNvSpPr/>
          <p:nvPr/>
        </p:nvSpPr>
        <p:spPr>
          <a:xfrm>
            <a:off x="6681600" y="3610047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6728400" y="3624367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220</a:t>
            </a:r>
          </a:p>
        </p:txBody>
      </p:sp>
      <p:sp>
        <p:nvSpPr>
          <p:cNvPr id="272" name="Freeform 271"/>
          <p:cNvSpPr/>
          <p:nvPr/>
        </p:nvSpPr>
        <p:spPr>
          <a:xfrm>
            <a:off x="6681600" y="3750447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6713109" y="3764767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79.7</a:t>
            </a:r>
          </a:p>
        </p:txBody>
      </p:sp>
      <p:sp>
        <p:nvSpPr>
          <p:cNvPr id="274" name="Freeform 273"/>
          <p:cNvSpPr/>
          <p:nvPr/>
        </p:nvSpPr>
        <p:spPr>
          <a:xfrm>
            <a:off x="4968000" y="3950031"/>
            <a:ext cx="2520000" cy="729969"/>
          </a:xfrm>
          <a:custGeom>
            <a:avLst/>
            <a:gdLst/>
            <a:ahLst/>
            <a:cxnLst/>
            <a:rect l="l" t="t" r="r" b="b"/>
            <a:pathLst>
              <a:path w="2520000" h="729969">
                <a:moveTo>
                  <a:pt x="2520000" y="0"/>
                </a:moveTo>
                <a:lnTo>
                  <a:pt x="2520000" y="729969"/>
                </a:lnTo>
                <a:lnTo>
                  <a:pt x="0" y="729969"/>
                </a:lnTo>
                <a:lnTo>
                  <a:pt x="0" y="459969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Freeform 274"/>
          <p:cNvSpPr/>
          <p:nvPr/>
        </p:nvSpPr>
        <p:spPr>
          <a:xfrm>
            <a:off x="4934880" y="4410000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0"/>
                </a:moveTo>
                <a:lnTo>
                  <a:pt x="66240" y="93600"/>
                </a:lnTo>
                <a:lnTo>
                  <a:pt x="0" y="9360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Freeform 275"/>
          <p:cNvSpPr/>
          <p:nvPr/>
        </p:nvSpPr>
        <p:spPr>
          <a:xfrm>
            <a:off x="6357184" y="4579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6349984" y="4611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cxnSp>
        <p:nvCxnSpPr>
          <p:cNvPr id="278" name="Connector 277"/>
          <p:cNvCxnSpPr/>
          <p:nvPr/>
        </p:nvCxnSpPr>
        <p:spPr>
          <a:xfrm flipV="1">
            <a:off x="6985980" y="4550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79" name="Freeform 278"/>
          <p:cNvSpPr/>
          <p:nvPr/>
        </p:nvSpPr>
        <p:spPr>
          <a:xfrm>
            <a:off x="6831180" y="42696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2200" y="0"/>
                </a:moveTo>
                <a:lnTo>
                  <a:pt x="257400" y="0"/>
                </a:lnTo>
                <a:lnTo>
                  <a:pt x="309600" y="70200"/>
                </a:lnTo>
                <a:lnTo>
                  <a:pt x="257400" y="140400"/>
                </a:lnTo>
                <a:lnTo>
                  <a:pt x="52200" y="140400"/>
                </a:lnTo>
                <a:lnTo>
                  <a:pt x="0" y="70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6862689" y="42839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1770</a:t>
            </a:r>
          </a:p>
        </p:txBody>
      </p:sp>
      <p:sp>
        <p:nvSpPr>
          <p:cNvPr id="281" name="Freeform 280"/>
          <p:cNvSpPr/>
          <p:nvPr/>
        </p:nvSpPr>
        <p:spPr>
          <a:xfrm>
            <a:off x="6831180" y="4410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6845366" y="442432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267.6</a:t>
            </a:r>
          </a:p>
        </p:txBody>
      </p:sp>
      <p:sp>
        <p:nvSpPr>
          <p:cNvPr id="283" name="Freeform 282"/>
          <p:cNvSpPr/>
          <p:nvPr/>
        </p:nvSpPr>
        <p:spPr>
          <a:xfrm>
            <a:off x="3168000" y="3816000"/>
            <a:ext cx="1800000" cy="270000"/>
          </a:xfrm>
          <a:custGeom>
            <a:avLst/>
            <a:gdLst/>
            <a:ahLst/>
            <a:cxnLst/>
            <a:rect l="l" t="t" r="r" b="b"/>
            <a:pathLst>
              <a:path w="1800000" h="270000">
                <a:moveTo>
                  <a:pt x="1800000" y="270000"/>
                </a:moveTo>
                <a:lnTo>
                  <a:pt x="1800000" y="0"/>
                </a:lnTo>
                <a:lnTo>
                  <a:pt x="0" y="0"/>
                </a:lnTo>
                <a:lnTo>
                  <a:pt x="0" y="2700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3134880" y="3992400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93600"/>
                </a:moveTo>
                <a:lnTo>
                  <a:pt x="0" y="0"/>
                </a:lnTo>
                <a:lnTo>
                  <a:pt x="6624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4388400" y="3715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4381200" y="3747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cxnSp>
        <p:nvCxnSpPr>
          <p:cNvPr id="287" name="Connector 286"/>
          <p:cNvCxnSpPr/>
          <p:nvPr/>
        </p:nvCxnSpPr>
        <p:spPr>
          <a:xfrm flipV="1">
            <a:off x="4419000" y="3686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88" name="Freeform 287"/>
          <p:cNvSpPr/>
          <p:nvPr/>
        </p:nvSpPr>
        <p:spPr>
          <a:xfrm>
            <a:off x="4264200" y="3546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4278386" y="356032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206.4</a:t>
            </a:r>
          </a:p>
        </p:txBody>
      </p:sp>
      <p:sp>
        <p:nvSpPr>
          <p:cNvPr id="290" name="Freeform 289"/>
          <p:cNvSpPr/>
          <p:nvPr/>
        </p:nvSpPr>
        <p:spPr>
          <a:xfrm>
            <a:off x="3168000" y="4410000"/>
            <a:ext cx="5022000" cy="846000"/>
          </a:xfrm>
          <a:custGeom>
            <a:avLst/>
            <a:gdLst/>
            <a:ahLst/>
            <a:cxnLst/>
            <a:rect l="l" t="t" r="r" b="b"/>
            <a:pathLst>
              <a:path w="5022000" h="846000">
                <a:moveTo>
                  <a:pt x="0" y="0"/>
                </a:moveTo>
                <a:lnTo>
                  <a:pt x="0" y="846000"/>
                </a:lnTo>
                <a:lnTo>
                  <a:pt x="5022000" y="8460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Freeform 290"/>
          <p:cNvSpPr/>
          <p:nvPr/>
        </p:nvSpPr>
        <p:spPr>
          <a:xfrm>
            <a:off x="8096400" y="5222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Freeform 291"/>
          <p:cNvSpPr/>
          <p:nvPr/>
        </p:nvSpPr>
        <p:spPr>
          <a:xfrm>
            <a:off x="5155200" y="5155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5148000" y="5187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9</a:t>
            </a:r>
          </a:p>
        </p:txBody>
      </p:sp>
      <p:cxnSp>
        <p:nvCxnSpPr>
          <p:cNvPr id="294" name="Connector 293"/>
          <p:cNvCxnSpPr/>
          <p:nvPr/>
        </p:nvCxnSpPr>
        <p:spPr>
          <a:xfrm>
            <a:off x="4375800" y="52560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95" name="Freeform 294"/>
          <p:cNvSpPr/>
          <p:nvPr/>
        </p:nvSpPr>
        <p:spPr>
          <a:xfrm>
            <a:off x="4221000" y="53856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4235186" y="539992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155.9</a:t>
            </a:r>
          </a:p>
        </p:txBody>
      </p:sp>
      <p:sp>
        <p:nvSpPr>
          <p:cNvPr id="297" name="Freeform 296"/>
          <p:cNvSpPr/>
          <p:nvPr/>
        </p:nvSpPr>
        <p:spPr>
          <a:xfrm>
            <a:off x="8514000" y="4032000"/>
            <a:ext cx="504000" cy="1224000"/>
          </a:xfrm>
          <a:custGeom>
            <a:avLst/>
            <a:gdLst/>
            <a:ahLst/>
            <a:cxnLst/>
            <a:rect l="l" t="t" r="r" b="b"/>
            <a:pathLst>
              <a:path w="504000" h="1224000">
                <a:moveTo>
                  <a:pt x="0" y="1224000"/>
                </a:moveTo>
                <a:lnTo>
                  <a:pt x="270000" y="1224000"/>
                </a:lnTo>
                <a:lnTo>
                  <a:pt x="270000" y="0"/>
                </a:lnTo>
                <a:lnTo>
                  <a:pt x="5040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Freeform 297"/>
          <p:cNvSpPr/>
          <p:nvPr/>
        </p:nvSpPr>
        <p:spPr>
          <a:xfrm>
            <a:off x="8924400" y="3998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Freeform 298"/>
          <p:cNvSpPr/>
          <p:nvPr/>
        </p:nvSpPr>
        <p:spPr>
          <a:xfrm>
            <a:off x="8683200" y="4561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TextBox 299"/>
          <p:cNvSpPr txBox="1"/>
          <p:nvPr/>
        </p:nvSpPr>
        <p:spPr>
          <a:xfrm>
            <a:off x="8676000" y="4593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22</a:t>
            </a:r>
          </a:p>
        </p:txBody>
      </p:sp>
      <p:sp>
        <p:nvSpPr>
          <p:cNvPr id="301" name="Freeform 300"/>
          <p:cNvSpPr/>
          <p:nvPr/>
        </p:nvSpPr>
        <p:spPr>
          <a:xfrm>
            <a:off x="9216000" y="2880000"/>
            <a:ext cx="0" cy="724964"/>
          </a:xfrm>
          <a:custGeom>
            <a:avLst/>
            <a:gdLst/>
            <a:ahLst/>
            <a:cxnLst/>
            <a:rect l="l" t="t" r="r" b="b"/>
            <a:pathLst>
              <a:path w="0" h="724964">
                <a:moveTo>
                  <a:pt x="0" y="724964"/>
                </a:moveTo>
                <a:lnTo>
                  <a:pt x="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Freeform 301"/>
          <p:cNvSpPr/>
          <p:nvPr/>
        </p:nvSpPr>
        <p:spPr>
          <a:xfrm>
            <a:off x="9115200" y="3141682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9108000" y="3173902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cxnSp>
        <p:nvCxnSpPr>
          <p:cNvPr id="304" name="Connector 303"/>
          <p:cNvCxnSpPr/>
          <p:nvPr/>
        </p:nvCxnSpPr>
        <p:spPr>
          <a:xfrm>
            <a:off x="9216000" y="3351227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05" name="Freeform 304"/>
          <p:cNvSpPr/>
          <p:nvPr/>
        </p:nvSpPr>
        <p:spPr>
          <a:xfrm>
            <a:off x="9345600" y="3140627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2200" y="0"/>
                </a:moveTo>
                <a:lnTo>
                  <a:pt x="257400" y="0"/>
                </a:lnTo>
                <a:lnTo>
                  <a:pt x="309600" y="70200"/>
                </a:lnTo>
                <a:lnTo>
                  <a:pt x="257400" y="140400"/>
                </a:lnTo>
                <a:lnTo>
                  <a:pt x="52200" y="140400"/>
                </a:lnTo>
                <a:lnTo>
                  <a:pt x="0" y="70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9377109" y="3154947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1668</a:t>
            </a:r>
          </a:p>
        </p:txBody>
      </p:sp>
      <p:sp>
        <p:nvSpPr>
          <p:cNvPr id="307" name="Freeform 306"/>
          <p:cNvSpPr/>
          <p:nvPr/>
        </p:nvSpPr>
        <p:spPr>
          <a:xfrm>
            <a:off x="9345600" y="3281027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8" name="TextBox 307"/>
          <p:cNvSpPr txBox="1"/>
          <p:nvPr/>
        </p:nvSpPr>
        <p:spPr>
          <a:xfrm>
            <a:off x="9392400" y="3295347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309" name="Freeform 308"/>
          <p:cNvSpPr/>
          <p:nvPr/>
        </p:nvSpPr>
        <p:spPr>
          <a:xfrm>
            <a:off x="9345600" y="3421427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9392400" y="3435747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75</a:t>
            </a:r>
          </a:p>
        </p:txBody>
      </p:sp>
      <p:sp>
        <p:nvSpPr>
          <p:cNvPr id="311" name="Freeform 310"/>
          <p:cNvSpPr/>
          <p:nvPr/>
        </p:nvSpPr>
        <p:spPr>
          <a:xfrm>
            <a:off x="9216000" y="2880000"/>
            <a:ext cx="853200" cy="0"/>
          </a:xfrm>
          <a:custGeom>
            <a:avLst/>
            <a:gdLst/>
            <a:ahLst/>
            <a:cxnLst/>
            <a:rect l="l" t="t" r="r" b="b"/>
            <a:pathLst>
              <a:path w="853200" h="0">
                <a:moveTo>
                  <a:pt x="0" y="0"/>
                </a:moveTo>
                <a:lnTo>
                  <a:pt x="8532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2" name="Freeform 311"/>
          <p:cNvSpPr/>
          <p:nvPr/>
        </p:nvSpPr>
        <p:spPr>
          <a:xfrm>
            <a:off x="9975600" y="2846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Freeform 312"/>
          <p:cNvSpPr/>
          <p:nvPr/>
        </p:nvSpPr>
        <p:spPr>
          <a:xfrm>
            <a:off x="9559800" y="2815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Freeform 313"/>
          <p:cNvSpPr/>
          <p:nvPr/>
        </p:nvSpPr>
        <p:spPr>
          <a:xfrm>
            <a:off x="9642600" y="2815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5" name="Connector 314"/>
          <p:cNvCxnSpPr/>
          <p:nvPr/>
        </p:nvCxnSpPr>
        <p:spPr>
          <a:xfrm flipV="1">
            <a:off x="9642600" y="2722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16" name="Freeform 315"/>
          <p:cNvSpPr/>
          <p:nvPr/>
        </p:nvSpPr>
        <p:spPr>
          <a:xfrm>
            <a:off x="9603720" y="2668248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Freeform 316"/>
          <p:cNvSpPr/>
          <p:nvPr/>
        </p:nvSpPr>
        <p:spPr>
          <a:xfrm>
            <a:off x="9285840" y="2779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9278640" y="2811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11</a:t>
            </a:r>
          </a:p>
        </p:txBody>
      </p:sp>
      <p:cxnSp>
        <p:nvCxnSpPr>
          <p:cNvPr id="319" name="Connector 318"/>
          <p:cNvCxnSpPr/>
          <p:nvPr/>
        </p:nvCxnSpPr>
        <p:spPr>
          <a:xfrm flipV="1">
            <a:off x="9514620" y="2750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20" name="Freeform 319"/>
          <p:cNvSpPr/>
          <p:nvPr/>
        </p:nvSpPr>
        <p:spPr>
          <a:xfrm>
            <a:off x="9359820" y="2610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2200" y="0"/>
                </a:moveTo>
                <a:lnTo>
                  <a:pt x="257400" y="0"/>
                </a:lnTo>
                <a:lnTo>
                  <a:pt x="309600" y="70200"/>
                </a:lnTo>
                <a:lnTo>
                  <a:pt x="257400" y="140400"/>
                </a:lnTo>
                <a:lnTo>
                  <a:pt x="52200" y="140400"/>
                </a:lnTo>
                <a:lnTo>
                  <a:pt x="0" y="70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9374006" y="262432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105.1</a:t>
            </a:r>
          </a:p>
        </p:txBody>
      </p:sp>
      <p:sp>
        <p:nvSpPr>
          <p:cNvPr id="322" name="Freeform 321"/>
          <p:cNvSpPr/>
          <p:nvPr/>
        </p:nvSpPr>
        <p:spPr>
          <a:xfrm>
            <a:off x="9216000" y="4459036"/>
            <a:ext cx="853200" cy="688964"/>
          </a:xfrm>
          <a:custGeom>
            <a:avLst/>
            <a:gdLst/>
            <a:ahLst/>
            <a:cxnLst/>
            <a:rect l="l" t="t" r="r" b="b"/>
            <a:pathLst>
              <a:path w="853200" h="688964">
                <a:moveTo>
                  <a:pt x="0" y="0"/>
                </a:moveTo>
                <a:lnTo>
                  <a:pt x="0" y="688964"/>
                </a:lnTo>
                <a:lnTo>
                  <a:pt x="853200" y="688964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3" name="Freeform 322"/>
          <p:cNvSpPr/>
          <p:nvPr/>
        </p:nvSpPr>
        <p:spPr>
          <a:xfrm>
            <a:off x="9975600" y="5114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4" name="Freeform 323"/>
          <p:cNvSpPr/>
          <p:nvPr/>
        </p:nvSpPr>
        <p:spPr>
          <a:xfrm>
            <a:off x="9215318" y="5083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5" name="Freeform 324"/>
          <p:cNvSpPr/>
          <p:nvPr/>
        </p:nvSpPr>
        <p:spPr>
          <a:xfrm>
            <a:off x="9298118" y="5083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6" name="Connector 325"/>
          <p:cNvCxnSpPr/>
          <p:nvPr/>
        </p:nvCxnSpPr>
        <p:spPr>
          <a:xfrm flipV="1">
            <a:off x="9298118" y="4990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27" name="Freeform 326"/>
          <p:cNvSpPr/>
          <p:nvPr/>
        </p:nvSpPr>
        <p:spPr>
          <a:xfrm>
            <a:off x="9259238" y="4936248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8" name="Freeform 327"/>
          <p:cNvSpPr/>
          <p:nvPr/>
        </p:nvSpPr>
        <p:spPr>
          <a:xfrm>
            <a:off x="9115200" y="4666669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9" name="TextBox 328"/>
          <p:cNvSpPr txBox="1"/>
          <p:nvPr/>
        </p:nvSpPr>
        <p:spPr>
          <a:xfrm>
            <a:off x="9108000" y="4698889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cxnSp>
        <p:nvCxnSpPr>
          <p:cNvPr id="330" name="Connector 329"/>
          <p:cNvCxnSpPr/>
          <p:nvPr/>
        </p:nvCxnSpPr>
        <p:spPr>
          <a:xfrm>
            <a:off x="9216000" y="4921685"/>
            <a:ext cx="237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31" name="Freeform 330"/>
          <p:cNvSpPr/>
          <p:nvPr/>
        </p:nvSpPr>
        <p:spPr>
          <a:xfrm>
            <a:off x="9435600" y="4781285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2" name="TextBox 331"/>
          <p:cNvSpPr txBox="1"/>
          <p:nvPr/>
        </p:nvSpPr>
        <p:spPr>
          <a:xfrm>
            <a:off x="9467786" y="4795605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131.5</a:t>
            </a:r>
          </a:p>
        </p:txBody>
      </p:sp>
      <p:sp>
        <p:nvSpPr>
          <p:cNvPr id="333" name="Freeform 332"/>
          <p:cNvSpPr/>
          <p:nvPr/>
        </p:nvSpPr>
        <p:spPr>
          <a:xfrm>
            <a:off x="9453600" y="4921685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4" name="TextBox 333"/>
          <p:cNvSpPr txBox="1"/>
          <p:nvPr/>
        </p:nvSpPr>
        <p:spPr>
          <a:xfrm>
            <a:off x="9500400" y="4936005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335" name="Freeform 334"/>
          <p:cNvSpPr/>
          <p:nvPr/>
        </p:nvSpPr>
        <p:spPr>
          <a:xfrm>
            <a:off x="8928000" y="1440000"/>
            <a:ext cx="1141200" cy="1440000"/>
          </a:xfrm>
          <a:custGeom>
            <a:avLst/>
            <a:gdLst/>
            <a:ahLst/>
            <a:cxnLst/>
            <a:rect l="l" t="t" r="r" b="b"/>
            <a:pathLst>
              <a:path w="1141200" h="1440000">
                <a:moveTo>
                  <a:pt x="288000" y="1440000"/>
                </a:moveTo>
                <a:lnTo>
                  <a:pt x="0" y="1440000"/>
                </a:lnTo>
                <a:lnTo>
                  <a:pt x="0" y="0"/>
                </a:lnTo>
                <a:lnTo>
                  <a:pt x="11412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Freeform 335"/>
          <p:cNvSpPr/>
          <p:nvPr/>
        </p:nvSpPr>
        <p:spPr>
          <a:xfrm>
            <a:off x="9975600" y="1406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7" name="Freeform 336"/>
          <p:cNvSpPr/>
          <p:nvPr/>
        </p:nvSpPr>
        <p:spPr>
          <a:xfrm>
            <a:off x="8863200" y="1650600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0"/>
                </a:moveTo>
                <a:lnTo>
                  <a:pt x="129600" y="0"/>
                </a:lnTo>
                <a:lnTo>
                  <a:pt x="64800" y="82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8" name="Freeform 337"/>
          <p:cNvSpPr/>
          <p:nvPr/>
        </p:nvSpPr>
        <p:spPr>
          <a:xfrm>
            <a:off x="8863200" y="1733400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82800"/>
                </a:moveTo>
                <a:lnTo>
                  <a:pt x="129600" y="82800"/>
                </a:lnTo>
                <a:lnTo>
                  <a:pt x="6480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9" name="Connector 338"/>
          <p:cNvCxnSpPr/>
          <p:nvPr/>
        </p:nvCxnSpPr>
        <p:spPr>
          <a:xfrm>
            <a:off x="8928000" y="1733400"/>
            <a:ext cx="15732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340" name="Connector 339"/>
          <p:cNvCxnSpPr/>
          <p:nvPr/>
        </p:nvCxnSpPr>
        <p:spPr>
          <a:xfrm>
            <a:off x="9085320" y="1678968"/>
            <a:ext cx="0" cy="108864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41" name="Freeform 340"/>
          <p:cNvSpPr/>
          <p:nvPr/>
        </p:nvSpPr>
        <p:spPr>
          <a:xfrm>
            <a:off x="8827200" y="2149056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TextBox 341"/>
          <p:cNvSpPr txBox="1"/>
          <p:nvPr/>
        </p:nvSpPr>
        <p:spPr>
          <a:xfrm>
            <a:off x="8820000" y="2181276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23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1999701" y="329125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C-201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2667402" y="444325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1" i="0">
                <a:solidFill>
                  <a:srgbClr val="000000"/>
                </a:solidFill>
                <a:latin typeface="Arial"/>
              </a:rPr>
              <a:t>E-202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4807701" y="473125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E-201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5959701" y="444325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E-204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6012000" y="39587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" b="0" i="0">
                <a:solidFill>
                  <a:srgbClr val="000000"/>
                </a:solidFill>
                <a:latin typeface="Arial"/>
              </a:rPr>
              <a:t>hps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6779416" y="3983286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1" i="0">
                <a:solidFill>
                  <a:srgbClr val="000000"/>
                </a:solidFill>
                <a:latin typeface="Arial"/>
              </a:rPr>
              <a:t>R-201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8191701" y="545125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E-203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7956000" y="5455065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420" b="0" i="0">
                <a:solidFill>
                  <a:srgbClr val="000000"/>
                </a:solidFill>
                <a:latin typeface="Arial"/>
              </a:rPr>
              <a:t>cw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9471600" y="3963420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40" b="1" i="0">
                <a:solidFill>
                  <a:srgbClr val="000000"/>
                </a:solidFill>
                <a:latin typeface="Arial"/>
              </a:rPr>
              <a:t>V-201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199386" y="2003702"/>
            <a:ext cx="681227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Make-up Syngas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9510801" y="2996690"/>
            <a:ext cx="1008786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Purge to Reformer Fuel</a:t>
            </a:r>
          </a:p>
        </p:txBody>
      </p:sp>
      <p:sp>
        <p:nvSpPr>
          <p:cNvPr id="354" name="TextBox 353"/>
          <p:cNvSpPr txBox="1"/>
          <p:nvPr/>
        </p:nvSpPr>
        <p:spPr>
          <a:xfrm>
            <a:off x="9315983" y="5264690"/>
            <a:ext cx="1213510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Crude MeOH to Let-down Drum</a:t>
            </a:r>
          </a:p>
        </p:txBody>
      </p:sp>
      <p:sp>
        <p:nvSpPr>
          <p:cNvPr id="355" name="TextBox 354"/>
          <p:cNvSpPr txBox="1"/>
          <p:nvPr/>
        </p:nvSpPr>
        <p:spPr>
          <a:xfrm>
            <a:off x="9995638" y="1211702"/>
            <a:ext cx="312724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Flare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8090804" y="1049702"/>
            <a:ext cx="558393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Recycle Gas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4464669" y="3153285"/>
            <a:ext cx="35366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TV-241</a:t>
            </a:r>
          </a:p>
        </p:txBody>
      </p:sp>
      <p:sp>
        <p:nvSpPr>
          <p:cNvPr id="358" name="TextBox 357"/>
          <p:cNvSpPr txBox="1"/>
          <p:nvPr/>
        </p:nvSpPr>
        <p:spPr>
          <a:xfrm>
            <a:off x="4464669" y="2867833"/>
            <a:ext cx="35366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TV-231</a:t>
            </a:r>
          </a:p>
        </p:txBody>
      </p:sp>
      <p:sp>
        <p:nvSpPr>
          <p:cNvPr id="359" name="TextBox 358"/>
          <p:cNvSpPr txBox="1"/>
          <p:nvPr/>
        </p:nvSpPr>
        <p:spPr>
          <a:xfrm>
            <a:off x="4242812" y="2571893"/>
            <a:ext cx="35366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TV-221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4428000" y="4865960"/>
            <a:ext cx="35366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 i="0">
                <a:solidFill>
                  <a:srgbClr val="000000"/>
                </a:solidFill>
                <a:latin typeface="Arial"/>
              </a:rPr>
              <a:t>TV-211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9721726" y="2705702"/>
            <a:ext cx="35366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PV-203</a:t>
            </a:r>
          </a:p>
        </p:txBody>
      </p:sp>
      <p:sp>
        <p:nvSpPr>
          <p:cNvPr id="362" name="TextBox 361"/>
          <p:cNvSpPr txBox="1"/>
          <p:nvPr/>
        </p:nvSpPr>
        <p:spPr>
          <a:xfrm>
            <a:off x="8754331" y="4778537"/>
            <a:ext cx="35366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20" b="0" i="0">
                <a:solidFill>
                  <a:srgbClr val="000000"/>
                </a:solidFill>
                <a:latin typeface="Arial"/>
              </a:rPr>
              <a:t>LV-204</a:t>
            </a:r>
          </a:p>
        </p:txBody>
      </p:sp>
      <p:sp>
        <p:nvSpPr>
          <p:cNvPr id="363" name="TextBox 362"/>
          <p:cNvSpPr txBox="1"/>
          <p:nvPr/>
        </p:nvSpPr>
        <p:spPr>
          <a:xfrm>
            <a:off x="8466331" y="2384660"/>
            <a:ext cx="35366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20" b="0" i="0">
                <a:solidFill>
                  <a:srgbClr val="000000"/>
                </a:solidFill>
                <a:latin typeface="Arial"/>
              </a:rPr>
              <a:t>HV-205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836788" y="2322660"/>
            <a:ext cx="306425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" b="0" i="0">
                <a:solidFill>
                  <a:srgbClr val="000000"/>
                </a:solidFill>
                <a:latin typeface="Arial"/>
              </a:rPr>
              <a:t>XV-202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1214788" y="2322660"/>
            <a:ext cx="306425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" b="0" i="0">
                <a:solidFill>
                  <a:srgbClr val="000000"/>
                </a:solidFill>
                <a:latin typeface="Arial"/>
              </a:rPr>
              <a:t>FV-202</a:t>
            </a:r>
          </a:p>
        </p:txBody>
      </p:sp>
      <p:sp>
        <p:nvSpPr>
          <p:cNvPr id="366" name="Oval 365"/>
          <p:cNvSpPr/>
          <p:nvPr/>
        </p:nvSpPr>
        <p:spPr>
          <a:xfrm>
            <a:off x="9831600" y="3351600"/>
            <a:ext cx="208800" cy="2088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TextBox 366"/>
          <p:cNvSpPr txBox="1"/>
          <p:nvPr/>
        </p:nvSpPr>
        <p:spPr>
          <a:xfrm>
            <a:off x="9828000" y="3405200"/>
            <a:ext cx="216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000000"/>
                </a:solidFill>
                <a:latin typeface="Arial"/>
              </a:rPr>
              <a:t>PSV</a:t>
            </a:r>
          </a:p>
        </p:txBody>
      </p:sp>
      <p:cxnSp>
        <p:nvCxnSpPr>
          <p:cNvPr id="368" name="Connector 367"/>
          <p:cNvCxnSpPr/>
          <p:nvPr/>
        </p:nvCxnSpPr>
        <p:spPr>
          <a:xfrm flipH="1">
            <a:off x="9432000" y="3456000"/>
            <a:ext cx="504000" cy="216000"/>
          </a:xfrm>
          <a:prstGeom prst="line">
            <a:avLst/>
          </a:prstGeom>
          <a:ln w="5400">
            <a:solidFill>
              <a:srgbClr val="000000"/>
            </a:solidFill>
            <a:prstDash val="dash"/>
          </a:ln>
          <a:effectLst/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