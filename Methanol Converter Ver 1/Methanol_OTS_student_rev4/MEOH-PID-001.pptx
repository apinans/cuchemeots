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124176" cy="1068933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82880" y="182880"/>
            <a:ext cx="14758416" cy="10323576"/>
          </a:xfrm>
          <a:prstGeom prst="rect">
            <a:avLst/>
          </a:prstGeom>
          <a:noFill/>
          <a:ln w="2794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320040"/>
            <a:ext cx="14484096" cy="10049256"/>
          </a:xfrm>
          <a:prstGeom prst="rect">
            <a:avLst/>
          </a:prstGeom>
          <a:noFill/>
          <a:ln w="1143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983480" y="685800"/>
            <a:ext cx="1371600" cy="69494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5029200" y="1463040"/>
            <a:ext cx="1280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029200" y="2011680"/>
            <a:ext cx="128016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5054600" y="1481328"/>
            <a:ext cx="91440" cy="51206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V="1">
            <a:off x="5196840" y="1481328"/>
            <a:ext cx="91440" cy="51206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5339080" y="1481328"/>
            <a:ext cx="91440" cy="51206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5908040" y="1481328"/>
            <a:ext cx="91440" cy="51206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6050280" y="1481328"/>
            <a:ext cx="91440" cy="51206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6192520" y="1481328"/>
            <a:ext cx="91440" cy="51206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029200" y="1673352"/>
            <a:ext cx="12801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1 · 25.0 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29200" y="2331720"/>
            <a:ext cx="1280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3246120"/>
            <a:ext cx="128016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054600" y="2350008"/>
            <a:ext cx="91440" cy="87782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5196840" y="2350008"/>
            <a:ext cx="91440" cy="87782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339080" y="2350008"/>
            <a:ext cx="91440" cy="87782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908040" y="2350008"/>
            <a:ext cx="91440" cy="87782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6050280" y="2350008"/>
            <a:ext cx="91440" cy="87782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192520" y="2350008"/>
            <a:ext cx="91440" cy="87782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029200" y="2724912"/>
            <a:ext cx="12801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2 · 41.7 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0" y="3584448"/>
            <a:ext cx="1280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029200" y="4864608"/>
            <a:ext cx="128016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5054600" y="3602736"/>
            <a:ext cx="91440" cy="124358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5196840" y="3602736"/>
            <a:ext cx="91440" cy="124358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5339080" y="3602736"/>
            <a:ext cx="91440" cy="124358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5908040" y="3602736"/>
            <a:ext cx="91440" cy="124358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050280" y="3602736"/>
            <a:ext cx="91440" cy="124358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6192520" y="3602736"/>
            <a:ext cx="91440" cy="124358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0" y="4160520"/>
            <a:ext cx="12801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3 · 58.3 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29200" y="5212080"/>
            <a:ext cx="1280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5029200" y="6858000"/>
            <a:ext cx="128016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5054600" y="5230368"/>
            <a:ext cx="91440" cy="16093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5196840" y="5230368"/>
            <a:ext cx="91440" cy="16093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5339080" y="5230368"/>
            <a:ext cx="91440" cy="16093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5908040" y="5230368"/>
            <a:ext cx="91440" cy="16093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6050280" y="5230368"/>
            <a:ext cx="91440" cy="16093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6192520" y="5230368"/>
            <a:ext cx="91440" cy="1609344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029200" y="5971031"/>
            <a:ext cx="12801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>BED 4 · 83.3 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074920" y="2176272"/>
            <a:ext cx="11887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Oval 41"/>
          <p:cNvSpPr/>
          <p:nvPr/>
        </p:nvSpPr>
        <p:spPr>
          <a:xfrm>
            <a:off x="5161788" y="219456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326379" y="219456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490971" y="219456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655563" y="219456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5820155" y="219456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5984747" y="219456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149339" y="2194560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" name="Connector 48"/>
          <p:cNvCxnSpPr/>
          <p:nvPr/>
        </p:nvCxnSpPr>
        <p:spPr>
          <a:xfrm>
            <a:off x="5074920" y="3429000"/>
            <a:ext cx="11887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Oval 49"/>
          <p:cNvSpPr/>
          <p:nvPr/>
        </p:nvSpPr>
        <p:spPr>
          <a:xfrm>
            <a:off x="5161788" y="3447288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5326379" y="3447288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490971" y="3447288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655563" y="3447288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820155" y="3447288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984747" y="3447288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6149339" y="3447288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5074920" y="5047488"/>
            <a:ext cx="118872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Oval 57"/>
          <p:cNvSpPr/>
          <p:nvPr/>
        </p:nvSpPr>
        <p:spPr>
          <a:xfrm>
            <a:off x="5161788" y="5065775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326379" y="5065775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490971" y="5065775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5655563" y="5065775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5820155" y="5065775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5984747" y="5065775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149339" y="5065775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5257800" y="1188720"/>
            <a:ext cx="822960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5166360" y="1216152"/>
            <a:ext cx="10058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INLET DISTRIBUTOR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166360" y="7086600"/>
            <a:ext cx="100584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459" b="0">
                <a:solidFill>
                  <a:srgbClr val="000000"/>
                </a:solidFill>
                <a:latin typeface="Arial"/>
              </a:rPr>
              <a:t>OUTLET COLLECTOR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017520" y="438912"/>
            <a:ext cx="173736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R-201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017520" y="576072"/>
            <a:ext cx="173736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METHANOL QUENCH CONVERTER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690372"/>
            <a:ext cx="173736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4 ADIABATIC BEDS, Cu/ZnO/Al2O3 184 m3</a:t>
            </a:r>
          </a:p>
        </p:txBody>
      </p:sp>
      <p:sp>
        <p:nvSpPr>
          <p:cNvPr id="71" name="Freeform 70"/>
          <p:cNvSpPr/>
          <p:nvPr/>
        </p:nvSpPr>
        <p:spPr>
          <a:xfrm>
            <a:off x="502920" y="8138160"/>
            <a:ext cx="329184" cy="182880"/>
          </a:xfrm>
          <a:custGeom>
            <a:avLst/>
            <a:gdLst/>
            <a:ahLst/>
            <a:cxnLst/>
            <a:rect l="l" t="t" r="r" b="b"/>
            <a:pathLst>
              <a:path w="329184" h="182880">
                <a:moveTo>
                  <a:pt x="0" y="0"/>
                </a:moveTo>
                <a:lnTo>
                  <a:pt x="256032" y="0"/>
                </a:lnTo>
                <a:lnTo>
                  <a:pt x="329184" y="91440"/>
                </a:lnTo>
                <a:lnTo>
                  <a:pt x="256032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77824" y="8129016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57200" y="8348472"/>
            <a:ext cx="173736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FROM E-202 COLD SIDE (MEOH-PID-002)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CONVERTER FEED ~97 C, 80 bar g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832104" y="8229600"/>
            <a:ext cx="1545336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Oval 74"/>
          <p:cNvSpPr/>
          <p:nvPr/>
        </p:nvSpPr>
        <p:spPr>
          <a:xfrm>
            <a:off x="2347722" y="8199881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298448" y="76078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205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298448" y="77724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463040" y="7936992"/>
            <a:ext cx="0" cy="2926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Oval 78"/>
          <p:cNvSpPr/>
          <p:nvPr/>
        </p:nvSpPr>
        <p:spPr>
          <a:xfrm>
            <a:off x="1440180" y="82067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664208" y="7644383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 / CO2 /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CH4 (INLET)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2784043" y="8101583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DN750-PG-201</a:t>
            </a:r>
          </a:p>
        </p:txBody>
      </p:sp>
      <p:cxnSp>
        <p:nvCxnSpPr>
          <p:cNvPr id="82" name="Connector 81"/>
          <p:cNvCxnSpPr/>
          <p:nvPr/>
        </p:nvCxnSpPr>
        <p:spPr>
          <a:xfrm>
            <a:off x="3630168" y="8119872"/>
            <a:ext cx="0" cy="21945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685032" y="8119872"/>
            <a:ext cx="0" cy="219455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3493008" y="76078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3493008" y="77724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3657600" y="7936992"/>
            <a:ext cx="0" cy="1828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2377440" y="8229600"/>
            <a:ext cx="576072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138160" y="8033004"/>
            <a:ext cx="0" cy="19659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Freeform 88"/>
          <p:cNvSpPr/>
          <p:nvPr/>
        </p:nvSpPr>
        <p:spPr>
          <a:xfrm>
            <a:off x="8138160" y="7877555"/>
            <a:ext cx="77724" cy="155449"/>
          </a:xfrm>
          <a:custGeom>
            <a:avLst/>
            <a:gdLst/>
            <a:ahLst/>
            <a:cxnLst/>
            <a:rect l="l" t="t" r="r" b="b"/>
            <a:pathLst>
              <a:path w="77724" h="155449">
                <a:moveTo>
                  <a:pt x="0" y="155449"/>
                </a:moveTo>
                <a:lnTo>
                  <a:pt x="38862" y="145035"/>
                </a:lnTo>
                <a:lnTo>
                  <a:pt x="67310" y="116587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4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0" name="Connector 89"/>
          <p:cNvCxnSpPr/>
          <p:nvPr/>
        </p:nvCxnSpPr>
        <p:spPr>
          <a:xfrm flipV="1">
            <a:off x="8138160" y="5806440"/>
            <a:ext cx="0" cy="207111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1" name="Oval 90"/>
          <p:cNvSpPr/>
          <p:nvPr/>
        </p:nvSpPr>
        <p:spPr>
          <a:xfrm>
            <a:off x="8108442" y="577672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2" name="Connector 91"/>
          <p:cNvCxnSpPr/>
          <p:nvPr/>
        </p:nvCxnSpPr>
        <p:spPr>
          <a:xfrm flipV="1">
            <a:off x="2377440" y="2176272"/>
            <a:ext cx="0" cy="6053328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2377440" y="2176272"/>
            <a:ext cx="2606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2898648" y="2066543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2953512" y="2066543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Oval 95"/>
          <p:cNvSpPr/>
          <p:nvPr/>
        </p:nvSpPr>
        <p:spPr>
          <a:xfrm>
            <a:off x="2761488" y="155448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222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2761488" y="171907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926080" y="1883664"/>
            <a:ext cx="0" cy="18287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Freeform 98"/>
          <p:cNvSpPr/>
          <p:nvPr/>
        </p:nvSpPr>
        <p:spPr>
          <a:xfrm>
            <a:off x="3493008" y="2098548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0" name="Connector 99"/>
          <p:cNvCxnSpPr/>
          <p:nvPr/>
        </p:nvCxnSpPr>
        <p:spPr>
          <a:xfrm flipV="1">
            <a:off x="3611880" y="1975103"/>
            <a:ext cx="0" cy="123445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Freeform 100"/>
          <p:cNvSpPr/>
          <p:nvPr/>
        </p:nvSpPr>
        <p:spPr>
          <a:xfrm>
            <a:off x="3520440" y="1894058"/>
            <a:ext cx="182880" cy="81045"/>
          </a:xfrm>
          <a:custGeom>
            <a:avLst/>
            <a:gdLst/>
            <a:ahLst/>
            <a:cxnLst/>
            <a:rect l="l" t="t" r="r" b="b"/>
            <a:pathLst>
              <a:path w="182880" h="81045">
                <a:moveTo>
                  <a:pt x="182880" y="81045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3291840" y="2286000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TV-221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3291840" y="2395728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448251" y="2039112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DN300-PG-222</a:t>
            </a:r>
          </a:p>
        </p:txBody>
      </p:sp>
      <p:sp>
        <p:nvSpPr>
          <p:cNvPr id="105" name="Oval 104"/>
          <p:cNvSpPr/>
          <p:nvPr/>
        </p:nvSpPr>
        <p:spPr>
          <a:xfrm>
            <a:off x="4059936" y="242316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221</a:t>
            </a:r>
          </a:p>
        </p:txBody>
      </p:sp>
      <p:cxnSp>
        <p:nvCxnSpPr>
          <p:cNvPr id="106" name="Connector 105"/>
          <p:cNvCxnSpPr/>
          <p:nvPr/>
        </p:nvCxnSpPr>
        <p:spPr>
          <a:xfrm>
            <a:off x="4059936" y="258775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4389120" y="2587752"/>
            <a:ext cx="5943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Oval 107"/>
          <p:cNvSpPr/>
          <p:nvPr/>
        </p:nvSpPr>
        <p:spPr>
          <a:xfrm>
            <a:off x="4960620" y="2564892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9" name="Connector 108"/>
          <p:cNvCxnSpPr/>
          <p:nvPr/>
        </p:nvCxnSpPr>
        <p:spPr>
          <a:xfrm flipV="1">
            <a:off x="4224528" y="1792224"/>
            <a:ext cx="0" cy="6309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3611880" y="1792224"/>
            <a:ext cx="6126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3611880" y="1792224"/>
            <a:ext cx="0" cy="100583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2347722" y="33992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377440" y="3429000"/>
            <a:ext cx="2606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2898648" y="331927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2953512" y="3319272"/>
            <a:ext cx="0" cy="219456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2761488" y="2807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232</a:t>
            </a:r>
          </a:p>
        </p:txBody>
      </p:sp>
      <p:cxnSp>
        <p:nvCxnSpPr>
          <p:cNvPr id="117" name="Connector 116"/>
          <p:cNvCxnSpPr/>
          <p:nvPr/>
        </p:nvCxnSpPr>
        <p:spPr>
          <a:xfrm>
            <a:off x="2761488" y="297180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2926080" y="3136392"/>
            <a:ext cx="0" cy="1828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Freeform 118"/>
          <p:cNvSpPr/>
          <p:nvPr/>
        </p:nvSpPr>
        <p:spPr>
          <a:xfrm>
            <a:off x="3493008" y="3351276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V="1">
            <a:off x="3611880" y="3227832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1" name="Freeform 120"/>
          <p:cNvSpPr/>
          <p:nvPr/>
        </p:nvSpPr>
        <p:spPr>
          <a:xfrm>
            <a:off x="3520440" y="3146786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3291840" y="3538728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TV-231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3291840" y="3648456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448251" y="3291840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DN350-PG-232</a:t>
            </a:r>
          </a:p>
        </p:txBody>
      </p:sp>
      <p:sp>
        <p:nvSpPr>
          <p:cNvPr id="125" name="Oval 124"/>
          <p:cNvSpPr/>
          <p:nvPr/>
        </p:nvSpPr>
        <p:spPr>
          <a:xfrm>
            <a:off x="4059936" y="367588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231</a:t>
            </a:r>
          </a:p>
        </p:txBody>
      </p:sp>
      <p:cxnSp>
        <p:nvCxnSpPr>
          <p:cNvPr id="126" name="Connector 125"/>
          <p:cNvCxnSpPr/>
          <p:nvPr/>
        </p:nvCxnSpPr>
        <p:spPr>
          <a:xfrm>
            <a:off x="4059936" y="384048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4389120" y="3840480"/>
            <a:ext cx="5943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4960620" y="38176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 flipV="1">
            <a:off x="4224528" y="3044952"/>
            <a:ext cx="0" cy="6309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H="1">
            <a:off x="3611880" y="3044952"/>
            <a:ext cx="6126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3611880" y="3044952"/>
            <a:ext cx="0" cy="1005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2347722" y="5017770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3" name="Connector 132"/>
          <p:cNvCxnSpPr/>
          <p:nvPr/>
        </p:nvCxnSpPr>
        <p:spPr>
          <a:xfrm>
            <a:off x="2377440" y="5047488"/>
            <a:ext cx="260604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98648" y="4937759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53512" y="4937759"/>
            <a:ext cx="0" cy="219457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Oval 135"/>
          <p:cNvSpPr/>
          <p:nvPr/>
        </p:nvSpPr>
        <p:spPr>
          <a:xfrm>
            <a:off x="2761488" y="442569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FI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242</a:t>
            </a:r>
          </a:p>
        </p:txBody>
      </p:sp>
      <p:cxnSp>
        <p:nvCxnSpPr>
          <p:cNvPr id="137" name="Connector 136"/>
          <p:cNvCxnSpPr/>
          <p:nvPr/>
        </p:nvCxnSpPr>
        <p:spPr>
          <a:xfrm>
            <a:off x="2761488" y="459028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926080" y="4754879"/>
            <a:ext cx="0" cy="18288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Freeform 138"/>
          <p:cNvSpPr/>
          <p:nvPr/>
        </p:nvSpPr>
        <p:spPr>
          <a:xfrm>
            <a:off x="3493008" y="4969764"/>
            <a:ext cx="237744" cy="155448"/>
          </a:xfrm>
          <a:custGeom>
            <a:avLst/>
            <a:gdLst/>
            <a:ahLst/>
            <a:cxnLst/>
            <a:rect l="l" t="t" r="r" b="b"/>
            <a:pathLst>
              <a:path w="237744" h="155448">
                <a:moveTo>
                  <a:pt x="0" y="0"/>
                </a:moveTo>
                <a:lnTo>
                  <a:pt x="237744" y="155448"/>
                </a:lnTo>
                <a:lnTo>
                  <a:pt x="237744" y="0"/>
                </a:lnTo>
                <a:lnTo>
                  <a:pt x="0" y="155448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0" name="Connector 139"/>
          <p:cNvCxnSpPr/>
          <p:nvPr/>
        </p:nvCxnSpPr>
        <p:spPr>
          <a:xfrm flipV="1">
            <a:off x="3611880" y="4846320"/>
            <a:ext cx="0" cy="123444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Freeform 140"/>
          <p:cNvSpPr/>
          <p:nvPr/>
        </p:nvSpPr>
        <p:spPr>
          <a:xfrm>
            <a:off x="3520440" y="4765274"/>
            <a:ext cx="182880" cy="81046"/>
          </a:xfrm>
          <a:custGeom>
            <a:avLst/>
            <a:gdLst/>
            <a:ahLst/>
            <a:cxnLst/>
            <a:rect l="l" t="t" r="r" b="b"/>
            <a:pathLst>
              <a:path w="182880" h="81046">
                <a:moveTo>
                  <a:pt x="182880" y="81046"/>
                </a:moveTo>
                <a:lnTo>
                  <a:pt x="177365" y="52899"/>
                </a:lnTo>
                <a:lnTo>
                  <a:pt x="161487" y="28147"/>
                </a:lnTo>
                <a:lnTo>
                  <a:pt x="137160" y="9775"/>
                </a:lnTo>
                <a:lnTo>
                  <a:pt x="107318" y="0"/>
                </a:lnTo>
                <a:lnTo>
                  <a:pt x="75561" y="0"/>
                </a:lnTo>
                <a:lnTo>
                  <a:pt x="45720" y="9775"/>
                </a:lnTo>
                <a:lnTo>
                  <a:pt x="21392" y="28147"/>
                </a:lnTo>
                <a:lnTo>
                  <a:pt x="5514" y="52899"/>
                </a:lnTo>
                <a:lnTo>
                  <a:pt x="0" y="81046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291840" y="5157216"/>
            <a:ext cx="64008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TV-241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3291840" y="5266944"/>
            <a:ext cx="6400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4448251" y="4910327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DN350-PG-242</a:t>
            </a:r>
          </a:p>
        </p:txBody>
      </p:sp>
      <p:sp>
        <p:nvSpPr>
          <p:cNvPr id="145" name="Oval 144"/>
          <p:cNvSpPr/>
          <p:nvPr/>
        </p:nvSpPr>
        <p:spPr>
          <a:xfrm>
            <a:off x="4059936" y="5294376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241</a:t>
            </a:r>
          </a:p>
        </p:txBody>
      </p:sp>
      <p:cxnSp>
        <p:nvCxnSpPr>
          <p:cNvPr id="146" name="Connector 145"/>
          <p:cNvCxnSpPr/>
          <p:nvPr/>
        </p:nvCxnSpPr>
        <p:spPr>
          <a:xfrm>
            <a:off x="4059936" y="5458968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4389120" y="5458968"/>
            <a:ext cx="5943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Oval 147"/>
          <p:cNvSpPr/>
          <p:nvPr/>
        </p:nvSpPr>
        <p:spPr>
          <a:xfrm>
            <a:off x="4960620" y="5436107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9" name="Connector 148"/>
          <p:cNvCxnSpPr/>
          <p:nvPr/>
        </p:nvCxnSpPr>
        <p:spPr>
          <a:xfrm flipV="1">
            <a:off x="4224528" y="4663440"/>
            <a:ext cx="0" cy="63093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H="1">
            <a:off x="3611880" y="4663440"/>
            <a:ext cx="6126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11880" y="4663440"/>
            <a:ext cx="0" cy="100584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2" name="TextBox 151"/>
          <p:cNvSpPr txBox="1"/>
          <p:nvPr/>
        </p:nvSpPr>
        <p:spPr>
          <a:xfrm>
            <a:off x="1143000" y="3246120"/>
            <a:ext cx="114300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QUENCH (COLD SHOT)</a:t>
            </a:r>
          </a:p>
          <a:p>
            <a:pPr algn="r"/>
            <a:r>
              <a:rPr sz="500" b="0">
                <a:solidFill>
                  <a:srgbClr val="000000"/>
                </a:solidFill>
                <a:latin typeface="Arial"/>
              </a:rPr>
              <a:t>HEADER ~97 C</a:t>
            </a:r>
          </a:p>
        </p:txBody>
      </p:sp>
      <p:cxnSp>
        <p:nvCxnSpPr>
          <p:cNvPr id="153" name="Connector 152"/>
          <p:cNvCxnSpPr/>
          <p:nvPr/>
        </p:nvCxnSpPr>
        <p:spPr>
          <a:xfrm flipH="1">
            <a:off x="6492240" y="1051560"/>
            <a:ext cx="6858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6492240" y="502920"/>
            <a:ext cx="0" cy="548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H="1">
            <a:off x="5669280" y="502920"/>
            <a:ext cx="82296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5669280" y="502920"/>
            <a:ext cx="0" cy="18288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7" name="TextBox 156"/>
          <p:cNvSpPr txBox="1"/>
          <p:nvPr/>
        </p:nvSpPr>
        <p:spPr>
          <a:xfrm>
            <a:off x="5847283" y="374904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DN600-PG-213</a:t>
            </a:r>
          </a:p>
        </p:txBody>
      </p:sp>
      <p:sp>
        <p:nvSpPr>
          <p:cNvPr id="158" name="Oval 157"/>
          <p:cNvSpPr/>
          <p:nvPr/>
        </p:nvSpPr>
        <p:spPr>
          <a:xfrm>
            <a:off x="6739128" y="548640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TIC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211</a:t>
            </a:r>
          </a:p>
        </p:txBody>
      </p:sp>
      <p:cxnSp>
        <p:nvCxnSpPr>
          <p:cNvPr id="159" name="Connector 158"/>
          <p:cNvCxnSpPr/>
          <p:nvPr/>
        </p:nvCxnSpPr>
        <p:spPr>
          <a:xfrm>
            <a:off x="6739128" y="713232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H="1">
            <a:off x="6492240" y="713232"/>
            <a:ext cx="24688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1" name="Oval 160"/>
          <p:cNvSpPr/>
          <p:nvPr/>
        </p:nvSpPr>
        <p:spPr>
          <a:xfrm>
            <a:off x="6469379" y="690372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ounded Rectangle 161"/>
          <p:cNvSpPr/>
          <p:nvPr/>
        </p:nvSpPr>
        <p:spPr>
          <a:xfrm>
            <a:off x="7178040" y="914400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3" name="Connector 162"/>
          <p:cNvCxnSpPr/>
          <p:nvPr/>
        </p:nvCxnSpPr>
        <p:spPr>
          <a:xfrm>
            <a:off x="7328915" y="914400"/>
            <a:ext cx="0" cy="2743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7850124" y="914400"/>
            <a:ext cx="0" cy="27432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7328915" y="1010412"/>
            <a:ext cx="52120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7328915" y="1092708"/>
            <a:ext cx="521209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/>
          <p:cNvSpPr txBox="1"/>
          <p:nvPr/>
        </p:nvSpPr>
        <p:spPr>
          <a:xfrm>
            <a:off x="7114032" y="548640"/>
            <a:ext cx="45720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E-204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7114032" y="685800"/>
            <a:ext cx="5029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START-UP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HEATER</a:t>
            </a:r>
          </a:p>
        </p:txBody>
      </p:sp>
      <p:cxnSp>
        <p:nvCxnSpPr>
          <p:cNvPr id="169" name="Connector 168"/>
          <p:cNvCxnSpPr/>
          <p:nvPr/>
        </p:nvCxnSpPr>
        <p:spPr>
          <a:xfrm>
            <a:off x="7863840" y="411480"/>
            <a:ext cx="0" cy="50292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Freeform 169"/>
          <p:cNvSpPr/>
          <p:nvPr/>
        </p:nvSpPr>
        <p:spPr>
          <a:xfrm>
            <a:off x="7786115" y="539496"/>
            <a:ext cx="155449" cy="237744"/>
          </a:xfrm>
          <a:custGeom>
            <a:avLst/>
            <a:gdLst/>
            <a:ahLst/>
            <a:cxnLst/>
            <a:rect l="l" t="t" r="r" b="b"/>
            <a:pathLst>
              <a:path w="155449" h="237744">
                <a:moveTo>
                  <a:pt x="0" y="0"/>
                </a:moveTo>
                <a:lnTo>
                  <a:pt x="155449" y="237744"/>
                </a:lnTo>
                <a:lnTo>
                  <a:pt x="0" y="237744"/>
                </a:lnTo>
                <a:lnTo>
                  <a:pt x="155449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 flipH="1">
            <a:off x="7662671" y="658368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Freeform 171"/>
          <p:cNvSpPr/>
          <p:nvPr/>
        </p:nvSpPr>
        <p:spPr>
          <a:xfrm>
            <a:off x="7581626" y="566928"/>
            <a:ext cx="81045" cy="182880"/>
          </a:xfrm>
          <a:custGeom>
            <a:avLst/>
            <a:gdLst/>
            <a:ahLst/>
            <a:cxnLst/>
            <a:rect l="l" t="t" r="r" b="b"/>
            <a:pathLst>
              <a:path w="81045" h="182880">
                <a:moveTo>
                  <a:pt x="81045" y="182880"/>
                </a:moveTo>
                <a:lnTo>
                  <a:pt x="52899" y="177365"/>
                </a:lnTo>
                <a:lnTo>
                  <a:pt x="28147" y="161487"/>
                </a:lnTo>
                <a:lnTo>
                  <a:pt x="9775" y="137160"/>
                </a:lnTo>
                <a:lnTo>
                  <a:pt x="0" y="107318"/>
                </a:lnTo>
                <a:lnTo>
                  <a:pt x="0" y="75561"/>
                </a:lnTo>
                <a:lnTo>
                  <a:pt x="9775" y="45720"/>
                </a:lnTo>
                <a:lnTo>
                  <a:pt x="28147" y="21392"/>
                </a:lnTo>
                <a:lnTo>
                  <a:pt x="52899" y="5514"/>
                </a:lnTo>
                <a:lnTo>
                  <a:pt x="81045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7973567" y="548640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HV-214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7973567" y="676656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FC (HIC-214)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7918704" y="329184"/>
            <a:ext cx="10972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HP STEAM 40 bar g</a:t>
            </a:r>
          </a:p>
        </p:txBody>
      </p:sp>
      <p:cxnSp>
        <p:nvCxnSpPr>
          <p:cNvPr id="176" name="Connector 175"/>
          <p:cNvCxnSpPr/>
          <p:nvPr/>
        </p:nvCxnSpPr>
        <p:spPr>
          <a:xfrm>
            <a:off x="7498079" y="1188720"/>
            <a:ext cx="0" cy="36576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7498079" y="1554480"/>
            <a:ext cx="384048" cy="0"/>
          </a:xfrm>
          <a:prstGeom prst="line">
            <a:avLst/>
          </a:prstGeom>
          <a:ln w="1270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extBox 177"/>
          <p:cNvSpPr txBox="1"/>
          <p:nvPr/>
        </p:nvSpPr>
        <p:spPr>
          <a:xfrm>
            <a:off x="7516368" y="1591056"/>
            <a:ext cx="4114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COND.</a:t>
            </a:r>
          </a:p>
        </p:txBody>
      </p:sp>
      <p:cxnSp>
        <p:nvCxnSpPr>
          <p:cNvPr id="179" name="Connector 178"/>
          <p:cNvCxnSpPr/>
          <p:nvPr/>
        </p:nvCxnSpPr>
        <p:spPr>
          <a:xfrm flipV="1">
            <a:off x="8138160" y="1051560"/>
            <a:ext cx="0" cy="169164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H="1">
            <a:off x="8001000" y="1051560"/>
            <a:ext cx="13716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Rounded Rectangle 180"/>
          <p:cNvSpPr/>
          <p:nvPr/>
        </p:nvSpPr>
        <p:spPr>
          <a:xfrm>
            <a:off x="9006840" y="2468880"/>
            <a:ext cx="640080" cy="36576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2" name="Connector 181"/>
          <p:cNvCxnSpPr/>
          <p:nvPr/>
        </p:nvCxnSpPr>
        <p:spPr>
          <a:xfrm>
            <a:off x="9006840" y="2820924"/>
            <a:ext cx="64007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9006840" y="5774436"/>
            <a:ext cx="640079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9230867" y="2820924"/>
            <a:ext cx="0" cy="295351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9422892" y="2820924"/>
            <a:ext cx="0" cy="2953512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8138160" y="5806440"/>
            <a:ext cx="868680" cy="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H="1">
            <a:off x="8138160" y="2743200"/>
            <a:ext cx="86868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8108442" y="2713482"/>
            <a:ext cx="59436" cy="59436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Freeform 188"/>
          <p:cNvSpPr/>
          <p:nvPr/>
        </p:nvSpPr>
        <p:spPr>
          <a:xfrm>
            <a:off x="8060436" y="3630168"/>
            <a:ext cx="155448" cy="237743"/>
          </a:xfrm>
          <a:custGeom>
            <a:avLst/>
            <a:gdLst/>
            <a:ahLst/>
            <a:cxnLst/>
            <a:rect l="l" t="t" r="r" b="b"/>
            <a:pathLst>
              <a:path w="155448" h="237743">
                <a:moveTo>
                  <a:pt x="0" y="0"/>
                </a:moveTo>
                <a:lnTo>
                  <a:pt x="155448" y="237743"/>
                </a:lnTo>
                <a:lnTo>
                  <a:pt x="0" y="237743"/>
                </a:lnTo>
                <a:lnTo>
                  <a:pt x="155448" y="0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 flipH="1">
            <a:off x="7936992" y="3749039"/>
            <a:ext cx="12344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1" name="Freeform 190"/>
          <p:cNvSpPr/>
          <p:nvPr/>
        </p:nvSpPr>
        <p:spPr>
          <a:xfrm>
            <a:off x="7855946" y="3657599"/>
            <a:ext cx="81046" cy="182880"/>
          </a:xfrm>
          <a:custGeom>
            <a:avLst/>
            <a:gdLst/>
            <a:ahLst/>
            <a:cxnLst/>
            <a:rect l="l" t="t" r="r" b="b"/>
            <a:pathLst>
              <a:path w="81046" h="182880">
                <a:moveTo>
                  <a:pt x="81046" y="182880"/>
                </a:moveTo>
                <a:lnTo>
                  <a:pt x="52899" y="177366"/>
                </a:lnTo>
                <a:lnTo>
                  <a:pt x="28147" y="161488"/>
                </a:lnTo>
                <a:lnTo>
                  <a:pt x="9775" y="137160"/>
                </a:lnTo>
                <a:lnTo>
                  <a:pt x="0" y="107319"/>
                </a:lnTo>
                <a:lnTo>
                  <a:pt x="0" y="75562"/>
                </a:lnTo>
                <a:lnTo>
                  <a:pt x="9775" y="45721"/>
                </a:lnTo>
                <a:lnTo>
                  <a:pt x="28147" y="21393"/>
                </a:lnTo>
                <a:lnTo>
                  <a:pt x="52899" y="5515"/>
                </a:lnTo>
                <a:lnTo>
                  <a:pt x="81046" y="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247888" y="3639311"/>
            <a:ext cx="566928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50" b="1">
                <a:solidFill>
                  <a:srgbClr val="000000"/>
                </a:solidFill>
                <a:latin typeface="Arial"/>
              </a:rPr>
              <a:t>TV-211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247888" y="3767327"/>
            <a:ext cx="566928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229600" y="3959352"/>
            <a:ext cx="731520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E-201 COLD-SIDE</a:t>
            </a:r>
          </a:p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BYPASS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8179307" y="4480560"/>
            <a:ext cx="777240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000000"/>
                </a:solidFill>
                <a:latin typeface="Arial"/>
              </a:rPr>
              <a:t>E-201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8179307" y="4617720"/>
            <a:ext cx="777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FEED/EFFLUENT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8179307" y="4732020"/>
            <a:ext cx="777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INTERCHANGER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8179307" y="4846320"/>
            <a:ext cx="777240" cy="10058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80" b="0">
                <a:solidFill>
                  <a:srgbClr val="000000"/>
                </a:solidFill>
                <a:latin typeface="Arial"/>
              </a:rPr>
              <a:t>(HOT)</a:t>
            </a:r>
          </a:p>
        </p:txBody>
      </p:sp>
      <p:sp>
        <p:nvSpPr>
          <p:cNvPr id="199" name="Oval 198"/>
          <p:cNvSpPr/>
          <p:nvPr/>
        </p:nvSpPr>
        <p:spPr>
          <a:xfrm>
            <a:off x="8430768" y="2167127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205</a:t>
            </a:r>
          </a:p>
        </p:txBody>
      </p:sp>
      <p:cxnSp>
        <p:nvCxnSpPr>
          <p:cNvPr id="200" name="Connector 199"/>
          <p:cNvCxnSpPr/>
          <p:nvPr/>
        </p:nvCxnSpPr>
        <p:spPr>
          <a:xfrm>
            <a:off x="8430768" y="2331720"/>
            <a:ext cx="329184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595360" y="2496312"/>
            <a:ext cx="0" cy="24688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8572500" y="27203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>
            <a:off x="5669280" y="7635240"/>
            <a:ext cx="0" cy="320039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5669280" y="7955279"/>
            <a:ext cx="45720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10241280" y="7301484"/>
            <a:ext cx="0" cy="653795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" name="Freeform 205"/>
          <p:cNvSpPr/>
          <p:nvPr/>
        </p:nvSpPr>
        <p:spPr>
          <a:xfrm>
            <a:off x="10241280" y="714603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7" name="Connector 206"/>
          <p:cNvCxnSpPr/>
          <p:nvPr/>
        </p:nvCxnSpPr>
        <p:spPr>
          <a:xfrm flipV="1">
            <a:off x="10241280" y="2103120"/>
            <a:ext cx="0" cy="5042916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 flipH="1">
            <a:off x="9326880" y="2103120"/>
            <a:ext cx="9144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26880" y="2103120"/>
            <a:ext cx="0" cy="365760"/>
          </a:xfrm>
          <a:prstGeom prst="line">
            <a:avLst/>
          </a:prstGeom>
          <a:ln w="19050">
            <a:solidFill>
              <a:srgbClr val="00000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TextBox 209"/>
          <p:cNvSpPr txBox="1"/>
          <p:nvPr/>
        </p:nvSpPr>
        <p:spPr>
          <a:xfrm>
            <a:off x="8956243" y="7827264"/>
            <a:ext cx="466953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20" b="0">
                <a:solidFill>
                  <a:srgbClr val="000000"/>
                </a:solidFill>
                <a:latin typeface="Arial"/>
              </a:rPr>
              <a:t>DN900-PG-251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9418320" y="1938528"/>
            <a:ext cx="128016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EFFLUENT ~268 C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9326880" y="6126480"/>
            <a:ext cx="0" cy="109728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6880" y="7223760"/>
            <a:ext cx="1371600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Freeform 213"/>
          <p:cNvSpPr/>
          <p:nvPr/>
        </p:nvSpPr>
        <p:spPr>
          <a:xfrm>
            <a:off x="10698480" y="7132320"/>
            <a:ext cx="329183" cy="182880"/>
          </a:xfrm>
          <a:custGeom>
            <a:avLst/>
            <a:gdLst/>
            <a:ahLst/>
            <a:cxnLst/>
            <a:rect l="l" t="t" r="r" b="b"/>
            <a:pathLst>
              <a:path w="329183" h="182880">
                <a:moveTo>
                  <a:pt x="0" y="0"/>
                </a:moveTo>
                <a:lnTo>
                  <a:pt x="256031" y="0"/>
                </a:lnTo>
                <a:lnTo>
                  <a:pt x="329183" y="91440"/>
                </a:lnTo>
                <a:lnTo>
                  <a:pt x="256031" y="182880"/>
                </a:lnTo>
                <a:lnTo>
                  <a:pt x="0" y="182880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TextBox 214"/>
          <p:cNvSpPr txBox="1"/>
          <p:nvPr/>
        </p:nvSpPr>
        <p:spPr>
          <a:xfrm>
            <a:off x="11073384" y="7123176"/>
            <a:ext cx="96012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20" b="0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216" name="TextBox 215"/>
          <p:cNvSpPr txBox="1"/>
          <p:nvPr/>
        </p:nvSpPr>
        <p:spPr>
          <a:xfrm>
            <a:off x="10424160" y="7351775"/>
            <a:ext cx="11430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TO E-202 HOT SIDE</a:t>
            </a:r>
          </a:p>
          <a:p>
            <a:pPr algn="l"/>
            <a:r>
              <a:rPr sz="500" b="0">
                <a:solidFill>
                  <a:srgbClr val="000000"/>
                </a:solidFill>
                <a:latin typeface="Arial"/>
              </a:rPr>
              <a:t>(MEOH-PID-002)</a:t>
            </a:r>
          </a:p>
        </p:txBody>
      </p:sp>
      <p:sp>
        <p:nvSpPr>
          <p:cNvPr id="217" name="Oval 216"/>
          <p:cNvSpPr/>
          <p:nvPr/>
        </p:nvSpPr>
        <p:spPr>
          <a:xfrm>
            <a:off x="9546336" y="651052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251</a:t>
            </a:r>
          </a:p>
        </p:txBody>
      </p:sp>
      <p:cxnSp>
        <p:nvCxnSpPr>
          <p:cNvPr id="218" name="Connector 217"/>
          <p:cNvCxnSpPr/>
          <p:nvPr/>
        </p:nvCxnSpPr>
        <p:spPr>
          <a:xfrm>
            <a:off x="9546336" y="667512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 flipH="1">
            <a:off x="9326880" y="667512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Oval 219"/>
          <p:cNvSpPr/>
          <p:nvPr/>
        </p:nvSpPr>
        <p:spPr>
          <a:xfrm>
            <a:off x="9304019" y="665225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7013448" y="7379208"/>
            <a:ext cx="329184" cy="329184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AIT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208</a:t>
            </a:r>
          </a:p>
        </p:txBody>
      </p:sp>
      <p:cxnSp>
        <p:nvCxnSpPr>
          <p:cNvPr id="222" name="Connector 221"/>
          <p:cNvCxnSpPr/>
          <p:nvPr/>
        </p:nvCxnSpPr>
        <p:spPr>
          <a:xfrm>
            <a:off x="7013448" y="7543800"/>
            <a:ext cx="329183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Connector 222"/>
          <p:cNvCxnSpPr/>
          <p:nvPr/>
        </p:nvCxnSpPr>
        <p:spPr>
          <a:xfrm>
            <a:off x="7178040" y="7708392"/>
            <a:ext cx="0" cy="24688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Oval 223"/>
          <p:cNvSpPr/>
          <p:nvPr/>
        </p:nvSpPr>
        <p:spPr>
          <a:xfrm>
            <a:off x="7155179" y="7932419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TextBox 224"/>
          <p:cNvSpPr txBox="1"/>
          <p:nvPr/>
        </p:nvSpPr>
        <p:spPr>
          <a:xfrm>
            <a:off x="7379208" y="7443216"/>
            <a:ext cx="685800" cy="20116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CH3OH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(OUTLET)</a:t>
            </a:r>
          </a:p>
        </p:txBody>
      </p:sp>
      <p:sp>
        <p:nvSpPr>
          <p:cNvPr id="226" name="Oval 225"/>
          <p:cNvSpPr/>
          <p:nvPr/>
        </p:nvSpPr>
        <p:spPr>
          <a:xfrm>
            <a:off x="6519672" y="158191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212-214</a:t>
            </a:r>
          </a:p>
        </p:txBody>
      </p:sp>
      <p:cxnSp>
        <p:nvCxnSpPr>
          <p:cNvPr id="227" name="Connector 226"/>
          <p:cNvCxnSpPr/>
          <p:nvPr/>
        </p:nvCxnSpPr>
        <p:spPr>
          <a:xfrm>
            <a:off x="6519672" y="173736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Connector 227"/>
          <p:cNvCxnSpPr/>
          <p:nvPr/>
        </p:nvCxnSpPr>
        <p:spPr>
          <a:xfrm flipH="1">
            <a:off x="6355080" y="173736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Oval 228"/>
          <p:cNvSpPr/>
          <p:nvPr/>
        </p:nvSpPr>
        <p:spPr>
          <a:xfrm>
            <a:off x="6332220" y="17145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6519672" y="203911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215</a:t>
            </a:r>
          </a:p>
        </p:txBody>
      </p:sp>
      <p:cxnSp>
        <p:nvCxnSpPr>
          <p:cNvPr id="231" name="Connector 230"/>
          <p:cNvCxnSpPr/>
          <p:nvPr/>
        </p:nvCxnSpPr>
        <p:spPr>
          <a:xfrm>
            <a:off x="6519672" y="219456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Connector 231"/>
          <p:cNvCxnSpPr/>
          <p:nvPr/>
        </p:nvCxnSpPr>
        <p:spPr>
          <a:xfrm flipH="1">
            <a:off x="6355080" y="219456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Oval 232"/>
          <p:cNvSpPr/>
          <p:nvPr/>
        </p:nvSpPr>
        <p:spPr>
          <a:xfrm>
            <a:off x="6332220" y="21717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519672" y="258775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222-224</a:t>
            </a:r>
          </a:p>
        </p:txBody>
      </p:sp>
      <p:cxnSp>
        <p:nvCxnSpPr>
          <p:cNvPr id="235" name="Connector 234"/>
          <p:cNvCxnSpPr/>
          <p:nvPr/>
        </p:nvCxnSpPr>
        <p:spPr>
          <a:xfrm>
            <a:off x="6519672" y="274320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H="1">
            <a:off x="6355080" y="274320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Oval 236"/>
          <p:cNvSpPr/>
          <p:nvPr/>
        </p:nvSpPr>
        <p:spPr>
          <a:xfrm>
            <a:off x="6332220" y="272034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6519672" y="29992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cxnSp>
        <p:nvCxnSpPr>
          <p:cNvPr id="239" name="Connector 238"/>
          <p:cNvCxnSpPr/>
          <p:nvPr/>
        </p:nvCxnSpPr>
        <p:spPr>
          <a:xfrm>
            <a:off x="6519672" y="31546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Connector 239"/>
          <p:cNvCxnSpPr/>
          <p:nvPr/>
        </p:nvCxnSpPr>
        <p:spPr>
          <a:xfrm flipH="1">
            <a:off x="6355080" y="315468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1" name="Oval 240"/>
          <p:cNvSpPr/>
          <p:nvPr/>
        </p:nvSpPr>
        <p:spPr>
          <a:xfrm>
            <a:off x="6332220" y="31318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6519672" y="386791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232-234</a:t>
            </a:r>
          </a:p>
        </p:txBody>
      </p:sp>
      <p:cxnSp>
        <p:nvCxnSpPr>
          <p:cNvPr id="243" name="Connector 242"/>
          <p:cNvCxnSpPr/>
          <p:nvPr/>
        </p:nvCxnSpPr>
        <p:spPr>
          <a:xfrm>
            <a:off x="6519672" y="402336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Connector 243"/>
          <p:cNvCxnSpPr/>
          <p:nvPr/>
        </p:nvCxnSpPr>
        <p:spPr>
          <a:xfrm flipH="1">
            <a:off x="6355080" y="402336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Oval 244"/>
          <p:cNvSpPr/>
          <p:nvPr/>
        </p:nvSpPr>
        <p:spPr>
          <a:xfrm>
            <a:off x="6332220" y="40005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6519672" y="432511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235</a:t>
            </a:r>
          </a:p>
        </p:txBody>
      </p:sp>
      <p:cxnSp>
        <p:nvCxnSpPr>
          <p:cNvPr id="247" name="Connector 246"/>
          <p:cNvCxnSpPr/>
          <p:nvPr/>
        </p:nvCxnSpPr>
        <p:spPr>
          <a:xfrm>
            <a:off x="6519672" y="448056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Connector 247"/>
          <p:cNvCxnSpPr/>
          <p:nvPr/>
        </p:nvCxnSpPr>
        <p:spPr>
          <a:xfrm flipH="1">
            <a:off x="6355080" y="448056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Oval 248"/>
          <p:cNvSpPr/>
          <p:nvPr/>
        </p:nvSpPr>
        <p:spPr>
          <a:xfrm>
            <a:off x="6332220" y="445770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6519672" y="55138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242-244</a:t>
            </a:r>
          </a:p>
        </p:txBody>
      </p:sp>
      <p:cxnSp>
        <p:nvCxnSpPr>
          <p:cNvPr id="251" name="Connector 250"/>
          <p:cNvCxnSpPr/>
          <p:nvPr/>
        </p:nvCxnSpPr>
        <p:spPr>
          <a:xfrm>
            <a:off x="6519672" y="56692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H="1">
            <a:off x="6355080" y="566928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3" name="Oval 252"/>
          <p:cNvSpPr/>
          <p:nvPr/>
        </p:nvSpPr>
        <p:spPr>
          <a:xfrm>
            <a:off x="6332220" y="56464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6519672" y="5971032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PDI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245</a:t>
            </a:r>
          </a:p>
        </p:txBody>
      </p:sp>
      <p:cxnSp>
        <p:nvCxnSpPr>
          <p:cNvPr id="255" name="Connector 254"/>
          <p:cNvCxnSpPr/>
          <p:nvPr/>
        </p:nvCxnSpPr>
        <p:spPr>
          <a:xfrm>
            <a:off x="6519672" y="6126480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Connector 255"/>
          <p:cNvCxnSpPr/>
          <p:nvPr/>
        </p:nvCxnSpPr>
        <p:spPr>
          <a:xfrm flipH="1">
            <a:off x="6355080" y="6126480"/>
            <a:ext cx="16459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7" name="Oval 256"/>
          <p:cNvSpPr/>
          <p:nvPr/>
        </p:nvSpPr>
        <p:spPr>
          <a:xfrm>
            <a:off x="6332220" y="6103620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6492240" y="6455664"/>
            <a:ext cx="365760" cy="365760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6519672" y="6483096"/>
            <a:ext cx="310896" cy="31089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TSHH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2xx</a:t>
            </a:r>
          </a:p>
        </p:txBody>
      </p:sp>
      <p:cxnSp>
        <p:nvCxnSpPr>
          <p:cNvPr id="260" name="Connector 259"/>
          <p:cNvCxnSpPr/>
          <p:nvPr/>
        </p:nvCxnSpPr>
        <p:spPr>
          <a:xfrm>
            <a:off x="6519672" y="6638544"/>
            <a:ext cx="31089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Connector 260"/>
          <p:cNvCxnSpPr/>
          <p:nvPr/>
        </p:nvCxnSpPr>
        <p:spPr>
          <a:xfrm flipH="1">
            <a:off x="6355080" y="6638544"/>
            <a:ext cx="13716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Oval 261"/>
          <p:cNvSpPr/>
          <p:nvPr/>
        </p:nvSpPr>
        <p:spPr>
          <a:xfrm>
            <a:off x="6332220" y="6615683"/>
            <a:ext cx="45720" cy="45720"/>
          </a:xfrm>
          <a:prstGeom prst="ellipse">
            <a:avLst/>
          </a:prstGeom>
          <a:solidFill>
            <a:srgbClr val="000000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6382512" y="6858000"/>
            <a:ext cx="868680" cy="91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59" b="0">
                <a:solidFill>
                  <a:srgbClr val="000000"/>
                </a:solidFill>
                <a:latin typeface="Arial"/>
              </a:rPr>
              <a:t>I-1 (NOTE 4)</a:t>
            </a:r>
          </a:p>
        </p:txBody>
      </p:sp>
      <p:cxnSp>
        <p:nvCxnSpPr>
          <p:cNvPr id="264" name="Connector 263"/>
          <p:cNvCxnSpPr/>
          <p:nvPr/>
        </p:nvCxnSpPr>
        <p:spPr>
          <a:xfrm>
            <a:off x="6903720" y="877824"/>
            <a:ext cx="0" cy="1362456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Connector 264"/>
          <p:cNvCxnSpPr/>
          <p:nvPr/>
        </p:nvCxnSpPr>
        <p:spPr>
          <a:xfrm>
            <a:off x="6903720" y="2240280"/>
            <a:ext cx="987552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Connector 265"/>
          <p:cNvCxnSpPr/>
          <p:nvPr/>
        </p:nvCxnSpPr>
        <p:spPr>
          <a:xfrm>
            <a:off x="7891272" y="2240280"/>
            <a:ext cx="0" cy="141732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Rectangle 266"/>
          <p:cNvSpPr/>
          <p:nvPr/>
        </p:nvSpPr>
        <p:spPr>
          <a:xfrm>
            <a:off x="11612880" y="411480"/>
            <a:ext cx="3154680" cy="8138160"/>
          </a:xfrm>
          <a:prstGeom prst="rect">
            <a:avLst/>
          </a:prstGeom>
          <a:noFill/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11704320" y="47548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LEGEND</a:t>
            </a:r>
          </a:p>
        </p:txBody>
      </p:sp>
      <p:cxnSp>
        <p:nvCxnSpPr>
          <p:cNvPr id="269" name="Connector 268"/>
          <p:cNvCxnSpPr/>
          <p:nvPr/>
        </p:nvCxnSpPr>
        <p:spPr>
          <a:xfrm>
            <a:off x="11750040" y="73152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1217980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PROCESS LINE</a:t>
            </a:r>
          </a:p>
        </p:txBody>
      </p:sp>
      <p:cxnSp>
        <p:nvCxnSpPr>
          <p:cNvPr id="271" name="Connector 270"/>
          <p:cNvCxnSpPr/>
          <p:nvPr/>
        </p:nvCxnSpPr>
        <p:spPr>
          <a:xfrm>
            <a:off x="13258800" y="731520"/>
            <a:ext cx="384048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TextBox 271"/>
          <p:cNvSpPr txBox="1"/>
          <p:nvPr/>
        </p:nvSpPr>
        <p:spPr>
          <a:xfrm>
            <a:off x="13688568" y="64008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UTILITY LINE</a:t>
            </a:r>
          </a:p>
        </p:txBody>
      </p:sp>
      <p:cxnSp>
        <p:nvCxnSpPr>
          <p:cNvPr id="273" name="Connector 272"/>
          <p:cNvCxnSpPr/>
          <p:nvPr/>
        </p:nvCxnSpPr>
        <p:spPr>
          <a:xfrm>
            <a:off x="11750040" y="1005840"/>
            <a:ext cx="384048" cy="0"/>
          </a:xfrm>
          <a:prstGeom prst="line">
            <a:avLst/>
          </a:prstGeom>
          <a:ln w="8890">
            <a:solidFill>
              <a:srgbClr val="00000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TextBox 273"/>
          <p:cNvSpPr txBox="1"/>
          <p:nvPr/>
        </p:nvSpPr>
        <p:spPr>
          <a:xfrm>
            <a:off x="1217980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SIGNAL LINE</a:t>
            </a:r>
          </a:p>
        </p:txBody>
      </p:sp>
      <p:cxnSp>
        <p:nvCxnSpPr>
          <p:cNvPr id="275" name="Connector 274"/>
          <p:cNvCxnSpPr/>
          <p:nvPr/>
        </p:nvCxnSpPr>
        <p:spPr>
          <a:xfrm>
            <a:off x="13258800" y="100584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Connector 275"/>
          <p:cNvCxnSpPr/>
          <p:nvPr/>
        </p:nvCxnSpPr>
        <p:spPr>
          <a:xfrm>
            <a:off x="13450824" y="896112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Freeform 276"/>
          <p:cNvSpPr/>
          <p:nvPr/>
        </p:nvSpPr>
        <p:spPr>
          <a:xfrm>
            <a:off x="13450824" y="928116"/>
            <a:ext cx="77724" cy="155448"/>
          </a:xfrm>
          <a:custGeom>
            <a:avLst/>
            <a:gdLst/>
            <a:ahLst/>
            <a:cxnLst/>
            <a:rect l="l" t="t" r="r" b="b"/>
            <a:pathLst>
              <a:path w="77724" h="155448">
                <a:moveTo>
                  <a:pt x="0" y="155448"/>
                </a:moveTo>
                <a:lnTo>
                  <a:pt x="38862" y="145034"/>
                </a:lnTo>
                <a:lnTo>
                  <a:pt x="67310" y="116586"/>
                </a:lnTo>
                <a:lnTo>
                  <a:pt x="77724" y="77724"/>
                </a:lnTo>
                <a:lnTo>
                  <a:pt x="67310" y="38862"/>
                </a:lnTo>
                <a:lnTo>
                  <a:pt x="38862" y="10413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8" name="Connector 277"/>
          <p:cNvCxnSpPr/>
          <p:nvPr/>
        </p:nvCxnSpPr>
        <p:spPr>
          <a:xfrm>
            <a:off x="13450824" y="1083564"/>
            <a:ext cx="0" cy="32004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13688568" y="91440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LINE JUMP (NO JOIN)</a:t>
            </a:r>
          </a:p>
        </p:txBody>
      </p:sp>
      <p:cxnSp>
        <p:nvCxnSpPr>
          <p:cNvPr id="280" name="Connector 279"/>
          <p:cNvCxnSpPr/>
          <p:nvPr/>
        </p:nvCxnSpPr>
        <p:spPr>
          <a:xfrm>
            <a:off x="1175004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1" name="Freeform 280"/>
          <p:cNvSpPr/>
          <p:nvPr/>
        </p:nvSpPr>
        <p:spPr>
          <a:xfrm>
            <a:off x="1185062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2" name="Connector 281"/>
          <p:cNvCxnSpPr/>
          <p:nvPr/>
        </p:nvCxnSpPr>
        <p:spPr>
          <a:xfrm flipV="1">
            <a:off x="11942064" y="1216151"/>
            <a:ext cx="0" cy="45721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Freeform 282"/>
          <p:cNvSpPr/>
          <p:nvPr/>
        </p:nvSpPr>
        <p:spPr>
          <a:xfrm>
            <a:off x="11878056" y="1159419"/>
            <a:ext cx="128016" cy="56732"/>
          </a:xfrm>
          <a:custGeom>
            <a:avLst/>
            <a:gdLst/>
            <a:ahLst/>
            <a:cxnLst/>
            <a:rect l="l" t="t" r="r" b="b"/>
            <a:pathLst>
              <a:path w="128016" h="56732">
                <a:moveTo>
                  <a:pt x="128016" y="56732"/>
                </a:moveTo>
                <a:lnTo>
                  <a:pt x="124155" y="37030"/>
                </a:lnTo>
                <a:lnTo>
                  <a:pt x="113040" y="19703"/>
                </a:lnTo>
                <a:lnTo>
                  <a:pt x="96012" y="6843"/>
                </a:lnTo>
                <a:lnTo>
                  <a:pt x="75122" y="0"/>
                </a:lnTo>
                <a:lnTo>
                  <a:pt x="52893" y="0"/>
                </a:lnTo>
                <a:lnTo>
                  <a:pt x="32004" y="6843"/>
                </a:lnTo>
                <a:lnTo>
                  <a:pt x="14975" y="19703"/>
                </a:lnTo>
                <a:lnTo>
                  <a:pt x="3860" y="37030"/>
                </a:lnTo>
                <a:lnTo>
                  <a:pt x="0" y="56732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1217980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CONTROL VALVE FO/FC</a:t>
            </a:r>
          </a:p>
        </p:txBody>
      </p:sp>
      <p:cxnSp>
        <p:nvCxnSpPr>
          <p:cNvPr id="285" name="Connector 284"/>
          <p:cNvCxnSpPr/>
          <p:nvPr/>
        </p:nvCxnSpPr>
        <p:spPr>
          <a:xfrm>
            <a:off x="13258800" y="13258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6" name="Freeform 285"/>
          <p:cNvSpPr/>
          <p:nvPr/>
        </p:nvSpPr>
        <p:spPr>
          <a:xfrm>
            <a:off x="13359384" y="12664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7" name="Connector 286"/>
          <p:cNvCxnSpPr/>
          <p:nvPr/>
        </p:nvCxnSpPr>
        <p:spPr>
          <a:xfrm flipV="1">
            <a:off x="13450824" y="1225295"/>
            <a:ext cx="0" cy="36577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8" name="Rectangle 287"/>
          <p:cNvSpPr/>
          <p:nvPr/>
        </p:nvSpPr>
        <p:spPr>
          <a:xfrm>
            <a:off x="13405104" y="1170431"/>
            <a:ext cx="91440" cy="54864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TextBox 288"/>
          <p:cNvSpPr txBox="1"/>
          <p:nvPr/>
        </p:nvSpPr>
        <p:spPr>
          <a:xfrm>
            <a:off x="13688568" y="118871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SHUT-OFF VALVE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1175004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Freeform 290"/>
          <p:cNvSpPr/>
          <p:nvPr/>
        </p:nvSpPr>
        <p:spPr>
          <a:xfrm>
            <a:off x="11850624" y="1495044"/>
            <a:ext cx="182880" cy="118872"/>
          </a:xfrm>
          <a:custGeom>
            <a:avLst/>
            <a:gdLst/>
            <a:ahLst/>
            <a:cxnLst/>
            <a:rect l="l" t="t" r="r" b="b"/>
            <a:pathLst>
              <a:path w="182880" h="118872">
                <a:moveTo>
                  <a:pt x="0" y="0"/>
                </a:moveTo>
                <a:lnTo>
                  <a:pt x="182880" y="118872"/>
                </a:lnTo>
                <a:lnTo>
                  <a:pt x="182880" y="0"/>
                </a:lnTo>
                <a:lnTo>
                  <a:pt x="0" y="118872"/>
                </a:lnTo>
                <a:close/>
              </a:path>
            </a:pathLst>
          </a:cu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1217980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MANUAL VALVE</a:t>
            </a:r>
          </a:p>
        </p:txBody>
      </p:sp>
      <p:cxnSp>
        <p:nvCxnSpPr>
          <p:cNvPr id="293" name="Connector 292"/>
          <p:cNvCxnSpPr/>
          <p:nvPr/>
        </p:nvCxnSpPr>
        <p:spPr>
          <a:xfrm>
            <a:off x="13258800" y="1554480"/>
            <a:ext cx="384048" cy="0"/>
          </a:xfrm>
          <a:prstGeom prst="line">
            <a:avLst/>
          </a:prstGeom>
          <a:ln w="1905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>
            <a:off x="13423392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>
            <a:off x="13478256" y="1472184"/>
            <a:ext cx="0" cy="164592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6" name="TextBox 295"/>
          <p:cNvSpPr txBox="1"/>
          <p:nvPr/>
        </p:nvSpPr>
        <p:spPr>
          <a:xfrm>
            <a:off x="13688568" y="146303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ORIFICE ELEMENT</a:t>
            </a:r>
          </a:p>
        </p:txBody>
      </p:sp>
      <p:sp>
        <p:nvSpPr>
          <p:cNvPr id="297" name="Oval 296"/>
          <p:cNvSpPr/>
          <p:nvPr/>
        </p:nvSpPr>
        <p:spPr>
          <a:xfrm>
            <a:off x="1184148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1841480" y="182880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TextBox 298"/>
          <p:cNvSpPr txBox="1"/>
          <p:nvPr/>
        </p:nvSpPr>
        <p:spPr>
          <a:xfrm>
            <a:off x="1217980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DCS INSTRUMENT</a:t>
            </a:r>
          </a:p>
        </p:txBody>
      </p:sp>
      <p:sp>
        <p:nvSpPr>
          <p:cNvPr id="300" name="Oval 299"/>
          <p:cNvSpPr/>
          <p:nvPr/>
        </p:nvSpPr>
        <p:spPr>
          <a:xfrm>
            <a:off x="13350240" y="1719072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13688568" y="1737360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FIELD INSTRUMENT</a:t>
            </a:r>
          </a:p>
        </p:txBody>
      </p:sp>
      <p:sp>
        <p:nvSpPr>
          <p:cNvPr id="302" name="Rectangle 301"/>
          <p:cNvSpPr/>
          <p:nvPr/>
        </p:nvSpPr>
        <p:spPr>
          <a:xfrm>
            <a:off x="11823192" y="1975103"/>
            <a:ext cx="256032" cy="256032"/>
          </a:xfrm>
          <a:prstGeom prst="rect">
            <a:avLst/>
          </a:pr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Oval 302"/>
          <p:cNvSpPr/>
          <p:nvPr/>
        </p:nvSpPr>
        <p:spPr>
          <a:xfrm>
            <a:off x="11841480" y="1993391"/>
            <a:ext cx="219456" cy="219456"/>
          </a:xfrm>
          <a:prstGeom prst="ellipse">
            <a:avLst/>
          </a:prstGeom>
          <a:solidFill>
            <a:srgbClr val="FFFFFF"/>
          </a:solidFill>
          <a:ln w="1397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TI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cxnSp>
        <p:nvCxnSpPr>
          <p:cNvPr id="304" name="Connector 303"/>
          <p:cNvCxnSpPr/>
          <p:nvPr/>
        </p:nvCxnSpPr>
        <p:spPr>
          <a:xfrm>
            <a:off x="11841480" y="2103120"/>
            <a:ext cx="219456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5" name="TextBox 304"/>
          <p:cNvSpPr txBox="1"/>
          <p:nvPr/>
        </p:nvSpPr>
        <p:spPr>
          <a:xfrm>
            <a:off x="1217980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SIS FUNCTION</a:t>
            </a:r>
          </a:p>
        </p:txBody>
      </p:sp>
      <p:sp>
        <p:nvSpPr>
          <p:cNvPr id="306" name="Freeform 305"/>
          <p:cNvSpPr/>
          <p:nvPr/>
        </p:nvSpPr>
        <p:spPr>
          <a:xfrm>
            <a:off x="13304520" y="2029967"/>
            <a:ext cx="283464" cy="146305"/>
          </a:xfrm>
          <a:custGeom>
            <a:avLst/>
            <a:gdLst/>
            <a:ahLst/>
            <a:cxnLst/>
            <a:rect l="l" t="t" r="r" b="b"/>
            <a:pathLst>
              <a:path w="283464" h="146305">
                <a:moveTo>
                  <a:pt x="0" y="0"/>
                </a:moveTo>
                <a:lnTo>
                  <a:pt x="210312" y="0"/>
                </a:lnTo>
                <a:lnTo>
                  <a:pt x="283464" y="73153"/>
                </a:lnTo>
                <a:lnTo>
                  <a:pt x="210312" y="146305"/>
                </a:lnTo>
                <a:lnTo>
                  <a:pt x="0" y="146305"/>
                </a:lnTo>
                <a:close/>
              </a:path>
            </a:pathLst>
          </a:custGeom>
          <a:solidFill>
            <a:srgbClr val="FFFFFF"/>
          </a:solidFill>
          <a:ln w="889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TextBox 306"/>
          <p:cNvSpPr txBox="1"/>
          <p:nvPr/>
        </p:nvSpPr>
        <p:spPr>
          <a:xfrm>
            <a:off x="13688568" y="201167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OFF-SHEET LINK</a:t>
            </a:r>
          </a:p>
        </p:txBody>
      </p:sp>
      <p:cxnSp>
        <p:nvCxnSpPr>
          <p:cNvPr id="308" name="Connector 307"/>
          <p:cNvCxnSpPr/>
          <p:nvPr/>
        </p:nvCxnSpPr>
        <p:spPr>
          <a:xfrm>
            <a:off x="11768328" y="2295144"/>
            <a:ext cx="347472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9" name="Connector 308"/>
          <p:cNvCxnSpPr/>
          <p:nvPr/>
        </p:nvCxnSpPr>
        <p:spPr>
          <a:xfrm>
            <a:off x="11768328" y="2459736"/>
            <a:ext cx="347472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0" name="Connector 309"/>
          <p:cNvCxnSpPr/>
          <p:nvPr/>
        </p:nvCxnSpPr>
        <p:spPr>
          <a:xfrm flipV="1">
            <a:off x="11741912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1" name="Connector 310"/>
          <p:cNvCxnSpPr/>
          <p:nvPr/>
        </p:nvCxnSpPr>
        <p:spPr>
          <a:xfrm flipV="1">
            <a:off x="1178052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2" name="Connector 311"/>
          <p:cNvCxnSpPr/>
          <p:nvPr/>
        </p:nvCxnSpPr>
        <p:spPr>
          <a:xfrm flipV="1">
            <a:off x="1181912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3" name="Connector 312"/>
          <p:cNvCxnSpPr/>
          <p:nvPr/>
        </p:nvCxnSpPr>
        <p:spPr>
          <a:xfrm flipV="1">
            <a:off x="11973560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4" name="Connector 313"/>
          <p:cNvCxnSpPr/>
          <p:nvPr/>
        </p:nvCxnSpPr>
        <p:spPr>
          <a:xfrm flipV="1">
            <a:off x="12012168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5" name="Connector 314"/>
          <p:cNvCxnSpPr/>
          <p:nvPr/>
        </p:nvCxnSpPr>
        <p:spPr>
          <a:xfrm flipV="1">
            <a:off x="12050776" y="2313432"/>
            <a:ext cx="91440" cy="128016"/>
          </a:xfrm>
          <a:prstGeom prst="line">
            <a:avLst/>
          </a:prstGeom>
          <a:ln w="508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6" name="TextBox 315"/>
          <p:cNvSpPr txBox="1"/>
          <p:nvPr/>
        </p:nvSpPr>
        <p:spPr>
          <a:xfrm>
            <a:off x="11768328" y="2313432"/>
            <a:ext cx="347472" cy="12801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60" b="1">
                <a:solidFill>
                  <a:srgbClr val="000000"/>
                </a:solidFill>
                <a:latin typeface="Arial"/>
              </a:rPr>
              <a:t/>
            </a:r>
          </a:p>
        </p:txBody>
      </p:sp>
      <p:sp>
        <p:nvSpPr>
          <p:cNvPr id="317" name="TextBox 316"/>
          <p:cNvSpPr txBox="1"/>
          <p:nvPr/>
        </p:nvSpPr>
        <p:spPr>
          <a:xfrm>
            <a:off x="1217980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CATALYST BED</a:t>
            </a:r>
          </a:p>
        </p:txBody>
      </p:sp>
      <p:cxnSp>
        <p:nvCxnSpPr>
          <p:cNvPr id="318" name="Connector 317"/>
          <p:cNvCxnSpPr/>
          <p:nvPr/>
        </p:nvCxnSpPr>
        <p:spPr>
          <a:xfrm>
            <a:off x="13277088" y="2350008"/>
            <a:ext cx="3474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Oval 318"/>
          <p:cNvSpPr/>
          <p:nvPr/>
        </p:nvSpPr>
        <p:spPr>
          <a:xfrm>
            <a:off x="13363955" y="2368296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13528547" y="2368296"/>
            <a:ext cx="45720" cy="45720"/>
          </a:xfrm>
          <a:prstGeom prst="ellipse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TextBox 320"/>
          <p:cNvSpPr txBox="1"/>
          <p:nvPr/>
        </p:nvSpPr>
        <p:spPr>
          <a:xfrm>
            <a:off x="13688568" y="2285999"/>
            <a:ext cx="1060704" cy="18288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QUENCH DISTRIBUTOR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1704320" y="267004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CONTROL LOOP SCHEDULE</a:t>
            </a:r>
          </a:p>
        </p:txBody>
      </p:sp>
      <p:cxnSp>
        <p:nvCxnSpPr>
          <p:cNvPr id="323" name="Connector 322"/>
          <p:cNvCxnSpPr/>
          <p:nvPr/>
        </p:nvCxnSpPr>
        <p:spPr>
          <a:xfrm>
            <a:off x="11704320" y="285292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4" name="Connector 323"/>
          <p:cNvCxnSpPr/>
          <p:nvPr/>
        </p:nvCxnSpPr>
        <p:spPr>
          <a:xfrm>
            <a:off x="11704320" y="300380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5" name="Connector 324"/>
          <p:cNvCxnSpPr/>
          <p:nvPr/>
        </p:nvCxnSpPr>
        <p:spPr>
          <a:xfrm>
            <a:off x="11704320" y="315468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>
            <a:off x="11704320" y="330555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>
            <a:off x="11704320" y="345643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>
            <a:off x="11704320" y="360730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>
            <a:off x="11704320" y="3758184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Connector 329"/>
          <p:cNvCxnSpPr/>
          <p:nvPr/>
        </p:nvCxnSpPr>
        <p:spPr>
          <a:xfrm>
            <a:off x="11704320" y="3909060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Connector 330"/>
          <p:cNvCxnSpPr/>
          <p:nvPr/>
        </p:nvCxnSpPr>
        <p:spPr>
          <a:xfrm>
            <a:off x="11704320" y="4059936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>
            <a:off x="11704320" y="4210812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>
            <a:off x="11704320" y="4361688"/>
            <a:ext cx="3017520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>
            <a:off x="11704320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>
            <a:off x="12143232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" name="Connector 335"/>
          <p:cNvCxnSpPr/>
          <p:nvPr/>
        </p:nvCxnSpPr>
        <p:spPr>
          <a:xfrm>
            <a:off x="12874752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7" name="Connector 336"/>
          <p:cNvCxnSpPr/>
          <p:nvPr/>
        </p:nvCxnSpPr>
        <p:spPr>
          <a:xfrm>
            <a:off x="13716000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8" name="Connector 337"/>
          <p:cNvCxnSpPr/>
          <p:nvPr/>
        </p:nvCxnSpPr>
        <p:spPr>
          <a:xfrm>
            <a:off x="13953744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9" name="Connector 338"/>
          <p:cNvCxnSpPr/>
          <p:nvPr/>
        </p:nvCxnSpPr>
        <p:spPr>
          <a:xfrm>
            <a:off x="14721840" y="2852928"/>
            <a:ext cx="0" cy="15087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0" name="TextBox 339"/>
          <p:cNvSpPr txBox="1"/>
          <p:nvPr/>
        </p:nvSpPr>
        <p:spPr>
          <a:xfrm>
            <a:off x="11731752" y="285292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LOOP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12170664" y="285292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MEASURES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12902184" y="285292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MOVES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13743432" y="285292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FAIL</a:t>
            </a:r>
          </a:p>
        </p:txBody>
      </p:sp>
      <p:sp>
        <p:nvSpPr>
          <p:cNvPr id="344" name="TextBox 343"/>
          <p:cNvSpPr txBox="1"/>
          <p:nvPr/>
        </p:nvSpPr>
        <p:spPr>
          <a:xfrm>
            <a:off x="13981176" y="2852928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 / NOTE</a:t>
            </a:r>
          </a:p>
        </p:txBody>
      </p:sp>
      <p:sp>
        <p:nvSpPr>
          <p:cNvPr id="345" name="TextBox 344"/>
          <p:cNvSpPr txBox="1"/>
          <p:nvPr/>
        </p:nvSpPr>
        <p:spPr>
          <a:xfrm>
            <a:off x="11731752" y="300380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FIC-201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12170664" y="300380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CONVERTER FEED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12902184" y="300380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C-201 SPEED (SC)</a:t>
            </a:r>
          </a:p>
        </p:txBody>
      </p:sp>
      <p:sp>
        <p:nvSpPr>
          <p:cNvPr id="348" name="TextBox 347"/>
          <p:cNvSpPr txBox="1"/>
          <p:nvPr/>
        </p:nvSpPr>
        <p:spPr>
          <a:xfrm>
            <a:off x="13743432" y="300380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49" name="TextBox 348"/>
          <p:cNvSpPr txBox="1"/>
          <p:nvPr/>
        </p:nvSpPr>
        <p:spPr>
          <a:xfrm>
            <a:off x="13981176" y="3003804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1928 kNm3/h</a:t>
            </a:r>
          </a:p>
        </p:txBody>
      </p:sp>
      <p:sp>
        <p:nvSpPr>
          <p:cNvPr id="350" name="TextBox 349"/>
          <p:cNvSpPr txBox="1"/>
          <p:nvPr/>
        </p:nvSpPr>
        <p:spPr>
          <a:xfrm>
            <a:off x="11731752" y="315468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FIC-202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12170664" y="315468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MAKE-UP SYNGAS</a:t>
            </a:r>
          </a:p>
        </p:txBody>
      </p:sp>
      <p:sp>
        <p:nvSpPr>
          <p:cNvPr id="352" name="TextBox 351"/>
          <p:cNvSpPr txBox="1"/>
          <p:nvPr/>
        </p:nvSpPr>
        <p:spPr>
          <a:xfrm>
            <a:off x="12902184" y="315468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FV-202</a:t>
            </a:r>
          </a:p>
        </p:txBody>
      </p:sp>
      <p:sp>
        <p:nvSpPr>
          <p:cNvPr id="353" name="TextBox 352"/>
          <p:cNvSpPr txBox="1"/>
          <p:nvPr/>
        </p:nvSpPr>
        <p:spPr>
          <a:xfrm>
            <a:off x="13743432" y="315468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54" name="TextBox 353"/>
          <p:cNvSpPr txBox="1"/>
          <p:nvPr/>
        </p:nvSpPr>
        <p:spPr>
          <a:xfrm>
            <a:off x="13981176" y="3154680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366 kNm3/h (RATE)</a:t>
            </a:r>
          </a:p>
        </p:txBody>
      </p:sp>
      <p:sp>
        <p:nvSpPr>
          <p:cNvPr id="355" name="TextBox 354"/>
          <p:cNvSpPr txBox="1"/>
          <p:nvPr/>
        </p:nvSpPr>
        <p:spPr>
          <a:xfrm>
            <a:off x="11731752" y="330555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PIC-203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12170664" y="330555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LOOP PRESS. V-201</a:t>
            </a:r>
          </a:p>
        </p:txBody>
      </p:sp>
      <p:sp>
        <p:nvSpPr>
          <p:cNvPr id="357" name="TextBox 356"/>
          <p:cNvSpPr txBox="1"/>
          <p:nvPr/>
        </p:nvSpPr>
        <p:spPr>
          <a:xfrm>
            <a:off x="12902184" y="330555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PV-203 PURGE</a:t>
            </a:r>
          </a:p>
        </p:txBody>
      </p:sp>
      <p:sp>
        <p:nvSpPr>
          <p:cNvPr id="358" name="TextBox 357"/>
          <p:cNvSpPr txBox="1"/>
          <p:nvPr/>
        </p:nvSpPr>
        <p:spPr>
          <a:xfrm>
            <a:off x="13743432" y="330555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59" name="TextBox 358"/>
          <p:cNvSpPr txBox="1"/>
          <p:nvPr/>
        </p:nvSpPr>
        <p:spPr>
          <a:xfrm>
            <a:off x="13981176" y="3305556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75.0 bar g</a:t>
            </a:r>
          </a:p>
        </p:txBody>
      </p:sp>
      <p:sp>
        <p:nvSpPr>
          <p:cNvPr id="360" name="TextBox 359"/>
          <p:cNvSpPr txBox="1"/>
          <p:nvPr/>
        </p:nvSpPr>
        <p:spPr>
          <a:xfrm>
            <a:off x="11731752" y="345643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LIC-204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12170664" y="345643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V-201 LEVEL</a:t>
            </a:r>
          </a:p>
        </p:txBody>
      </p:sp>
      <p:sp>
        <p:nvSpPr>
          <p:cNvPr id="362" name="TextBox 361"/>
          <p:cNvSpPr txBox="1"/>
          <p:nvPr/>
        </p:nvSpPr>
        <p:spPr>
          <a:xfrm>
            <a:off x="12902184" y="345643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LV-204</a:t>
            </a:r>
          </a:p>
        </p:txBody>
      </p:sp>
      <p:sp>
        <p:nvSpPr>
          <p:cNvPr id="363" name="TextBox 362"/>
          <p:cNvSpPr txBox="1"/>
          <p:nvPr/>
        </p:nvSpPr>
        <p:spPr>
          <a:xfrm>
            <a:off x="13743432" y="345643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64" name="TextBox 363"/>
          <p:cNvSpPr txBox="1"/>
          <p:nvPr/>
        </p:nvSpPr>
        <p:spPr>
          <a:xfrm>
            <a:off x="13981176" y="3456432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50 %</a:t>
            </a:r>
          </a:p>
        </p:txBody>
      </p:sp>
      <p:sp>
        <p:nvSpPr>
          <p:cNvPr id="365" name="TextBox 364"/>
          <p:cNvSpPr txBox="1"/>
          <p:nvPr/>
        </p:nvSpPr>
        <p:spPr>
          <a:xfrm>
            <a:off x="11731752" y="3607308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TIC-211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12170664" y="360730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1 INLET</a:t>
            </a:r>
          </a:p>
        </p:txBody>
      </p:sp>
      <p:sp>
        <p:nvSpPr>
          <p:cNvPr id="367" name="TextBox 366"/>
          <p:cNvSpPr txBox="1"/>
          <p:nvPr/>
        </p:nvSpPr>
        <p:spPr>
          <a:xfrm>
            <a:off x="12902184" y="3607308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TV-211 (E-201 BYP.)</a:t>
            </a:r>
          </a:p>
        </p:txBody>
      </p:sp>
      <p:sp>
        <p:nvSpPr>
          <p:cNvPr id="368" name="TextBox 367"/>
          <p:cNvSpPr txBox="1"/>
          <p:nvPr/>
        </p:nvSpPr>
        <p:spPr>
          <a:xfrm>
            <a:off x="13743432" y="3607308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69" name="TextBox 368"/>
          <p:cNvSpPr txBox="1"/>
          <p:nvPr/>
        </p:nvSpPr>
        <p:spPr>
          <a:xfrm>
            <a:off x="13981176" y="3607308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220 C</a:t>
            </a:r>
          </a:p>
        </p:txBody>
      </p:sp>
      <p:sp>
        <p:nvSpPr>
          <p:cNvPr id="370" name="TextBox 369"/>
          <p:cNvSpPr txBox="1"/>
          <p:nvPr/>
        </p:nvSpPr>
        <p:spPr>
          <a:xfrm>
            <a:off x="11731752" y="3758184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TIC-221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12170664" y="375818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2 INLET</a:t>
            </a:r>
          </a:p>
        </p:txBody>
      </p:sp>
      <p:sp>
        <p:nvSpPr>
          <p:cNvPr id="372" name="TextBox 371"/>
          <p:cNvSpPr txBox="1"/>
          <p:nvPr/>
        </p:nvSpPr>
        <p:spPr>
          <a:xfrm>
            <a:off x="12902184" y="3758184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TV-221 QUENCH 2</a:t>
            </a:r>
          </a:p>
        </p:txBody>
      </p:sp>
      <p:sp>
        <p:nvSpPr>
          <p:cNvPr id="373" name="TextBox 372"/>
          <p:cNvSpPr txBox="1"/>
          <p:nvPr/>
        </p:nvSpPr>
        <p:spPr>
          <a:xfrm>
            <a:off x="13743432" y="3758184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74" name="TextBox 373"/>
          <p:cNvSpPr txBox="1"/>
          <p:nvPr/>
        </p:nvSpPr>
        <p:spPr>
          <a:xfrm>
            <a:off x="13981176" y="3758184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225 C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11731752" y="3909060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TIC-231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2170664" y="390906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3 INLET</a:t>
            </a:r>
          </a:p>
        </p:txBody>
      </p:sp>
      <p:sp>
        <p:nvSpPr>
          <p:cNvPr id="377" name="TextBox 376"/>
          <p:cNvSpPr txBox="1"/>
          <p:nvPr/>
        </p:nvSpPr>
        <p:spPr>
          <a:xfrm>
            <a:off x="12902184" y="3909060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TV-231 QUENCH 3</a:t>
            </a:r>
          </a:p>
        </p:txBody>
      </p:sp>
      <p:sp>
        <p:nvSpPr>
          <p:cNvPr id="378" name="TextBox 377"/>
          <p:cNvSpPr txBox="1"/>
          <p:nvPr/>
        </p:nvSpPr>
        <p:spPr>
          <a:xfrm>
            <a:off x="13743432" y="3909060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79" name="TextBox 378"/>
          <p:cNvSpPr txBox="1"/>
          <p:nvPr/>
        </p:nvSpPr>
        <p:spPr>
          <a:xfrm>
            <a:off x="13981176" y="3909060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230 C</a:t>
            </a:r>
          </a:p>
        </p:txBody>
      </p:sp>
      <p:sp>
        <p:nvSpPr>
          <p:cNvPr id="380" name="TextBox 379"/>
          <p:cNvSpPr txBox="1"/>
          <p:nvPr/>
        </p:nvSpPr>
        <p:spPr>
          <a:xfrm>
            <a:off x="11731752" y="4059936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TIC-241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12170664" y="405993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BED 4 INLET</a:t>
            </a:r>
          </a:p>
        </p:txBody>
      </p:sp>
      <p:sp>
        <p:nvSpPr>
          <p:cNvPr id="382" name="TextBox 381"/>
          <p:cNvSpPr txBox="1"/>
          <p:nvPr/>
        </p:nvSpPr>
        <p:spPr>
          <a:xfrm>
            <a:off x="12902184" y="4059936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TV-241 QUENCH 4</a:t>
            </a:r>
          </a:p>
        </p:txBody>
      </p:sp>
      <p:sp>
        <p:nvSpPr>
          <p:cNvPr id="383" name="TextBox 382"/>
          <p:cNvSpPr txBox="1"/>
          <p:nvPr/>
        </p:nvSpPr>
        <p:spPr>
          <a:xfrm>
            <a:off x="13743432" y="4059936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FO</a:t>
            </a:r>
          </a:p>
        </p:txBody>
      </p:sp>
      <p:sp>
        <p:nvSpPr>
          <p:cNvPr id="384" name="TextBox 383"/>
          <p:cNvSpPr txBox="1"/>
          <p:nvPr/>
        </p:nvSpPr>
        <p:spPr>
          <a:xfrm>
            <a:off x="13981176" y="4059936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235 C</a:t>
            </a:r>
          </a:p>
        </p:txBody>
      </p:sp>
      <p:sp>
        <p:nvSpPr>
          <p:cNvPr id="385" name="TextBox 384"/>
          <p:cNvSpPr txBox="1"/>
          <p:nvPr/>
        </p:nvSpPr>
        <p:spPr>
          <a:xfrm>
            <a:off x="11731752" y="4210812"/>
            <a:ext cx="393192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HIC-214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12170664" y="421081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-</a:t>
            </a:r>
          </a:p>
        </p:txBody>
      </p:sp>
      <p:sp>
        <p:nvSpPr>
          <p:cNvPr id="387" name="TextBox 386"/>
          <p:cNvSpPr txBox="1"/>
          <p:nvPr/>
        </p:nvSpPr>
        <p:spPr>
          <a:xfrm>
            <a:off x="12902184" y="4210812"/>
            <a:ext cx="79552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E-204 STEAM</a:t>
            </a:r>
          </a:p>
        </p:txBody>
      </p:sp>
      <p:sp>
        <p:nvSpPr>
          <p:cNvPr id="388" name="TextBox 387"/>
          <p:cNvSpPr txBox="1"/>
          <p:nvPr/>
        </p:nvSpPr>
        <p:spPr>
          <a:xfrm>
            <a:off x="13743432" y="4210812"/>
            <a:ext cx="192024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FC</a:t>
            </a:r>
          </a:p>
        </p:txBody>
      </p:sp>
      <p:sp>
        <p:nvSpPr>
          <p:cNvPr id="389" name="TextBox 388"/>
          <p:cNvSpPr txBox="1"/>
          <p:nvPr/>
        </p:nvSpPr>
        <p:spPr>
          <a:xfrm>
            <a:off x="13981176" y="4210812"/>
            <a:ext cx="722375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START-UP ONLY</a:t>
            </a:r>
          </a:p>
        </p:txBody>
      </p:sp>
      <p:sp>
        <p:nvSpPr>
          <p:cNvPr id="390" name="TextBox 389"/>
          <p:cNvSpPr txBox="1"/>
          <p:nvPr/>
        </p:nvSpPr>
        <p:spPr>
          <a:xfrm>
            <a:off x="11704320" y="4453128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SIS INTERLOCKS (ACTION: MAKE-UP CUT)</a:t>
            </a:r>
          </a:p>
        </p:txBody>
      </p:sp>
      <p:cxnSp>
        <p:nvCxnSpPr>
          <p:cNvPr id="391" name="Connector 390"/>
          <p:cNvCxnSpPr/>
          <p:nvPr/>
        </p:nvCxnSpPr>
        <p:spPr>
          <a:xfrm>
            <a:off x="11704320" y="463600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>
            <a:off x="11704320" y="478688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3" name="Connector 392"/>
          <p:cNvCxnSpPr/>
          <p:nvPr/>
        </p:nvCxnSpPr>
        <p:spPr>
          <a:xfrm>
            <a:off x="11704320" y="4937760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4" name="Connector 393"/>
          <p:cNvCxnSpPr/>
          <p:nvPr/>
        </p:nvCxnSpPr>
        <p:spPr>
          <a:xfrm>
            <a:off x="11704320" y="5088636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>
            <a:off x="11704320" y="5239512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>
            <a:off x="11704320" y="5390388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>
            <a:off x="11704320" y="5541264"/>
            <a:ext cx="29443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>
            <a:off x="11704320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9" name="Connector 398"/>
          <p:cNvCxnSpPr/>
          <p:nvPr/>
        </p:nvCxnSpPr>
        <p:spPr>
          <a:xfrm>
            <a:off x="11887200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0" name="Connector 399"/>
          <p:cNvCxnSpPr/>
          <p:nvPr/>
        </p:nvCxnSpPr>
        <p:spPr>
          <a:xfrm>
            <a:off x="12911328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1" name="Connector 400"/>
          <p:cNvCxnSpPr/>
          <p:nvPr/>
        </p:nvCxnSpPr>
        <p:spPr>
          <a:xfrm>
            <a:off x="13642848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 401"/>
          <p:cNvCxnSpPr/>
          <p:nvPr/>
        </p:nvCxnSpPr>
        <p:spPr>
          <a:xfrm>
            <a:off x="14648688" y="4636008"/>
            <a:ext cx="0" cy="905256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3" name="TextBox 402"/>
          <p:cNvSpPr txBox="1"/>
          <p:nvPr/>
        </p:nvSpPr>
        <p:spPr>
          <a:xfrm>
            <a:off x="11731752" y="4636008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I-</a:t>
            </a:r>
          </a:p>
        </p:txBody>
      </p:sp>
      <p:sp>
        <p:nvSpPr>
          <p:cNvPr id="404" name="TextBox 403"/>
          <p:cNvSpPr txBox="1"/>
          <p:nvPr/>
        </p:nvSpPr>
        <p:spPr>
          <a:xfrm>
            <a:off x="11914632" y="4636008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INITIATOR</a:t>
            </a:r>
          </a:p>
        </p:txBody>
      </p:sp>
      <p:sp>
        <p:nvSpPr>
          <p:cNvPr id="405" name="TextBox 404"/>
          <p:cNvSpPr txBox="1"/>
          <p:nvPr/>
        </p:nvSpPr>
        <p:spPr>
          <a:xfrm>
            <a:off x="12938760" y="463600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SETTING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13670280" y="4636008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1">
                <a:solidFill>
                  <a:srgbClr val="000000"/>
                </a:solidFill>
                <a:latin typeface="Arial"/>
              </a:rPr>
              <a:t>ACTION</a:t>
            </a:r>
          </a:p>
        </p:txBody>
      </p:sp>
      <p:sp>
        <p:nvSpPr>
          <p:cNvPr id="407" name="TextBox 406"/>
          <p:cNvSpPr txBox="1"/>
          <p:nvPr/>
        </p:nvSpPr>
        <p:spPr>
          <a:xfrm>
            <a:off x="11731752" y="4786884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08" name="TextBox 407"/>
          <p:cNvSpPr txBox="1"/>
          <p:nvPr/>
        </p:nvSpPr>
        <p:spPr>
          <a:xfrm>
            <a:off x="11914632" y="4786884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TSHH-2xx ANY BED TC</a:t>
            </a:r>
          </a:p>
        </p:txBody>
      </p:sp>
      <p:sp>
        <p:nvSpPr>
          <p:cNvPr id="409" name="TextBox 408"/>
          <p:cNvSpPr txBox="1"/>
          <p:nvPr/>
        </p:nvSpPr>
        <p:spPr>
          <a:xfrm>
            <a:off x="12938760" y="4786884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300 C, 5 s</a:t>
            </a:r>
          </a:p>
        </p:txBody>
      </p:sp>
      <p:sp>
        <p:nvSpPr>
          <p:cNvPr id="410" name="TextBox 409"/>
          <p:cNvSpPr txBox="1"/>
          <p:nvPr/>
        </p:nvSpPr>
        <p:spPr>
          <a:xfrm>
            <a:off x="13670280" y="4786884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E-204 OFF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11731752" y="4937760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12" name="TextBox 411"/>
          <p:cNvSpPr txBox="1"/>
          <p:nvPr/>
        </p:nvSpPr>
        <p:spPr>
          <a:xfrm>
            <a:off x="11914632" y="4937760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FSLL-201 CIRCULATION</a:t>
            </a:r>
          </a:p>
        </p:txBody>
      </p:sp>
      <p:sp>
        <p:nvSpPr>
          <p:cNvPr id="413" name="TextBox 412"/>
          <p:cNvSpPr txBox="1"/>
          <p:nvPr/>
        </p:nvSpPr>
        <p:spPr>
          <a:xfrm>
            <a:off x="12938760" y="4937760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&lt; 45 %, 5 s *</a:t>
            </a:r>
          </a:p>
        </p:txBody>
      </p:sp>
      <p:sp>
        <p:nvSpPr>
          <p:cNvPr id="414" name="TextBox 413"/>
          <p:cNvSpPr txBox="1"/>
          <p:nvPr/>
        </p:nvSpPr>
        <p:spPr>
          <a:xfrm>
            <a:off x="13670280" y="4937760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E-204 OFF</a:t>
            </a:r>
          </a:p>
        </p:txBody>
      </p:sp>
      <p:sp>
        <p:nvSpPr>
          <p:cNvPr id="415" name="TextBox 414"/>
          <p:cNvSpPr txBox="1"/>
          <p:nvPr/>
        </p:nvSpPr>
        <p:spPr>
          <a:xfrm>
            <a:off x="11731752" y="5088636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11914632" y="5088636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LSHH-204 V-201 LEVEL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12938760" y="5088636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90 %, 5 s</a:t>
            </a:r>
          </a:p>
        </p:txBody>
      </p:sp>
      <p:sp>
        <p:nvSpPr>
          <p:cNvPr id="418" name="TextBox 417"/>
          <p:cNvSpPr txBox="1"/>
          <p:nvPr/>
        </p:nvSpPr>
        <p:spPr>
          <a:xfrm>
            <a:off x="13670280" y="5088636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STOP C-201</a:t>
            </a:r>
          </a:p>
        </p:txBody>
      </p:sp>
      <p:sp>
        <p:nvSpPr>
          <p:cNvPr id="419" name="TextBox 418"/>
          <p:cNvSpPr txBox="1"/>
          <p:nvPr/>
        </p:nvSpPr>
        <p:spPr>
          <a:xfrm>
            <a:off x="11731752" y="5239512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20" name="TextBox 419"/>
          <p:cNvSpPr txBox="1"/>
          <p:nvPr/>
        </p:nvSpPr>
        <p:spPr>
          <a:xfrm>
            <a:off x="11914632" y="5239512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PSHH-203 LOOP PRESS.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12938760" y="5239512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&gt; 85 bar g, 5 s</a:t>
            </a:r>
          </a:p>
        </p:txBody>
      </p:sp>
      <p:sp>
        <p:nvSpPr>
          <p:cNvPr id="422" name="TextBox 421"/>
          <p:cNvSpPr txBox="1"/>
          <p:nvPr/>
        </p:nvSpPr>
        <p:spPr>
          <a:xfrm>
            <a:off x="13670280" y="5239512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E-204 OFF</a:t>
            </a:r>
          </a:p>
        </p:txBody>
      </p:sp>
      <p:sp>
        <p:nvSpPr>
          <p:cNvPr id="423" name="TextBox 422"/>
          <p:cNvSpPr txBox="1"/>
          <p:nvPr/>
        </p:nvSpPr>
        <p:spPr>
          <a:xfrm>
            <a:off x="11731752" y="5390388"/>
            <a:ext cx="13716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24" name="TextBox 423"/>
          <p:cNvSpPr txBox="1"/>
          <p:nvPr/>
        </p:nvSpPr>
        <p:spPr>
          <a:xfrm>
            <a:off x="11914632" y="5390388"/>
            <a:ext cx="978408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HS-200 ESD PUSHBUTTON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12938760" y="5390388"/>
            <a:ext cx="68580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MANUAL</a:t>
            </a:r>
          </a:p>
        </p:txBody>
      </p:sp>
      <p:sp>
        <p:nvSpPr>
          <p:cNvPr id="426" name="TextBox 425"/>
          <p:cNvSpPr txBox="1"/>
          <p:nvPr/>
        </p:nvSpPr>
        <p:spPr>
          <a:xfrm>
            <a:off x="13670280" y="5390388"/>
            <a:ext cx="960120" cy="150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70" b="0">
                <a:solidFill>
                  <a:srgbClr val="000000"/>
                </a:solidFill>
                <a:latin typeface="Arial"/>
              </a:rPr>
              <a:t>XV-202 + C-201 + E-204</a:t>
            </a:r>
          </a:p>
        </p:txBody>
      </p:sp>
      <p:sp>
        <p:nvSpPr>
          <p:cNvPr id="427" name="TextBox 426"/>
          <p:cNvSpPr txBox="1"/>
          <p:nvPr/>
        </p:nvSpPr>
        <p:spPr>
          <a:xfrm>
            <a:off x="11704320" y="5632704"/>
            <a:ext cx="3017520" cy="14630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700" b="1">
                <a:solidFill>
                  <a:srgbClr val="000000"/>
                </a:solidFill>
                <a:latin typeface="Arial"/>
              </a:rPr>
              <a:t>DESIGN POINT (OTS MODEL)</a:t>
            </a:r>
          </a:p>
        </p:txBody>
      </p:sp>
      <p:cxnSp>
        <p:nvCxnSpPr>
          <p:cNvPr id="428" name="Connector 427"/>
          <p:cNvCxnSpPr/>
          <p:nvPr/>
        </p:nvCxnSpPr>
        <p:spPr>
          <a:xfrm>
            <a:off x="11704320" y="5815584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9" name="Connector 428"/>
          <p:cNvCxnSpPr/>
          <p:nvPr/>
        </p:nvCxnSpPr>
        <p:spPr>
          <a:xfrm>
            <a:off x="11704320" y="5957316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0" name="Connector 429"/>
          <p:cNvCxnSpPr/>
          <p:nvPr/>
        </p:nvCxnSpPr>
        <p:spPr>
          <a:xfrm>
            <a:off x="11704320" y="6099048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1" name="Connector 430"/>
          <p:cNvCxnSpPr/>
          <p:nvPr/>
        </p:nvCxnSpPr>
        <p:spPr>
          <a:xfrm>
            <a:off x="11704320" y="6240780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2" name="Connector 431"/>
          <p:cNvCxnSpPr/>
          <p:nvPr/>
        </p:nvCxnSpPr>
        <p:spPr>
          <a:xfrm>
            <a:off x="11704320" y="6382512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>
            <a:off x="11704320" y="6524244"/>
            <a:ext cx="2487168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>
            <a:off x="1170432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>
            <a:off x="1207008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>
            <a:off x="1257300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7" name="Connector 436"/>
          <p:cNvCxnSpPr/>
          <p:nvPr/>
        </p:nvCxnSpPr>
        <p:spPr>
          <a:xfrm>
            <a:off x="13075920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8" name="Connector 437"/>
          <p:cNvCxnSpPr/>
          <p:nvPr/>
        </p:nvCxnSpPr>
        <p:spPr>
          <a:xfrm>
            <a:off x="13642848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9" name="Connector 438"/>
          <p:cNvCxnSpPr/>
          <p:nvPr/>
        </p:nvCxnSpPr>
        <p:spPr>
          <a:xfrm>
            <a:off x="14191488" y="5815584"/>
            <a:ext cx="0" cy="70866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0" name="TextBox 439"/>
          <p:cNvSpPr txBox="1"/>
          <p:nvPr/>
        </p:nvSpPr>
        <p:spPr>
          <a:xfrm>
            <a:off x="11731752" y="5815584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BED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12097512" y="58155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IN C</a:t>
            </a:r>
          </a:p>
        </p:txBody>
      </p:sp>
      <p:sp>
        <p:nvSpPr>
          <p:cNvPr id="442" name="TextBox 441"/>
          <p:cNvSpPr txBox="1"/>
          <p:nvPr/>
        </p:nvSpPr>
        <p:spPr>
          <a:xfrm>
            <a:off x="12600432" y="5815584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OUT C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3103352" y="5815584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MeOH %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13670280" y="5815584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1">
                <a:solidFill>
                  <a:srgbClr val="000000"/>
                </a:solidFill>
                <a:latin typeface="Arial"/>
              </a:rPr>
              <a:t>CAT. t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11731752" y="5957316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12097512" y="59573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220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12600432" y="5957316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260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3103352" y="5957316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2.1</a:t>
            </a:r>
          </a:p>
        </p:txBody>
      </p:sp>
      <p:sp>
        <p:nvSpPr>
          <p:cNvPr id="449" name="TextBox 448"/>
          <p:cNvSpPr txBox="1"/>
          <p:nvPr/>
        </p:nvSpPr>
        <p:spPr>
          <a:xfrm>
            <a:off x="13670280" y="5957316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25.0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11731752" y="6099048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12097512" y="60990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225</a:t>
            </a:r>
          </a:p>
        </p:txBody>
      </p:sp>
      <p:sp>
        <p:nvSpPr>
          <p:cNvPr id="452" name="TextBox 451"/>
          <p:cNvSpPr txBox="1"/>
          <p:nvPr/>
        </p:nvSpPr>
        <p:spPr>
          <a:xfrm>
            <a:off x="12600432" y="6099048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277</a:t>
            </a:r>
          </a:p>
        </p:txBody>
      </p:sp>
      <p:sp>
        <p:nvSpPr>
          <p:cNvPr id="453" name="TextBox 452"/>
          <p:cNvSpPr txBox="1"/>
          <p:nvPr/>
        </p:nvSpPr>
        <p:spPr>
          <a:xfrm>
            <a:off x="13103352" y="6099048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3.6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3670280" y="6099048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41.7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11731752" y="6240780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56" name="TextBox 455"/>
          <p:cNvSpPr txBox="1"/>
          <p:nvPr/>
        </p:nvSpPr>
        <p:spPr>
          <a:xfrm>
            <a:off x="12097512" y="624078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230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2600432" y="6240780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270</a:t>
            </a:r>
          </a:p>
        </p:txBody>
      </p:sp>
      <p:sp>
        <p:nvSpPr>
          <p:cNvPr id="458" name="TextBox 457"/>
          <p:cNvSpPr txBox="1"/>
          <p:nvPr/>
        </p:nvSpPr>
        <p:spPr>
          <a:xfrm>
            <a:off x="13103352" y="6240780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4.4</a:t>
            </a:r>
          </a:p>
        </p:txBody>
      </p:sp>
      <p:sp>
        <p:nvSpPr>
          <p:cNvPr id="459" name="TextBox 458"/>
          <p:cNvSpPr txBox="1"/>
          <p:nvPr/>
        </p:nvSpPr>
        <p:spPr>
          <a:xfrm>
            <a:off x="13670280" y="6240780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58.3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1731752" y="6382512"/>
            <a:ext cx="32004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61" name="TextBox 460"/>
          <p:cNvSpPr txBox="1"/>
          <p:nvPr/>
        </p:nvSpPr>
        <p:spPr>
          <a:xfrm>
            <a:off x="12097512" y="638251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235</a:t>
            </a:r>
          </a:p>
        </p:txBody>
      </p:sp>
      <p:sp>
        <p:nvSpPr>
          <p:cNvPr id="462" name="TextBox 461"/>
          <p:cNvSpPr txBox="1"/>
          <p:nvPr/>
        </p:nvSpPr>
        <p:spPr>
          <a:xfrm>
            <a:off x="12600432" y="6382512"/>
            <a:ext cx="457200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268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13103352" y="6382512"/>
            <a:ext cx="521207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4.8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13670280" y="6382512"/>
            <a:ext cx="502919" cy="14173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83.3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11704320" y="6569964"/>
            <a:ext cx="3017520" cy="3108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CONVERTER 80 bar g IN; V-201 75 bar g / 40 C; FEED 1928 kNm3/h;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MAKE-UP 366 kNm3/h; PURGE 105 kNm3/h; MeOH 112.5 t/h; Q(RXN) 85 MW.</a:t>
            </a:r>
          </a:p>
          <a:p>
            <a:pPr algn="l"/>
            <a:r>
              <a:rPr sz="480" b="0">
                <a:solidFill>
                  <a:srgbClr val="000000"/>
                </a:solidFill>
                <a:latin typeface="Arial"/>
              </a:rPr>
              <a:t>* ARMED ONLY WITH XV-202 OPEN.</a:t>
            </a:r>
          </a:p>
        </p:txBody>
      </p:sp>
      <p:sp>
        <p:nvSpPr>
          <p:cNvPr id="466" name="TextBox 465"/>
          <p:cNvSpPr txBox="1"/>
          <p:nvPr/>
        </p:nvSpPr>
        <p:spPr>
          <a:xfrm>
            <a:off x="457200" y="8659368"/>
            <a:ext cx="11155680" cy="1691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30" b="1">
                <a:solidFill>
                  <a:srgbClr val="000000"/>
                </a:solidFill>
                <a:latin typeface="Arial"/>
              </a:rPr>
              <a:t>GENERAL NOTES: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1. DESIGN BASIS (REFERENCE CARD): 900 kt/y CH3OH AT 8000 h/y = 112.5 t/h; QUENCH CONVERTER, FIXED BED, GAS PHASE, 220-280 C, 50-100 bar, Cu/ZnO/Al2O3, GHSV 8000-12000 1/h. OTS DESIGN: 80 bar g INLET,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   184 m3 CATALYST (12/20/28/40 %, 1150 kg/m3), GHSV 10 500 1/h, FEED 1928 kNm3/h; BED TEMPERATURES AND FLOWS FROM THE OTS HEAT AND MASS BALANCE (KINETICS VANDEN BUSSCHE &amp; FROMENT 1996, ASSUMED) - PLANT VALUES TBC.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2. LINE SIZES PRELIMINARY (GAS 20 m/s, LIQUID 2 m/s) - TBC BY PIPING. SERVICE CODES: PG PROCESS GAS, SG SYNGAS, PU PURGE, CM CRUDE METHANOL, HS HP STEAM, SC CONDENSATE, CW COOLING WATER, FL FLARE.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3. COLD SHOTS ENTER THROUGH LOZENGE DISTRIBUTORS ABOVE BEDS 2-4; TIC-221/231/241 MEASURE JUST BELOW EACH DISTRIBUTOR. QUENCH VALVES AND TV-211 FAIL OPEN (CONVERTER GOES COLDER ON AIR FAILURE).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4. TSHH-2xx: ANY OF THE BED MULTIPOINT THERMOCOUPLES TE-212...244 ABOVE 300 C FOR 5 s (VOTING TBC) - I-1 CLOSES XV-202 (MAKE-UP) AND FORCES HV-214 SHUT; C-201 KEEPS CIRCULATING TO COOL THE BEDS.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5. E-204 START-UP HEATER (HP STEAM, MAX 30 MW) IN SERVICE ONLY TO HEAT THE CATALYST TO ~210 C BEFORE MAKE-UP GAS IS ADMITTED; HV-214 BLOCKED IN DURING NORMAL OPERATION.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6. PDI-215...245 TAPS ABOVE AND BELOW EACH BED (NOT SHOWN). CONVERTER RELIEF IS PROVIDED BY PSV-201 ON V-201 (MEOH-PID-002); CATALYST DUMP NOZZLES, MANWAYS, VENTS AND DRAINS NOT SHOWN.</a:t>
            </a:r>
          </a:p>
          <a:p>
            <a:pPr algn="l"/>
            <a:r>
              <a:rPr sz="530" b="0">
                <a:solidFill>
                  <a:srgbClr val="000000"/>
                </a:solidFill>
                <a:latin typeface="Arial"/>
              </a:rPr>
              <a:t>7. TIC-211 SETS THE BED 1 INLET BY BYPASSING PART OF THE BED-1 FEED AROUND THE COLD SIDE OF E-201 (FEED/EFFLUENT POSITIVE FEEDBACK - TUNE SLOW, CHECK AFTER ANY RATE CHANGE).</a:t>
            </a:r>
          </a:p>
        </p:txBody>
      </p:sp>
      <p:cxnSp>
        <p:nvCxnSpPr>
          <p:cNvPr id="467" name="Connector 466"/>
          <p:cNvCxnSpPr/>
          <p:nvPr/>
        </p:nvCxnSpPr>
        <p:spPr>
          <a:xfrm>
            <a:off x="11750040" y="8641080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>
            <a:off x="11750040" y="89016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>
            <a:off x="11750040" y="91622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>
            <a:off x="1175004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>
            <a:off x="12070080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2" name="Connector 471"/>
          <p:cNvCxnSpPr/>
          <p:nvPr/>
        </p:nvCxnSpPr>
        <p:spPr>
          <a:xfrm>
            <a:off x="14026896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3" name="Connector 472"/>
          <p:cNvCxnSpPr/>
          <p:nvPr/>
        </p:nvCxnSpPr>
        <p:spPr>
          <a:xfrm>
            <a:off x="14804135" y="8641080"/>
            <a:ext cx="0" cy="521208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4" name="TextBox 473"/>
          <p:cNvSpPr txBox="1"/>
          <p:nvPr/>
        </p:nvSpPr>
        <p:spPr>
          <a:xfrm>
            <a:off x="11750040" y="8641080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REV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12070080" y="8641080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DESCRIPTION</a:t>
            </a:r>
          </a:p>
        </p:txBody>
      </p:sp>
      <p:sp>
        <p:nvSpPr>
          <p:cNvPr id="476" name="TextBox 475"/>
          <p:cNvSpPr txBox="1"/>
          <p:nvPr/>
        </p:nvSpPr>
        <p:spPr>
          <a:xfrm>
            <a:off x="14026896" y="8641080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DATE</a:t>
            </a:r>
          </a:p>
        </p:txBody>
      </p:sp>
      <p:sp>
        <p:nvSpPr>
          <p:cNvPr id="477" name="TextBox 476"/>
          <p:cNvSpPr txBox="1"/>
          <p:nvPr/>
        </p:nvSpPr>
        <p:spPr>
          <a:xfrm>
            <a:off x="11750040" y="8901684"/>
            <a:ext cx="3200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78" name="TextBox 477"/>
          <p:cNvSpPr txBox="1"/>
          <p:nvPr/>
        </p:nvSpPr>
        <p:spPr>
          <a:xfrm>
            <a:off x="12070080" y="8901684"/>
            <a:ext cx="1956816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ISSUED FOR OTS DEVELOPMENT (REVIEW)</a:t>
            </a:r>
          </a:p>
        </p:txBody>
      </p:sp>
      <p:sp>
        <p:nvSpPr>
          <p:cNvPr id="479" name="TextBox 478"/>
          <p:cNvSpPr txBox="1"/>
          <p:nvPr/>
        </p:nvSpPr>
        <p:spPr>
          <a:xfrm>
            <a:off x="14026896" y="8901684"/>
            <a:ext cx="777240" cy="26060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25-SEP-26</a:t>
            </a:r>
          </a:p>
        </p:txBody>
      </p:sp>
      <p:sp>
        <p:nvSpPr>
          <p:cNvPr id="480" name="Rectangle 479"/>
          <p:cNvSpPr/>
          <p:nvPr/>
        </p:nvSpPr>
        <p:spPr>
          <a:xfrm>
            <a:off x="11750040" y="9162288"/>
            <a:ext cx="3054096" cy="1207008"/>
          </a:xfrm>
          <a:prstGeom prst="rect">
            <a:avLst/>
          </a:prstGeom>
          <a:solidFill>
            <a:srgbClr val="FFFFFF"/>
          </a:solidFill>
          <a:ln w="17780">
            <a:solidFill>
              <a:srgbClr val="0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1" name="Connector 480"/>
          <p:cNvCxnSpPr/>
          <p:nvPr/>
        </p:nvCxnSpPr>
        <p:spPr>
          <a:xfrm>
            <a:off x="11750040" y="9473184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>
            <a:off x="11750040" y="9802367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>
            <a:off x="11750040" y="10076688"/>
            <a:ext cx="3054095" cy="0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TextBox 483"/>
          <p:cNvSpPr txBox="1"/>
          <p:nvPr/>
        </p:nvSpPr>
        <p:spPr>
          <a:xfrm>
            <a:off x="11750040" y="9180576"/>
            <a:ext cx="3054096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CHULA CHEM. ENG. - METHANOL CONVERTER VER 1 (OTS)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11750040" y="9491472"/>
            <a:ext cx="3054096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P&amp;ID - METHANOL CONVERTER R-201,</a:t>
            </a:r>
          </a:p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INTERCHANGER E-201, E-204</a:t>
            </a:r>
          </a:p>
        </p:txBody>
      </p:sp>
      <p:cxnSp>
        <p:nvCxnSpPr>
          <p:cNvPr id="486" name="Connector 485"/>
          <p:cNvCxnSpPr/>
          <p:nvPr/>
        </p:nvCxnSpPr>
        <p:spPr>
          <a:xfrm>
            <a:off x="12513563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>
            <a:off x="13277088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>
            <a:off x="14040612" y="9802367"/>
            <a:ext cx="0" cy="566929"/>
          </a:xfrm>
          <a:prstGeom prst="line">
            <a:avLst/>
          </a:prstGeom>
          <a:ln w="889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9" name="TextBox 488"/>
          <p:cNvSpPr txBox="1"/>
          <p:nvPr/>
        </p:nvSpPr>
        <p:spPr>
          <a:xfrm>
            <a:off x="11750040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DRAWN: APINAN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SOOTTITANTAWAT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12513563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CHK'D: --</a:t>
            </a:r>
          </a:p>
        </p:txBody>
      </p:sp>
      <p:sp>
        <p:nvSpPr>
          <p:cNvPr id="491" name="TextBox 490"/>
          <p:cNvSpPr txBox="1"/>
          <p:nvPr/>
        </p:nvSpPr>
        <p:spPr>
          <a:xfrm>
            <a:off x="13277088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APP'D: --</a:t>
            </a:r>
          </a:p>
        </p:txBody>
      </p:sp>
      <p:sp>
        <p:nvSpPr>
          <p:cNvPr id="492" name="TextBox 491"/>
          <p:cNvSpPr txBox="1"/>
          <p:nvPr/>
        </p:nvSpPr>
        <p:spPr>
          <a:xfrm>
            <a:off x="14040612" y="9802367"/>
            <a:ext cx="763524" cy="2743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DATE: 25-SEP-26</a:t>
            </a:r>
          </a:p>
        </p:txBody>
      </p:sp>
      <p:sp>
        <p:nvSpPr>
          <p:cNvPr id="493" name="TextBox 492"/>
          <p:cNvSpPr txBox="1"/>
          <p:nvPr/>
        </p:nvSpPr>
        <p:spPr>
          <a:xfrm>
            <a:off x="11750040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DWG NO.</a:t>
            </a:r>
          </a:p>
          <a:p>
            <a:pPr algn="ctr"/>
            <a:r>
              <a:rPr sz="550" b="1">
                <a:solidFill>
                  <a:srgbClr val="000000"/>
                </a:solidFill>
                <a:latin typeface="Arial"/>
              </a:rPr>
              <a:t>MEOH-PID-001</a:t>
            </a:r>
          </a:p>
        </p:txBody>
      </p:sp>
      <p:sp>
        <p:nvSpPr>
          <p:cNvPr id="494" name="TextBox 493"/>
          <p:cNvSpPr txBox="1"/>
          <p:nvPr/>
        </p:nvSpPr>
        <p:spPr>
          <a:xfrm>
            <a:off x="12513563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REV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13277088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SCALE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N.T.S.</a:t>
            </a:r>
          </a:p>
        </p:txBody>
      </p:sp>
      <p:sp>
        <p:nvSpPr>
          <p:cNvPr id="496" name="TextBox 495"/>
          <p:cNvSpPr txBox="1"/>
          <p:nvPr/>
        </p:nvSpPr>
        <p:spPr>
          <a:xfrm>
            <a:off x="14040612" y="10076688"/>
            <a:ext cx="763524" cy="29260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SHEET</a:t>
            </a:r>
          </a:p>
          <a:p>
            <a:pPr algn="ctr"/>
            <a:r>
              <a:rPr sz="550" b="0">
                <a:solidFill>
                  <a:srgbClr val="000000"/>
                </a:solidFill>
                <a:latin typeface="Arial"/>
              </a:rPr>
              <a:t>1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