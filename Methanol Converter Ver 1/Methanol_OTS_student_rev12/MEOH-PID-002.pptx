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02920" y="466344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465429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82896"/>
            <a:ext cx="8686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FROM E-201 HOT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SIDE (PID-001)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EFFLUENT ~206 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32104" y="4754880"/>
            <a:ext cx="4480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280160" y="448056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81912" y="4480560"/>
            <a:ext cx="0" cy="5486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32887" y="4480560"/>
            <a:ext cx="0" cy="5486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81912" y="4672584"/>
            <a:ext cx="950975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81912" y="4837176"/>
            <a:ext cx="950975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80160" y="5138928"/>
            <a:ext cx="15544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76088"/>
            <a:ext cx="15544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FEED/EFFLUENT INTERCHANGER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0388"/>
            <a:ext cx="15544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(COLD)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4754880"/>
            <a:ext cx="10972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18688" y="502920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252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18688" y="519379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383280" y="4754880"/>
            <a:ext cx="0" cy="2743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360420" y="4732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31920" y="45262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83380" y="4526280"/>
            <a:ext cx="0" cy="4572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69179" y="4526280"/>
            <a:ext cx="0" cy="4572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83380" y="4686300"/>
            <a:ext cx="68579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83380" y="4823460"/>
            <a:ext cx="68579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40480" y="3959352"/>
            <a:ext cx="13716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096512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FINAL COOLER (CW)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251960" y="4983480"/>
            <a:ext cx="0" cy="5029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59352" y="5522976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CWS 32 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00600" y="4983480"/>
            <a:ext cx="0" cy="5029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17720" y="5522976"/>
            <a:ext cx="3657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CWR</a:t>
            </a:r>
          </a:p>
        </p:txBody>
      </p:sp>
      <p:sp>
        <p:nvSpPr>
          <p:cNvPr id="32" name="Oval 31"/>
          <p:cNvSpPr/>
          <p:nvPr/>
        </p:nvSpPr>
        <p:spPr>
          <a:xfrm>
            <a:off x="5065776" y="51572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254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65776" y="5321808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800600" y="5321808"/>
            <a:ext cx="26517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777740" y="5298948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120640" y="475488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413248" y="4133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253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13248" y="429768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77840" y="4462272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554979" y="4732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3108960"/>
            <a:ext cx="914400" cy="365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79" y="3657600"/>
            <a:ext cx="731520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79" y="3803904"/>
            <a:ext cx="7315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DEMISTER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59" y="5852160"/>
            <a:ext cx="822961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26479" y="5897880"/>
            <a:ext cx="7315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NLL 50 %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59" y="6053328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V-201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59" y="6190488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HP SEPARATOR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59" y="6304788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40 C, 75 bar g</a:t>
            </a:r>
          </a:p>
        </p:txBody>
      </p:sp>
      <p:sp>
        <p:nvSpPr>
          <p:cNvPr id="49" name="Oval 48"/>
          <p:cNvSpPr/>
          <p:nvPr/>
        </p:nvSpPr>
        <p:spPr>
          <a:xfrm>
            <a:off x="7251192" y="34564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51192" y="36118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949440" y="3611880"/>
            <a:ext cx="3017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926579" y="3589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23759" y="3977639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251192" y="40050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251192" y="416052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6949440" y="4160520"/>
            <a:ext cx="27431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926579" y="413765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23759" y="4937759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51192" y="496519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251192" y="512064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949440" y="5120640"/>
            <a:ext cx="27431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926579" y="5097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51192" y="56052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251192" y="576072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6949440" y="5760720"/>
            <a:ext cx="3017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926579" y="573785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26096" y="4114800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I-4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6096" y="5074920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I-3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6492240" y="2011680"/>
            <a:ext cx="0" cy="1097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4206240" y="2011680"/>
            <a:ext cx="228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2963" y="1883664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DN900-PG-205</a:t>
            </a:r>
          </a:p>
        </p:txBody>
      </p:sp>
      <p:sp>
        <p:nvSpPr>
          <p:cNvPr id="72" name="Oval 71"/>
          <p:cNvSpPr/>
          <p:nvPr/>
        </p:nvSpPr>
        <p:spPr>
          <a:xfrm>
            <a:off x="6462522" y="25306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492240" y="2560320"/>
            <a:ext cx="3840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8110727" y="248259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8229600" y="2359151"/>
            <a:ext cx="0" cy="12344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8138160" y="2278106"/>
            <a:ext cx="182880" cy="81045"/>
          </a:xfrm>
          <a:custGeom>
            <a:avLst/>
            <a:gdLst/>
            <a:ahLst/>
            <a:cxnLst/>
            <a:rect l="l" t="t" r="r" b="b"/>
            <a:pathLst>
              <a:path w="182880" h="81045">
                <a:moveTo>
                  <a:pt x="182880" y="81045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19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09560" y="267004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PV-203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60" y="277977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025128" y="2450591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079992" y="2450591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8887968" y="28529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887968" y="3017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052560" y="2670048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413443" y="2432304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DN150-PU-203</a:t>
            </a:r>
          </a:p>
        </p:txBody>
      </p:sp>
      <p:sp>
        <p:nvSpPr>
          <p:cNvPr id="85" name="Freeform 84"/>
          <p:cNvSpPr/>
          <p:nvPr/>
        </p:nvSpPr>
        <p:spPr>
          <a:xfrm>
            <a:off x="10332720" y="2468879"/>
            <a:ext cx="329184" cy="182881"/>
          </a:xfrm>
          <a:custGeom>
            <a:avLst/>
            <a:gdLst/>
            <a:ahLst/>
            <a:cxnLst/>
            <a:rect l="l" t="t" r="r" b="b"/>
            <a:pathLst>
              <a:path w="329184" h="182881">
                <a:moveTo>
                  <a:pt x="0" y="0"/>
                </a:moveTo>
                <a:lnTo>
                  <a:pt x="256032" y="0"/>
                </a:lnTo>
                <a:lnTo>
                  <a:pt x="329184" y="91441"/>
                </a:lnTo>
                <a:lnTo>
                  <a:pt x="256032" y="182881"/>
                </a:lnTo>
                <a:lnTo>
                  <a:pt x="0" y="18288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07624" y="245973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2688336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PURGE GAS TO REFORMER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FUEL HEADER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7406640" y="2194560"/>
            <a:ext cx="0" cy="126187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406640" y="2194560"/>
            <a:ext cx="82296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229600" y="2194560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263640" y="2743200"/>
            <a:ext cx="0" cy="42976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6204203" y="2852928"/>
            <a:ext cx="118873" cy="182880"/>
          </a:xfrm>
          <a:custGeom>
            <a:avLst/>
            <a:gdLst/>
            <a:ahLst/>
            <a:cxnLst/>
            <a:rect l="l" t="t" r="r" b="b"/>
            <a:pathLst>
              <a:path w="118873" h="182880">
                <a:moveTo>
                  <a:pt x="0" y="0"/>
                </a:moveTo>
                <a:lnTo>
                  <a:pt x="118873" y="182880"/>
                </a:lnTo>
                <a:lnTo>
                  <a:pt x="0" y="182880"/>
                </a:lnTo>
                <a:lnTo>
                  <a:pt x="118873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H="1">
            <a:off x="5394960" y="2743200"/>
            <a:ext cx="8686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800600" y="2697480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FLARE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49240" y="2834640"/>
            <a:ext cx="868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PSV-201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SET 88 bar g</a:t>
            </a:r>
          </a:p>
        </p:txBody>
      </p:sp>
      <p:sp>
        <p:nvSpPr>
          <p:cNvPr id="96" name="Oval 95"/>
          <p:cNvSpPr/>
          <p:nvPr/>
        </p:nvSpPr>
        <p:spPr>
          <a:xfrm>
            <a:off x="6462522" y="23020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H="1">
            <a:off x="5943600" y="2331720"/>
            <a:ext cx="5486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943600" y="2331720"/>
            <a:ext cx="0" cy="4114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5913882" y="2713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5884164" y="2450591"/>
            <a:ext cx="118872" cy="182881"/>
          </a:xfrm>
          <a:custGeom>
            <a:avLst/>
            <a:gdLst/>
            <a:ahLst/>
            <a:cxnLst/>
            <a:rect l="l" t="t" r="r" b="b"/>
            <a:pathLst>
              <a:path w="118872" h="182881">
                <a:moveTo>
                  <a:pt x="0" y="0"/>
                </a:moveTo>
                <a:lnTo>
                  <a:pt x="118872" y="182881"/>
                </a:lnTo>
                <a:lnTo>
                  <a:pt x="0" y="182881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30368" y="2377440"/>
            <a:ext cx="65836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HV-205 (BD)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492240" y="676656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492240" y="7315200"/>
            <a:ext cx="3840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7744967" y="723747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7863840" y="71140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 105"/>
          <p:cNvSpPr/>
          <p:nvPr/>
        </p:nvSpPr>
        <p:spPr>
          <a:xfrm>
            <a:off x="7772400" y="7032986"/>
            <a:ext cx="182879" cy="81046"/>
          </a:xfrm>
          <a:custGeom>
            <a:avLst/>
            <a:gdLst/>
            <a:ahLst/>
            <a:cxnLst/>
            <a:rect l="l" t="t" r="r" b="b"/>
            <a:pathLst>
              <a:path w="182879" h="81046">
                <a:moveTo>
                  <a:pt x="182879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19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43800" y="7424927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LV-204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43800" y="7534655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842248" y="7205472"/>
            <a:ext cx="0" cy="2194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897111" y="7205472"/>
            <a:ext cx="0" cy="2194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8705088" y="76078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209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8705088" y="77724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869680" y="7424927"/>
            <a:ext cx="0" cy="18288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413443" y="7187184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DN200-CM-209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10332720" y="722376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707624" y="721461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58400" y="7443216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CRUDE METHANOL TO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LET-DOWN / DISTILLATION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406640" y="5916168"/>
            <a:ext cx="0" cy="103327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406640" y="6949440"/>
            <a:ext cx="457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63840" y="6949440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10332720" y="1005839"/>
            <a:ext cx="329184" cy="182881"/>
          </a:xfrm>
          <a:custGeom>
            <a:avLst/>
            <a:gdLst/>
            <a:ahLst/>
            <a:cxnLst/>
            <a:rect l="l" t="t" r="r" b="b"/>
            <a:pathLst>
              <a:path w="329184" h="182881">
                <a:moveTo>
                  <a:pt x="329184" y="0"/>
                </a:moveTo>
                <a:lnTo>
                  <a:pt x="73152" y="0"/>
                </a:lnTo>
                <a:lnTo>
                  <a:pt x="0" y="91441"/>
                </a:lnTo>
                <a:lnTo>
                  <a:pt x="73152" y="182881"/>
                </a:lnTo>
                <a:lnTo>
                  <a:pt x="329184" y="18288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26880" y="996695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49840" y="1216152"/>
            <a:ext cx="1371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MAKE-UP SYNGAS FROM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SYNGAS COMPRESSOR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86 bar a, 40 C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5120640" y="1097280"/>
            <a:ext cx="5212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120640" y="1097280"/>
            <a:ext cx="0" cy="914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5090922" y="1981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987552"/>
            <a:ext cx="0" cy="2194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720072" y="987552"/>
            <a:ext cx="0" cy="2194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9528048" y="475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9528048" y="640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692640" y="804672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Freeform 131"/>
          <p:cNvSpPr/>
          <p:nvPr/>
        </p:nvSpPr>
        <p:spPr>
          <a:xfrm>
            <a:off x="8842248" y="10195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 flipV="1">
            <a:off x="8961120" y="91440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887968" y="804671"/>
            <a:ext cx="146304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87968" y="804671"/>
            <a:ext cx="146304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41080" y="1207007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XV-202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41080" y="131673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SIS I-1...5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8019288" y="10195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8138160" y="8961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Freeform 139"/>
          <p:cNvSpPr/>
          <p:nvPr/>
        </p:nvSpPr>
        <p:spPr>
          <a:xfrm>
            <a:off x="8046720" y="81506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818120" y="1207007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FV-202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18120" y="131673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41643" y="969264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DN300-SG-202</a:t>
            </a: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8138160" y="640080"/>
            <a:ext cx="13898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138160" y="640080"/>
            <a:ext cx="0" cy="1737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Freeform 145"/>
          <p:cNvSpPr/>
          <p:nvPr/>
        </p:nvSpPr>
        <p:spPr>
          <a:xfrm>
            <a:off x="3474720" y="164592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731520" y="0"/>
                </a:moveTo>
                <a:lnTo>
                  <a:pt x="0" y="201168"/>
                </a:lnTo>
                <a:lnTo>
                  <a:pt x="0" y="530352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3840480" y="2377440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/>
          <p:cNvSpPr/>
          <p:nvPr/>
        </p:nvSpPr>
        <p:spPr>
          <a:xfrm>
            <a:off x="3685032" y="25420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85032" y="25420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291840" y="2907792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C-201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91840" y="3044952"/>
            <a:ext cx="10972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LOOP CIRCULATOR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291840" y="3159252"/>
            <a:ext cx="10972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(VARIABLE SPEED)</a:t>
            </a:r>
          </a:p>
        </p:txBody>
      </p:sp>
      <p:cxnSp>
        <p:nvCxnSpPr>
          <p:cNvPr id="153" name="Connector 152"/>
          <p:cNvCxnSpPr/>
          <p:nvPr/>
        </p:nvCxnSpPr>
        <p:spPr>
          <a:xfrm flipH="1">
            <a:off x="2560320" y="2011680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560320" y="2011680"/>
            <a:ext cx="0" cy="2468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035808" y="190195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090672" y="190195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2898648" y="13441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898648" y="15087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063240" y="1673352"/>
            <a:ext cx="0" cy="2286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2880360" y="2331720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907792" y="23591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907792" y="25146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63240" y="2121408"/>
            <a:ext cx="0" cy="2103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227832" y="1508760"/>
            <a:ext cx="6126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840480" y="1508760"/>
            <a:ext cx="0" cy="23774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3291840" y="2743200"/>
            <a:ext cx="45720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I-2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15184" y="3566160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DN750-PG-202</a:t>
            </a:r>
          </a:p>
        </p:txBody>
      </p:sp>
      <p:sp>
        <p:nvSpPr>
          <p:cNvPr id="168" name="Oval 167"/>
          <p:cNvSpPr/>
          <p:nvPr/>
        </p:nvSpPr>
        <p:spPr>
          <a:xfrm>
            <a:off x="1984248" y="28529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1984248" y="3017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313432" y="301752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Oval 170"/>
          <p:cNvSpPr/>
          <p:nvPr/>
        </p:nvSpPr>
        <p:spPr>
          <a:xfrm>
            <a:off x="2537460" y="299466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 flipV="1">
            <a:off x="1554480" y="329184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832104" y="3291840"/>
            <a:ext cx="72237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Freeform 173"/>
          <p:cNvSpPr/>
          <p:nvPr/>
        </p:nvSpPr>
        <p:spPr>
          <a:xfrm>
            <a:off x="502920" y="320040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329184" y="0"/>
                </a:moveTo>
                <a:lnTo>
                  <a:pt x="73152" y="0"/>
                </a:lnTo>
                <a:lnTo>
                  <a:pt x="0" y="91440"/>
                </a:lnTo>
                <a:lnTo>
                  <a:pt x="73152" y="182880"/>
                </a:lnTo>
                <a:lnTo>
                  <a:pt x="329184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-502920" y="319125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1480" y="3410712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R-201 FEED AND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QUENCH HEADER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(MEOH-PID-001) ~97 C</a:t>
            </a:r>
          </a:p>
        </p:txBody>
      </p:sp>
      <p:sp>
        <p:nvSpPr>
          <p:cNvPr id="177" name="Oval 176"/>
          <p:cNvSpPr/>
          <p:nvPr/>
        </p:nvSpPr>
        <p:spPr>
          <a:xfrm>
            <a:off x="1801368" y="3813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1801368" y="397763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1554480" y="3977639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/>
          <p:cNvSpPr/>
          <p:nvPr/>
        </p:nvSpPr>
        <p:spPr>
          <a:xfrm>
            <a:off x="1531620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978408" y="26243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978408" y="27889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143000" y="295351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1120140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612880" y="411480"/>
            <a:ext cx="3154680" cy="813816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1704320" y="47548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11750040" y="73152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217980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13258800" y="73152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1368856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11750040" y="1005840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217980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SIGNAL LINE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3258800" y="100584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3450824" y="896112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13450824" y="92811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13450824" y="1083564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1368856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LINE JUMP (NO JOIN)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1175004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Freeform 198"/>
          <p:cNvSpPr/>
          <p:nvPr/>
        </p:nvSpPr>
        <p:spPr>
          <a:xfrm>
            <a:off x="1185062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 flipV="1">
            <a:off x="11942064" y="1216151"/>
            <a:ext cx="0" cy="45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Freeform 200"/>
          <p:cNvSpPr/>
          <p:nvPr/>
        </p:nvSpPr>
        <p:spPr>
          <a:xfrm>
            <a:off x="11878056" y="1159419"/>
            <a:ext cx="128016" cy="56732"/>
          </a:xfrm>
          <a:custGeom>
            <a:avLst/>
            <a:gdLst/>
            <a:ahLst/>
            <a:cxnLst/>
            <a:rect l="l" t="t" r="r" b="b"/>
            <a:pathLst>
              <a:path w="128016" h="56732">
                <a:moveTo>
                  <a:pt x="128016" y="56732"/>
                </a:moveTo>
                <a:lnTo>
                  <a:pt x="124155" y="37030"/>
                </a:lnTo>
                <a:lnTo>
                  <a:pt x="113040" y="19703"/>
                </a:lnTo>
                <a:lnTo>
                  <a:pt x="96012" y="6843"/>
                </a:lnTo>
                <a:lnTo>
                  <a:pt x="75122" y="0"/>
                </a:lnTo>
                <a:lnTo>
                  <a:pt x="52893" y="0"/>
                </a:lnTo>
                <a:lnTo>
                  <a:pt x="32004" y="6843"/>
                </a:lnTo>
                <a:lnTo>
                  <a:pt x="14975" y="19703"/>
                </a:lnTo>
                <a:lnTo>
                  <a:pt x="3860" y="37030"/>
                </a:lnTo>
                <a:lnTo>
                  <a:pt x="0" y="567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217980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CONTROL VALVE FO/FC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325880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reeform 203"/>
          <p:cNvSpPr/>
          <p:nvPr/>
        </p:nvSpPr>
        <p:spPr>
          <a:xfrm>
            <a:off x="1335938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 flipV="1">
            <a:off x="13450824" y="1225295"/>
            <a:ext cx="0" cy="3657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13405104" y="1170431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368856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SHUT-OFF VALVE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1175004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11850624" y="14950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217980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MANUAL VALVE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1325880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3423392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3478256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1368856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ORIFICE ELEMENT</a:t>
            </a:r>
          </a:p>
        </p:txBody>
      </p:sp>
      <p:sp>
        <p:nvSpPr>
          <p:cNvPr id="215" name="Oval 214"/>
          <p:cNvSpPr/>
          <p:nvPr/>
        </p:nvSpPr>
        <p:spPr>
          <a:xfrm>
            <a:off x="1184148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11841480" y="182880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217980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INSTRUMENT</a:t>
            </a:r>
          </a:p>
        </p:txBody>
      </p:sp>
      <p:sp>
        <p:nvSpPr>
          <p:cNvPr id="218" name="Oval 217"/>
          <p:cNvSpPr/>
          <p:nvPr/>
        </p:nvSpPr>
        <p:spPr>
          <a:xfrm>
            <a:off x="1335024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368856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FIELD INSTRUMENT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1823192" y="1975103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841480" y="199339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11841480" y="2103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1217980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224" name="Freeform 223"/>
          <p:cNvSpPr/>
          <p:nvPr/>
        </p:nvSpPr>
        <p:spPr>
          <a:xfrm>
            <a:off x="13304520" y="2029967"/>
            <a:ext cx="283464" cy="146305"/>
          </a:xfrm>
          <a:custGeom>
            <a:avLst/>
            <a:gdLst/>
            <a:ahLst/>
            <a:cxnLst/>
            <a:rect l="l" t="t" r="r" b="b"/>
            <a:pathLst>
              <a:path w="283464" h="146305">
                <a:moveTo>
                  <a:pt x="0" y="0"/>
                </a:moveTo>
                <a:lnTo>
                  <a:pt x="210312" y="0"/>
                </a:lnTo>
                <a:lnTo>
                  <a:pt x="283464" y="73153"/>
                </a:lnTo>
                <a:lnTo>
                  <a:pt x="210312" y="146305"/>
                </a:lnTo>
                <a:lnTo>
                  <a:pt x="0" y="14630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368856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OFF-SHEET LINK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11768328" y="2295144"/>
            <a:ext cx="3474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1768328" y="2459736"/>
            <a:ext cx="3474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1741912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78052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181912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97356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201216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2050776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1768328" y="2313432"/>
            <a:ext cx="34747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217980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CATALYST BED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13277088" y="2350008"/>
            <a:ext cx="3474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236"/>
          <p:cNvSpPr/>
          <p:nvPr/>
        </p:nvSpPr>
        <p:spPr>
          <a:xfrm>
            <a:off x="13363955" y="2368296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528547" y="2368296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368856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QUENCH DISTRIBUTOR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704320" y="267004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CONTROL LOOP SCHEDULE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11704320" y="28529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1704320" y="300380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1704320" y="315468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1704320" y="33055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1704320" y="34564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1704320" y="360730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1704320" y="37581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1704320" y="39090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1704320" y="40599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1704320" y="421081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1704320" y="436168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1704320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2143232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2874752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3716000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3953744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4721840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1731752" y="285292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LOOP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2170664" y="285292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MEASURES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2902184" y="285292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MOVES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3743432" y="285292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FAIL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3981176" y="2852928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 / NOTE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1731752" y="300380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FIC-201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170664" y="300380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CONVERTER FEED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2902184" y="300380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C-201 SPEED (SC)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3743432" y="300380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3981176" y="3003804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1928 kNm3/h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731752" y="315468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FIC-202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2170664" y="315468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MAKE-UP SYNGAS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2902184" y="315468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FV-202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3743432" y="315468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3981176" y="3154680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366 kNm3/h (RATE)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1731752" y="330555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PIC-203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170664" y="330555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LOOP PRESS. V-201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2902184" y="330555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PV-203 PURGE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3743432" y="330555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3981176" y="3305556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75.0 bar g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1731752" y="345643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LIC-204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2170664" y="345643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V-201 LEVEL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2902184" y="345643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LV-204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3743432" y="345643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3981176" y="3456432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50 %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1731752" y="360730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TIC-211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2170664" y="360730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1 INLET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2902184" y="360730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TV-211 (E-201 BYP.)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3743432" y="360730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3981176" y="3607308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220 C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1731752" y="375818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TIC-221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2170664" y="375818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2 INLET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2902184" y="375818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TV-221 QUENCH 2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3743432" y="375818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3981176" y="3758184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225 C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731752" y="390906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TIC-231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170664" y="390906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3 INLET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2902184" y="390906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TV-231 QUENCH 3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3743432" y="390906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981176" y="3909060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230 C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731752" y="405993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TIC-241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2170664" y="405993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4 INLET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2902184" y="405993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TV-241 QUENCH 4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3743432" y="405993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3981176" y="4059936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235 C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731752" y="421081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HIC-214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2170664" y="421081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2902184" y="421081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E-204 STEAM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3743432" y="421081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3981176" y="4210812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START-UP ONLY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1704320" y="445312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SIS INTERLOCKS (ACTION: MAKE-UP CUT)</a:t>
            </a:r>
          </a:p>
        </p:txBody>
      </p:sp>
      <p:cxnSp>
        <p:nvCxnSpPr>
          <p:cNvPr id="309" name="Connector 308"/>
          <p:cNvCxnSpPr/>
          <p:nvPr/>
        </p:nvCxnSpPr>
        <p:spPr>
          <a:xfrm>
            <a:off x="11704320" y="463600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1704320" y="478688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1704320" y="4937760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1704320" y="508863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1704320" y="5239512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1704320" y="539038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1704320" y="554126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1704320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11887200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2911328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3642848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4648688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11731752" y="4636008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I-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914632" y="4636008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INITIATOR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2938760" y="463600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3670280" y="4636008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731752" y="4786884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11914632" y="4786884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TSHH-2xx ANY BED TC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2938760" y="478688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300 C, 5 s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3670280" y="4786884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E-204 OFF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1731752" y="4937760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1914632" y="4937760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FSLL-201 CIRCULATION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938760" y="493776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45 %, 5 s *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3670280" y="4937760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E-204 OFF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1731752" y="5088636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1914632" y="5088636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LSHH-204 V-201 LEVEL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2938760" y="508863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90 %, 5 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3670280" y="5088636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STOP C-201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1731752" y="5239512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1914632" y="5239512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PSHH-203 LOOP PRESS.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2938760" y="523951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85 bar g, 5 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3670280" y="5239512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E-204 OFF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1731752" y="5390388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1914632" y="5390388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HS-200 ESD PUSHBUTTON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2938760" y="539038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3670280" y="5390388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C-201 + E-204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1704320" y="5632704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DESIGN POINT (OTS MODEL)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11704320" y="5815584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1704320" y="5957316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1704320" y="6099048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1704320" y="6240780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1704320" y="6382512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1704320" y="6524244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170432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207008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257300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307592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3642848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4191488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TextBox 357"/>
          <p:cNvSpPr txBox="1"/>
          <p:nvPr/>
        </p:nvSpPr>
        <p:spPr>
          <a:xfrm>
            <a:off x="11731752" y="5815584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BED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2097512" y="58155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IN C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2600432" y="58155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OUT C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3103352" y="5815584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MeOH %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3670280" y="5815584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CAT. t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1731752" y="5957316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2097512" y="59573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2600432" y="59573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260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3103352" y="5957316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3670280" y="5957316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25.0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1731752" y="6099048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2097512" y="60990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2600432" y="60990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277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3103352" y="6099048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3.6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3670280" y="6099048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41.7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1731752" y="6240780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2097512" y="624078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2600432" y="624078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270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3103352" y="6240780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4.4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3670280" y="6240780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58.3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1731752" y="6382512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2097512" y="638251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235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2600432" y="638251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268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3103352" y="6382512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4.8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3670280" y="6382512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83.3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1704320" y="6569964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CONVERTER 80 bar g IN; V-201 75 bar g / 40 C; FEED 1928 kNm3/h;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MAKE-UP 366 kNm3/h; PURGE 105 kNm3/h; MeOH 112.5 t/h; Q(RXN) 85 MW.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* ARMED ONLY WITH XV-202 OPEN.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457200" y="8659368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1. SEE MEOH-PID-001 NOTES 1-2 FOR DESIGN BASIS, LINE SIZING AND SERVICE CODES. LOOP GAS AT C-201 SUCTION: H2 81.6 / CH4 11.5 / CO2 2.5 / CO 2.3 / N2 1.7 / CH3OH 0.36 mol % (OTS MODEL).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2. MAKE-UP SYNGAS (BATTERY LIMIT): H2 73 / CO 16 / CO2 7 / CH4 3.3 / N2 0.5 / H2O 0.2 mol % (ASSUMED, TBC); FIC-202 SETS THE PLANT RATE; XV-202 FAILS CLOSED AND IS THE SIS FINAL ELEMENT FOR I-1...I-5.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3. PIC-203 HOLDS THE LOOP PRESSURE WITH THE PURGE (PV-203): A LESS ACTIVE CONVERTER OR A HOTTER SEPARATOR RAISES THE LOOP PRESSURE AND THE PURGE - THE PURGE RATE IS THE BEST CONVERTER HEALTH SIGNAL.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4. C-201: VARIABLE-SPEED MOTOR DRIVE; FIC-201 TRIMS SPEED. FSLL-201 (I-2) AND LSHH-204 (I-3, ALSO STOPS C-201 TO PROTECT IT FROM LIQUID CARRY-OVER). SEAL/LUBE SYSTEMS PER VENDOR.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5. E-203: COOLING WATER 32 C SUPPLY; V-201 AT 40 C CONDENSES CRUDE METHANOL (~85 wt % CH3OH); HIGHER SEPARATOR TEMPERATURE RECYCLES MORE CH3OH AND LOWERS CONVERTER DRIVING FORCE.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6. PSV-201 SET 88 bar g PROTECTS THE WHOLE LOOP (BLOCKED-OUTLET CASE AT MAX MAKE-UP - SIZING TBC). HV-205 MANUAL BLOWDOWN TO FLARE FOR EMERGENCY DEPRESSURING (RESTRICTION ORIFICE TBC).</a:t>
            </a:r>
          </a:p>
        </p:txBody>
      </p:sp>
      <p:cxnSp>
        <p:nvCxnSpPr>
          <p:cNvPr id="385" name="Connector 384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11750040" y="8641080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2070080" y="8641080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4026896" y="8641080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1750040" y="8901684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2070080" y="8901684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OTS DEVELOPMENT (REVIEW)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4026896" y="8901684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CHULA CHEM. ENG. - METHANOL CONVERTER VER 1 (OTS)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- SYNTHESIS LOOP: C-201,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E-202, E-203, SEPARATOR V-201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25-SEP-26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MEOH-PID-002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