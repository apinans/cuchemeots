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noFill/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9931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T-301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089" y="393968"/>
            <a:ext cx="80091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Ethanol Storage Tank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3022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P-301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5858" y="393968"/>
            <a:ext cx="83555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Ethanol Metering Pump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6113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E-601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4303" y="393968"/>
            <a:ext cx="904849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Electric Feed Preheater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204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R-601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685" y="393968"/>
            <a:ext cx="76626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Trickle-Bed Reactor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2295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F-601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3713" y="393968"/>
            <a:ext cx="558393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Outlet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5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E-602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7512" y="393968"/>
            <a:ext cx="696975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Product Condenser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8477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D-601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7217" y="393968"/>
            <a:ext cx="523747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HP Separator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568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D-602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2985" y="393968"/>
            <a:ext cx="558393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LP Flash Drum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4659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T-601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7494" y="393968"/>
            <a:ext cx="83555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Methanol Product Tank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7750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P-602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5230" y="393968"/>
            <a:ext cx="76626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Transfer Pump (air)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0841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T-602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0290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Waste Tank (IBC)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2000" y="509877"/>
            <a:ext cx="10188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7056000" y="6192000"/>
            <a:ext cx="3384000" cy="111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056000" y="6357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7056000" y="6753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7056000" y="7005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7128000" y="6222817"/>
            <a:ext cx="2595397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MTJA CO2-METHANOL PILOT · DEPT. OF CHEMICAL ENGINEERING, CHULALONGKORN UNIVERSITY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316" y="6432180"/>
            <a:ext cx="1147368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000000"/>
                </a:solidFill>
                <a:latin typeface="Arial"/>
              </a:rPr>
              <a:t>PROCESS FLOW DIAGRAM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4396" y="6616400"/>
            <a:ext cx="2407208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PILOT TRICKLE-BED REACTOR R-601 · CO2 + H2 TO METHANOL (ETHANOL-ASSISTED)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6400" y="6779122"/>
            <a:ext cx="393826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DRAWING No.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6400" y="6878390"/>
            <a:ext cx="50485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R601-PFD-001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7728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852768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REV.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768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08640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913680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680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2784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9678240" y="6779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SHEET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8240" y="687839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64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06400" y="7130390"/>
            <a:ext cx="80248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7728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8527680" y="7031122"/>
            <a:ext cx="289889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CHECKED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768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8640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91368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680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62784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9678240" y="7031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78240" y="7130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2026-10-24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2000" y="6292800"/>
            <a:ext cx="6768000" cy="1015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4000" y="6350195"/>
            <a:ext cx="32532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57" name="Freeform 56"/>
          <p:cNvSpPr/>
          <p:nvPr/>
        </p:nvSpPr>
        <p:spPr>
          <a:xfrm>
            <a:off x="34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2200" y="0"/>
                </a:moveTo>
                <a:lnTo>
                  <a:pt x="199800" y="0"/>
                </a:lnTo>
                <a:lnTo>
                  <a:pt x="252000" y="57600"/>
                </a:lnTo>
                <a:lnTo>
                  <a:pt x="199800" y="115200"/>
                </a:lnTo>
                <a:lnTo>
                  <a:pt x="52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8000" y="6512082"/>
            <a:ext cx="603275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Gas flow (NL/min)</a:t>
            </a:r>
          </a:p>
        </p:txBody>
      </p:sp>
      <p:sp>
        <p:nvSpPr>
          <p:cNvPr id="60" name="Freeform 59"/>
          <p:cNvSpPr/>
          <p:nvPr/>
        </p:nvSpPr>
        <p:spPr>
          <a:xfrm>
            <a:off x="145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198000" y="57600"/>
                </a:lnTo>
                <a:lnTo>
                  <a:pt x="252000" y="115200"/>
                </a:lnTo>
                <a:lnTo>
                  <a:pt x="0" y="115200"/>
                </a:lnTo>
                <a:lnTo>
                  <a:pt x="54000" y="576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7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8000" y="6512082"/>
            <a:ext cx="69067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Liquid flow (mL/min)</a:t>
            </a:r>
          </a:p>
        </p:txBody>
      </p:sp>
      <p:sp>
        <p:nvSpPr>
          <p:cNvPr id="63" name="Freeform 62"/>
          <p:cNvSpPr/>
          <p:nvPr/>
        </p:nvSpPr>
        <p:spPr>
          <a:xfrm>
            <a:off x="2544000" y="6501472"/>
            <a:ext cx="288000" cy="115200"/>
          </a:xfrm>
          <a:custGeom>
            <a:avLst/>
            <a:gdLst/>
            <a:ahLst/>
            <a:cxnLst/>
            <a:rect l="l" t="t" r="r" b="b"/>
            <a:pathLst>
              <a:path w="288000" h="115200">
                <a:moveTo>
                  <a:pt x="68400" y="0"/>
                </a:moveTo>
                <a:lnTo>
                  <a:pt x="288000" y="0"/>
                </a:lnTo>
                <a:lnTo>
                  <a:pt x="2196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8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68000" y="6512082"/>
            <a:ext cx="603275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Mass flow (g/min)</a:t>
            </a:r>
          </a:p>
        </p:txBody>
      </p:sp>
      <p:sp>
        <p:nvSpPr>
          <p:cNvPr id="66" name="Freeform 65"/>
          <p:cNvSpPr/>
          <p:nvPr/>
        </p:nvSpPr>
        <p:spPr>
          <a:xfrm>
            <a:off x="367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9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78000" y="6512082"/>
            <a:ext cx="63240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Temperature (degC)</a:t>
            </a:r>
          </a:p>
        </p:txBody>
      </p:sp>
      <p:sp>
        <p:nvSpPr>
          <p:cNvPr id="69" name="Freeform 68"/>
          <p:cNvSpPr/>
          <p:nvPr/>
        </p:nvSpPr>
        <p:spPr>
          <a:xfrm>
            <a:off x="478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0400" y="0"/>
                </a:moveTo>
                <a:lnTo>
                  <a:pt x="2016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0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8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Pressure (bar g)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888400" y="65590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6198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38400" y="6825472"/>
            <a:ext cx="259200" cy="0"/>
          </a:xfrm>
          <a:prstGeom prst="line">
            <a:avLst/>
          </a:prstGeom>
          <a:ln w="6480">
            <a:solidFill>
              <a:srgbClr val="000000"/>
            </a:solidFill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648000" y="67784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sp>
        <p:nvSpPr>
          <p:cNvPr id="76" name="Freeform 75"/>
          <p:cNvSpPr/>
          <p:nvPr/>
        </p:nvSpPr>
        <p:spPr>
          <a:xfrm>
            <a:off x="149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57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57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79" name="Freeform 78"/>
          <p:cNvSpPr/>
          <p:nvPr/>
        </p:nvSpPr>
        <p:spPr>
          <a:xfrm>
            <a:off x="1539120" y="6613720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5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Control Valve</a:t>
            </a:r>
          </a:p>
        </p:txBody>
      </p:sp>
      <p:sp>
        <p:nvSpPr>
          <p:cNvPr id="81" name="Oval 80"/>
          <p:cNvSpPr/>
          <p:nvPr/>
        </p:nvSpPr>
        <p:spPr>
          <a:xfrm>
            <a:off x="2623200" y="6760672"/>
            <a:ext cx="129600" cy="129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2623200" y="6760672"/>
            <a:ext cx="64800" cy="129600"/>
          </a:xfrm>
          <a:custGeom>
            <a:avLst/>
            <a:gdLst/>
            <a:ahLst/>
            <a:cxnLst/>
            <a:rect l="l" t="t" r="r" b="b"/>
            <a:pathLst>
              <a:path w="64800" h="129600">
                <a:moveTo>
                  <a:pt x="64800" y="64800"/>
                </a:moveTo>
                <a:lnTo>
                  <a:pt x="64800" y="129600"/>
                </a:lnTo>
                <a:lnTo>
                  <a:pt x="56342" y="129046"/>
                </a:lnTo>
                <a:lnTo>
                  <a:pt x="48029" y="127392"/>
                </a:lnTo>
                <a:lnTo>
                  <a:pt x="40002" y="124667"/>
                </a:lnTo>
                <a:lnTo>
                  <a:pt x="32400" y="120918"/>
                </a:lnTo>
                <a:lnTo>
                  <a:pt x="25352" y="116209"/>
                </a:lnTo>
                <a:lnTo>
                  <a:pt x="18979" y="110621"/>
                </a:lnTo>
                <a:lnTo>
                  <a:pt x="13391" y="104248"/>
                </a:lnTo>
                <a:lnTo>
                  <a:pt x="8682" y="97200"/>
                </a:lnTo>
                <a:lnTo>
                  <a:pt x="4933" y="89598"/>
                </a:lnTo>
                <a:lnTo>
                  <a:pt x="2208" y="81571"/>
                </a:lnTo>
                <a:lnTo>
                  <a:pt x="554" y="73258"/>
                </a:lnTo>
                <a:lnTo>
                  <a:pt x="0" y="64800"/>
                </a:lnTo>
                <a:lnTo>
                  <a:pt x="554" y="56342"/>
                </a:lnTo>
                <a:lnTo>
                  <a:pt x="2208" y="48029"/>
                </a:lnTo>
                <a:lnTo>
                  <a:pt x="4933" y="40002"/>
                </a:lnTo>
                <a:lnTo>
                  <a:pt x="8682" y="32400"/>
                </a:lnTo>
                <a:lnTo>
                  <a:pt x="13391" y="25352"/>
                </a:lnTo>
                <a:lnTo>
                  <a:pt x="18979" y="18979"/>
                </a:lnTo>
                <a:lnTo>
                  <a:pt x="25352" y="13391"/>
                </a:lnTo>
                <a:lnTo>
                  <a:pt x="32400" y="8682"/>
                </a:lnTo>
                <a:lnTo>
                  <a:pt x="40002" y="4933"/>
                </a:lnTo>
                <a:lnTo>
                  <a:pt x="48029" y="2208"/>
                </a:lnTo>
                <a:lnTo>
                  <a:pt x="56342" y="554"/>
                </a:lnTo>
                <a:lnTo>
                  <a:pt x="64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68000" y="6778482"/>
            <a:ext cx="74894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Input / Output</a:t>
            </a:r>
          </a:p>
        </p:txBody>
      </p:sp>
      <p:sp>
        <p:nvSpPr>
          <p:cNvPr id="84" name="Freeform 83"/>
          <p:cNvSpPr/>
          <p:nvPr/>
        </p:nvSpPr>
        <p:spPr>
          <a:xfrm>
            <a:off x="3711600" y="6739072"/>
            <a:ext cx="172800" cy="172800"/>
          </a:xfrm>
          <a:custGeom>
            <a:avLst/>
            <a:gdLst/>
            <a:ahLst/>
            <a:cxnLst/>
            <a:rect l="l" t="t" r="r" b="b"/>
            <a:pathLst>
              <a:path w="172800" h="172800">
                <a:moveTo>
                  <a:pt x="86400" y="0"/>
                </a:moveTo>
                <a:lnTo>
                  <a:pt x="172800" y="86400"/>
                </a:lnTo>
                <a:lnTo>
                  <a:pt x="86400" y="172800"/>
                </a:lnTo>
                <a:lnTo>
                  <a:pt x="0" y="86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90000" y="675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7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Stream Number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4778400" y="68254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4908000" y="67174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4908000" y="68722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90" name="TextBox 89"/>
          <p:cNvSpPr txBox="1"/>
          <p:nvPr/>
        </p:nvSpPr>
        <p:spPr>
          <a:xfrm>
            <a:off x="508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Line Crossing</a:t>
            </a:r>
          </a:p>
        </p:txBody>
      </p:sp>
      <p:sp>
        <p:nvSpPr>
          <p:cNvPr id="91" name="Freeform 90"/>
          <p:cNvSpPr/>
          <p:nvPr/>
        </p:nvSpPr>
        <p:spPr>
          <a:xfrm>
            <a:off x="5902800" y="6749872"/>
            <a:ext cx="230400" cy="151200"/>
          </a:xfrm>
          <a:custGeom>
            <a:avLst/>
            <a:gdLst/>
            <a:ahLst/>
            <a:cxnLst/>
            <a:rect l="l" t="t" r="r" b="b"/>
            <a:pathLst>
              <a:path w="230400" h="151200">
                <a:moveTo>
                  <a:pt x="0" y="18144"/>
                </a:moveTo>
                <a:lnTo>
                  <a:pt x="115200" y="0"/>
                </a:lnTo>
                <a:lnTo>
                  <a:pt x="230400" y="18144"/>
                </a:lnTo>
                <a:lnTo>
                  <a:pt x="230400" y="151200"/>
                </a:lnTo>
                <a:lnTo>
                  <a:pt x="0" y="1512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98000" y="67784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Storage Tank</a:t>
            </a:r>
          </a:p>
        </p:txBody>
      </p:sp>
      <p:sp>
        <p:nvSpPr>
          <p:cNvPr id="93" name="Oval 92"/>
          <p:cNvSpPr/>
          <p:nvPr/>
        </p:nvSpPr>
        <p:spPr>
          <a:xfrm>
            <a:off x="418752" y="7024840"/>
            <a:ext cx="98496" cy="98496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437466" y="7043554"/>
            <a:ext cx="61068" cy="61068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437466" y="7043554"/>
            <a:ext cx="61068" cy="61068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H="1">
            <a:off x="411365" y="7112501"/>
            <a:ext cx="26101" cy="37921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498534" y="7112501"/>
            <a:ext cx="26101" cy="37921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>
            <a:off x="406440" y="7150422"/>
            <a:ext cx="1231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99" name="TextBox 98"/>
          <p:cNvSpPr txBox="1"/>
          <p:nvPr/>
        </p:nvSpPr>
        <p:spPr>
          <a:xfrm>
            <a:off x="648000" y="7044882"/>
            <a:ext cx="311937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PD Pump</a:t>
            </a:r>
          </a:p>
        </p:txBody>
      </p:sp>
      <p:sp>
        <p:nvSpPr>
          <p:cNvPr id="100" name="Oval 99"/>
          <p:cNvSpPr/>
          <p:nvPr/>
        </p:nvSpPr>
        <p:spPr>
          <a:xfrm>
            <a:off x="1488000" y="7001872"/>
            <a:ext cx="180000" cy="180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536600" y="7045072"/>
            <a:ext cx="82800" cy="93600"/>
          </a:xfrm>
          <a:custGeom>
            <a:avLst/>
            <a:gdLst/>
            <a:ahLst/>
            <a:cxnLst/>
            <a:rect l="l" t="t" r="r" b="b"/>
            <a:pathLst>
              <a:path w="82800" h="93600">
                <a:moveTo>
                  <a:pt x="41400" y="0"/>
                </a:moveTo>
                <a:lnTo>
                  <a:pt x="82800" y="18720"/>
                </a:lnTo>
                <a:lnTo>
                  <a:pt x="0" y="46800"/>
                </a:lnTo>
                <a:lnTo>
                  <a:pt x="82800" y="74880"/>
                </a:lnTo>
                <a:lnTo>
                  <a:pt x="41400" y="9360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758000" y="7044882"/>
            <a:ext cx="51587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Heat Exchanger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612400" y="6976672"/>
            <a:ext cx="151200" cy="230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2612400" y="7056232"/>
            <a:ext cx="151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2612400" y="7127512"/>
            <a:ext cx="151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>
            <a:off x="2612400" y="7056232"/>
            <a:ext cx="151200" cy="712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 flipV="1">
            <a:off x="2612400" y="7056232"/>
            <a:ext cx="151200" cy="712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8" name="TextBox 107"/>
          <p:cNvSpPr txBox="1"/>
          <p:nvPr/>
        </p:nvSpPr>
        <p:spPr>
          <a:xfrm>
            <a:off x="2868000" y="7044882"/>
            <a:ext cx="63240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Packed-Bed Reactor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700800" y="7016272"/>
            <a:ext cx="194400" cy="151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 flipV="1">
            <a:off x="3700800" y="7016272"/>
            <a:ext cx="194400" cy="1512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11" name="TextBox 110"/>
          <p:cNvSpPr txBox="1"/>
          <p:nvPr/>
        </p:nvSpPr>
        <p:spPr>
          <a:xfrm>
            <a:off x="3978000" y="7044882"/>
            <a:ext cx="28280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Filter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836000" y="6980272"/>
            <a:ext cx="144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88000" y="7044882"/>
            <a:ext cx="37020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Separator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52000" y="5634000"/>
            <a:ext cx="3348000" cy="622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24000" y="5691395"/>
            <a:ext cx="1737918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REACTIONS (Cu/ZnO/Al2O3, 30 bar g, ~150 degC)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24000" y="5787089"/>
            <a:ext cx="1121384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CO2 + 3H2 &lt;-&gt; MeOH + H2O (direct)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4000" y="5879384"/>
            <a:ext cx="1704847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CO2 + H2 + EtOH -&gt; EF + H2O; EF + 2H2 -&gt; MeOH + EtOH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24000" y="5971679"/>
            <a:ext cx="1367053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CO2 + H2 &lt;-&gt; CO + H2O; 2EtOH &lt;-&gt; EA + 2H2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36000" y="5634000"/>
            <a:ext cx="3348000" cy="622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708000" y="5691395"/>
            <a:ext cx="28910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708000" y="5787089"/>
            <a:ext cx="3516655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1. Redrawn from 2407-PE-PFD-001 R1 and HMB 2407-PE-HMB-001 R1. Flags: OTS design point (Case 3, LHSV 0.30 1/h),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708000" y="5861384"/>
            <a:ext cx="507212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model values.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08000" y="5953679"/>
            <a:ext cx="3578072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2. Streams 1-12 = Process-tab / BFD numbers; 13-19 drawing only. Gas NL/min, liquid mL/min, mass g/min, T degC, P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708000" y="6027974"/>
            <a:ext cx="292252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bar g.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708000" y="6120269"/>
            <a:ext cx="3608780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3. R-601 band heaters E1/E2/E3 (TIC-611/612/613) assumed tags. Cylinder side of packs: H2 150, CO2 68 bar g (HMB).</a:t>
            </a:r>
          </a:p>
        </p:txBody>
      </p:sp>
      <p:sp>
        <p:nvSpPr>
          <p:cNvPr id="126" name="Freeform 125"/>
          <p:cNvSpPr/>
          <p:nvPr/>
        </p:nvSpPr>
        <p:spPr>
          <a:xfrm>
            <a:off x="936000" y="4140000"/>
            <a:ext cx="576000" cy="792000"/>
          </a:xfrm>
          <a:custGeom>
            <a:avLst/>
            <a:gdLst/>
            <a:ahLst/>
            <a:cxnLst/>
            <a:rect l="l" t="t" r="r" b="b"/>
            <a:pathLst>
              <a:path w="576000" h="792000">
                <a:moveTo>
                  <a:pt x="0" y="95040"/>
                </a:moveTo>
                <a:lnTo>
                  <a:pt x="288000" y="0"/>
                </a:lnTo>
                <a:lnTo>
                  <a:pt x="576000" y="95040"/>
                </a:lnTo>
                <a:lnTo>
                  <a:pt x="576000" y="792000"/>
                </a:lnTo>
                <a:lnTo>
                  <a:pt x="0" y="7920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102400" y="4647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2151648" y="4696848"/>
            <a:ext cx="160704" cy="16070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2151648" y="4696848"/>
            <a:ext cx="160704" cy="16070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H="1">
            <a:off x="2082960" y="4878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2312352" y="4878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2070000" y="4978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3" name="Oval 132"/>
          <p:cNvSpPr/>
          <p:nvPr/>
        </p:nvSpPr>
        <p:spPr>
          <a:xfrm>
            <a:off x="3582000" y="3150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3669480" y="3227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3744000" y="3150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3744000" y="3396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7" name="Rounded Rectangle 136"/>
          <p:cNvSpPr/>
          <p:nvPr/>
        </p:nvSpPr>
        <p:spPr>
          <a:xfrm>
            <a:off x="4662000" y="1944000"/>
            <a:ext cx="324000" cy="172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4662000" y="217620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4662000" y="343980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4662000" y="2176200"/>
            <a:ext cx="324000" cy="1263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 flipV="1">
            <a:off x="4662000" y="2176200"/>
            <a:ext cx="324000" cy="1263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2" name="Rectangle 141"/>
          <p:cNvSpPr/>
          <p:nvPr/>
        </p:nvSpPr>
        <p:spPr>
          <a:xfrm>
            <a:off x="4572000" y="4626000"/>
            <a:ext cx="504000" cy="39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 flipV="1">
            <a:off x="4572000" y="4626000"/>
            <a:ext cx="504000" cy="396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4" name="Oval 143"/>
          <p:cNvSpPr/>
          <p:nvPr/>
        </p:nvSpPr>
        <p:spPr>
          <a:xfrm>
            <a:off x="5814000" y="4662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5901480" y="4739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5976000" y="4662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5976000" y="4908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8" name="Rounded Rectangle 147"/>
          <p:cNvSpPr/>
          <p:nvPr/>
        </p:nvSpPr>
        <p:spPr>
          <a:xfrm>
            <a:off x="6606000" y="3276000"/>
            <a:ext cx="324000" cy="79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 flipV="1">
            <a:off x="6627600" y="3656160"/>
            <a:ext cx="280800" cy="950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0" name="Rounded Rectangle 149"/>
          <p:cNvSpPr/>
          <p:nvPr/>
        </p:nvSpPr>
        <p:spPr>
          <a:xfrm>
            <a:off x="7470000" y="3996000"/>
            <a:ext cx="324000" cy="79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1" name="Connector 150"/>
          <p:cNvCxnSpPr/>
          <p:nvPr/>
        </p:nvCxnSpPr>
        <p:spPr>
          <a:xfrm flipV="1">
            <a:off x="7491600" y="4376160"/>
            <a:ext cx="280800" cy="9504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2" name="Freeform 151"/>
          <p:cNvSpPr/>
          <p:nvPr/>
        </p:nvSpPr>
        <p:spPr>
          <a:xfrm>
            <a:off x="8190000" y="4770000"/>
            <a:ext cx="468000" cy="612000"/>
          </a:xfrm>
          <a:custGeom>
            <a:avLst/>
            <a:gdLst/>
            <a:ahLst/>
            <a:cxnLst/>
            <a:rect l="l" t="t" r="r" b="b"/>
            <a:pathLst>
              <a:path w="468000" h="612000">
                <a:moveTo>
                  <a:pt x="0" y="73440"/>
                </a:moveTo>
                <a:lnTo>
                  <a:pt x="234000" y="0"/>
                </a:lnTo>
                <a:lnTo>
                  <a:pt x="468000" y="73440"/>
                </a:lnTo>
                <a:lnTo>
                  <a:pt x="468000" y="612000"/>
                </a:lnTo>
                <a:lnTo>
                  <a:pt x="0" y="6120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050400" y="5079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9099648" y="5128848"/>
            <a:ext cx="160704" cy="16070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 flipV="1">
            <a:off x="9099648" y="5128848"/>
            <a:ext cx="160704" cy="16070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H="1">
            <a:off x="9030960" y="5310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9260352" y="5310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9018000" y="5410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9" name="Freeform 158"/>
          <p:cNvSpPr/>
          <p:nvPr/>
        </p:nvSpPr>
        <p:spPr>
          <a:xfrm>
            <a:off x="9702000" y="4770000"/>
            <a:ext cx="540000" cy="612000"/>
          </a:xfrm>
          <a:custGeom>
            <a:avLst/>
            <a:gdLst/>
            <a:ahLst/>
            <a:cxnLst/>
            <a:rect l="l" t="t" r="r" b="b"/>
            <a:pathLst>
              <a:path w="540000" h="612000">
                <a:moveTo>
                  <a:pt x="0" y="73440"/>
                </a:moveTo>
                <a:lnTo>
                  <a:pt x="270000" y="0"/>
                </a:lnTo>
                <a:lnTo>
                  <a:pt x="540000" y="73440"/>
                </a:lnTo>
                <a:lnTo>
                  <a:pt x="540000" y="612000"/>
                </a:lnTo>
                <a:lnTo>
                  <a:pt x="0" y="6120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57200" y="99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457200" y="99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457200" y="164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457200" y="164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57200" y="229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457200" y="229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5893200" y="522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5893200" y="522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069200" y="99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0069200" y="99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2205000" y="170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2997000" y="3285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8469000" y="1053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622800" y="1080000"/>
            <a:ext cx="1609200" cy="648000"/>
          </a:xfrm>
          <a:custGeom>
            <a:avLst/>
            <a:gdLst/>
            <a:ahLst/>
            <a:cxnLst/>
            <a:rect l="l" t="t" r="r" b="b"/>
            <a:pathLst>
              <a:path w="1609200" h="648000">
                <a:moveTo>
                  <a:pt x="0" y="0"/>
                </a:moveTo>
                <a:lnTo>
                  <a:pt x="1609200" y="0"/>
                </a:lnTo>
                <a:lnTo>
                  <a:pt x="1609200" y="648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894320" y="10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977120" y="10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6" name="Connector 175"/>
          <p:cNvCxnSpPr/>
          <p:nvPr/>
        </p:nvCxnSpPr>
        <p:spPr>
          <a:xfrm flipV="1">
            <a:off x="1977120" y="92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7" name="Freeform 176"/>
          <p:cNvSpPr/>
          <p:nvPr/>
        </p:nvSpPr>
        <p:spPr>
          <a:xfrm>
            <a:off x="1938240" y="86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244304" y="97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237104" y="101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1412820" y="1080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1" name="Freeform 180"/>
          <p:cNvSpPr/>
          <p:nvPr/>
        </p:nvSpPr>
        <p:spPr>
          <a:xfrm>
            <a:off x="1258020" y="1209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289529" y="1223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32.7</a:t>
            </a:r>
          </a:p>
        </p:txBody>
      </p:sp>
      <p:sp>
        <p:nvSpPr>
          <p:cNvPr id="183" name="Freeform 182"/>
          <p:cNvSpPr/>
          <p:nvPr/>
        </p:nvSpPr>
        <p:spPr>
          <a:xfrm>
            <a:off x="1258020" y="1350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304820" y="1364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85" name="Freeform 184"/>
          <p:cNvSpPr/>
          <p:nvPr/>
        </p:nvSpPr>
        <p:spPr>
          <a:xfrm>
            <a:off x="1258020" y="14904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304820" y="15047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187" name="Freeform 186"/>
          <p:cNvSpPr/>
          <p:nvPr/>
        </p:nvSpPr>
        <p:spPr>
          <a:xfrm>
            <a:off x="622800" y="1728000"/>
            <a:ext cx="1609200" cy="0"/>
          </a:xfrm>
          <a:custGeom>
            <a:avLst/>
            <a:gdLst/>
            <a:ahLst/>
            <a:cxnLst/>
            <a:rect l="l" t="t" r="r" b="b"/>
            <a:pathLst>
              <a:path w="1609200" h="0">
                <a:moveTo>
                  <a:pt x="0" y="0"/>
                </a:moveTo>
                <a:lnTo>
                  <a:pt x="1609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505520" y="166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1588320" y="166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 flipV="1">
            <a:off x="1588320" y="1570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1" name="Freeform 190"/>
          <p:cNvSpPr/>
          <p:nvPr/>
        </p:nvSpPr>
        <p:spPr>
          <a:xfrm>
            <a:off x="1549440" y="1516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036944" y="162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029744" y="165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1186020" y="1728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5" name="Freeform 194"/>
          <p:cNvSpPr/>
          <p:nvPr/>
        </p:nvSpPr>
        <p:spPr>
          <a:xfrm>
            <a:off x="1031220" y="1857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62729" y="1871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6.54</a:t>
            </a:r>
          </a:p>
        </p:txBody>
      </p:sp>
      <p:sp>
        <p:nvSpPr>
          <p:cNvPr id="197" name="Freeform 196"/>
          <p:cNvSpPr/>
          <p:nvPr/>
        </p:nvSpPr>
        <p:spPr>
          <a:xfrm>
            <a:off x="1031220" y="199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078020" y="2012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199" name="Freeform 198"/>
          <p:cNvSpPr/>
          <p:nvPr/>
        </p:nvSpPr>
        <p:spPr>
          <a:xfrm>
            <a:off x="1031220" y="21384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78020" y="21527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201" name="Freeform 200"/>
          <p:cNvSpPr/>
          <p:nvPr/>
        </p:nvSpPr>
        <p:spPr>
          <a:xfrm>
            <a:off x="622800" y="1728000"/>
            <a:ext cx="1609200" cy="648000"/>
          </a:xfrm>
          <a:custGeom>
            <a:avLst/>
            <a:gdLst/>
            <a:ahLst/>
            <a:cxnLst/>
            <a:rect l="l" t="t" r="r" b="b"/>
            <a:pathLst>
              <a:path w="1609200" h="648000">
                <a:moveTo>
                  <a:pt x="0" y="648000"/>
                </a:moveTo>
                <a:lnTo>
                  <a:pt x="1609200" y="648000"/>
                </a:lnTo>
                <a:lnTo>
                  <a:pt x="1609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894320" y="231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1977120" y="231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 flipV="1">
            <a:off x="1977120" y="2218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5" name="Freeform 204"/>
          <p:cNvSpPr/>
          <p:nvPr/>
        </p:nvSpPr>
        <p:spPr>
          <a:xfrm>
            <a:off x="1938240" y="2164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1470024" y="227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462824" y="230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08" name="Freeform 207"/>
          <p:cNvSpPr/>
          <p:nvPr/>
        </p:nvSpPr>
        <p:spPr>
          <a:xfrm>
            <a:off x="2232000" y="1728000"/>
            <a:ext cx="792000" cy="1584000"/>
          </a:xfrm>
          <a:custGeom>
            <a:avLst/>
            <a:gdLst/>
            <a:ahLst/>
            <a:cxnLst/>
            <a:rect l="l" t="t" r="r" b="b"/>
            <a:pathLst>
              <a:path w="792000" h="1584000">
                <a:moveTo>
                  <a:pt x="0" y="0"/>
                </a:moveTo>
                <a:lnTo>
                  <a:pt x="792000" y="0"/>
                </a:lnTo>
                <a:lnTo>
                  <a:pt x="792000" y="1584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2923200" y="202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916000" y="205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211" name="Freeform 210"/>
          <p:cNvSpPr/>
          <p:nvPr/>
        </p:nvSpPr>
        <p:spPr>
          <a:xfrm>
            <a:off x="1512000" y="4536000"/>
            <a:ext cx="590400" cy="241200"/>
          </a:xfrm>
          <a:custGeom>
            <a:avLst/>
            <a:gdLst/>
            <a:ahLst/>
            <a:cxnLst/>
            <a:rect l="l" t="t" r="r" b="b"/>
            <a:pathLst>
              <a:path w="590400" h="241200">
                <a:moveTo>
                  <a:pt x="0" y="0"/>
                </a:moveTo>
                <a:lnTo>
                  <a:pt x="288000" y="0"/>
                </a:lnTo>
                <a:lnTo>
                  <a:pt x="288000" y="241200"/>
                </a:lnTo>
                <a:lnTo>
                  <a:pt x="590400" y="2412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2008800" y="4744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1699200" y="45630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692000" y="45952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215" name="Freeform 214"/>
          <p:cNvSpPr/>
          <p:nvPr/>
        </p:nvSpPr>
        <p:spPr>
          <a:xfrm>
            <a:off x="2361600" y="3312000"/>
            <a:ext cx="662400" cy="1465200"/>
          </a:xfrm>
          <a:custGeom>
            <a:avLst/>
            <a:gdLst/>
            <a:ahLst/>
            <a:cxnLst/>
            <a:rect l="l" t="t" r="r" b="b"/>
            <a:pathLst>
              <a:path w="662400" h="1465200">
                <a:moveTo>
                  <a:pt x="0" y="1465200"/>
                </a:moveTo>
                <a:lnTo>
                  <a:pt x="662400" y="1465200"/>
                </a:lnTo>
                <a:lnTo>
                  <a:pt x="6624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2959200" y="42930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2959200" y="43758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>
            <a:off x="3024000" y="437580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19" name="Freeform 218"/>
          <p:cNvSpPr/>
          <p:nvPr/>
        </p:nvSpPr>
        <p:spPr>
          <a:xfrm>
            <a:off x="3181320" y="4336920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2923200" y="4657968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2916000" y="4690188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3024000" y="469494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23" name="Freeform 222"/>
          <p:cNvSpPr/>
          <p:nvPr/>
        </p:nvSpPr>
        <p:spPr>
          <a:xfrm>
            <a:off x="3153600" y="44843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3185109" y="449866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68.2</a:t>
            </a:r>
          </a:p>
        </p:txBody>
      </p:sp>
      <p:sp>
        <p:nvSpPr>
          <p:cNvPr id="225" name="Freeform 224"/>
          <p:cNvSpPr/>
          <p:nvPr/>
        </p:nvSpPr>
        <p:spPr>
          <a:xfrm>
            <a:off x="3153600" y="46247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200400" y="463906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227" name="Freeform 226"/>
          <p:cNvSpPr/>
          <p:nvPr/>
        </p:nvSpPr>
        <p:spPr>
          <a:xfrm>
            <a:off x="3153600" y="47651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3185109" y="477946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55.7</a:t>
            </a:r>
          </a:p>
        </p:txBody>
      </p:sp>
      <p:sp>
        <p:nvSpPr>
          <p:cNvPr id="229" name="Freeform 228"/>
          <p:cNvSpPr/>
          <p:nvPr/>
        </p:nvSpPr>
        <p:spPr>
          <a:xfrm>
            <a:off x="3024000" y="3312000"/>
            <a:ext cx="558000" cy="0"/>
          </a:xfrm>
          <a:custGeom>
            <a:avLst/>
            <a:gdLst/>
            <a:ahLst/>
            <a:cxnLst/>
            <a:rect l="l" t="t" r="r" b="b"/>
            <a:pathLst>
              <a:path w="558000" h="0">
                <a:moveTo>
                  <a:pt x="0" y="0"/>
                </a:moveTo>
                <a:lnTo>
                  <a:pt x="55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3488400" y="3278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3202200" y="3211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3195000" y="3243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233" name="Connector 232"/>
          <p:cNvCxnSpPr/>
          <p:nvPr/>
        </p:nvCxnSpPr>
        <p:spPr>
          <a:xfrm flipV="1">
            <a:off x="3219300" y="3182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34" name="Freeform 233"/>
          <p:cNvSpPr/>
          <p:nvPr/>
        </p:nvSpPr>
        <p:spPr>
          <a:xfrm>
            <a:off x="3046500" y="2761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3078686" y="27755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69.59</a:t>
            </a:r>
          </a:p>
        </p:txBody>
      </p:sp>
      <p:sp>
        <p:nvSpPr>
          <p:cNvPr id="236" name="Freeform 235"/>
          <p:cNvSpPr/>
          <p:nvPr/>
        </p:nvSpPr>
        <p:spPr>
          <a:xfrm>
            <a:off x="3064500" y="2901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111300" y="2915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238" name="Freeform 237"/>
          <p:cNvSpPr/>
          <p:nvPr/>
        </p:nvSpPr>
        <p:spPr>
          <a:xfrm>
            <a:off x="3064500" y="3042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3096009" y="3056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30.2</a:t>
            </a:r>
          </a:p>
        </p:txBody>
      </p:sp>
      <p:sp>
        <p:nvSpPr>
          <p:cNvPr id="240" name="Freeform 239"/>
          <p:cNvSpPr/>
          <p:nvPr/>
        </p:nvSpPr>
        <p:spPr>
          <a:xfrm>
            <a:off x="3906000" y="1728000"/>
            <a:ext cx="918000" cy="1584000"/>
          </a:xfrm>
          <a:custGeom>
            <a:avLst/>
            <a:gdLst/>
            <a:ahLst/>
            <a:cxnLst/>
            <a:rect l="l" t="t" r="r" b="b"/>
            <a:pathLst>
              <a:path w="918000" h="1584000">
                <a:moveTo>
                  <a:pt x="0" y="1584000"/>
                </a:moveTo>
                <a:lnTo>
                  <a:pt x="270000" y="1584000"/>
                </a:lnTo>
                <a:lnTo>
                  <a:pt x="270000" y="0"/>
                </a:lnTo>
                <a:lnTo>
                  <a:pt x="918000" y="0"/>
                </a:lnTo>
                <a:lnTo>
                  <a:pt x="918000" y="220062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4790880" y="1854462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4075200" y="2120169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4068000" y="2152389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4176000" y="2629278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45" name="Freeform 244"/>
          <p:cNvSpPr/>
          <p:nvPr/>
        </p:nvSpPr>
        <p:spPr>
          <a:xfrm>
            <a:off x="4305600" y="2488878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352400" y="2503198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127</a:t>
            </a:r>
          </a:p>
        </p:txBody>
      </p:sp>
      <p:sp>
        <p:nvSpPr>
          <p:cNvPr id="247" name="Freeform 246"/>
          <p:cNvSpPr/>
          <p:nvPr/>
        </p:nvSpPr>
        <p:spPr>
          <a:xfrm>
            <a:off x="4305600" y="2629278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4319786" y="2643598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30.18</a:t>
            </a:r>
          </a:p>
        </p:txBody>
      </p:sp>
      <p:sp>
        <p:nvSpPr>
          <p:cNvPr id="249" name="Freeform 248"/>
          <p:cNvSpPr/>
          <p:nvPr/>
        </p:nvSpPr>
        <p:spPr>
          <a:xfrm>
            <a:off x="4824000" y="3667938"/>
            <a:ext cx="0" cy="958062"/>
          </a:xfrm>
          <a:custGeom>
            <a:avLst/>
            <a:gdLst/>
            <a:ahLst/>
            <a:cxnLst/>
            <a:rect l="l" t="t" r="r" b="b"/>
            <a:pathLst>
              <a:path w="0" h="958062">
                <a:moveTo>
                  <a:pt x="0" y="0"/>
                </a:moveTo>
                <a:lnTo>
                  <a:pt x="0" y="958062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4790880" y="45324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4723200" y="4046169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716000" y="4078389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4824000" y="400326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54" name="Freeform 253"/>
          <p:cNvSpPr/>
          <p:nvPr/>
        </p:nvSpPr>
        <p:spPr>
          <a:xfrm>
            <a:off x="4953600" y="386286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4967786" y="387718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151.4</a:t>
            </a:r>
          </a:p>
        </p:txBody>
      </p:sp>
      <p:sp>
        <p:nvSpPr>
          <p:cNvPr id="256" name="Freeform 255"/>
          <p:cNvSpPr/>
          <p:nvPr/>
        </p:nvSpPr>
        <p:spPr>
          <a:xfrm>
            <a:off x="4953600" y="400326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4967786" y="401758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30.09</a:t>
            </a:r>
          </a:p>
        </p:txBody>
      </p:sp>
      <p:sp>
        <p:nvSpPr>
          <p:cNvPr id="258" name="Freeform 257"/>
          <p:cNvSpPr/>
          <p:nvPr/>
        </p:nvSpPr>
        <p:spPr>
          <a:xfrm>
            <a:off x="5076000" y="4824000"/>
            <a:ext cx="738000" cy="0"/>
          </a:xfrm>
          <a:custGeom>
            <a:avLst/>
            <a:gdLst/>
            <a:ahLst/>
            <a:cxnLst/>
            <a:rect l="l" t="t" r="r" b="b"/>
            <a:pathLst>
              <a:path w="738000" h="0">
                <a:moveTo>
                  <a:pt x="0" y="0"/>
                </a:moveTo>
                <a:lnTo>
                  <a:pt x="73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5720400" y="479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5344200" y="472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5337000" y="475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262" name="Freeform 261"/>
          <p:cNvSpPr/>
          <p:nvPr/>
        </p:nvSpPr>
        <p:spPr>
          <a:xfrm>
            <a:off x="6138000" y="3672000"/>
            <a:ext cx="468000" cy="1152000"/>
          </a:xfrm>
          <a:custGeom>
            <a:avLst/>
            <a:gdLst/>
            <a:ahLst/>
            <a:cxnLst/>
            <a:rect l="l" t="t" r="r" b="b"/>
            <a:pathLst>
              <a:path w="468000" h="1152000">
                <a:moveTo>
                  <a:pt x="0" y="1152000"/>
                </a:moveTo>
                <a:lnTo>
                  <a:pt x="198000" y="1152000"/>
                </a:lnTo>
                <a:lnTo>
                  <a:pt x="198000" y="0"/>
                </a:lnTo>
                <a:lnTo>
                  <a:pt x="46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6512400" y="3638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6235200" y="4111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6228000" y="4143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266" name="Connector 265"/>
          <p:cNvCxnSpPr/>
          <p:nvPr/>
        </p:nvCxnSpPr>
        <p:spPr>
          <a:xfrm flipH="1">
            <a:off x="6206400" y="44550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7" name="Freeform 266"/>
          <p:cNvSpPr/>
          <p:nvPr/>
        </p:nvSpPr>
        <p:spPr>
          <a:xfrm>
            <a:off x="5896800" y="4314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5928309" y="4328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30.4</a:t>
            </a:r>
          </a:p>
        </p:txBody>
      </p:sp>
      <p:sp>
        <p:nvSpPr>
          <p:cNvPr id="269" name="Freeform 268"/>
          <p:cNvSpPr/>
          <p:nvPr/>
        </p:nvSpPr>
        <p:spPr>
          <a:xfrm>
            <a:off x="5896800" y="4455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10986" y="44693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30.09</a:t>
            </a:r>
          </a:p>
        </p:txBody>
      </p:sp>
      <p:sp>
        <p:nvSpPr>
          <p:cNvPr id="271" name="Freeform 270"/>
          <p:cNvSpPr/>
          <p:nvPr/>
        </p:nvSpPr>
        <p:spPr>
          <a:xfrm>
            <a:off x="5976000" y="4986000"/>
            <a:ext cx="0" cy="241200"/>
          </a:xfrm>
          <a:custGeom>
            <a:avLst/>
            <a:gdLst/>
            <a:ahLst/>
            <a:cxnLst/>
            <a:rect l="l" t="t" r="r" b="b"/>
            <a:pathLst>
              <a:path w="0" h="241200">
                <a:moveTo>
                  <a:pt x="0" y="24120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5942880" y="49860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5875200" y="50058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5868000" y="50380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5976000" y="514278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76" name="Freeform 275"/>
          <p:cNvSpPr/>
          <p:nvPr/>
        </p:nvSpPr>
        <p:spPr>
          <a:xfrm>
            <a:off x="6105600" y="507258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6152400" y="508690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278" name="Freeform 277"/>
          <p:cNvSpPr/>
          <p:nvPr/>
        </p:nvSpPr>
        <p:spPr>
          <a:xfrm>
            <a:off x="6768000" y="1080000"/>
            <a:ext cx="1728000" cy="2200062"/>
          </a:xfrm>
          <a:custGeom>
            <a:avLst/>
            <a:gdLst/>
            <a:ahLst/>
            <a:cxnLst/>
            <a:rect l="l" t="t" r="r" b="b"/>
            <a:pathLst>
              <a:path w="1728000" h="2200062">
                <a:moveTo>
                  <a:pt x="0" y="2200062"/>
                </a:moveTo>
                <a:lnTo>
                  <a:pt x="0" y="0"/>
                </a:lnTo>
                <a:lnTo>
                  <a:pt x="172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7234781" y="10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7317581" y="10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1" name="Connector 280"/>
          <p:cNvCxnSpPr/>
          <p:nvPr/>
        </p:nvCxnSpPr>
        <p:spPr>
          <a:xfrm flipV="1">
            <a:off x="7317581" y="92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82" name="Freeform 281"/>
          <p:cNvSpPr/>
          <p:nvPr/>
        </p:nvSpPr>
        <p:spPr>
          <a:xfrm>
            <a:off x="7278701" y="86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6667200" y="1215231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6660000" y="1247451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cxnSp>
        <p:nvCxnSpPr>
          <p:cNvPr id="285" name="Connector 284"/>
          <p:cNvCxnSpPr/>
          <p:nvPr/>
        </p:nvCxnSpPr>
        <p:spPr>
          <a:xfrm>
            <a:off x="6768000" y="190524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86" name="Freeform 285"/>
          <p:cNvSpPr/>
          <p:nvPr/>
        </p:nvSpPr>
        <p:spPr>
          <a:xfrm>
            <a:off x="6897600" y="16946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6929109" y="170896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37.4</a:t>
            </a:r>
          </a:p>
        </p:txBody>
      </p:sp>
      <p:sp>
        <p:nvSpPr>
          <p:cNvPr id="288" name="Freeform 287"/>
          <p:cNvSpPr/>
          <p:nvPr/>
        </p:nvSpPr>
        <p:spPr>
          <a:xfrm>
            <a:off x="6897600" y="18350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6929109" y="184936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30.4</a:t>
            </a:r>
          </a:p>
        </p:txBody>
      </p:sp>
      <p:sp>
        <p:nvSpPr>
          <p:cNvPr id="290" name="Freeform 289"/>
          <p:cNvSpPr/>
          <p:nvPr/>
        </p:nvSpPr>
        <p:spPr>
          <a:xfrm>
            <a:off x="6897600" y="19754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6911786" y="198976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30.09</a:t>
            </a:r>
          </a:p>
        </p:txBody>
      </p:sp>
      <p:sp>
        <p:nvSpPr>
          <p:cNvPr id="292" name="Freeform 291"/>
          <p:cNvSpPr/>
          <p:nvPr/>
        </p:nvSpPr>
        <p:spPr>
          <a:xfrm>
            <a:off x="6768000" y="4063938"/>
            <a:ext cx="702000" cy="328062"/>
          </a:xfrm>
          <a:custGeom>
            <a:avLst/>
            <a:gdLst/>
            <a:ahLst/>
            <a:cxnLst/>
            <a:rect l="l" t="t" r="r" b="b"/>
            <a:pathLst>
              <a:path w="702000" h="328062">
                <a:moveTo>
                  <a:pt x="0" y="0"/>
                </a:moveTo>
                <a:lnTo>
                  <a:pt x="0" y="328062"/>
                </a:lnTo>
                <a:lnTo>
                  <a:pt x="702000" y="328062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7376400" y="4358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6975175" y="432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7057975" y="432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6" name="Connector 295"/>
          <p:cNvCxnSpPr/>
          <p:nvPr/>
        </p:nvCxnSpPr>
        <p:spPr>
          <a:xfrm flipV="1">
            <a:off x="7057975" y="4234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97" name="Freeform 296"/>
          <p:cNvSpPr/>
          <p:nvPr/>
        </p:nvSpPr>
        <p:spPr>
          <a:xfrm>
            <a:off x="7019095" y="4180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6667200" y="4086746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6660000" y="4118966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300" name="Connector 299"/>
          <p:cNvCxnSpPr/>
          <p:nvPr/>
        </p:nvCxnSpPr>
        <p:spPr>
          <a:xfrm>
            <a:off x="6800460" y="4392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1" name="Freeform 300"/>
          <p:cNvSpPr/>
          <p:nvPr/>
        </p:nvSpPr>
        <p:spPr>
          <a:xfrm>
            <a:off x="6645660" y="4521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6677169" y="4535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69.3</a:t>
            </a:r>
          </a:p>
        </p:txBody>
      </p:sp>
      <p:sp>
        <p:nvSpPr>
          <p:cNvPr id="303" name="Freeform 302"/>
          <p:cNvSpPr/>
          <p:nvPr/>
        </p:nvSpPr>
        <p:spPr>
          <a:xfrm>
            <a:off x="6645660" y="4662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6677169" y="4676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30.4</a:t>
            </a:r>
          </a:p>
        </p:txBody>
      </p:sp>
      <p:sp>
        <p:nvSpPr>
          <p:cNvPr id="305" name="Freeform 304"/>
          <p:cNvSpPr/>
          <p:nvPr/>
        </p:nvSpPr>
        <p:spPr>
          <a:xfrm>
            <a:off x="7632000" y="1080000"/>
            <a:ext cx="864000" cy="2920062"/>
          </a:xfrm>
          <a:custGeom>
            <a:avLst/>
            <a:gdLst/>
            <a:ahLst/>
            <a:cxnLst/>
            <a:rect l="l" t="t" r="r" b="b"/>
            <a:pathLst>
              <a:path w="864000" h="2920062">
                <a:moveTo>
                  <a:pt x="0" y="2920062"/>
                </a:moveTo>
                <a:lnTo>
                  <a:pt x="0" y="1440000"/>
                </a:lnTo>
                <a:lnTo>
                  <a:pt x="864000" y="1440000"/>
                </a:lnTo>
                <a:lnTo>
                  <a:pt x="864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7961169" y="245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8043969" y="245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8" name="Connector 307"/>
          <p:cNvCxnSpPr/>
          <p:nvPr/>
        </p:nvCxnSpPr>
        <p:spPr>
          <a:xfrm flipV="1">
            <a:off x="8043969" y="236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9" name="Freeform 308"/>
          <p:cNvSpPr/>
          <p:nvPr/>
        </p:nvSpPr>
        <p:spPr>
          <a:xfrm>
            <a:off x="8005089" y="230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7531200" y="268836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7524000" y="272058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312" name="Freeform 311"/>
          <p:cNvSpPr/>
          <p:nvPr/>
        </p:nvSpPr>
        <p:spPr>
          <a:xfrm>
            <a:off x="8496000" y="1080000"/>
            <a:ext cx="1573200" cy="0"/>
          </a:xfrm>
          <a:custGeom>
            <a:avLst/>
            <a:gdLst/>
            <a:ahLst/>
            <a:cxnLst/>
            <a:rect l="l" t="t" r="r" b="b"/>
            <a:pathLst>
              <a:path w="1573200" h="0">
                <a:moveTo>
                  <a:pt x="0" y="0"/>
                </a:moveTo>
                <a:lnTo>
                  <a:pt x="1573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9975600" y="104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9181800" y="97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9174600" y="101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316" name="Freeform 315"/>
          <p:cNvSpPr/>
          <p:nvPr/>
        </p:nvSpPr>
        <p:spPr>
          <a:xfrm>
            <a:off x="7632000" y="4783938"/>
            <a:ext cx="558000" cy="292062"/>
          </a:xfrm>
          <a:custGeom>
            <a:avLst/>
            <a:gdLst/>
            <a:ahLst/>
            <a:cxnLst/>
            <a:rect l="l" t="t" r="r" b="b"/>
            <a:pathLst>
              <a:path w="558000" h="292062">
                <a:moveTo>
                  <a:pt x="0" y="0"/>
                </a:moveTo>
                <a:lnTo>
                  <a:pt x="0" y="292062"/>
                </a:lnTo>
                <a:lnTo>
                  <a:pt x="558000" y="292062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8096400" y="504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7597163" y="501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7679963" y="501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 flipV="1">
            <a:off x="7679963" y="4918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1" name="Freeform 320"/>
          <p:cNvSpPr/>
          <p:nvPr/>
        </p:nvSpPr>
        <p:spPr>
          <a:xfrm>
            <a:off x="7641083" y="4864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7817180" y="497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7809980" y="500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7637460" y="5076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5" name="Freeform 324"/>
          <p:cNvSpPr/>
          <p:nvPr/>
        </p:nvSpPr>
        <p:spPr>
          <a:xfrm>
            <a:off x="7482660" y="5205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7514169" y="5219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69.3</a:t>
            </a:r>
          </a:p>
        </p:txBody>
      </p:sp>
      <p:sp>
        <p:nvSpPr>
          <p:cNvPr id="327" name="Freeform 326"/>
          <p:cNvSpPr/>
          <p:nvPr/>
        </p:nvSpPr>
        <p:spPr>
          <a:xfrm>
            <a:off x="7482660" y="5346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7529460" y="5360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329" name="Freeform 328"/>
          <p:cNvSpPr/>
          <p:nvPr/>
        </p:nvSpPr>
        <p:spPr>
          <a:xfrm>
            <a:off x="8658000" y="5076000"/>
            <a:ext cx="392400" cy="133200"/>
          </a:xfrm>
          <a:custGeom>
            <a:avLst/>
            <a:gdLst/>
            <a:ahLst/>
            <a:cxnLst/>
            <a:rect l="l" t="t" r="r" b="b"/>
            <a:pathLst>
              <a:path w="392400" h="133200">
                <a:moveTo>
                  <a:pt x="0" y="0"/>
                </a:moveTo>
                <a:lnTo>
                  <a:pt x="198000" y="0"/>
                </a:lnTo>
                <a:lnTo>
                  <a:pt x="198000" y="133200"/>
                </a:lnTo>
                <a:lnTo>
                  <a:pt x="392400" y="1332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8956800" y="5176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8755200" y="50400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8748000" y="50722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333" name="Freeform 332"/>
          <p:cNvSpPr/>
          <p:nvPr/>
        </p:nvSpPr>
        <p:spPr>
          <a:xfrm>
            <a:off x="9309600" y="5076000"/>
            <a:ext cx="392400" cy="133200"/>
          </a:xfrm>
          <a:custGeom>
            <a:avLst/>
            <a:gdLst/>
            <a:ahLst/>
            <a:cxnLst/>
            <a:rect l="l" t="t" r="r" b="b"/>
            <a:pathLst>
              <a:path w="392400" h="133200">
                <a:moveTo>
                  <a:pt x="0" y="133200"/>
                </a:moveTo>
                <a:lnTo>
                  <a:pt x="194400" y="133200"/>
                </a:lnTo>
                <a:lnTo>
                  <a:pt x="194400" y="0"/>
                </a:lnTo>
                <a:lnTo>
                  <a:pt x="3924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9608400" y="504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9403200" y="50400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9396000" y="50722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063701" y="4965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T-301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2071701" y="5020407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P-301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3583701" y="3507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E-601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3508111" y="3655065"/>
            <a:ext cx="471779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elec 4.6 kW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4323402" y="3701193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R-601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4663701" y="5055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F-601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5475402" y="5019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E-602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6195600" y="45635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chw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6948000" y="4097193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 i="0">
                <a:solidFill>
                  <a:srgbClr val="000000"/>
                </a:solidFill>
                <a:latin typeface="Arial"/>
              </a:rPr>
              <a:t>D-601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7131402" y="4817193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D-602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8263701" y="5415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T-601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9019701" y="5452407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P-602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9811701" y="5415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T-602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84301" y="851702"/>
            <a:ext cx="76311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H2 cylinder pack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82320" y="1499702"/>
            <a:ext cx="804062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CO2 cylinder pack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184301" y="2147702"/>
            <a:ext cx="76311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N2 cylinder pack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6116400" y="5243960"/>
            <a:ext cx="121351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Chilled water (chiller pkg)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9913748" y="851702"/>
            <a:ext cx="47650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Cold 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