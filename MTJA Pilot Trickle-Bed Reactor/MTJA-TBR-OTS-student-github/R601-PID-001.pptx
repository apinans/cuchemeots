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731520" cy="3931920"/>
          </a:xfrm>
          <a:prstGeom prst="rect">
            <a:avLst/>
          </a:prstGeom>
          <a:noFill/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8073" y="765175"/>
            <a:ext cx="469773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VENDOR PKG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97280"/>
            <a:ext cx="420624" cy="36576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76656" y="1133856"/>
            <a:ext cx="0" cy="29260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7240" y="1133856"/>
            <a:ext cx="0" cy="29260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7824" y="1133856"/>
            <a:ext cx="0" cy="29260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4612" y="1495107"/>
            <a:ext cx="445255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H₂ PACK 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87552" y="1280160"/>
            <a:ext cx="568756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1271016" y="121615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44168" y="125272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2721" y="1373060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BV-201</a:t>
            </a:r>
          </a:p>
        </p:txBody>
      </p:sp>
      <p:sp>
        <p:nvSpPr>
          <p:cNvPr id="15" name="Freeform 14"/>
          <p:cNvSpPr/>
          <p:nvPr/>
        </p:nvSpPr>
        <p:spPr>
          <a:xfrm>
            <a:off x="1591056" y="121615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1691640" y="1097280"/>
            <a:ext cx="0" cy="11887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609344" y="932688"/>
            <a:ext cx="164592" cy="1645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773936" y="1014983"/>
            <a:ext cx="64008" cy="6400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22761" y="1333373"/>
            <a:ext cx="337756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PR-201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140→30</a:t>
            </a:r>
          </a:p>
        </p:txBody>
      </p:sp>
      <p:sp>
        <p:nvSpPr>
          <p:cNvPr id="20" name="Oval 19"/>
          <p:cNvSpPr/>
          <p:nvPr/>
        </p:nvSpPr>
        <p:spPr>
          <a:xfrm>
            <a:off x="2183129" y="12504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2212848" y="1280160"/>
            <a:ext cx="0" cy="411479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2148840" y="1380743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276856" y="1481328"/>
            <a:ext cx="731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50008" y="1435607"/>
            <a:ext cx="0" cy="9144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95728" y="1437068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NV-201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8252" y="1614773"/>
            <a:ext cx="139731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1">
                <a:solidFill>
                  <a:srgbClr val="000000"/>
                </a:solidFill>
                <a:latin typeface="Arial"/>
              </a:rPr>
              <a:t>CV</a:t>
            </a:r>
          </a:p>
        </p:txBody>
      </p:sp>
      <p:sp>
        <p:nvSpPr>
          <p:cNvPr id="27" name="Freeform 26"/>
          <p:cNvSpPr/>
          <p:nvPr/>
        </p:nvSpPr>
        <p:spPr>
          <a:xfrm>
            <a:off x="2350008" y="121615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23160" y="125272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1713" y="1080452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BV-203</a:t>
            </a:r>
          </a:p>
        </p:txBody>
      </p:sp>
      <p:sp>
        <p:nvSpPr>
          <p:cNvPr id="30" name="Freeform 29"/>
          <p:cNvSpPr/>
          <p:nvPr/>
        </p:nvSpPr>
        <p:spPr>
          <a:xfrm>
            <a:off x="2660904" y="121615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2761488" y="1097280"/>
            <a:ext cx="0" cy="11887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679192" y="932688"/>
            <a:ext cx="164592" cy="1645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843784" y="1014983"/>
            <a:ext cx="64008" cy="6400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592609" y="1333373"/>
            <a:ext cx="337756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PR-202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30→30</a:t>
            </a:r>
          </a:p>
        </p:txBody>
      </p:sp>
      <p:sp>
        <p:nvSpPr>
          <p:cNvPr id="35" name="Freeform 34"/>
          <p:cNvSpPr/>
          <p:nvPr/>
        </p:nvSpPr>
        <p:spPr>
          <a:xfrm>
            <a:off x="2944368" y="121615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125272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76073" y="1080452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BV-204</a:t>
            </a:r>
          </a:p>
        </p:txBody>
      </p:sp>
      <p:sp>
        <p:nvSpPr>
          <p:cNvPr id="38" name="Oval 37"/>
          <p:cNvSpPr/>
          <p:nvPr/>
        </p:nvSpPr>
        <p:spPr>
          <a:xfrm>
            <a:off x="3280410" y="12504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3310128" y="868680"/>
            <a:ext cx="0" cy="41148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3264408" y="969263"/>
            <a:ext cx="91440" cy="146305"/>
          </a:xfrm>
          <a:custGeom>
            <a:avLst/>
            <a:gdLst/>
            <a:ahLst/>
            <a:cxnLst/>
            <a:rect l="l" t="t" r="r" b="b"/>
            <a:pathLst>
              <a:path w="91440" h="146305">
                <a:moveTo>
                  <a:pt x="0" y="0"/>
                </a:moveTo>
                <a:lnTo>
                  <a:pt x="91440" y="146305"/>
                </a:lnTo>
                <a:lnTo>
                  <a:pt x="0" y="146305"/>
                </a:lnTo>
                <a:lnTo>
                  <a:pt x="9144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282696" y="1014983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1021206"/>
            <a:ext cx="303809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1">
                <a:solidFill>
                  <a:srgbClr val="000000"/>
                </a:solidFill>
                <a:latin typeface="Arial"/>
              </a:rPr>
              <a:t>BV-202</a:t>
            </a:r>
          </a:p>
        </p:txBody>
      </p:sp>
      <p:sp>
        <p:nvSpPr>
          <p:cNvPr id="43" name="Oval 42"/>
          <p:cNvSpPr/>
          <p:nvPr/>
        </p:nvSpPr>
        <p:spPr>
          <a:xfrm>
            <a:off x="3154680" y="557783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465576" y="713231"/>
            <a:ext cx="128015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593591" y="557783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593591" y="713231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699919" y="909891"/>
            <a:ext cx="98240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904487" y="713231"/>
            <a:ext cx="118873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023359" y="530351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50791" y="557783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050791" y="713231"/>
            <a:ext cx="310897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135431" y="937323"/>
            <a:ext cx="141617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LL</a:t>
            </a:r>
          </a:p>
        </p:txBody>
      </p:sp>
      <p:sp>
        <p:nvSpPr>
          <p:cNvPr id="53" name="Freeform 52"/>
          <p:cNvSpPr/>
          <p:nvPr/>
        </p:nvSpPr>
        <p:spPr>
          <a:xfrm>
            <a:off x="4471416" y="121615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4572000" y="1097280"/>
            <a:ext cx="0" cy="11887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4503420" y="987551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32398" y="1391348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XV-201 FC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4572000" y="896112"/>
            <a:ext cx="0" cy="91439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485160" y="803338"/>
            <a:ext cx="173678" cy="758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1">
                <a:solidFill>
                  <a:srgbClr val="000000"/>
                </a:solidFill>
                <a:latin typeface="Arial"/>
              </a:rPr>
              <a:t>SIS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950976"/>
            <a:ext cx="914400" cy="603504"/>
          </a:xfrm>
          <a:prstGeom prst="rect">
            <a:avLst/>
          </a:prstGeom>
          <a:noFill/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54535" y="1578991"/>
            <a:ext cx="179336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MFC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56632" y="1216151"/>
            <a:ext cx="164592" cy="12801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FE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5138928" y="868680"/>
            <a:ext cx="0" cy="34747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4983480" y="557783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294376" y="713231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5440680" y="557783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40680" y="713231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788152" y="635634"/>
            <a:ext cx="98240" cy="155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H</a:t>
            </a:r>
          </a:p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L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596128" y="868680"/>
            <a:ext cx="0" cy="137159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5495544" y="121615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5596128" y="1097280"/>
            <a:ext cx="0" cy="11887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5504688" y="1005839"/>
            <a:ext cx="182880" cy="91441"/>
          </a:xfrm>
          <a:custGeom>
            <a:avLst/>
            <a:gdLst/>
            <a:ahLst/>
            <a:cxnLst/>
            <a:rect l="l" t="t" r="r" b="b"/>
            <a:pathLst>
              <a:path w="182880" h="91441">
                <a:moveTo>
                  <a:pt x="0" y="91441"/>
                </a:moveTo>
                <a:lnTo>
                  <a:pt x="0" y="91441"/>
                </a:lnTo>
                <a:lnTo>
                  <a:pt x="12250" y="45721"/>
                </a:lnTo>
                <a:lnTo>
                  <a:pt x="45720" y="12251"/>
                </a:lnTo>
                <a:lnTo>
                  <a:pt x="91440" y="0"/>
                </a:lnTo>
                <a:lnTo>
                  <a:pt x="137160" y="12251"/>
                </a:lnTo>
                <a:lnTo>
                  <a:pt x="170629" y="45721"/>
                </a:lnTo>
                <a:lnTo>
                  <a:pt x="182880" y="91441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56526" y="1391348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FV-201 FC</a:t>
            </a:r>
          </a:p>
        </p:txBody>
      </p:sp>
      <p:sp>
        <p:nvSpPr>
          <p:cNvPr id="73" name="Freeform 72"/>
          <p:cNvSpPr/>
          <p:nvPr/>
        </p:nvSpPr>
        <p:spPr>
          <a:xfrm>
            <a:off x="6172200" y="1216151"/>
            <a:ext cx="141731" cy="128017"/>
          </a:xfrm>
          <a:custGeom>
            <a:avLst/>
            <a:gdLst/>
            <a:ahLst/>
            <a:cxnLst/>
            <a:rect l="l" t="t" r="r" b="b"/>
            <a:pathLst>
              <a:path w="141731" h="128017">
                <a:moveTo>
                  <a:pt x="0" y="0"/>
                </a:moveTo>
                <a:lnTo>
                  <a:pt x="141731" y="64009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6313931" y="1216151"/>
            <a:ext cx="0" cy="12801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094761" y="1363916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CK-201</a:t>
            </a:r>
          </a:p>
        </p:txBody>
      </p:sp>
      <p:sp>
        <p:nvSpPr>
          <p:cNvPr id="76" name="Oval 75"/>
          <p:cNvSpPr/>
          <p:nvPr/>
        </p:nvSpPr>
        <p:spPr>
          <a:xfrm>
            <a:off x="6645402" y="12504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66928" y="1737360"/>
            <a:ext cx="420624" cy="36576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676656" y="1773936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77240" y="1773936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77824" y="1773936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54612" y="2135187"/>
            <a:ext cx="445255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H₂ PACK B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987552" y="1920240"/>
            <a:ext cx="10058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993392" y="1280160"/>
            <a:ext cx="0" cy="640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963674" y="12504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591056" y="185623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V="1">
            <a:off x="1691640" y="1737360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1609344" y="1572768"/>
            <a:ext cx="164592" cy="1645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1773936" y="1655064"/>
            <a:ext cx="64008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522761" y="1973452"/>
            <a:ext cx="337756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PR-203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140→30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2788920"/>
            <a:ext cx="420624" cy="36576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676656" y="2825496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77240" y="2825496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7824" y="2825496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76300" y="3186747"/>
            <a:ext cx="401878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CO₂ PACK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987552" y="2971800"/>
            <a:ext cx="568756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Freeform 95"/>
          <p:cNvSpPr/>
          <p:nvPr/>
        </p:nvSpPr>
        <p:spPr>
          <a:xfrm>
            <a:off x="1271016" y="290779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344168" y="294436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202721" y="3064700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BV-101</a:t>
            </a:r>
          </a:p>
        </p:txBody>
      </p:sp>
      <p:sp>
        <p:nvSpPr>
          <p:cNvPr id="99" name="Freeform 98"/>
          <p:cNvSpPr/>
          <p:nvPr/>
        </p:nvSpPr>
        <p:spPr>
          <a:xfrm>
            <a:off x="1591056" y="290779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 flipV="1">
            <a:off x="1691640" y="2788920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1609344" y="2624328"/>
            <a:ext cx="164592" cy="1645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1773936" y="2706624"/>
            <a:ext cx="64008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522761" y="3025013"/>
            <a:ext cx="337756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PR-101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55→30</a:t>
            </a:r>
          </a:p>
        </p:txBody>
      </p:sp>
      <p:sp>
        <p:nvSpPr>
          <p:cNvPr id="104" name="Oval 103"/>
          <p:cNvSpPr/>
          <p:nvPr/>
        </p:nvSpPr>
        <p:spPr>
          <a:xfrm>
            <a:off x="2183129" y="29420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2212848" y="2971800"/>
            <a:ext cx="0" cy="41148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Freeform 105"/>
          <p:cNvSpPr/>
          <p:nvPr/>
        </p:nvSpPr>
        <p:spPr>
          <a:xfrm>
            <a:off x="2148840" y="3072384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2276856" y="3172968"/>
            <a:ext cx="731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2350008" y="3127248"/>
            <a:ext cx="0" cy="914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2395728" y="3128708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NV-101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018252" y="3306413"/>
            <a:ext cx="139731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1">
                <a:solidFill>
                  <a:srgbClr val="000000"/>
                </a:solidFill>
                <a:latin typeface="Arial"/>
              </a:rPr>
              <a:t>CV</a:t>
            </a:r>
          </a:p>
        </p:txBody>
      </p:sp>
      <p:sp>
        <p:nvSpPr>
          <p:cNvPr id="111" name="Freeform 110"/>
          <p:cNvSpPr/>
          <p:nvPr/>
        </p:nvSpPr>
        <p:spPr>
          <a:xfrm>
            <a:off x="2350008" y="290779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423160" y="294436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281713" y="2772092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BV-103</a:t>
            </a:r>
          </a:p>
        </p:txBody>
      </p:sp>
      <p:sp>
        <p:nvSpPr>
          <p:cNvPr id="114" name="Freeform 113"/>
          <p:cNvSpPr/>
          <p:nvPr/>
        </p:nvSpPr>
        <p:spPr>
          <a:xfrm>
            <a:off x="2660904" y="290779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 flipV="1">
            <a:off x="2761488" y="2788920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2679192" y="2624328"/>
            <a:ext cx="164592" cy="1645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2843784" y="2706624"/>
            <a:ext cx="64008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2592609" y="3025013"/>
            <a:ext cx="337756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PR-102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30→30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2944368" y="290779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017520" y="294436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876073" y="2772092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BV-104</a:t>
            </a:r>
          </a:p>
        </p:txBody>
      </p:sp>
      <p:sp>
        <p:nvSpPr>
          <p:cNvPr id="122" name="Oval 121"/>
          <p:cNvSpPr/>
          <p:nvPr/>
        </p:nvSpPr>
        <p:spPr>
          <a:xfrm>
            <a:off x="3280410" y="29420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 flipV="1">
            <a:off x="3310128" y="2560320"/>
            <a:ext cx="0" cy="41148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Freeform 123"/>
          <p:cNvSpPr/>
          <p:nvPr/>
        </p:nvSpPr>
        <p:spPr>
          <a:xfrm>
            <a:off x="3264408" y="2660904"/>
            <a:ext cx="91440" cy="146304"/>
          </a:xfrm>
          <a:custGeom>
            <a:avLst/>
            <a:gdLst/>
            <a:ahLst/>
            <a:cxnLst/>
            <a:rect l="l" t="t" r="r" b="b"/>
            <a:pathLst>
              <a:path w="91440" h="146304">
                <a:moveTo>
                  <a:pt x="0" y="0"/>
                </a:moveTo>
                <a:lnTo>
                  <a:pt x="91440" y="146304"/>
                </a:lnTo>
                <a:lnTo>
                  <a:pt x="0" y="146304"/>
                </a:lnTo>
                <a:lnTo>
                  <a:pt x="9144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282696" y="2706624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383280" y="2712846"/>
            <a:ext cx="303809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1">
                <a:solidFill>
                  <a:srgbClr val="000000"/>
                </a:solidFill>
                <a:latin typeface="Arial"/>
              </a:rPr>
              <a:t>BV-102</a:t>
            </a:r>
          </a:p>
        </p:txBody>
      </p:sp>
      <p:sp>
        <p:nvSpPr>
          <p:cNvPr id="127" name="Oval 126"/>
          <p:cNvSpPr/>
          <p:nvPr/>
        </p:nvSpPr>
        <p:spPr>
          <a:xfrm>
            <a:off x="3154680" y="2249424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3465576" y="2404872"/>
            <a:ext cx="128015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3593591" y="2249424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3593591" y="2404872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3699919" y="2601531"/>
            <a:ext cx="98240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L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3904487" y="2404872"/>
            <a:ext cx="118873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4023359" y="2221991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050791" y="2249424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4050791" y="2404872"/>
            <a:ext cx="310897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4135431" y="2628963"/>
            <a:ext cx="141617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LL</a:t>
            </a:r>
          </a:p>
        </p:txBody>
      </p:sp>
      <p:sp>
        <p:nvSpPr>
          <p:cNvPr id="137" name="Freeform 136"/>
          <p:cNvSpPr/>
          <p:nvPr/>
        </p:nvSpPr>
        <p:spPr>
          <a:xfrm>
            <a:off x="4471416" y="290779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 flipV="1">
            <a:off x="4572000" y="2788920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4503420" y="2679192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332398" y="3082988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XV-101 FC</a:t>
            </a:r>
          </a:p>
        </p:txBody>
      </p:sp>
      <p:cxnSp>
        <p:nvCxnSpPr>
          <p:cNvPr id="141" name="Connector 140"/>
          <p:cNvCxnSpPr/>
          <p:nvPr/>
        </p:nvCxnSpPr>
        <p:spPr>
          <a:xfrm flipV="1">
            <a:off x="4572000" y="2587752"/>
            <a:ext cx="0" cy="9144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4485160" y="2494978"/>
            <a:ext cx="173678" cy="758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1">
                <a:solidFill>
                  <a:srgbClr val="000000"/>
                </a:solidFill>
                <a:latin typeface="Arial"/>
              </a:rPr>
              <a:t>SIS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937760" y="2642616"/>
            <a:ext cx="914400" cy="603504"/>
          </a:xfrm>
          <a:prstGeom prst="rect">
            <a:avLst/>
          </a:prstGeom>
          <a:noFill/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654535" y="3270631"/>
            <a:ext cx="179336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MFC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56632" y="2907792"/>
            <a:ext cx="164592" cy="12801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FE</a:t>
            </a:r>
          </a:p>
        </p:txBody>
      </p:sp>
      <p:cxnSp>
        <p:nvCxnSpPr>
          <p:cNvPr id="146" name="Connector 145"/>
          <p:cNvCxnSpPr/>
          <p:nvPr/>
        </p:nvCxnSpPr>
        <p:spPr>
          <a:xfrm flipV="1">
            <a:off x="5138928" y="2560320"/>
            <a:ext cx="0" cy="3474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4983480" y="2249424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294376" y="2404872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5440680" y="2249424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5440680" y="2404872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5788152" y="2327275"/>
            <a:ext cx="98240" cy="155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H</a:t>
            </a:r>
          </a:p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L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5596128" y="2560320"/>
            <a:ext cx="0" cy="13716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Freeform 152"/>
          <p:cNvSpPr/>
          <p:nvPr/>
        </p:nvSpPr>
        <p:spPr>
          <a:xfrm>
            <a:off x="5495544" y="290779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 flipV="1">
            <a:off x="5596128" y="2788920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Freeform 154"/>
          <p:cNvSpPr/>
          <p:nvPr/>
        </p:nvSpPr>
        <p:spPr>
          <a:xfrm>
            <a:off x="5504688" y="2697479"/>
            <a:ext cx="182880" cy="91441"/>
          </a:xfrm>
          <a:custGeom>
            <a:avLst/>
            <a:gdLst/>
            <a:ahLst/>
            <a:cxnLst/>
            <a:rect l="l" t="t" r="r" b="b"/>
            <a:pathLst>
              <a:path w="182880" h="91441">
                <a:moveTo>
                  <a:pt x="0" y="91441"/>
                </a:moveTo>
                <a:lnTo>
                  <a:pt x="0" y="91441"/>
                </a:lnTo>
                <a:lnTo>
                  <a:pt x="12250" y="45721"/>
                </a:lnTo>
                <a:lnTo>
                  <a:pt x="45720" y="12251"/>
                </a:lnTo>
                <a:lnTo>
                  <a:pt x="91440" y="0"/>
                </a:lnTo>
                <a:lnTo>
                  <a:pt x="137160" y="12251"/>
                </a:lnTo>
                <a:lnTo>
                  <a:pt x="170629" y="45721"/>
                </a:lnTo>
                <a:lnTo>
                  <a:pt x="182880" y="91441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356526" y="3082988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FV-101 FC</a:t>
            </a:r>
          </a:p>
        </p:txBody>
      </p:sp>
      <p:sp>
        <p:nvSpPr>
          <p:cNvPr id="157" name="Freeform 156"/>
          <p:cNvSpPr/>
          <p:nvPr/>
        </p:nvSpPr>
        <p:spPr>
          <a:xfrm>
            <a:off x="6172200" y="2907792"/>
            <a:ext cx="141731" cy="128016"/>
          </a:xfrm>
          <a:custGeom>
            <a:avLst/>
            <a:gdLst/>
            <a:ahLst/>
            <a:cxnLst/>
            <a:rect l="l" t="t" r="r" b="b"/>
            <a:pathLst>
              <a:path w="141731" h="128016">
                <a:moveTo>
                  <a:pt x="0" y="0"/>
                </a:moveTo>
                <a:lnTo>
                  <a:pt x="141731" y="64008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>
            <a:off x="6313931" y="2907792"/>
            <a:ext cx="0" cy="12801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6094761" y="3055556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CK-101</a:t>
            </a:r>
          </a:p>
        </p:txBody>
      </p:sp>
      <p:sp>
        <p:nvSpPr>
          <p:cNvPr id="160" name="Oval 159"/>
          <p:cNvSpPr/>
          <p:nvPr/>
        </p:nvSpPr>
        <p:spPr>
          <a:xfrm>
            <a:off x="6645402" y="29420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66928" y="4023359"/>
            <a:ext cx="420624" cy="36576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676656" y="4059935"/>
            <a:ext cx="0" cy="29260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777240" y="4059935"/>
            <a:ext cx="0" cy="29260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7824" y="4059935"/>
            <a:ext cx="0" cy="29260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597989" y="4421187"/>
            <a:ext cx="358501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N₂ PACK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987552" y="4206240"/>
            <a:ext cx="568756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Freeform 166"/>
          <p:cNvSpPr/>
          <p:nvPr/>
        </p:nvSpPr>
        <p:spPr>
          <a:xfrm>
            <a:off x="1271016" y="414223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344168" y="4178807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591056" y="414223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0" name="Connector 169"/>
          <p:cNvCxnSpPr/>
          <p:nvPr/>
        </p:nvCxnSpPr>
        <p:spPr>
          <a:xfrm flipV="1">
            <a:off x="1691640" y="4023359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Oval 170"/>
          <p:cNvSpPr/>
          <p:nvPr/>
        </p:nvSpPr>
        <p:spPr>
          <a:xfrm>
            <a:off x="1609344" y="3858768"/>
            <a:ext cx="164592" cy="1645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>
            <a:off x="1773936" y="3941063"/>
            <a:ext cx="64008" cy="6400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1522761" y="4259453"/>
            <a:ext cx="337756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PR-401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140→30</a:t>
            </a:r>
          </a:p>
        </p:txBody>
      </p:sp>
      <p:sp>
        <p:nvSpPr>
          <p:cNvPr id="174" name="Oval 173"/>
          <p:cNvSpPr/>
          <p:nvPr/>
        </p:nvSpPr>
        <p:spPr>
          <a:xfrm>
            <a:off x="2183129" y="4176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2212848" y="4206240"/>
            <a:ext cx="0" cy="41148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Freeform 175"/>
          <p:cNvSpPr/>
          <p:nvPr/>
        </p:nvSpPr>
        <p:spPr>
          <a:xfrm>
            <a:off x="2148840" y="4306823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>
            <a:off x="2276856" y="4407407"/>
            <a:ext cx="731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2350008" y="4361688"/>
            <a:ext cx="0" cy="9143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2395728" y="4363148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NV-401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018252" y="4540853"/>
            <a:ext cx="139731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1">
                <a:solidFill>
                  <a:srgbClr val="000000"/>
                </a:solidFill>
                <a:latin typeface="Arial"/>
              </a:rPr>
              <a:t>CV</a:t>
            </a:r>
          </a:p>
        </p:txBody>
      </p:sp>
      <p:sp>
        <p:nvSpPr>
          <p:cNvPr id="181" name="Freeform 180"/>
          <p:cNvSpPr/>
          <p:nvPr/>
        </p:nvSpPr>
        <p:spPr>
          <a:xfrm>
            <a:off x="2660904" y="414223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Connector 181"/>
          <p:cNvCxnSpPr/>
          <p:nvPr/>
        </p:nvCxnSpPr>
        <p:spPr>
          <a:xfrm flipV="1">
            <a:off x="2761488" y="4023359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Oval 182"/>
          <p:cNvSpPr/>
          <p:nvPr/>
        </p:nvSpPr>
        <p:spPr>
          <a:xfrm>
            <a:off x="2679192" y="3858768"/>
            <a:ext cx="164592" cy="1645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>
            <a:off x="2843784" y="3941063"/>
            <a:ext cx="64008" cy="6400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2592609" y="4259453"/>
            <a:ext cx="337756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PR-402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30→30</a:t>
            </a:r>
          </a:p>
        </p:txBody>
      </p:sp>
      <p:sp>
        <p:nvSpPr>
          <p:cNvPr id="186" name="Freeform 185"/>
          <p:cNvSpPr/>
          <p:nvPr/>
        </p:nvSpPr>
        <p:spPr>
          <a:xfrm>
            <a:off x="2944368" y="414223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017520" y="4178807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876073" y="4006532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BV-401</a:t>
            </a:r>
          </a:p>
        </p:txBody>
      </p:sp>
      <p:sp>
        <p:nvSpPr>
          <p:cNvPr id="189" name="Oval 188"/>
          <p:cNvSpPr/>
          <p:nvPr/>
        </p:nvSpPr>
        <p:spPr>
          <a:xfrm>
            <a:off x="3280410" y="4176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 flipV="1">
            <a:off x="3310128" y="3794759"/>
            <a:ext cx="0" cy="41148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Freeform 190"/>
          <p:cNvSpPr/>
          <p:nvPr/>
        </p:nvSpPr>
        <p:spPr>
          <a:xfrm>
            <a:off x="3264408" y="3895344"/>
            <a:ext cx="91440" cy="146304"/>
          </a:xfrm>
          <a:custGeom>
            <a:avLst/>
            <a:gdLst/>
            <a:ahLst/>
            <a:cxnLst/>
            <a:rect l="l" t="t" r="r" b="b"/>
            <a:pathLst>
              <a:path w="91440" h="146304">
                <a:moveTo>
                  <a:pt x="0" y="0"/>
                </a:moveTo>
                <a:lnTo>
                  <a:pt x="91440" y="146304"/>
                </a:lnTo>
                <a:lnTo>
                  <a:pt x="0" y="146304"/>
                </a:lnTo>
                <a:lnTo>
                  <a:pt x="9144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3282696" y="3941063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383280" y="3947286"/>
            <a:ext cx="303809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1">
                <a:solidFill>
                  <a:srgbClr val="000000"/>
                </a:solidFill>
                <a:latin typeface="Arial"/>
              </a:rPr>
              <a:t>BV-408</a:t>
            </a:r>
          </a:p>
        </p:txBody>
      </p:sp>
      <p:sp>
        <p:nvSpPr>
          <p:cNvPr id="194" name="Oval 193"/>
          <p:cNvSpPr/>
          <p:nvPr/>
        </p:nvSpPr>
        <p:spPr>
          <a:xfrm>
            <a:off x="3154680" y="3483863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403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3465576" y="3639311"/>
            <a:ext cx="128015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3593591" y="3483863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403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3593591" y="3639311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3699919" y="3835971"/>
            <a:ext cx="98240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L</a:t>
            </a:r>
          </a:p>
        </p:txBody>
      </p:sp>
      <p:sp>
        <p:nvSpPr>
          <p:cNvPr id="199" name="Freeform 198"/>
          <p:cNvSpPr/>
          <p:nvPr/>
        </p:nvSpPr>
        <p:spPr>
          <a:xfrm>
            <a:off x="4151376" y="414223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4224528" y="4178807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4083081" y="4006532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BV-403</a:t>
            </a:r>
          </a:p>
        </p:txBody>
      </p:sp>
      <p:sp>
        <p:nvSpPr>
          <p:cNvPr id="202" name="Freeform 201"/>
          <p:cNvSpPr/>
          <p:nvPr/>
        </p:nvSpPr>
        <p:spPr>
          <a:xfrm>
            <a:off x="4471416" y="414223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4572000" y="4023359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Rectangle 203"/>
          <p:cNvSpPr/>
          <p:nvPr/>
        </p:nvSpPr>
        <p:spPr>
          <a:xfrm>
            <a:off x="4503420" y="3913631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4332398" y="4317428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XV-401 FO</a:t>
            </a:r>
          </a:p>
        </p:txBody>
      </p:sp>
      <p:cxnSp>
        <p:nvCxnSpPr>
          <p:cNvPr id="206" name="Connector 205"/>
          <p:cNvCxnSpPr/>
          <p:nvPr/>
        </p:nvCxnSpPr>
        <p:spPr>
          <a:xfrm flipV="1">
            <a:off x="4572000" y="3822191"/>
            <a:ext cx="0" cy="9144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4485160" y="3729418"/>
            <a:ext cx="173678" cy="758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1">
                <a:solidFill>
                  <a:srgbClr val="000000"/>
                </a:solidFill>
                <a:latin typeface="Arial"/>
              </a:rPr>
              <a:t>SIS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937760" y="3877055"/>
            <a:ext cx="914400" cy="603504"/>
          </a:xfrm>
          <a:prstGeom prst="rect">
            <a:avLst/>
          </a:prstGeom>
          <a:noFill/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5654535" y="4505071"/>
            <a:ext cx="179336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MFC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056632" y="4142231"/>
            <a:ext cx="164592" cy="12801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FE</a:t>
            </a:r>
          </a:p>
        </p:txBody>
      </p:sp>
      <p:cxnSp>
        <p:nvCxnSpPr>
          <p:cNvPr id="211" name="Connector 210"/>
          <p:cNvCxnSpPr/>
          <p:nvPr/>
        </p:nvCxnSpPr>
        <p:spPr>
          <a:xfrm flipV="1">
            <a:off x="5138928" y="3794759"/>
            <a:ext cx="0" cy="3474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Oval 211"/>
          <p:cNvSpPr/>
          <p:nvPr/>
        </p:nvSpPr>
        <p:spPr>
          <a:xfrm>
            <a:off x="4983480" y="3483863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401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5294376" y="3639311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Oval 213"/>
          <p:cNvSpPr/>
          <p:nvPr/>
        </p:nvSpPr>
        <p:spPr>
          <a:xfrm>
            <a:off x="5440680" y="3483863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401</a:t>
            </a:r>
          </a:p>
        </p:txBody>
      </p:sp>
      <p:cxnSp>
        <p:nvCxnSpPr>
          <p:cNvPr id="215" name="Connector 214"/>
          <p:cNvCxnSpPr/>
          <p:nvPr/>
        </p:nvCxnSpPr>
        <p:spPr>
          <a:xfrm>
            <a:off x="5440680" y="3639311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5788152" y="3561714"/>
            <a:ext cx="98240" cy="155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H</a:t>
            </a:r>
          </a:p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L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5596128" y="3794759"/>
            <a:ext cx="0" cy="137161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Freeform 217"/>
          <p:cNvSpPr/>
          <p:nvPr/>
        </p:nvSpPr>
        <p:spPr>
          <a:xfrm>
            <a:off x="5495544" y="414223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9" name="Connector 218"/>
          <p:cNvCxnSpPr/>
          <p:nvPr/>
        </p:nvCxnSpPr>
        <p:spPr>
          <a:xfrm flipV="1">
            <a:off x="5596128" y="4023359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Freeform 219"/>
          <p:cNvSpPr/>
          <p:nvPr/>
        </p:nvSpPr>
        <p:spPr>
          <a:xfrm>
            <a:off x="5504688" y="3931920"/>
            <a:ext cx="182880" cy="91439"/>
          </a:xfrm>
          <a:custGeom>
            <a:avLst/>
            <a:gdLst/>
            <a:ahLst/>
            <a:cxnLst/>
            <a:rect l="l" t="t" r="r" b="b"/>
            <a:pathLst>
              <a:path w="182880" h="91439">
                <a:moveTo>
                  <a:pt x="0" y="91439"/>
                </a:moveTo>
                <a:lnTo>
                  <a:pt x="0" y="91439"/>
                </a:lnTo>
                <a:lnTo>
                  <a:pt x="12250" y="45719"/>
                </a:lnTo>
                <a:lnTo>
                  <a:pt x="45720" y="12250"/>
                </a:lnTo>
                <a:lnTo>
                  <a:pt x="91440" y="0"/>
                </a:lnTo>
                <a:lnTo>
                  <a:pt x="137160" y="12250"/>
                </a:lnTo>
                <a:lnTo>
                  <a:pt x="170629" y="45719"/>
                </a:lnTo>
                <a:lnTo>
                  <a:pt x="182880" y="91439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5356526" y="4317428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FV-401 FO</a:t>
            </a:r>
          </a:p>
        </p:txBody>
      </p:sp>
      <p:sp>
        <p:nvSpPr>
          <p:cNvPr id="222" name="Freeform 221"/>
          <p:cNvSpPr/>
          <p:nvPr/>
        </p:nvSpPr>
        <p:spPr>
          <a:xfrm>
            <a:off x="5888736" y="414223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5961888" y="4178807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820441" y="4006532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BV-405</a:t>
            </a:r>
          </a:p>
        </p:txBody>
      </p:sp>
      <p:sp>
        <p:nvSpPr>
          <p:cNvPr id="225" name="Freeform 224"/>
          <p:cNvSpPr/>
          <p:nvPr/>
        </p:nvSpPr>
        <p:spPr>
          <a:xfrm>
            <a:off x="6172200" y="4142231"/>
            <a:ext cx="141731" cy="128017"/>
          </a:xfrm>
          <a:custGeom>
            <a:avLst/>
            <a:gdLst/>
            <a:ahLst/>
            <a:cxnLst/>
            <a:rect l="l" t="t" r="r" b="b"/>
            <a:pathLst>
              <a:path w="141731" h="128017">
                <a:moveTo>
                  <a:pt x="0" y="0"/>
                </a:moveTo>
                <a:lnTo>
                  <a:pt x="141731" y="64009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Connector 225"/>
          <p:cNvCxnSpPr/>
          <p:nvPr/>
        </p:nvCxnSpPr>
        <p:spPr>
          <a:xfrm>
            <a:off x="6313931" y="4142231"/>
            <a:ext cx="0" cy="12801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6094761" y="4289996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CK-401</a:t>
            </a:r>
          </a:p>
        </p:txBody>
      </p:sp>
      <p:sp>
        <p:nvSpPr>
          <p:cNvPr id="228" name="Oval 227"/>
          <p:cNvSpPr/>
          <p:nvPr/>
        </p:nvSpPr>
        <p:spPr>
          <a:xfrm>
            <a:off x="6645402" y="4176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816602" y="4176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6096762" y="4176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1" name="Connector 230"/>
          <p:cNvCxnSpPr/>
          <p:nvPr/>
        </p:nvCxnSpPr>
        <p:spPr>
          <a:xfrm>
            <a:off x="4846320" y="4206240"/>
            <a:ext cx="0" cy="43891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4846320" y="4645152"/>
            <a:ext cx="1280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6126480" y="4206240"/>
            <a:ext cx="0" cy="43891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Freeform 233"/>
          <p:cNvSpPr/>
          <p:nvPr/>
        </p:nvSpPr>
        <p:spPr>
          <a:xfrm>
            <a:off x="5385816" y="4581144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246798" y="4738052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BV-404 NC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014984" y="1113440"/>
            <a:ext cx="476562" cy="77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 i="1">
                <a:solidFill>
                  <a:srgbClr val="000000"/>
                </a:solidFill>
                <a:latin typeface="Arial"/>
              </a:rPr>
              <a:t>1/2"-HG-201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014984" y="1753520"/>
            <a:ext cx="476562" cy="77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 i="1">
                <a:solidFill>
                  <a:srgbClr val="000000"/>
                </a:solidFill>
                <a:latin typeface="Arial"/>
              </a:rPr>
              <a:t>1/2"-HG-202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014984" y="2805080"/>
            <a:ext cx="476562" cy="77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 i="1">
                <a:solidFill>
                  <a:srgbClr val="000000"/>
                </a:solidFill>
                <a:latin typeface="Arial"/>
              </a:rPr>
              <a:t>1/2"-CD-101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014984" y="4039520"/>
            <a:ext cx="476562" cy="77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 i="1">
                <a:solidFill>
                  <a:srgbClr val="000000"/>
                </a:solidFill>
                <a:latin typeface="Arial"/>
              </a:rPr>
              <a:t>1/2"-NG-401</a:t>
            </a:r>
          </a:p>
        </p:txBody>
      </p:sp>
      <p:sp>
        <p:nvSpPr>
          <p:cNvPr id="240" name="Oval 239"/>
          <p:cNvSpPr/>
          <p:nvPr/>
        </p:nvSpPr>
        <p:spPr>
          <a:xfrm>
            <a:off x="2868929" y="4176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1" name="Connector 240"/>
          <p:cNvCxnSpPr/>
          <p:nvPr/>
        </p:nvCxnSpPr>
        <p:spPr>
          <a:xfrm>
            <a:off x="2898648" y="4206240"/>
            <a:ext cx="0" cy="8686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2898648" y="5074920"/>
            <a:ext cx="987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Freeform 242"/>
          <p:cNvSpPr/>
          <p:nvPr/>
        </p:nvSpPr>
        <p:spPr>
          <a:xfrm>
            <a:off x="3145536" y="5010912"/>
            <a:ext cx="201167" cy="128016"/>
          </a:xfrm>
          <a:custGeom>
            <a:avLst/>
            <a:gdLst/>
            <a:ahLst/>
            <a:cxnLst/>
            <a:rect l="l" t="t" r="r" b="b"/>
            <a:pathLst>
              <a:path w="201167" h="128016">
                <a:moveTo>
                  <a:pt x="0" y="0"/>
                </a:moveTo>
                <a:lnTo>
                  <a:pt x="201167" y="128016"/>
                </a:lnTo>
                <a:lnTo>
                  <a:pt x="201167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 flipV="1">
            <a:off x="3246120" y="4892040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Oval 244"/>
          <p:cNvSpPr/>
          <p:nvPr/>
        </p:nvSpPr>
        <p:spPr>
          <a:xfrm>
            <a:off x="3163824" y="4727448"/>
            <a:ext cx="164592" cy="1645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3328415" y="4809744"/>
            <a:ext cx="64009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3077241" y="5128133"/>
            <a:ext cx="337756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PR-404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30→1.5</a:t>
            </a:r>
          </a:p>
        </p:txBody>
      </p:sp>
      <p:sp>
        <p:nvSpPr>
          <p:cNvPr id="248" name="Oval 247"/>
          <p:cNvSpPr/>
          <p:nvPr/>
        </p:nvSpPr>
        <p:spPr>
          <a:xfrm>
            <a:off x="3856482" y="50452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9" name="Connector 248"/>
          <p:cNvCxnSpPr/>
          <p:nvPr/>
        </p:nvCxnSpPr>
        <p:spPr>
          <a:xfrm>
            <a:off x="3886200" y="5074920"/>
            <a:ext cx="7772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Freeform 249"/>
          <p:cNvSpPr/>
          <p:nvPr/>
        </p:nvSpPr>
        <p:spPr>
          <a:xfrm>
            <a:off x="4123944" y="501091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4197096" y="504748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3984926" y="4875212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BV-407 NO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4663440" y="5074920"/>
            <a:ext cx="2286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TextBox 253"/>
          <p:cNvSpPr txBox="1"/>
          <p:nvPr/>
        </p:nvSpPr>
        <p:spPr>
          <a:xfrm>
            <a:off x="4928616" y="5032248"/>
            <a:ext cx="1050645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N₂ LP TO T-601 (SHT 2)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383280" y="5280723"/>
            <a:ext cx="50598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1/2"-NG-402</a:t>
            </a:r>
          </a:p>
        </p:txBody>
      </p:sp>
      <p:cxnSp>
        <p:nvCxnSpPr>
          <p:cNvPr id="256" name="Connector 255"/>
          <p:cNvCxnSpPr/>
          <p:nvPr/>
        </p:nvCxnSpPr>
        <p:spPr>
          <a:xfrm>
            <a:off x="3886200" y="5074920"/>
            <a:ext cx="0" cy="3657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H="1">
            <a:off x="2331720" y="5440680"/>
            <a:ext cx="1554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2331720" y="5440680"/>
            <a:ext cx="0" cy="12801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Freeform 258"/>
          <p:cNvSpPr/>
          <p:nvPr/>
        </p:nvSpPr>
        <p:spPr>
          <a:xfrm>
            <a:off x="2267712" y="5952744"/>
            <a:ext cx="128015" cy="201168"/>
          </a:xfrm>
          <a:custGeom>
            <a:avLst/>
            <a:gdLst/>
            <a:ahLst/>
            <a:cxnLst/>
            <a:rect l="l" t="t" r="r" b="b"/>
            <a:pathLst>
              <a:path w="128015" h="201168">
                <a:moveTo>
                  <a:pt x="0" y="0"/>
                </a:moveTo>
                <a:lnTo>
                  <a:pt x="128015" y="201168"/>
                </a:lnTo>
                <a:lnTo>
                  <a:pt x="0" y="201168"/>
                </a:lnTo>
                <a:lnTo>
                  <a:pt x="128015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304288" y="6025896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2432303" y="6009068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BV-406 NO</a:t>
            </a:r>
          </a:p>
        </p:txBody>
      </p:sp>
      <p:cxnSp>
        <p:nvCxnSpPr>
          <p:cNvPr id="262" name="Connector 261"/>
          <p:cNvCxnSpPr/>
          <p:nvPr/>
        </p:nvCxnSpPr>
        <p:spPr>
          <a:xfrm>
            <a:off x="6675120" y="914400"/>
            <a:ext cx="0" cy="62179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Freeform 262"/>
          <p:cNvSpPr/>
          <p:nvPr/>
        </p:nvSpPr>
        <p:spPr>
          <a:xfrm>
            <a:off x="6611112" y="960119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4" name="Connector 263"/>
          <p:cNvCxnSpPr/>
          <p:nvPr/>
        </p:nvCxnSpPr>
        <p:spPr>
          <a:xfrm>
            <a:off x="6739128" y="1060704"/>
            <a:ext cx="731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6812280" y="1014983"/>
            <a:ext cx="0" cy="9144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TextBox 265"/>
          <p:cNvSpPr txBox="1"/>
          <p:nvPr/>
        </p:nvSpPr>
        <p:spPr>
          <a:xfrm>
            <a:off x="6245923" y="1016444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NV-606</a:t>
            </a:r>
          </a:p>
        </p:txBody>
      </p:sp>
      <p:cxnSp>
        <p:nvCxnSpPr>
          <p:cNvPr id="267" name="Connector 266"/>
          <p:cNvCxnSpPr/>
          <p:nvPr/>
        </p:nvCxnSpPr>
        <p:spPr>
          <a:xfrm flipV="1">
            <a:off x="6675120" y="658368"/>
            <a:ext cx="0" cy="2286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TextBox 267"/>
          <p:cNvSpPr txBox="1"/>
          <p:nvPr/>
        </p:nvSpPr>
        <p:spPr>
          <a:xfrm>
            <a:off x="6647688" y="531571"/>
            <a:ext cx="54864" cy="853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6748272" y="563213"/>
            <a:ext cx="733806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1">
                <a:solidFill>
                  <a:srgbClr val="000000"/>
                </a:solidFill>
                <a:latin typeface="Arial"/>
              </a:rPr>
              <a:t>TO SAFE LOCATION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6611112" y="5907024"/>
            <a:ext cx="128016" cy="16459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FE</a:t>
            </a:r>
          </a:p>
        </p:txBody>
      </p:sp>
      <p:cxnSp>
        <p:nvCxnSpPr>
          <p:cNvPr id="271" name="Connector 270"/>
          <p:cNvCxnSpPr/>
          <p:nvPr/>
        </p:nvCxnSpPr>
        <p:spPr>
          <a:xfrm flipH="1">
            <a:off x="6373368" y="5989320"/>
            <a:ext cx="23774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Oval 271"/>
          <p:cNvSpPr/>
          <p:nvPr/>
        </p:nvSpPr>
        <p:spPr>
          <a:xfrm>
            <a:off x="6062472" y="583387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601</a:t>
            </a:r>
          </a:p>
        </p:txBody>
      </p:sp>
      <p:cxnSp>
        <p:nvCxnSpPr>
          <p:cNvPr id="273" name="Connector 272"/>
          <p:cNvCxnSpPr/>
          <p:nvPr/>
        </p:nvCxnSpPr>
        <p:spPr>
          <a:xfrm flipH="1">
            <a:off x="5916168" y="5989320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Oval 273"/>
          <p:cNvSpPr/>
          <p:nvPr/>
        </p:nvSpPr>
        <p:spPr>
          <a:xfrm>
            <a:off x="5605272" y="583387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601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5605272" y="598932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TextBox 275"/>
          <p:cNvSpPr txBox="1"/>
          <p:nvPr/>
        </p:nvSpPr>
        <p:spPr>
          <a:xfrm>
            <a:off x="5588069" y="6196711"/>
            <a:ext cx="345300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NOTE 13</a:t>
            </a:r>
          </a:p>
        </p:txBody>
      </p:sp>
      <p:sp>
        <p:nvSpPr>
          <p:cNvPr id="277" name="Freeform 276"/>
          <p:cNvSpPr/>
          <p:nvPr/>
        </p:nvSpPr>
        <p:spPr>
          <a:xfrm>
            <a:off x="6611112" y="6510528"/>
            <a:ext cx="128016" cy="141731"/>
          </a:xfrm>
          <a:custGeom>
            <a:avLst/>
            <a:gdLst/>
            <a:ahLst/>
            <a:cxnLst/>
            <a:rect l="l" t="t" r="r" b="b"/>
            <a:pathLst>
              <a:path w="128016" h="141731">
                <a:moveTo>
                  <a:pt x="0" y="0"/>
                </a:moveTo>
                <a:lnTo>
                  <a:pt x="64008" y="141731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8" name="Connector 277"/>
          <p:cNvCxnSpPr/>
          <p:nvPr/>
        </p:nvCxnSpPr>
        <p:spPr>
          <a:xfrm>
            <a:off x="6611112" y="6652259"/>
            <a:ext cx="128016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/>
          <p:cNvSpPr txBox="1"/>
          <p:nvPr/>
        </p:nvSpPr>
        <p:spPr>
          <a:xfrm>
            <a:off x="6784848" y="6557708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CK-601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748272" y="4713795"/>
            <a:ext cx="50598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1/2"-PG-601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1188720" y="672084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864947" y="6871017"/>
            <a:ext cx="384905" cy="120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T-301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722386" y="7036371"/>
            <a:ext cx="670026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ETHANOL STORAGE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495043" y="7150862"/>
            <a:ext cx="1124712" cy="726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960 × 1400 mm · 2 barg / 75 °C</a:t>
            </a:r>
          </a:p>
        </p:txBody>
      </p:sp>
      <p:cxnSp>
        <p:nvCxnSpPr>
          <p:cNvPr id="285" name="Connector 284"/>
          <p:cNvCxnSpPr/>
          <p:nvPr/>
        </p:nvCxnSpPr>
        <p:spPr>
          <a:xfrm flipV="1">
            <a:off x="1417320" y="5989320"/>
            <a:ext cx="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Oval 285"/>
          <p:cNvSpPr/>
          <p:nvPr/>
        </p:nvSpPr>
        <p:spPr>
          <a:xfrm>
            <a:off x="1387602" y="65996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7" name="Connector 286"/>
          <p:cNvCxnSpPr/>
          <p:nvPr/>
        </p:nvCxnSpPr>
        <p:spPr>
          <a:xfrm flipH="1">
            <a:off x="1033272" y="6629400"/>
            <a:ext cx="38404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1033272" y="5852159"/>
            <a:ext cx="0" cy="77724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Freeform 288"/>
          <p:cNvSpPr/>
          <p:nvPr/>
        </p:nvSpPr>
        <p:spPr>
          <a:xfrm>
            <a:off x="1353312" y="6291071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389888" y="6364223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517904" y="6347396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BV-313 LO</a:t>
            </a:r>
          </a:p>
        </p:txBody>
      </p:sp>
      <p:sp>
        <p:nvSpPr>
          <p:cNvPr id="292" name="Freeform 291"/>
          <p:cNvSpPr/>
          <p:nvPr/>
        </p:nvSpPr>
        <p:spPr>
          <a:xfrm>
            <a:off x="1348740" y="5852159"/>
            <a:ext cx="137160" cy="137161"/>
          </a:xfrm>
          <a:custGeom>
            <a:avLst/>
            <a:gdLst/>
            <a:ahLst/>
            <a:cxnLst/>
            <a:rect l="l" t="t" r="r" b="b"/>
            <a:pathLst>
              <a:path w="137160" h="137161">
                <a:moveTo>
                  <a:pt x="0" y="137161"/>
                </a:moveTo>
                <a:lnTo>
                  <a:pt x="137160" y="137161"/>
                </a:lnTo>
                <a:lnTo>
                  <a:pt x="6858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1280160" y="5783579"/>
            <a:ext cx="137160" cy="137161"/>
          </a:xfrm>
          <a:custGeom>
            <a:avLst/>
            <a:gdLst/>
            <a:ahLst/>
            <a:cxnLst/>
            <a:rect l="l" t="t" r="r" b="b"/>
            <a:pathLst>
              <a:path w="137160" h="137161">
                <a:moveTo>
                  <a:pt x="0" y="0"/>
                </a:moveTo>
                <a:lnTo>
                  <a:pt x="0" y="137161"/>
                </a:lnTo>
                <a:lnTo>
                  <a:pt x="137160" y="685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1371600" y="5632703"/>
            <a:ext cx="91440" cy="219456"/>
          </a:xfrm>
          <a:custGeom>
            <a:avLst/>
            <a:gdLst/>
            <a:ahLst/>
            <a:cxnLst/>
            <a:rect l="l" t="t" r="r" b="b"/>
            <a:pathLst>
              <a:path w="91440" h="219456">
                <a:moveTo>
                  <a:pt x="45720" y="219456"/>
                </a:moveTo>
                <a:lnTo>
                  <a:pt x="91440" y="160020"/>
                </a:lnTo>
                <a:lnTo>
                  <a:pt x="0" y="128016"/>
                </a:lnTo>
                <a:lnTo>
                  <a:pt x="91440" y="96012"/>
                </a:lnTo>
                <a:lnTo>
                  <a:pt x="0" y="64009"/>
                </a:lnTo>
                <a:lnTo>
                  <a:pt x="91440" y="32004"/>
                </a:lnTo>
                <a:lnTo>
                  <a:pt x="45720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1508760" y="5722493"/>
            <a:ext cx="526351" cy="167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PSV-301</a:t>
            </a:r>
          </a:p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SET 2 barg</a:t>
            </a:r>
          </a:p>
        </p:txBody>
      </p:sp>
      <p:sp>
        <p:nvSpPr>
          <p:cNvPr id="296" name="Freeform 295"/>
          <p:cNvSpPr/>
          <p:nvPr/>
        </p:nvSpPr>
        <p:spPr>
          <a:xfrm>
            <a:off x="969264" y="6318503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453485" y="6374828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BV-309 NC</a:t>
            </a:r>
          </a:p>
        </p:txBody>
      </p:sp>
      <p:sp>
        <p:nvSpPr>
          <p:cNvPr id="298" name="Freeform 297"/>
          <p:cNvSpPr/>
          <p:nvPr/>
        </p:nvSpPr>
        <p:spPr>
          <a:xfrm>
            <a:off x="969264" y="6025895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9" name="Connector 298"/>
          <p:cNvCxnSpPr/>
          <p:nvPr/>
        </p:nvCxnSpPr>
        <p:spPr>
          <a:xfrm>
            <a:off x="1097280" y="6126479"/>
            <a:ext cx="731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170432" y="6080759"/>
            <a:ext cx="0" cy="914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TextBox 300"/>
          <p:cNvSpPr txBox="1"/>
          <p:nvPr/>
        </p:nvSpPr>
        <p:spPr>
          <a:xfrm>
            <a:off x="494347" y="6082220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NV-301</a:t>
            </a:r>
          </a:p>
        </p:txBody>
      </p:sp>
      <p:cxnSp>
        <p:nvCxnSpPr>
          <p:cNvPr id="302" name="Connector 301"/>
          <p:cNvCxnSpPr/>
          <p:nvPr/>
        </p:nvCxnSpPr>
        <p:spPr>
          <a:xfrm flipH="1">
            <a:off x="1033272" y="5852159"/>
            <a:ext cx="24688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Oval 302"/>
          <p:cNvSpPr/>
          <p:nvPr/>
        </p:nvSpPr>
        <p:spPr>
          <a:xfrm>
            <a:off x="1003554" y="58224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4" name="Connector 303"/>
          <p:cNvCxnSpPr/>
          <p:nvPr/>
        </p:nvCxnSpPr>
        <p:spPr>
          <a:xfrm flipH="1">
            <a:off x="621792" y="5852159"/>
            <a:ext cx="41148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TextBox 304"/>
          <p:cNvSpPr txBox="1"/>
          <p:nvPr/>
        </p:nvSpPr>
        <p:spPr>
          <a:xfrm>
            <a:off x="439826" y="5809487"/>
            <a:ext cx="145389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1">
                <a:solidFill>
                  <a:srgbClr val="000000"/>
                </a:solidFill>
                <a:latin typeface="Arial"/>
              </a:rPr>
              <a:t>CV</a:t>
            </a:r>
          </a:p>
        </p:txBody>
      </p:sp>
      <p:cxnSp>
        <p:nvCxnSpPr>
          <p:cNvPr id="306" name="Connector 305"/>
          <p:cNvCxnSpPr/>
          <p:nvPr/>
        </p:nvCxnSpPr>
        <p:spPr>
          <a:xfrm flipV="1">
            <a:off x="1920240" y="6556248"/>
            <a:ext cx="0" cy="16459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ctangle 306"/>
          <p:cNvSpPr/>
          <p:nvPr/>
        </p:nvSpPr>
        <p:spPr>
          <a:xfrm>
            <a:off x="1865376" y="6355080"/>
            <a:ext cx="109728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8" name="Connector 307"/>
          <p:cNvCxnSpPr/>
          <p:nvPr/>
        </p:nvCxnSpPr>
        <p:spPr>
          <a:xfrm flipV="1">
            <a:off x="1920240" y="6144768"/>
            <a:ext cx="0" cy="210312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TextBox 308"/>
          <p:cNvSpPr txBox="1"/>
          <p:nvPr/>
        </p:nvSpPr>
        <p:spPr>
          <a:xfrm>
            <a:off x="1830571" y="6032119"/>
            <a:ext cx="179336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ATM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2011680" y="6399530"/>
            <a:ext cx="179336" cy="148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1">
                <a:solidFill>
                  <a:srgbClr val="000000"/>
                </a:solidFill>
                <a:latin typeface="Arial"/>
              </a:rPr>
              <a:t>BDV</a:t>
            </a:r>
          </a:p>
          <a:p>
            <a:pPr algn="l"/>
            <a:r>
              <a:rPr sz="440" b="1">
                <a:solidFill>
                  <a:srgbClr val="000000"/>
                </a:solidFill>
                <a:latin typeface="Arial"/>
              </a:rPr>
              <a:t>301</a:t>
            </a:r>
          </a:p>
        </p:txBody>
      </p:sp>
      <p:cxnSp>
        <p:nvCxnSpPr>
          <p:cNvPr id="311" name="Connector 310"/>
          <p:cNvCxnSpPr/>
          <p:nvPr/>
        </p:nvCxnSpPr>
        <p:spPr>
          <a:xfrm>
            <a:off x="1600200" y="7269480"/>
            <a:ext cx="0" cy="28346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Oval 311"/>
          <p:cNvSpPr/>
          <p:nvPr/>
        </p:nvSpPr>
        <p:spPr>
          <a:xfrm>
            <a:off x="1444752" y="7552944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301</a:t>
            </a:r>
          </a:p>
        </p:txBody>
      </p:sp>
      <p:cxnSp>
        <p:nvCxnSpPr>
          <p:cNvPr id="313" name="Connector 312"/>
          <p:cNvCxnSpPr/>
          <p:nvPr/>
        </p:nvCxnSpPr>
        <p:spPr>
          <a:xfrm flipH="1">
            <a:off x="1298448" y="7708392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Oval 313"/>
          <p:cNvSpPr/>
          <p:nvPr/>
        </p:nvSpPr>
        <p:spPr>
          <a:xfrm>
            <a:off x="987552" y="7552944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301</a:t>
            </a:r>
          </a:p>
        </p:txBody>
      </p:sp>
      <p:cxnSp>
        <p:nvCxnSpPr>
          <p:cNvPr id="315" name="Connector 314"/>
          <p:cNvCxnSpPr/>
          <p:nvPr/>
        </p:nvCxnSpPr>
        <p:spPr>
          <a:xfrm>
            <a:off x="987552" y="7708392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TextBox 315"/>
          <p:cNvSpPr txBox="1"/>
          <p:nvPr/>
        </p:nvSpPr>
        <p:spPr>
          <a:xfrm>
            <a:off x="1050502" y="7905051"/>
            <a:ext cx="184994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 L</a:t>
            </a:r>
          </a:p>
        </p:txBody>
      </p:sp>
      <p:cxnSp>
        <p:nvCxnSpPr>
          <p:cNvPr id="317" name="Connector 316"/>
          <p:cNvCxnSpPr/>
          <p:nvPr/>
        </p:nvCxnSpPr>
        <p:spPr>
          <a:xfrm flipH="1">
            <a:off x="868680" y="6995160"/>
            <a:ext cx="3200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Freeform 317"/>
          <p:cNvSpPr/>
          <p:nvPr/>
        </p:nvSpPr>
        <p:spPr>
          <a:xfrm>
            <a:off x="960119" y="6949440"/>
            <a:ext cx="146305" cy="91440"/>
          </a:xfrm>
          <a:custGeom>
            <a:avLst/>
            <a:gdLst/>
            <a:ahLst/>
            <a:cxnLst/>
            <a:rect l="l" t="t" r="r" b="b"/>
            <a:pathLst>
              <a:path w="146305" h="91440">
                <a:moveTo>
                  <a:pt x="0" y="0"/>
                </a:moveTo>
                <a:lnTo>
                  <a:pt x="146305" y="91440"/>
                </a:lnTo>
                <a:lnTo>
                  <a:pt x="146305" y="0"/>
                </a:lnTo>
                <a:lnTo>
                  <a:pt x="0" y="9144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1005839" y="696772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881367" y="6818503"/>
            <a:ext cx="303809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BV-310</a:t>
            </a:r>
          </a:p>
        </p:txBody>
      </p:sp>
      <p:sp>
        <p:nvSpPr>
          <p:cNvPr id="321" name="Oval 320"/>
          <p:cNvSpPr/>
          <p:nvPr/>
        </p:nvSpPr>
        <p:spPr>
          <a:xfrm>
            <a:off x="557784" y="683971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PG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302</a:t>
            </a:r>
          </a:p>
        </p:txBody>
      </p:sp>
      <p:cxnSp>
        <p:nvCxnSpPr>
          <p:cNvPr id="322" name="Connector 321"/>
          <p:cNvCxnSpPr/>
          <p:nvPr/>
        </p:nvCxnSpPr>
        <p:spPr>
          <a:xfrm>
            <a:off x="2103120" y="7269480"/>
            <a:ext cx="0" cy="384048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Freeform 322"/>
          <p:cNvSpPr/>
          <p:nvPr/>
        </p:nvSpPr>
        <p:spPr>
          <a:xfrm>
            <a:off x="2039112" y="7341717"/>
            <a:ext cx="128015" cy="201168"/>
          </a:xfrm>
          <a:custGeom>
            <a:avLst/>
            <a:gdLst/>
            <a:ahLst/>
            <a:cxnLst/>
            <a:rect l="l" t="t" r="r" b="b"/>
            <a:pathLst>
              <a:path w="128015" h="201168">
                <a:moveTo>
                  <a:pt x="0" y="0"/>
                </a:moveTo>
                <a:lnTo>
                  <a:pt x="128015" y="201168"/>
                </a:lnTo>
                <a:lnTo>
                  <a:pt x="0" y="201168"/>
                </a:lnTo>
                <a:lnTo>
                  <a:pt x="128015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2203703" y="7398042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BV-303 NC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908524" y="7576661"/>
            <a:ext cx="139731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1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326" name="Oval 325"/>
          <p:cNvSpPr/>
          <p:nvPr/>
        </p:nvSpPr>
        <p:spPr>
          <a:xfrm>
            <a:off x="2073401" y="72397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7" name="Connector 326"/>
          <p:cNvCxnSpPr/>
          <p:nvPr/>
        </p:nvCxnSpPr>
        <p:spPr>
          <a:xfrm flipH="1">
            <a:off x="3154680" y="7086600"/>
            <a:ext cx="103327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3154680" y="6492240"/>
            <a:ext cx="0" cy="5943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H="1">
            <a:off x="2697480" y="6492240"/>
            <a:ext cx="4572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2697480" y="6492240"/>
            <a:ext cx="0" cy="2286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TextBox 330"/>
          <p:cNvSpPr txBox="1"/>
          <p:nvPr/>
        </p:nvSpPr>
        <p:spPr>
          <a:xfrm>
            <a:off x="3310128" y="6544183"/>
            <a:ext cx="635736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1">
                <a:solidFill>
                  <a:srgbClr val="000000"/>
                </a:solidFill>
                <a:latin typeface="Arial"/>
              </a:rPr>
              <a:t>PSV-302 RETURN</a:t>
            </a:r>
          </a:p>
        </p:txBody>
      </p:sp>
      <p:cxnSp>
        <p:nvCxnSpPr>
          <p:cNvPr id="332" name="Connector 331"/>
          <p:cNvCxnSpPr/>
          <p:nvPr/>
        </p:nvCxnSpPr>
        <p:spPr>
          <a:xfrm>
            <a:off x="2697480" y="7269480"/>
            <a:ext cx="0" cy="68579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2697480" y="7955279"/>
            <a:ext cx="3977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6675120" y="7132320"/>
            <a:ext cx="0" cy="82295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TextBox 334"/>
          <p:cNvSpPr txBox="1"/>
          <p:nvPr/>
        </p:nvSpPr>
        <p:spPr>
          <a:xfrm>
            <a:off x="2743200" y="8234235"/>
            <a:ext cx="50598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1/2"-PL-301</a:t>
            </a:r>
          </a:p>
        </p:txBody>
      </p:sp>
      <p:sp>
        <p:nvSpPr>
          <p:cNvPr id="336" name="Freeform 335"/>
          <p:cNvSpPr/>
          <p:nvPr/>
        </p:nvSpPr>
        <p:spPr>
          <a:xfrm>
            <a:off x="2843784" y="789127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916936" y="792784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2775489" y="7755572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BV-301</a:t>
            </a:r>
          </a:p>
        </p:txBody>
      </p:sp>
      <p:cxnSp>
        <p:nvCxnSpPr>
          <p:cNvPr id="339" name="Connector 338"/>
          <p:cNvCxnSpPr/>
          <p:nvPr/>
        </p:nvCxnSpPr>
        <p:spPr>
          <a:xfrm>
            <a:off x="3200400" y="7955279"/>
            <a:ext cx="0" cy="384048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Freeform 339"/>
          <p:cNvSpPr/>
          <p:nvPr/>
        </p:nvSpPr>
        <p:spPr>
          <a:xfrm>
            <a:off x="3136392" y="8027517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2620613" y="8083842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BV-302 NC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3255264" y="8262461"/>
            <a:ext cx="139731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1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343" name="Oval 342"/>
          <p:cNvSpPr/>
          <p:nvPr/>
        </p:nvSpPr>
        <p:spPr>
          <a:xfrm>
            <a:off x="3170682" y="792556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3429000" y="7772400"/>
            <a:ext cx="365760" cy="3657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3502152" y="7845552"/>
            <a:ext cx="219456" cy="219455"/>
          </a:xfrm>
          <a:custGeom>
            <a:avLst/>
            <a:gdLst/>
            <a:ahLst/>
            <a:cxnLst/>
            <a:rect l="l" t="t" r="r" b="b"/>
            <a:pathLst>
              <a:path w="219456" h="219455">
                <a:moveTo>
                  <a:pt x="0" y="219455"/>
                </a:moveTo>
                <a:lnTo>
                  <a:pt x="219456" y="219455"/>
                </a:lnTo>
                <a:lnTo>
                  <a:pt x="10972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3488721" y="8177403"/>
            <a:ext cx="337756" cy="1043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P-301</a:t>
            </a:r>
          </a:p>
        </p:txBody>
      </p:sp>
      <p:sp>
        <p:nvSpPr>
          <p:cNvPr id="347" name="Oval 346"/>
          <p:cNvSpPr/>
          <p:nvPr/>
        </p:nvSpPr>
        <p:spPr>
          <a:xfrm>
            <a:off x="3090672" y="720547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HS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301</a:t>
            </a:r>
          </a:p>
        </p:txBody>
      </p:sp>
      <p:cxnSp>
        <p:nvCxnSpPr>
          <p:cNvPr id="348" name="Connector 347"/>
          <p:cNvCxnSpPr/>
          <p:nvPr/>
        </p:nvCxnSpPr>
        <p:spPr>
          <a:xfrm>
            <a:off x="3090672" y="736092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3246120" y="7516368"/>
            <a:ext cx="0" cy="14630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3246120" y="7662672"/>
            <a:ext cx="36576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3611880" y="7662672"/>
            <a:ext cx="0" cy="10972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3977639" y="7955279"/>
            <a:ext cx="0" cy="384048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3" name="Freeform 352"/>
          <p:cNvSpPr/>
          <p:nvPr/>
        </p:nvSpPr>
        <p:spPr>
          <a:xfrm>
            <a:off x="3913631" y="8027517"/>
            <a:ext cx="128017" cy="201168"/>
          </a:xfrm>
          <a:custGeom>
            <a:avLst/>
            <a:gdLst/>
            <a:ahLst/>
            <a:cxnLst/>
            <a:rect l="l" t="t" r="r" b="b"/>
            <a:pathLst>
              <a:path w="128017" h="201168">
                <a:moveTo>
                  <a:pt x="0" y="0"/>
                </a:moveTo>
                <a:lnTo>
                  <a:pt x="128017" y="201168"/>
                </a:lnTo>
                <a:lnTo>
                  <a:pt x="0" y="201168"/>
                </a:lnTo>
                <a:lnTo>
                  <a:pt x="128017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4078224" y="8083842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BV-305 NC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3783044" y="8262461"/>
            <a:ext cx="139731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1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356" name="Oval 355"/>
          <p:cNvSpPr/>
          <p:nvPr/>
        </p:nvSpPr>
        <p:spPr>
          <a:xfrm>
            <a:off x="3947922" y="792556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7" name="Connector 356"/>
          <p:cNvCxnSpPr/>
          <p:nvPr/>
        </p:nvCxnSpPr>
        <p:spPr>
          <a:xfrm flipV="1">
            <a:off x="4572000" y="7223759"/>
            <a:ext cx="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Oval 357"/>
          <p:cNvSpPr/>
          <p:nvPr/>
        </p:nvSpPr>
        <p:spPr>
          <a:xfrm>
            <a:off x="4542282" y="78341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 flipH="1">
            <a:off x="4187952" y="7863840"/>
            <a:ext cx="38404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4187952" y="7086599"/>
            <a:ext cx="0" cy="77724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Freeform 360"/>
          <p:cNvSpPr/>
          <p:nvPr/>
        </p:nvSpPr>
        <p:spPr>
          <a:xfrm>
            <a:off x="4507992" y="7525512"/>
            <a:ext cx="128016" cy="201167"/>
          </a:xfrm>
          <a:custGeom>
            <a:avLst/>
            <a:gdLst/>
            <a:ahLst/>
            <a:cxnLst/>
            <a:rect l="l" t="t" r="r" b="b"/>
            <a:pathLst>
              <a:path w="128016" h="201167">
                <a:moveTo>
                  <a:pt x="0" y="0"/>
                </a:moveTo>
                <a:lnTo>
                  <a:pt x="128016" y="201167"/>
                </a:lnTo>
                <a:lnTo>
                  <a:pt x="0" y="201167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4544568" y="7598664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4672584" y="7581836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BV-308 LO</a:t>
            </a:r>
          </a:p>
        </p:txBody>
      </p:sp>
      <p:sp>
        <p:nvSpPr>
          <p:cNvPr id="364" name="Freeform 363"/>
          <p:cNvSpPr/>
          <p:nvPr/>
        </p:nvSpPr>
        <p:spPr>
          <a:xfrm>
            <a:off x="4503420" y="7086599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0" y="137160"/>
                </a:moveTo>
                <a:lnTo>
                  <a:pt x="137160" y="137160"/>
                </a:lnTo>
                <a:lnTo>
                  <a:pt x="6858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4434840" y="7018019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0" y="0"/>
                </a:moveTo>
                <a:lnTo>
                  <a:pt x="0" y="137160"/>
                </a:lnTo>
                <a:lnTo>
                  <a:pt x="137160" y="685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4526280" y="6867143"/>
            <a:ext cx="91440" cy="219456"/>
          </a:xfrm>
          <a:custGeom>
            <a:avLst/>
            <a:gdLst/>
            <a:ahLst/>
            <a:cxnLst/>
            <a:rect l="l" t="t" r="r" b="b"/>
            <a:pathLst>
              <a:path w="91440" h="219456">
                <a:moveTo>
                  <a:pt x="45720" y="219456"/>
                </a:moveTo>
                <a:lnTo>
                  <a:pt x="91440" y="160020"/>
                </a:lnTo>
                <a:lnTo>
                  <a:pt x="0" y="128016"/>
                </a:lnTo>
                <a:lnTo>
                  <a:pt x="91440" y="96012"/>
                </a:lnTo>
                <a:lnTo>
                  <a:pt x="0" y="64008"/>
                </a:lnTo>
                <a:lnTo>
                  <a:pt x="91440" y="32004"/>
                </a:lnTo>
                <a:lnTo>
                  <a:pt x="45720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4663440" y="6956933"/>
            <a:ext cx="573500" cy="167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PSV-302</a:t>
            </a:r>
          </a:p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SET 36 barg</a:t>
            </a:r>
          </a:p>
        </p:txBody>
      </p:sp>
      <p:sp>
        <p:nvSpPr>
          <p:cNvPr id="368" name="Freeform 367"/>
          <p:cNvSpPr/>
          <p:nvPr/>
        </p:nvSpPr>
        <p:spPr>
          <a:xfrm>
            <a:off x="4123944" y="7552944"/>
            <a:ext cx="128016" cy="201167"/>
          </a:xfrm>
          <a:custGeom>
            <a:avLst/>
            <a:gdLst/>
            <a:ahLst/>
            <a:cxnLst/>
            <a:rect l="l" t="t" r="r" b="b"/>
            <a:pathLst>
              <a:path w="128016" h="201167">
                <a:moveTo>
                  <a:pt x="0" y="0"/>
                </a:moveTo>
                <a:lnTo>
                  <a:pt x="128016" y="201167"/>
                </a:lnTo>
                <a:lnTo>
                  <a:pt x="0" y="201167"/>
                </a:lnTo>
                <a:lnTo>
                  <a:pt x="128016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3608165" y="7609268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BV-307 NC</a:t>
            </a:r>
          </a:p>
        </p:txBody>
      </p:sp>
      <p:sp>
        <p:nvSpPr>
          <p:cNvPr id="370" name="Freeform 369"/>
          <p:cNvSpPr/>
          <p:nvPr/>
        </p:nvSpPr>
        <p:spPr>
          <a:xfrm>
            <a:off x="4123944" y="7260335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>
            <a:off x="4251960" y="7360919"/>
            <a:ext cx="731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4325112" y="7315199"/>
            <a:ext cx="0" cy="9144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TextBox 372"/>
          <p:cNvSpPr txBox="1"/>
          <p:nvPr/>
        </p:nvSpPr>
        <p:spPr>
          <a:xfrm>
            <a:off x="3649027" y="7316660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NV-302</a:t>
            </a:r>
          </a:p>
        </p:txBody>
      </p:sp>
      <p:cxnSp>
        <p:nvCxnSpPr>
          <p:cNvPr id="374" name="Connector 373"/>
          <p:cNvCxnSpPr/>
          <p:nvPr/>
        </p:nvCxnSpPr>
        <p:spPr>
          <a:xfrm flipH="1">
            <a:off x="4187952" y="7086599"/>
            <a:ext cx="24688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Oval 374"/>
          <p:cNvSpPr/>
          <p:nvPr/>
        </p:nvSpPr>
        <p:spPr>
          <a:xfrm>
            <a:off x="4158234" y="705688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5138928" y="8298243"/>
            <a:ext cx="50598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1/2"-PL-302</a:t>
            </a:r>
          </a:p>
        </p:txBody>
      </p:sp>
      <p:sp>
        <p:nvSpPr>
          <p:cNvPr id="377" name="Oval 376"/>
          <p:cNvSpPr/>
          <p:nvPr/>
        </p:nvSpPr>
        <p:spPr>
          <a:xfrm>
            <a:off x="5109210" y="792556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8" name="Connector 377"/>
          <p:cNvCxnSpPr/>
          <p:nvPr/>
        </p:nvCxnSpPr>
        <p:spPr>
          <a:xfrm flipV="1">
            <a:off x="5138928" y="7562088"/>
            <a:ext cx="0" cy="39319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Freeform 378"/>
          <p:cNvSpPr/>
          <p:nvPr/>
        </p:nvSpPr>
        <p:spPr>
          <a:xfrm>
            <a:off x="5093208" y="7699248"/>
            <a:ext cx="91440" cy="146304"/>
          </a:xfrm>
          <a:custGeom>
            <a:avLst/>
            <a:gdLst/>
            <a:ahLst/>
            <a:cxnLst/>
            <a:rect l="l" t="t" r="r" b="b"/>
            <a:pathLst>
              <a:path w="91440" h="146304">
                <a:moveTo>
                  <a:pt x="0" y="0"/>
                </a:moveTo>
                <a:lnTo>
                  <a:pt x="91440" y="146304"/>
                </a:lnTo>
                <a:lnTo>
                  <a:pt x="0" y="146304"/>
                </a:lnTo>
                <a:lnTo>
                  <a:pt x="9144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5111496" y="774496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5212080" y="7751191"/>
            <a:ext cx="303809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1">
                <a:solidFill>
                  <a:srgbClr val="000000"/>
                </a:solidFill>
                <a:latin typeface="Arial"/>
              </a:rPr>
              <a:t>BV-306</a:t>
            </a:r>
          </a:p>
        </p:txBody>
      </p:sp>
      <p:sp>
        <p:nvSpPr>
          <p:cNvPr id="382" name="Oval 381"/>
          <p:cNvSpPr/>
          <p:nvPr/>
        </p:nvSpPr>
        <p:spPr>
          <a:xfrm>
            <a:off x="4983480" y="72511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301</a:t>
            </a:r>
          </a:p>
        </p:txBody>
      </p:sp>
      <p:cxnSp>
        <p:nvCxnSpPr>
          <p:cNvPr id="383" name="Connector 382"/>
          <p:cNvCxnSpPr/>
          <p:nvPr/>
        </p:nvCxnSpPr>
        <p:spPr>
          <a:xfrm>
            <a:off x="5294376" y="7406640"/>
            <a:ext cx="12801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" name="Oval 383"/>
          <p:cNvSpPr/>
          <p:nvPr/>
        </p:nvSpPr>
        <p:spPr>
          <a:xfrm>
            <a:off x="5422392" y="72511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301</a:t>
            </a:r>
          </a:p>
        </p:txBody>
      </p:sp>
      <p:cxnSp>
        <p:nvCxnSpPr>
          <p:cNvPr id="385" name="Connector 384"/>
          <p:cNvCxnSpPr/>
          <p:nvPr/>
        </p:nvCxnSpPr>
        <p:spPr>
          <a:xfrm>
            <a:off x="5422392" y="740664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TextBox 385"/>
          <p:cNvSpPr txBox="1"/>
          <p:nvPr/>
        </p:nvSpPr>
        <p:spPr>
          <a:xfrm>
            <a:off x="5485342" y="7127811"/>
            <a:ext cx="184994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 L</a:t>
            </a:r>
          </a:p>
        </p:txBody>
      </p:sp>
      <p:cxnSp>
        <p:nvCxnSpPr>
          <p:cNvPr id="387" name="Connector 386"/>
          <p:cNvCxnSpPr/>
          <p:nvPr/>
        </p:nvCxnSpPr>
        <p:spPr>
          <a:xfrm>
            <a:off x="5733288" y="7406640"/>
            <a:ext cx="11887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Rectangle 387"/>
          <p:cNvSpPr/>
          <p:nvPr/>
        </p:nvSpPr>
        <p:spPr>
          <a:xfrm>
            <a:off x="5852159" y="7223759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5879592" y="72511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301</a:t>
            </a:r>
          </a:p>
        </p:txBody>
      </p:sp>
      <p:cxnSp>
        <p:nvCxnSpPr>
          <p:cNvPr id="390" name="Connector 389"/>
          <p:cNvCxnSpPr/>
          <p:nvPr/>
        </p:nvCxnSpPr>
        <p:spPr>
          <a:xfrm>
            <a:off x="5879592" y="740664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TextBox 390"/>
          <p:cNvSpPr txBox="1"/>
          <p:nvPr/>
        </p:nvSpPr>
        <p:spPr>
          <a:xfrm>
            <a:off x="5899165" y="7100379"/>
            <a:ext cx="271748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HH LL</a:t>
            </a:r>
          </a:p>
        </p:txBody>
      </p:sp>
      <p:sp>
        <p:nvSpPr>
          <p:cNvPr id="392" name="Freeform 391"/>
          <p:cNvSpPr/>
          <p:nvPr/>
        </p:nvSpPr>
        <p:spPr>
          <a:xfrm>
            <a:off x="5568696" y="789127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3" name="Connector 392"/>
          <p:cNvCxnSpPr/>
          <p:nvPr/>
        </p:nvCxnSpPr>
        <p:spPr>
          <a:xfrm flipV="1">
            <a:off x="5669280" y="7772400"/>
            <a:ext cx="0" cy="11887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Rectangle 393"/>
          <p:cNvSpPr/>
          <p:nvPr/>
        </p:nvSpPr>
        <p:spPr>
          <a:xfrm>
            <a:off x="5600700" y="7662671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TextBox 394"/>
          <p:cNvSpPr txBox="1"/>
          <p:nvPr/>
        </p:nvSpPr>
        <p:spPr>
          <a:xfrm>
            <a:off x="5429678" y="8066468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XV-301 FC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5971032" y="7891271"/>
            <a:ext cx="164592" cy="12801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FE</a:t>
            </a:r>
          </a:p>
        </p:txBody>
      </p:sp>
      <p:cxnSp>
        <p:nvCxnSpPr>
          <p:cNvPr id="397" name="Connector 396"/>
          <p:cNvCxnSpPr/>
          <p:nvPr/>
        </p:nvCxnSpPr>
        <p:spPr>
          <a:xfrm>
            <a:off x="6053328" y="8019288"/>
            <a:ext cx="0" cy="8229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Oval 397"/>
          <p:cNvSpPr/>
          <p:nvPr/>
        </p:nvSpPr>
        <p:spPr>
          <a:xfrm>
            <a:off x="5897880" y="8101583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301</a:t>
            </a:r>
          </a:p>
        </p:txBody>
      </p:sp>
      <p:cxnSp>
        <p:nvCxnSpPr>
          <p:cNvPr id="399" name="Connector 398"/>
          <p:cNvCxnSpPr/>
          <p:nvPr/>
        </p:nvCxnSpPr>
        <p:spPr>
          <a:xfrm>
            <a:off x="6208776" y="8257031"/>
            <a:ext cx="12801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Oval 399"/>
          <p:cNvSpPr/>
          <p:nvPr/>
        </p:nvSpPr>
        <p:spPr>
          <a:xfrm>
            <a:off x="6336792" y="8101583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301</a:t>
            </a:r>
          </a:p>
        </p:txBody>
      </p:sp>
      <p:cxnSp>
        <p:nvCxnSpPr>
          <p:cNvPr id="401" name="Connector 400"/>
          <p:cNvCxnSpPr/>
          <p:nvPr/>
        </p:nvCxnSpPr>
        <p:spPr>
          <a:xfrm>
            <a:off x="6336792" y="8257031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TextBox 401"/>
          <p:cNvSpPr txBox="1"/>
          <p:nvPr/>
        </p:nvSpPr>
        <p:spPr>
          <a:xfrm>
            <a:off x="6684264" y="8179434"/>
            <a:ext cx="98240" cy="155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H</a:t>
            </a:r>
          </a:p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L</a:t>
            </a:r>
          </a:p>
        </p:txBody>
      </p:sp>
      <p:cxnSp>
        <p:nvCxnSpPr>
          <p:cNvPr id="403" name="Connector 402"/>
          <p:cNvCxnSpPr/>
          <p:nvPr/>
        </p:nvCxnSpPr>
        <p:spPr>
          <a:xfrm>
            <a:off x="6492240" y="8412480"/>
            <a:ext cx="0" cy="6400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H="1">
            <a:off x="3474720" y="8476488"/>
            <a:ext cx="301752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3474720" y="8065007"/>
            <a:ext cx="0" cy="411481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6" name="TextBox 405"/>
          <p:cNvSpPr txBox="1"/>
          <p:nvPr/>
        </p:nvSpPr>
        <p:spPr>
          <a:xfrm>
            <a:off x="3185255" y="8347138"/>
            <a:ext cx="252888" cy="75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20" b="1">
                <a:solidFill>
                  <a:srgbClr val="000000"/>
                </a:solidFill>
                <a:latin typeface="Arial"/>
              </a:rPr>
              <a:t>SPEED</a:t>
            </a:r>
          </a:p>
        </p:txBody>
      </p:sp>
      <p:sp>
        <p:nvSpPr>
          <p:cNvPr id="407" name="Freeform 406"/>
          <p:cNvSpPr/>
          <p:nvPr/>
        </p:nvSpPr>
        <p:spPr>
          <a:xfrm>
            <a:off x="6263640" y="7891271"/>
            <a:ext cx="141732" cy="128017"/>
          </a:xfrm>
          <a:custGeom>
            <a:avLst/>
            <a:gdLst/>
            <a:ahLst/>
            <a:cxnLst/>
            <a:rect l="l" t="t" r="r" b="b"/>
            <a:pathLst>
              <a:path w="141732" h="128017">
                <a:moveTo>
                  <a:pt x="0" y="0"/>
                </a:moveTo>
                <a:lnTo>
                  <a:pt x="141732" y="64008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8" name="Connector 407"/>
          <p:cNvCxnSpPr/>
          <p:nvPr/>
        </p:nvCxnSpPr>
        <p:spPr>
          <a:xfrm>
            <a:off x="6405372" y="7891271"/>
            <a:ext cx="0" cy="12801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TextBox 408"/>
          <p:cNvSpPr txBox="1"/>
          <p:nvPr/>
        </p:nvSpPr>
        <p:spPr>
          <a:xfrm>
            <a:off x="6186201" y="7773860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CK-301</a:t>
            </a:r>
          </a:p>
        </p:txBody>
      </p:sp>
      <p:sp>
        <p:nvSpPr>
          <p:cNvPr id="410" name="Freeform 409"/>
          <p:cNvSpPr/>
          <p:nvPr/>
        </p:nvSpPr>
        <p:spPr>
          <a:xfrm>
            <a:off x="6611112" y="7626096"/>
            <a:ext cx="128016" cy="201167"/>
          </a:xfrm>
          <a:custGeom>
            <a:avLst/>
            <a:gdLst/>
            <a:ahLst/>
            <a:cxnLst/>
            <a:rect l="l" t="t" r="r" b="b"/>
            <a:pathLst>
              <a:path w="128016" h="201167">
                <a:moveTo>
                  <a:pt x="0" y="0"/>
                </a:moveTo>
                <a:lnTo>
                  <a:pt x="128016" y="201167"/>
                </a:lnTo>
                <a:lnTo>
                  <a:pt x="0" y="201167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6647688" y="769924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6775704" y="7682420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BV-304</a:t>
            </a:r>
          </a:p>
        </p:txBody>
      </p:sp>
      <p:sp>
        <p:nvSpPr>
          <p:cNvPr id="413" name="Freeform 412"/>
          <p:cNvSpPr/>
          <p:nvPr/>
        </p:nvSpPr>
        <p:spPr>
          <a:xfrm>
            <a:off x="6611112" y="7356348"/>
            <a:ext cx="128016" cy="141731"/>
          </a:xfrm>
          <a:custGeom>
            <a:avLst/>
            <a:gdLst/>
            <a:ahLst/>
            <a:cxnLst/>
            <a:rect l="l" t="t" r="r" b="b"/>
            <a:pathLst>
              <a:path w="128016" h="141731">
                <a:moveTo>
                  <a:pt x="0" y="141731"/>
                </a:moveTo>
                <a:lnTo>
                  <a:pt x="64008" y="0"/>
                </a:lnTo>
                <a:lnTo>
                  <a:pt x="128016" y="14173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4" name="Connector 413"/>
          <p:cNvCxnSpPr/>
          <p:nvPr/>
        </p:nvCxnSpPr>
        <p:spPr>
          <a:xfrm>
            <a:off x="6611112" y="7356348"/>
            <a:ext cx="128016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TextBox 414"/>
          <p:cNvSpPr txBox="1"/>
          <p:nvPr/>
        </p:nvSpPr>
        <p:spPr>
          <a:xfrm>
            <a:off x="6784848" y="7362380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CK-302</a:t>
            </a:r>
          </a:p>
        </p:txBody>
      </p:sp>
      <p:sp>
        <p:nvSpPr>
          <p:cNvPr id="416" name="Oval 415"/>
          <p:cNvSpPr/>
          <p:nvPr/>
        </p:nvSpPr>
        <p:spPr>
          <a:xfrm>
            <a:off x="6645402" y="71026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7" name="Connector 416"/>
          <p:cNvCxnSpPr/>
          <p:nvPr/>
        </p:nvCxnSpPr>
        <p:spPr>
          <a:xfrm>
            <a:off x="6675120" y="7132320"/>
            <a:ext cx="2423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Freeform 417"/>
          <p:cNvSpPr/>
          <p:nvPr/>
        </p:nvSpPr>
        <p:spPr>
          <a:xfrm>
            <a:off x="6867144" y="706831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6940296" y="710488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6728126" y="6932612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BV-612 LO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812280" y="7210107"/>
            <a:ext cx="50598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1/2"-PM-601</a:t>
            </a:r>
          </a:p>
        </p:txBody>
      </p:sp>
      <p:sp>
        <p:nvSpPr>
          <p:cNvPr id="422" name="Oval 421"/>
          <p:cNvSpPr/>
          <p:nvPr/>
        </p:nvSpPr>
        <p:spPr>
          <a:xfrm>
            <a:off x="7267194" y="71026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3" name="Connector 422"/>
          <p:cNvCxnSpPr/>
          <p:nvPr/>
        </p:nvCxnSpPr>
        <p:spPr>
          <a:xfrm flipV="1">
            <a:off x="7296912" y="6784848"/>
            <a:ext cx="0" cy="3474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Oval 423"/>
          <p:cNvSpPr/>
          <p:nvPr/>
        </p:nvSpPr>
        <p:spPr>
          <a:xfrm>
            <a:off x="7141464" y="647395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425" name="Connector 424"/>
          <p:cNvCxnSpPr/>
          <p:nvPr/>
        </p:nvCxnSpPr>
        <p:spPr>
          <a:xfrm flipV="1">
            <a:off x="7296912" y="6327648"/>
            <a:ext cx="0" cy="14630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Oval 425"/>
          <p:cNvSpPr/>
          <p:nvPr/>
        </p:nvSpPr>
        <p:spPr>
          <a:xfrm>
            <a:off x="7141464" y="601675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7141464" y="617220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Rounded Rectangle 427"/>
          <p:cNvSpPr/>
          <p:nvPr/>
        </p:nvSpPr>
        <p:spPr>
          <a:xfrm>
            <a:off x="7635240" y="6931152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9" name="Connector 428"/>
          <p:cNvCxnSpPr/>
          <p:nvPr/>
        </p:nvCxnSpPr>
        <p:spPr>
          <a:xfrm>
            <a:off x="7818120" y="6931152"/>
            <a:ext cx="0" cy="40233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8549640" y="6931152"/>
            <a:ext cx="0" cy="40233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Freeform 430"/>
          <p:cNvSpPr/>
          <p:nvPr/>
        </p:nvSpPr>
        <p:spPr>
          <a:xfrm>
            <a:off x="7882127" y="7050024"/>
            <a:ext cx="649225" cy="164592"/>
          </a:xfrm>
          <a:custGeom>
            <a:avLst/>
            <a:gdLst/>
            <a:ahLst/>
            <a:cxnLst/>
            <a:rect l="l" t="t" r="r" b="b"/>
            <a:pathLst>
              <a:path w="649225" h="164592">
                <a:moveTo>
                  <a:pt x="0" y="82296"/>
                </a:moveTo>
                <a:lnTo>
                  <a:pt x="36577" y="0"/>
                </a:lnTo>
                <a:lnTo>
                  <a:pt x="100585" y="164592"/>
                </a:lnTo>
                <a:lnTo>
                  <a:pt x="164593" y="0"/>
                </a:lnTo>
                <a:lnTo>
                  <a:pt x="228601" y="164592"/>
                </a:lnTo>
                <a:lnTo>
                  <a:pt x="292609" y="0"/>
                </a:lnTo>
                <a:lnTo>
                  <a:pt x="356617" y="164592"/>
                </a:lnTo>
                <a:lnTo>
                  <a:pt x="420625" y="0"/>
                </a:lnTo>
                <a:lnTo>
                  <a:pt x="484633" y="164592"/>
                </a:lnTo>
                <a:lnTo>
                  <a:pt x="548641" y="0"/>
                </a:lnTo>
                <a:lnTo>
                  <a:pt x="612649" y="164592"/>
                </a:lnTo>
                <a:lnTo>
                  <a:pt x="649225" y="82296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8003214" y="7387050"/>
            <a:ext cx="361330" cy="1123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E-601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7705328" y="7531735"/>
            <a:ext cx="9571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ELECTRIC PREHEATER 4 kW</a:t>
            </a:r>
          </a:p>
        </p:txBody>
      </p:sp>
      <p:cxnSp>
        <p:nvCxnSpPr>
          <p:cNvPr id="434" name="Connector 433"/>
          <p:cNvCxnSpPr/>
          <p:nvPr/>
        </p:nvCxnSpPr>
        <p:spPr>
          <a:xfrm flipV="1">
            <a:off x="8183879" y="6784848"/>
            <a:ext cx="0" cy="14630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8028431" y="647395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601</a:t>
            </a:r>
          </a:p>
        </p:txBody>
      </p:sp>
      <p:cxnSp>
        <p:nvCxnSpPr>
          <p:cNvPr id="436" name="Connector 435"/>
          <p:cNvCxnSpPr/>
          <p:nvPr/>
        </p:nvCxnSpPr>
        <p:spPr>
          <a:xfrm flipV="1">
            <a:off x="8183879" y="6327648"/>
            <a:ext cx="0" cy="14630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Oval 436"/>
          <p:cNvSpPr/>
          <p:nvPr/>
        </p:nvSpPr>
        <p:spPr>
          <a:xfrm>
            <a:off x="8028431" y="601675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601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8028431" y="617220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9" name="TextBox 438"/>
          <p:cNvSpPr txBox="1"/>
          <p:nvPr/>
        </p:nvSpPr>
        <p:spPr>
          <a:xfrm>
            <a:off x="7893615" y="6131115"/>
            <a:ext cx="98240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1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cxnSp>
        <p:nvCxnSpPr>
          <p:cNvPr id="440" name="Connector 439"/>
          <p:cNvCxnSpPr/>
          <p:nvPr/>
        </p:nvCxnSpPr>
        <p:spPr>
          <a:xfrm>
            <a:off x="8339327" y="6172200"/>
            <a:ext cx="164593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1" name="TextBox 440"/>
          <p:cNvSpPr txBox="1"/>
          <p:nvPr/>
        </p:nvSpPr>
        <p:spPr>
          <a:xfrm>
            <a:off x="8531352" y="6100953"/>
            <a:ext cx="173678" cy="1424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" b="1">
                <a:solidFill>
                  <a:srgbClr val="000000"/>
                </a:solidFill>
                <a:latin typeface="Arial"/>
              </a:rPr>
              <a:t>JY</a:t>
            </a:r>
          </a:p>
          <a:p>
            <a:pPr algn="l"/>
            <a:r>
              <a:rPr sz="420" b="1">
                <a:solidFill>
                  <a:srgbClr val="000000"/>
                </a:solidFill>
                <a:latin typeface="Arial"/>
              </a:rPr>
              <a:t>SCR</a:t>
            </a:r>
          </a:p>
        </p:txBody>
      </p:sp>
      <p:cxnSp>
        <p:nvCxnSpPr>
          <p:cNvPr id="442" name="Connector 441"/>
          <p:cNvCxnSpPr/>
          <p:nvPr/>
        </p:nvCxnSpPr>
        <p:spPr>
          <a:xfrm>
            <a:off x="8339327" y="6629400"/>
            <a:ext cx="118873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Rectangle 442"/>
          <p:cNvSpPr/>
          <p:nvPr/>
        </p:nvSpPr>
        <p:spPr>
          <a:xfrm>
            <a:off x="8458200" y="6446520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8485632" y="647395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601</a:t>
            </a:r>
          </a:p>
        </p:txBody>
      </p:sp>
      <p:cxnSp>
        <p:nvCxnSpPr>
          <p:cNvPr id="445" name="Connector 444"/>
          <p:cNvCxnSpPr/>
          <p:nvPr/>
        </p:nvCxnSpPr>
        <p:spPr>
          <a:xfrm>
            <a:off x="8485632" y="662940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TextBox 445"/>
          <p:cNvSpPr txBox="1"/>
          <p:nvPr/>
        </p:nvSpPr>
        <p:spPr>
          <a:xfrm>
            <a:off x="8570271" y="6323139"/>
            <a:ext cx="141617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HH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8842248" y="6607048"/>
            <a:ext cx="318897" cy="136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1">
                <a:solidFill>
                  <a:srgbClr val="000000"/>
                </a:solidFill>
                <a:latin typeface="Arial"/>
              </a:rPr>
              <a:t>TRIP TO</a:t>
            </a:r>
          </a:p>
          <a:p>
            <a:pPr algn="l"/>
            <a:r>
              <a:rPr sz="400" b="1">
                <a:solidFill>
                  <a:srgbClr val="000000"/>
                </a:solidFill>
                <a:latin typeface="Arial"/>
              </a:rPr>
              <a:t>FEEDER</a:t>
            </a:r>
          </a:p>
        </p:txBody>
      </p:sp>
      <p:sp>
        <p:nvSpPr>
          <p:cNvPr id="448" name="Freeform 447"/>
          <p:cNvSpPr/>
          <p:nvPr/>
        </p:nvSpPr>
        <p:spPr>
          <a:xfrm>
            <a:off x="8814816" y="706831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8887968" y="710488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8675798" y="6932612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BV-611 LO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8778240" y="7219251"/>
            <a:ext cx="629015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1/2"-PM-602-IH</a:t>
            </a:r>
          </a:p>
        </p:txBody>
      </p:sp>
      <p:cxnSp>
        <p:nvCxnSpPr>
          <p:cNvPr id="452" name="Connector 451"/>
          <p:cNvCxnSpPr/>
          <p:nvPr/>
        </p:nvCxnSpPr>
        <p:spPr>
          <a:xfrm flipV="1">
            <a:off x="9098280" y="1783080"/>
            <a:ext cx="0" cy="53492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9098280" y="1783080"/>
            <a:ext cx="9144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10012680" y="1783080"/>
            <a:ext cx="0" cy="3200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Freeform 454"/>
          <p:cNvSpPr/>
          <p:nvPr/>
        </p:nvSpPr>
        <p:spPr>
          <a:xfrm>
            <a:off x="9034272" y="2139696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9070848" y="221284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8518493" y="2196020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BV-608 LO</a:t>
            </a:r>
          </a:p>
        </p:txBody>
      </p:sp>
      <p:sp>
        <p:nvSpPr>
          <p:cNvPr id="458" name="Oval 457"/>
          <p:cNvSpPr/>
          <p:nvPr/>
        </p:nvSpPr>
        <p:spPr>
          <a:xfrm>
            <a:off x="9068561" y="33535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9" name="Connector 458"/>
          <p:cNvCxnSpPr/>
          <p:nvPr/>
        </p:nvCxnSpPr>
        <p:spPr>
          <a:xfrm flipH="1">
            <a:off x="8796528" y="3383280"/>
            <a:ext cx="3017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0" name="Oval 459"/>
          <p:cNvSpPr/>
          <p:nvPr/>
        </p:nvSpPr>
        <p:spPr>
          <a:xfrm>
            <a:off x="8485632" y="32278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602</a:t>
            </a:r>
          </a:p>
        </p:txBody>
      </p:sp>
      <p:cxnSp>
        <p:nvCxnSpPr>
          <p:cNvPr id="461" name="Connector 460"/>
          <p:cNvCxnSpPr/>
          <p:nvPr/>
        </p:nvCxnSpPr>
        <p:spPr>
          <a:xfrm flipH="1">
            <a:off x="8339327" y="3383280"/>
            <a:ext cx="146305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Oval 461"/>
          <p:cNvSpPr/>
          <p:nvPr/>
        </p:nvSpPr>
        <p:spPr>
          <a:xfrm>
            <a:off x="8028431" y="32278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602</a:t>
            </a:r>
          </a:p>
        </p:txBody>
      </p:sp>
      <p:cxnSp>
        <p:nvCxnSpPr>
          <p:cNvPr id="463" name="Connector 462"/>
          <p:cNvCxnSpPr/>
          <p:nvPr/>
        </p:nvCxnSpPr>
        <p:spPr>
          <a:xfrm>
            <a:off x="8028431" y="338328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TextBox 463"/>
          <p:cNvSpPr txBox="1"/>
          <p:nvPr/>
        </p:nvSpPr>
        <p:spPr>
          <a:xfrm>
            <a:off x="8091382" y="3104451"/>
            <a:ext cx="184994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 L</a:t>
            </a:r>
          </a:p>
        </p:txBody>
      </p:sp>
      <p:cxnSp>
        <p:nvCxnSpPr>
          <p:cNvPr id="465" name="Connector 464"/>
          <p:cNvCxnSpPr/>
          <p:nvPr/>
        </p:nvCxnSpPr>
        <p:spPr>
          <a:xfrm flipH="1">
            <a:off x="7909560" y="3383280"/>
            <a:ext cx="118871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Rectangle 465"/>
          <p:cNvSpPr/>
          <p:nvPr/>
        </p:nvSpPr>
        <p:spPr>
          <a:xfrm>
            <a:off x="7543800" y="3200400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7571231" y="32278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602</a:t>
            </a:r>
          </a:p>
        </p:txBody>
      </p:sp>
      <p:cxnSp>
        <p:nvCxnSpPr>
          <p:cNvPr id="468" name="Connector 467"/>
          <p:cNvCxnSpPr/>
          <p:nvPr/>
        </p:nvCxnSpPr>
        <p:spPr>
          <a:xfrm>
            <a:off x="7571231" y="338328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TextBox 468"/>
          <p:cNvSpPr txBox="1"/>
          <p:nvPr/>
        </p:nvSpPr>
        <p:spPr>
          <a:xfrm>
            <a:off x="7655871" y="3077019"/>
            <a:ext cx="141617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HH</a:t>
            </a:r>
          </a:p>
        </p:txBody>
      </p:sp>
      <p:sp>
        <p:nvSpPr>
          <p:cNvPr id="470" name="Oval 469"/>
          <p:cNvSpPr/>
          <p:nvPr/>
        </p:nvSpPr>
        <p:spPr>
          <a:xfrm>
            <a:off x="9068561" y="4039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1" name="Connector 470"/>
          <p:cNvCxnSpPr/>
          <p:nvPr/>
        </p:nvCxnSpPr>
        <p:spPr>
          <a:xfrm flipH="1">
            <a:off x="8796528" y="4069080"/>
            <a:ext cx="3017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2" name="Freeform 471"/>
          <p:cNvSpPr/>
          <p:nvPr/>
        </p:nvSpPr>
        <p:spPr>
          <a:xfrm>
            <a:off x="8887968" y="4023360"/>
            <a:ext cx="146304" cy="91440"/>
          </a:xfrm>
          <a:custGeom>
            <a:avLst/>
            <a:gdLst/>
            <a:ahLst/>
            <a:cxnLst/>
            <a:rect l="l" t="t" r="r" b="b"/>
            <a:pathLst>
              <a:path w="146304" h="91440">
                <a:moveTo>
                  <a:pt x="0" y="0"/>
                </a:moveTo>
                <a:lnTo>
                  <a:pt x="146304" y="91440"/>
                </a:lnTo>
                <a:lnTo>
                  <a:pt x="146304" y="0"/>
                </a:lnTo>
                <a:lnTo>
                  <a:pt x="0" y="9144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8933688" y="404164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8809215" y="4148455"/>
            <a:ext cx="303809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BV-604</a:t>
            </a:r>
          </a:p>
        </p:txBody>
      </p:sp>
      <p:sp>
        <p:nvSpPr>
          <p:cNvPr id="475" name="Oval 474"/>
          <p:cNvSpPr/>
          <p:nvPr/>
        </p:nvSpPr>
        <p:spPr>
          <a:xfrm>
            <a:off x="8485632" y="39136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601</a:t>
            </a:r>
          </a:p>
        </p:txBody>
      </p:sp>
      <p:cxnSp>
        <p:nvCxnSpPr>
          <p:cNvPr id="476" name="Connector 475"/>
          <p:cNvCxnSpPr/>
          <p:nvPr/>
        </p:nvCxnSpPr>
        <p:spPr>
          <a:xfrm flipH="1">
            <a:off x="8339327" y="4069080"/>
            <a:ext cx="146305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Oval 476"/>
          <p:cNvSpPr/>
          <p:nvPr/>
        </p:nvSpPr>
        <p:spPr>
          <a:xfrm>
            <a:off x="8028431" y="39136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601</a:t>
            </a:r>
          </a:p>
        </p:txBody>
      </p:sp>
      <p:cxnSp>
        <p:nvCxnSpPr>
          <p:cNvPr id="478" name="Connector 477"/>
          <p:cNvCxnSpPr/>
          <p:nvPr/>
        </p:nvCxnSpPr>
        <p:spPr>
          <a:xfrm>
            <a:off x="8028431" y="406908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TextBox 478"/>
          <p:cNvSpPr txBox="1"/>
          <p:nvPr/>
        </p:nvSpPr>
        <p:spPr>
          <a:xfrm>
            <a:off x="8091382" y="3790251"/>
            <a:ext cx="184994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 L</a:t>
            </a:r>
          </a:p>
        </p:txBody>
      </p:sp>
      <p:cxnSp>
        <p:nvCxnSpPr>
          <p:cNvPr id="480" name="Connector 479"/>
          <p:cNvCxnSpPr/>
          <p:nvPr/>
        </p:nvCxnSpPr>
        <p:spPr>
          <a:xfrm flipH="1">
            <a:off x="7909560" y="4069080"/>
            <a:ext cx="118871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Rectangle 480"/>
          <p:cNvSpPr/>
          <p:nvPr/>
        </p:nvSpPr>
        <p:spPr>
          <a:xfrm>
            <a:off x="7543800" y="3886200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7571231" y="39136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601</a:t>
            </a:r>
          </a:p>
        </p:txBody>
      </p:sp>
      <p:cxnSp>
        <p:nvCxnSpPr>
          <p:cNvPr id="483" name="Connector 482"/>
          <p:cNvCxnSpPr/>
          <p:nvPr/>
        </p:nvCxnSpPr>
        <p:spPr>
          <a:xfrm>
            <a:off x="7571231" y="406908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TextBox 483"/>
          <p:cNvSpPr txBox="1"/>
          <p:nvPr/>
        </p:nvSpPr>
        <p:spPr>
          <a:xfrm>
            <a:off x="7590805" y="3762819"/>
            <a:ext cx="271748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HH LL</a:t>
            </a:r>
          </a:p>
        </p:txBody>
      </p:sp>
      <p:sp>
        <p:nvSpPr>
          <p:cNvPr id="485" name="Oval 484"/>
          <p:cNvSpPr/>
          <p:nvPr/>
        </p:nvSpPr>
        <p:spPr>
          <a:xfrm>
            <a:off x="9068561" y="46794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Connector 485"/>
          <p:cNvCxnSpPr/>
          <p:nvPr/>
        </p:nvCxnSpPr>
        <p:spPr>
          <a:xfrm flipH="1">
            <a:off x="8796528" y="4709160"/>
            <a:ext cx="3017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Freeform 486"/>
          <p:cNvSpPr/>
          <p:nvPr/>
        </p:nvSpPr>
        <p:spPr>
          <a:xfrm>
            <a:off x="8887968" y="4663440"/>
            <a:ext cx="146304" cy="91440"/>
          </a:xfrm>
          <a:custGeom>
            <a:avLst/>
            <a:gdLst/>
            <a:ahLst/>
            <a:cxnLst/>
            <a:rect l="l" t="t" r="r" b="b"/>
            <a:pathLst>
              <a:path w="146304" h="91440">
                <a:moveTo>
                  <a:pt x="0" y="0"/>
                </a:moveTo>
                <a:lnTo>
                  <a:pt x="146304" y="91440"/>
                </a:lnTo>
                <a:lnTo>
                  <a:pt x="146304" y="0"/>
                </a:lnTo>
                <a:lnTo>
                  <a:pt x="0" y="9144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8933688" y="468172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809215" y="4788535"/>
            <a:ext cx="303809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BV-603</a:t>
            </a:r>
          </a:p>
        </p:txBody>
      </p:sp>
      <p:sp>
        <p:nvSpPr>
          <p:cNvPr id="490" name="Oval 489"/>
          <p:cNvSpPr/>
          <p:nvPr/>
        </p:nvSpPr>
        <p:spPr>
          <a:xfrm>
            <a:off x="8485632" y="455371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PG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602</a:t>
            </a:r>
          </a:p>
        </p:txBody>
      </p:sp>
      <p:sp>
        <p:nvSpPr>
          <p:cNvPr id="491" name="Oval 490"/>
          <p:cNvSpPr/>
          <p:nvPr/>
        </p:nvSpPr>
        <p:spPr>
          <a:xfrm>
            <a:off x="9434322" y="1753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9464040" y="1051560"/>
            <a:ext cx="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Oval 492"/>
          <p:cNvSpPr/>
          <p:nvPr/>
        </p:nvSpPr>
        <p:spPr>
          <a:xfrm>
            <a:off x="9434322" y="16619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4" name="Connector 493"/>
          <p:cNvCxnSpPr/>
          <p:nvPr/>
        </p:nvCxnSpPr>
        <p:spPr>
          <a:xfrm>
            <a:off x="9464040" y="1691639"/>
            <a:ext cx="38404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 flipV="1">
            <a:off x="9848088" y="914400"/>
            <a:ext cx="0" cy="77723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6" name="Freeform 495"/>
          <p:cNvSpPr/>
          <p:nvPr/>
        </p:nvSpPr>
        <p:spPr>
          <a:xfrm>
            <a:off x="9400032" y="1353311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9436608" y="1426463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8884253" y="1409636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BV-605 LO</a:t>
            </a:r>
          </a:p>
        </p:txBody>
      </p:sp>
      <p:sp>
        <p:nvSpPr>
          <p:cNvPr id="499" name="Freeform 498"/>
          <p:cNvSpPr/>
          <p:nvPr/>
        </p:nvSpPr>
        <p:spPr>
          <a:xfrm>
            <a:off x="9395460" y="91440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0"/>
                </a:moveTo>
                <a:lnTo>
                  <a:pt x="137159" y="137160"/>
                </a:lnTo>
                <a:lnTo>
                  <a:pt x="6858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9464040" y="845820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137160" y="0"/>
                </a:moveTo>
                <a:lnTo>
                  <a:pt x="13716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9418319" y="694944"/>
            <a:ext cx="91441" cy="219456"/>
          </a:xfrm>
          <a:custGeom>
            <a:avLst/>
            <a:gdLst/>
            <a:ahLst/>
            <a:cxnLst/>
            <a:rect l="l" t="t" r="r" b="b"/>
            <a:pathLst>
              <a:path w="91441" h="219456">
                <a:moveTo>
                  <a:pt x="45721" y="219456"/>
                </a:moveTo>
                <a:lnTo>
                  <a:pt x="91441" y="160020"/>
                </a:lnTo>
                <a:lnTo>
                  <a:pt x="0" y="128015"/>
                </a:lnTo>
                <a:lnTo>
                  <a:pt x="91441" y="96012"/>
                </a:lnTo>
                <a:lnTo>
                  <a:pt x="0" y="64008"/>
                </a:lnTo>
                <a:lnTo>
                  <a:pt x="91441" y="32003"/>
                </a:lnTo>
                <a:lnTo>
                  <a:pt x="45721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8799099" y="784732"/>
            <a:ext cx="573500" cy="167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PSV-601</a:t>
            </a:r>
          </a:p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SET 36 barg</a:t>
            </a:r>
          </a:p>
        </p:txBody>
      </p:sp>
      <p:sp>
        <p:nvSpPr>
          <p:cNvPr id="503" name="Freeform 502"/>
          <p:cNvSpPr/>
          <p:nvPr/>
        </p:nvSpPr>
        <p:spPr>
          <a:xfrm>
            <a:off x="9784080" y="1380743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9948672" y="1437068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BV-602 NC</a:t>
            </a:r>
          </a:p>
        </p:txBody>
      </p:sp>
      <p:sp>
        <p:nvSpPr>
          <p:cNvPr id="505" name="Freeform 504"/>
          <p:cNvSpPr/>
          <p:nvPr/>
        </p:nvSpPr>
        <p:spPr>
          <a:xfrm>
            <a:off x="9784080" y="1088135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>
            <a:off x="9912096" y="1188719"/>
            <a:ext cx="731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9985248" y="1142999"/>
            <a:ext cx="0" cy="914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10049256" y="1144460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NV-601</a:t>
            </a:r>
          </a:p>
        </p:txBody>
      </p:sp>
      <p:cxnSp>
        <p:nvCxnSpPr>
          <p:cNvPr id="509" name="Connector 508"/>
          <p:cNvCxnSpPr/>
          <p:nvPr/>
        </p:nvCxnSpPr>
        <p:spPr>
          <a:xfrm>
            <a:off x="9601200" y="914400"/>
            <a:ext cx="24688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0" name="Oval 509"/>
          <p:cNvSpPr/>
          <p:nvPr/>
        </p:nvSpPr>
        <p:spPr>
          <a:xfrm>
            <a:off x="9818369" y="8846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1" name="Connector 510"/>
          <p:cNvCxnSpPr/>
          <p:nvPr/>
        </p:nvCxnSpPr>
        <p:spPr>
          <a:xfrm>
            <a:off x="9848088" y="914400"/>
            <a:ext cx="411479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2" name="TextBox 511"/>
          <p:cNvSpPr txBox="1"/>
          <p:nvPr/>
        </p:nvSpPr>
        <p:spPr>
          <a:xfrm>
            <a:off x="10296143" y="871728"/>
            <a:ext cx="643280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TO CV (SHT 2)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9144000" y="1860867"/>
            <a:ext cx="629015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1/2"-PM-602-IH</a:t>
            </a:r>
          </a:p>
        </p:txBody>
      </p:sp>
      <p:sp>
        <p:nvSpPr>
          <p:cNvPr id="514" name="Rectangle 513"/>
          <p:cNvSpPr/>
          <p:nvPr/>
        </p:nvSpPr>
        <p:spPr>
          <a:xfrm>
            <a:off x="9784080" y="2103120"/>
            <a:ext cx="457200" cy="9144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9875520" y="2194560"/>
            <a:ext cx="274320" cy="4389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9784080" y="6583680"/>
            <a:ext cx="457200" cy="9144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TextBox 516"/>
          <p:cNvSpPr txBox="1"/>
          <p:nvPr/>
        </p:nvSpPr>
        <p:spPr>
          <a:xfrm>
            <a:off x="9302448" y="2331624"/>
            <a:ext cx="408479" cy="1282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>
                <a:solidFill>
                  <a:srgbClr val="000000"/>
                </a:solidFill>
                <a:latin typeface="Arial"/>
              </a:rPr>
              <a:t>R-601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9204944" y="2537523"/>
            <a:ext cx="50598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0">
                <a:solidFill>
                  <a:srgbClr val="000000"/>
                </a:solidFill>
                <a:latin typeface="Arial"/>
              </a:rPr>
              <a:t>TRICKLE BED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9067647" y="2667127"/>
            <a:ext cx="643280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0">
                <a:solidFill>
                  <a:srgbClr val="000000"/>
                </a:solidFill>
                <a:latin typeface="Arial"/>
              </a:rPr>
              <a:t>3" SCH 80 × 4 m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9028419" y="2785999"/>
            <a:ext cx="682508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0">
                <a:solidFill>
                  <a:srgbClr val="000000"/>
                </a:solidFill>
                <a:latin typeface="Arial"/>
              </a:rPr>
              <a:t>36 barg / 180 °C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8949964" y="2904871"/>
            <a:ext cx="760963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0">
                <a:solidFill>
                  <a:srgbClr val="000000"/>
                </a:solidFill>
                <a:latin typeface="Arial"/>
              </a:rPr>
              <a:t>CZA 17.34 kg, 5 mm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8910736" y="3023743"/>
            <a:ext cx="800191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0">
                <a:solidFill>
                  <a:srgbClr val="000000"/>
                </a:solidFill>
                <a:latin typeface="Arial"/>
              </a:rPr>
              <a:t>BED 73.66 × 3230 mm</a:t>
            </a:r>
          </a:p>
        </p:txBody>
      </p:sp>
      <p:cxnSp>
        <p:nvCxnSpPr>
          <p:cNvPr id="523" name="Connector 522"/>
          <p:cNvCxnSpPr/>
          <p:nvPr/>
        </p:nvCxnSpPr>
        <p:spPr>
          <a:xfrm>
            <a:off x="9875520" y="2331720"/>
            <a:ext cx="27432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9875520" y="6446520"/>
            <a:ext cx="27432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Rectangle 524"/>
          <p:cNvSpPr/>
          <p:nvPr/>
        </p:nvSpPr>
        <p:spPr>
          <a:xfrm>
            <a:off x="10149840" y="2240280"/>
            <a:ext cx="109728" cy="1399031"/>
          </a:xfrm>
          <a:prstGeom prst="rect">
            <a:avLst/>
          </a:prstGeom>
          <a:noFill/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TextBox 525"/>
          <p:cNvSpPr txBox="1"/>
          <p:nvPr/>
        </p:nvSpPr>
        <p:spPr>
          <a:xfrm>
            <a:off x="9199664" y="3276854"/>
            <a:ext cx="511263" cy="148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E1 BAND HTR</a:t>
            </a:r>
          </a:p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4 kW*</a:t>
            </a:r>
          </a:p>
        </p:txBody>
      </p:sp>
      <p:cxnSp>
        <p:nvCxnSpPr>
          <p:cNvPr id="527" name="Connector 526"/>
          <p:cNvCxnSpPr/>
          <p:nvPr/>
        </p:nvCxnSpPr>
        <p:spPr>
          <a:xfrm>
            <a:off x="10149840" y="2532888"/>
            <a:ext cx="2560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8" name="Oval 527"/>
          <p:cNvSpPr/>
          <p:nvPr/>
        </p:nvSpPr>
        <p:spPr>
          <a:xfrm>
            <a:off x="10405872" y="2377440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603</a:t>
            </a:r>
          </a:p>
        </p:txBody>
      </p:sp>
      <p:cxnSp>
        <p:nvCxnSpPr>
          <p:cNvPr id="529" name="Connector 528"/>
          <p:cNvCxnSpPr/>
          <p:nvPr/>
        </p:nvCxnSpPr>
        <p:spPr>
          <a:xfrm>
            <a:off x="10716768" y="2532888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Oval 529"/>
          <p:cNvSpPr/>
          <p:nvPr/>
        </p:nvSpPr>
        <p:spPr>
          <a:xfrm>
            <a:off x="10863072" y="2377440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603</a:t>
            </a:r>
          </a:p>
        </p:txBody>
      </p:sp>
      <p:cxnSp>
        <p:nvCxnSpPr>
          <p:cNvPr id="531" name="Connector 530"/>
          <p:cNvCxnSpPr/>
          <p:nvPr/>
        </p:nvCxnSpPr>
        <p:spPr>
          <a:xfrm>
            <a:off x="10863072" y="2532888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10259568" y="3081528"/>
            <a:ext cx="14630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Oval 532"/>
          <p:cNvSpPr/>
          <p:nvPr/>
        </p:nvSpPr>
        <p:spPr>
          <a:xfrm>
            <a:off x="10405872" y="2926080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611</a:t>
            </a:r>
          </a:p>
        </p:txBody>
      </p:sp>
      <p:cxnSp>
        <p:nvCxnSpPr>
          <p:cNvPr id="534" name="Connector 533"/>
          <p:cNvCxnSpPr/>
          <p:nvPr/>
        </p:nvCxnSpPr>
        <p:spPr>
          <a:xfrm>
            <a:off x="10716768" y="3081528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5" name="Oval 534"/>
          <p:cNvSpPr/>
          <p:nvPr/>
        </p:nvSpPr>
        <p:spPr>
          <a:xfrm>
            <a:off x="10863072" y="2926080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611</a:t>
            </a:r>
          </a:p>
        </p:txBody>
      </p:sp>
      <p:cxnSp>
        <p:nvCxnSpPr>
          <p:cNvPr id="536" name="Connector 535"/>
          <p:cNvCxnSpPr/>
          <p:nvPr/>
        </p:nvCxnSpPr>
        <p:spPr>
          <a:xfrm>
            <a:off x="10863072" y="3081528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11210544" y="3040443"/>
            <a:ext cx="98240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cxnSp>
        <p:nvCxnSpPr>
          <p:cNvPr id="538" name="Connector 537"/>
          <p:cNvCxnSpPr/>
          <p:nvPr/>
        </p:nvCxnSpPr>
        <p:spPr>
          <a:xfrm>
            <a:off x="11018520" y="3236976"/>
            <a:ext cx="0" cy="310896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H="1">
            <a:off x="10259568" y="3547872"/>
            <a:ext cx="75895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0" name="TextBox 539"/>
          <p:cNvSpPr txBox="1"/>
          <p:nvPr/>
        </p:nvSpPr>
        <p:spPr>
          <a:xfrm>
            <a:off x="10558291" y="3445954"/>
            <a:ext cx="134073" cy="758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1">
                <a:solidFill>
                  <a:srgbClr val="000000"/>
                </a:solidFill>
                <a:latin typeface="Arial"/>
              </a:rPr>
              <a:t>kW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10149840" y="3685032"/>
            <a:ext cx="109728" cy="1417319"/>
          </a:xfrm>
          <a:prstGeom prst="rect">
            <a:avLst/>
          </a:prstGeom>
          <a:noFill/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9199664" y="4319269"/>
            <a:ext cx="511263" cy="148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E2 BAND HTR</a:t>
            </a:r>
          </a:p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4 kW*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10149840" y="3977640"/>
            <a:ext cx="2560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Oval 543"/>
          <p:cNvSpPr/>
          <p:nvPr/>
        </p:nvSpPr>
        <p:spPr>
          <a:xfrm>
            <a:off x="10405872" y="38221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604</a:t>
            </a:r>
          </a:p>
        </p:txBody>
      </p:sp>
      <p:cxnSp>
        <p:nvCxnSpPr>
          <p:cNvPr id="545" name="Connector 544"/>
          <p:cNvCxnSpPr/>
          <p:nvPr/>
        </p:nvCxnSpPr>
        <p:spPr>
          <a:xfrm>
            <a:off x="10716768" y="3977640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Oval 545"/>
          <p:cNvSpPr/>
          <p:nvPr/>
        </p:nvSpPr>
        <p:spPr>
          <a:xfrm>
            <a:off x="10863072" y="38221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604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10863072" y="397764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10259568" y="4526280"/>
            <a:ext cx="14630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Oval 548"/>
          <p:cNvSpPr/>
          <p:nvPr/>
        </p:nvSpPr>
        <p:spPr>
          <a:xfrm>
            <a:off x="10405872" y="43708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612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10716768" y="4526280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Oval 550"/>
          <p:cNvSpPr/>
          <p:nvPr/>
        </p:nvSpPr>
        <p:spPr>
          <a:xfrm>
            <a:off x="10863072" y="43708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612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10863072" y="452628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11210544" y="4485195"/>
            <a:ext cx="98240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11018520" y="4681728"/>
            <a:ext cx="0" cy="32918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H="1">
            <a:off x="10259568" y="5010912"/>
            <a:ext cx="75895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10558291" y="4908994"/>
            <a:ext cx="134073" cy="758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1">
                <a:solidFill>
                  <a:srgbClr val="000000"/>
                </a:solidFill>
                <a:latin typeface="Arial"/>
              </a:rPr>
              <a:t>kW</a:t>
            </a:r>
          </a:p>
        </p:txBody>
      </p:sp>
      <p:sp>
        <p:nvSpPr>
          <p:cNvPr id="557" name="Rectangle 556"/>
          <p:cNvSpPr/>
          <p:nvPr/>
        </p:nvSpPr>
        <p:spPr>
          <a:xfrm>
            <a:off x="10149840" y="5148072"/>
            <a:ext cx="109728" cy="1417319"/>
          </a:xfrm>
          <a:prstGeom prst="rect">
            <a:avLst/>
          </a:prstGeom>
          <a:noFill/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9199664" y="5782309"/>
            <a:ext cx="511263" cy="148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E3 BAND HTR</a:t>
            </a:r>
          </a:p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4 kW*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10149840" y="5440680"/>
            <a:ext cx="2560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Oval 559"/>
          <p:cNvSpPr/>
          <p:nvPr/>
        </p:nvSpPr>
        <p:spPr>
          <a:xfrm>
            <a:off x="10405872" y="52852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605</a:t>
            </a:r>
          </a:p>
        </p:txBody>
      </p:sp>
      <p:cxnSp>
        <p:nvCxnSpPr>
          <p:cNvPr id="561" name="Connector 560"/>
          <p:cNvCxnSpPr/>
          <p:nvPr/>
        </p:nvCxnSpPr>
        <p:spPr>
          <a:xfrm>
            <a:off x="10716768" y="5440680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10863072" y="52852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605</a:t>
            </a:r>
          </a:p>
        </p:txBody>
      </p:sp>
      <p:cxnSp>
        <p:nvCxnSpPr>
          <p:cNvPr id="563" name="Connector 562"/>
          <p:cNvCxnSpPr/>
          <p:nvPr/>
        </p:nvCxnSpPr>
        <p:spPr>
          <a:xfrm>
            <a:off x="10863072" y="544068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TextBox 563"/>
          <p:cNvSpPr txBox="1"/>
          <p:nvPr/>
        </p:nvSpPr>
        <p:spPr>
          <a:xfrm>
            <a:off x="11210544" y="5399595"/>
            <a:ext cx="98240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cxnSp>
        <p:nvCxnSpPr>
          <p:cNvPr id="565" name="Connector 564"/>
          <p:cNvCxnSpPr/>
          <p:nvPr/>
        </p:nvCxnSpPr>
        <p:spPr>
          <a:xfrm>
            <a:off x="10259568" y="6199631"/>
            <a:ext cx="14630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6" name="Oval 565"/>
          <p:cNvSpPr/>
          <p:nvPr/>
        </p:nvSpPr>
        <p:spPr>
          <a:xfrm>
            <a:off x="10405872" y="6044183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613</a:t>
            </a:r>
          </a:p>
        </p:txBody>
      </p:sp>
      <p:cxnSp>
        <p:nvCxnSpPr>
          <p:cNvPr id="567" name="Connector 566"/>
          <p:cNvCxnSpPr/>
          <p:nvPr/>
        </p:nvCxnSpPr>
        <p:spPr>
          <a:xfrm>
            <a:off x="10716768" y="6199631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8" name="Oval 567"/>
          <p:cNvSpPr/>
          <p:nvPr/>
        </p:nvSpPr>
        <p:spPr>
          <a:xfrm>
            <a:off x="10863072" y="6044183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613</a:t>
            </a:r>
          </a:p>
        </p:txBody>
      </p:sp>
      <p:cxnSp>
        <p:nvCxnSpPr>
          <p:cNvPr id="569" name="Connector 568"/>
          <p:cNvCxnSpPr/>
          <p:nvPr/>
        </p:nvCxnSpPr>
        <p:spPr>
          <a:xfrm>
            <a:off x="10863072" y="6199631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TextBox 569"/>
          <p:cNvSpPr txBox="1"/>
          <p:nvPr/>
        </p:nvSpPr>
        <p:spPr>
          <a:xfrm>
            <a:off x="11210544" y="6158547"/>
            <a:ext cx="98240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cxnSp>
        <p:nvCxnSpPr>
          <p:cNvPr id="571" name="Connector 570"/>
          <p:cNvCxnSpPr/>
          <p:nvPr/>
        </p:nvCxnSpPr>
        <p:spPr>
          <a:xfrm>
            <a:off x="11018520" y="6355079"/>
            <a:ext cx="0" cy="118873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10259568" y="6473952"/>
            <a:ext cx="75895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10558291" y="6372034"/>
            <a:ext cx="134073" cy="758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1">
                <a:solidFill>
                  <a:srgbClr val="000000"/>
                </a:solidFill>
                <a:latin typeface="Arial"/>
              </a:rPr>
              <a:t>kW</a:t>
            </a:r>
          </a:p>
        </p:txBody>
      </p:sp>
      <p:cxnSp>
        <p:nvCxnSpPr>
          <p:cNvPr id="574" name="Connector 573"/>
          <p:cNvCxnSpPr/>
          <p:nvPr/>
        </p:nvCxnSpPr>
        <p:spPr>
          <a:xfrm>
            <a:off x="11018520" y="4133088"/>
            <a:ext cx="0" cy="23774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/>
          <p:cNvSpPr txBox="1"/>
          <p:nvPr/>
        </p:nvSpPr>
        <p:spPr>
          <a:xfrm>
            <a:off x="11082528" y="4223194"/>
            <a:ext cx="134073" cy="75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" b="1">
                <a:solidFill>
                  <a:srgbClr val="000000"/>
                </a:solidFill>
                <a:latin typeface="Arial"/>
              </a:rPr>
              <a:t>SP</a:t>
            </a:r>
          </a:p>
        </p:txBody>
      </p:sp>
      <p:cxnSp>
        <p:nvCxnSpPr>
          <p:cNvPr id="576" name="Connector 575"/>
          <p:cNvCxnSpPr/>
          <p:nvPr/>
        </p:nvCxnSpPr>
        <p:spPr>
          <a:xfrm>
            <a:off x="10561320" y="5596128"/>
            <a:ext cx="0" cy="23774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0561320" y="5833872"/>
            <a:ext cx="27432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Rectangle 577"/>
          <p:cNvSpPr/>
          <p:nvPr/>
        </p:nvSpPr>
        <p:spPr>
          <a:xfrm>
            <a:off x="10835640" y="5650992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10863072" y="5678424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605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0863072" y="5833872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1" name="TextBox 580"/>
          <p:cNvSpPr txBox="1"/>
          <p:nvPr/>
        </p:nvSpPr>
        <p:spPr>
          <a:xfrm>
            <a:off x="11237976" y="5792787"/>
            <a:ext cx="141617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HH</a:t>
            </a:r>
          </a:p>
        </p:txBody>
      </p:sp>
      <p:cxnSp>
        <p:nvCxnSpPr>
          <p:cNvPr id="582" name="Connector 581"/>
          <p:cNvCxnSpPr/>
          <p:nvPr/>
        </p:nvCxnSpPr>
        <p:spPr>
          <a:xfrm>
            <a:off x="10012680" y="6675120"/>
            <a:ext cx="0" cy="1417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Freeform 582"/>
          <p:cNvSpPr/>
          <p:nvPr/>
        </p:nvSpPr>
        <p:spPr>
          <a:xfrm>
            <a:off x="9948672" y="6775703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9985248" y="6848855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TextBox 584"/>
          <p:cNvSpPr txBox="1"/>
          <p:nvPr/>
        </p:nvSpPr>
        <p:spPr>
          <a:xfrm>
            <a:off x="10113263" y="6832028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BV-609 LO</a:t>
            </a:r>
          </a:p>
        </p:txBody>
      </p:sp>
      <p:sp>
        <p:nvSpPr>
          <p:cNvPr id="586" name="Oval 585"/>
          <p:cNvSpPr/>
          <p:nvPr/>
        </p:nvSpPr>
        <p:spPr>
          <a:xfrm>
            <a:off x="9982961" y="7084314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7" name="Connector 586"/>
          <p:cNvCxnSpPr/>
          <p:nvPr/>
        </p:nvCxnSpPr>
        <p:spPr>
          <a:xfrm flipH="1">
            <a:off x="9619488" y="7114032"/>
            <a:ext cx="3931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Freeform 587"/>
          <p:cNvSpPr/>
          <p:nvPr/>
        </p:nvSpPr>
        <p:spPr>
          <a:xfrm>
            <a:off x="9729216" y="7068312"/>
            <a:ext cx="146304" cy="91440"/>
          </a:xfrm>
          <a:custGeom>
            <a:avLst/>
            <a:gdLst/>
            <a:ahLst/>
            <a:cxnLst/>
            <a:rect l="l" t="t" r="r" b="b"/>
            <a:pathLst>
              <a:path w="146304" h="91440">
                <a:moveTo>
                  <a:pt x="0" y="0"/>
                </a:moveTo>
                <a:lnTo>
                  <a:pt x="146304" y="91440"/>
                </a:lnTo>
                <a:lnTo>
                  <a:pt x="146304" y="0"/>
                </a:lnTo>
                <a:lnTo>
                  <a:pt x="0" y="9144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9774936" y="7086600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>
            <a:off x="9650463" y="6955663"/>
            <a:ext cx="303809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BV-638</a:t>
            </a:r>
          </a:p>
        </p:txBody>
      </p:sp>
      <p:sp>
        <p:nvSpPr>
          <p:cNvPr id="591" name="Oval 590"/>
          <p:cNvSpPr/>
          <p:nvPr/>
        </p:nvSpPr>
        <p:spPr>
          <a:xfrm>
            <a:off x="9308592" y="6958584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PG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613</a:t>
            </a:r>
          </a:p>
        </p:txBody>
      </p:sp>
      <p:sp>
        <p:nvSpPr>
          <p:cNvPr id="592" name="Oval 591"/>
          <p:cNvSpPr/>
          <p:nvPr/>
        </p:nvSpPr>
        <p:spPr>
          <a:xfrm>
            <a:off x="9982961" y="7852409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3" name="Connector 592"/>
          <p:cNvCxnSpPr/>
          <p:nvPr/>
        </p:nvCxnSpPr>
        <p:spPr>
          <a:xfrm flipH="1">
            <a:off x="9619488" y="7882127"/>
            <a:ext cx="3931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Freeform 593"/>
          <p:cNvSpPr/>
          <p:nvPr/>
        </p:nvSpPr>
        <p:spPr>
          <a:xfrm>
            <a:off x="9729216" y="7836407"/>
            <a:ext cx="146304" cy="91441"/>
          </a:xfrm>
          <a:custGeom>
            <a:avLst/>
            <a:gdLst/>
            <a:ahLst/>
            <a:cxnLst/>
            <a:rect l="l" t="t" r="r" b="b"/>
            <a:pathLst>
              <a:path w="146304" h="91441">
                <a:moveTo>
                  <a:pt x="0" y="0"/>
                </a:moveTo>
                <a:lnTo>
                  <a:pt x="146304" y="91441"/>
                </a:lnTo>
                <a:lnTo>
                  <a:pt x="146304" y="0"/>
                </a:lnTo>
                <a:lnTo>
                  <a:pt x="0" y="9144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9774936" y="7854696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TextBox 595"/>
          <p:cNvSpPr txBox="1"/>
          <p:nvPr/>
        </p:nvSpPr>
        <p:spPr>
          <a:xfrm>
            <a:off x="9650463" y="7723758"/>
            <a:ext cx="303809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BV-639</a:t>
            </a:r>
          </a:p>
        </p:txBody>
      </p:sp>
      <p:sp>
        <p:nvSpPr>
          <p:cNvPr id="597" name="Oval 596"/>
          <p:cNvSpPr/>
          <p:nvPr/>
        </p:nvSpPr>
        <p:spPr>
          <a:xfrm>
            <a:off x="9308592" y="7726679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PG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614</a:t>
            </a:r>
          </a:p>
        </p:txBody>
      </p:sp>
      <p:sp>
        <p:nvSpPr>
          <p:cNvPr id="598" name="Rectangle 597"/>
          <p:cNvSpPr/>
          <p:nvPr/>
        </p:nvSpPr>
        <p:spPr>
          <a:xfrm>
            <a:off x="9921240" y="7269480"/>
            <a:ext cx="18288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9" name="Connector 598"/>
          <p:cNvCxnSpPr/>
          <p:nvPr/>
        </p:nvCxnSpPr>
        <p:spPr>
          <a:xfrm flipV="1">
            <a:off x="9921240" y="7269480"/>
            <a:ext cx="182880" cy="457199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0" name="TextBox 599"/>
          <p:cNvSpPr txBox="1"/>
          <p:nvPr/>
        </p:nvSpPr>
        <p:spPr>
          <a:xfrm>
            <a:off x="9537763" y="7445883"/>
            <a:ext cx="337756" cy="1043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>
                <a:solidFill>
                  <a:srgbClr val="000000"/>
                </a:solidFill>
                <a:latin typeface="Arial"/>
              </a:rPr>
              <a:t>F-601</a:t>
            </a:r>
          </a:p>
        </p:txBody>
      </p:sp>
      <p:cxnSp>
        <p:nvCxnSpPr>
          <p:cNvPr id="601" name="Connector 600"/>
          <p:cNvCxnSpPr/>
          <p:nvPr/>
        </p:nvCxnSpPr>
        <p:spPr>
          <a:xfrm>
            <a:off x="10012680" y="8092440"/>
            <a:ext cx="12344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Oval 601"/>
          <p:cNvSpPr/>
          <p:nvPr/>
        </p:nvSpPr>
        <p:spPr>
          <a:xfrm>
            <a:off x="10394442" y="80627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3" name="Connector 602"/>
          <p:cNvCxnSpPr/>
          <p:nvPr/>
        </p:nvCxnSpPr>
        <p:spPr>
          <a:xfrm flipV="1">
            <a:off x="10424160" y="7360920"/>
            <a:ext cx="0" cy="73152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4" name="Freeform 603"/>
          <p:cNvSpPr/>
          <p:nvPr/>
        </p:nvSpPr>
        <p:spPr>
          <a:xfrm>
            <a:off x="10360152" y="7781544"/>
            <a:ext cx="128016" cy="201167"/>
          </a:xfrm>
          <a:custGeom>
            <a:avLst/>
            <a:gdLst/>
            <a:ahLst/>
            <a:cxnLst/>
            <a:rect l="l" t="t" r="r" b="b"/>
            <a:pathLst>
              <a:path w="128016" h="201167">
                <a:moveTo>
                  <a:pt x="0" y="0"/>
                </a:moveTo>
                <a:lnTo>
                  <a:pt x="128016" y="201167"/>
                </a:lnTo>
                <a:lnTo>
                  <a:pt x="0" y="201167"/>
                </a:lnTo>
                <a:lnTo>
                  <a:pt x="128016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10524744" y="7837868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BV-610 NC</a:t>
            </a:r>
          </a:p>
        </p:txBody>
      </p:sp>
      <p:sp>
        <p:nvSpPr>
          <p:cNvPr id="606" name="Freeform 605"/>
          <p:cNvSpPr/>
          <p:nvPr/>
        </p:nvSpPr>
        <p:spPr>
          <a:xfrm>
            <a:off x="10360152" y="7507224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7" name="Connector 606"/>
          <p:cNvCxnSpPr/>
          <p:nvPr/>
        </p:nvCxnSpPr>
        <p:spPr>
          <a:xfrm>
            <a:off x="10488168" y="7607808"/>
            <a:ext cx="731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10561320" y="7562088"/>
            <a:ext cx="0" cy="914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9" name="TextBox 608"/>
          <p:cNvSpPr txBox="1"/>
          <p:nvPr/>
        </p:nvSpPr>
        <p:spPr>
          <a:xfrm>
            <a:off x="10607040" y="7563548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NV-610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10168528" y="7229983"/>
            <a:ext cx="511263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FLUSHING PT</a:t>
            </a:r>
          </a:p>
        </p:txBody>
      </p:sp>
      <p:sp>
        <p:nvSpPr>
          <p:cNvPr id="611" name="Freeform 610"/>
          <p:cNvSpPr/>
          <p:nvPr/>
        </p:nvSpPr>
        <p:spPr>
          <a:xfrm>
            <a:off x="10981944" y="8028431"/>
            <a:ext cx="201167" cy="128017"/>
          </a:xfrm>
          <a:custGeom>
            <a:avLst/>
            <a:gdLst/>
            <a:ahLst/>
            <a:cxnLst/>
            <a:rect l="l" t="t" r="r" b="b"/>
            <a:pathLst>
              <a:path w="201167" h="128017">
                <a:moveTo>
                  <a:pt x="0" y="0"/>
                </a:moveTo>
                <a:lnTo>
                  <a:pt x="201167" y="128017"/>
                </a:lnTo>
                <a:lnTo>
                  <a:pt x="201167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11055096" y="806500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10842926" y="7892732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BV-613 LO</a:t>
            </a:r>
          </a:p>
        </p:txBody>
      </p:sp>
      <p:cxnSp>
        <p:nvCxnSpPr>
          <p:cNvPr id="614" name="Connector 613"/>
          <p:cNvCxnSpPr/>
          <p:nvPr/>
        </p:nvCxnSpPr>
        <p:spPr>
          <a:xfrm>
            <a:off x="11247120" y="8092440"/>
            <a:ext cx="0" cy="301752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5" name="TextBox 614"/>
          <p:cNvSpPr txBox="1"/>
          <p:nvPr/>
        </p:nvSpPr>
        <p:spPr>
          <a:xfrm>
            <a:off x="10498226" y="8435403"/>
            <a:ext cx="74889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1">
                <a:solidFill>
                  <a:srgbClr val="000000"/>
                </a:solidFill>
                <a:latin typeface="Arial"/>
              </a:rPr>
              <a:t>TO E-602 · SHT 2</a:t>
            </a:r>
          </a:p>
        </p:txBody>
      </p:sp>
      <p:sp>
        <p:nvSpPr>
          <p:cNvPr id="616" name="TextBox 615"/>
          <p:cNvSpPr txBox="1"/>
          <p:nvPr/>
        </p:nvSpPr>
        <p:spPr>
          <a:xfrm>
            <a:off x="10104120" y="8188515"/>
            <a:ext cx="629015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1/2"-PM-603-IH</a:t>
            </a:r>
          </a:p>
        </p:txBody>
      </p:sp>
      <p:sp>
        <p:nvSpPr>
          <p:cNvPr id="617" name="Rectangle 616"/>
          <p:cNvSpPr/>
          <p:nvPr/>
        </p:nvSpPr>
        <p:spPr>
          <a:xfrm>
            <a:off x="11475720" y="502920"/>
            <a:ext cx="3246120" cy="7955279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12873323" y="570801"/>
            <a:ext cx="450913" cy="120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619" name="Connector 618"/>
          <p:cNvCxnSpPr/>
          <p:nvPr/>
        </p:nvCxnSpPr>
        <p:spPr>
          <a:xfrm>
            <a:off x="11475720" y="758952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1612880" y="960120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TextBox 620"/>
          <p:cNvSpPr txBox="1"/>
          <p:nvPr/>
        </p:nvSpPr>
        <p:spPr>
          <a:xfrm>
            <a:off x="12344400" y="915860"/>
            <a:ext cx="1927098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PROCESS LINE (1/2" OD TUBING UNLESS NOTED)</a:t>
            </a:r>
          </a:p>
        </p:txBody>
      </p:sp>
      <p:cxnSp>
        <p:nvCxnSpPr>
          <p:cNvPr id="622" name="Connector 621"/>
          <p:cNvCxnSpPr/>
          <p:nvPr/>
        </p:nvCxnSpPr>
        <p:spPr>
          <a:xfrm>
            <a:off x="11612880" y="1234440"/>
            <a:ext cx="5486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3" name="TextBox 622"/>
          <p:cNvSpPr txBox="1"/>
          <p:nvPr/>
        </p:nvSpPr>
        <p:spPr>
          <a:xfrm>
            <a:off x="12344400" y="1190180"/>
            <a:ext cx="1525905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UTILITY / RELIEF / SECONDARY LINE</a:t>
            </a:r>
          </a:p>
        </p:txBody>
      </p:sp>
      <p:cxnSp>
        <p:nvCxnSpPr>
          <p:cNvPr id="624" name="Connector 623"/>
          <p:cNvCxnSpPr/>
          <p:nvPr/>
        </p:nvCxnSpPr>
        <p:spPr>
          <a:xfrm>
            <a:off x="11612880" y="1508760"/>
            <a:ext cx="54864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12344400" y="1464500"/>
            <a:ext cx="1258443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ELECTRIC SIGNAL (DCS / SIS)</a:t>
            </a:r>
          </a:p>
        </p:txBody>
      </p:sp>
      <p:sp>
        <p:nvSpPr>
          <p:cNvPr id="626" name="Freeform 625"/>
          <p:cNvSpPr/>
          <p:nvPr/>
        </p:nvSpPr>
        <p:spPr>
          <a:xfrm>
            <a:off x="11786616" y="171907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11859768" y="175564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12344400" y="1738820"/>
            <a:ext cx="1793367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BALL VALVE, OPEN (BV); LO = LOCKED OPEN</a:t>
            </a:r>
          </a:p>
        </p:txBody>
      </p:sp>
      <p:sp>
        <p:nvSpPr>
          <p:cNvPr id="629" name="Freeform 628"/>
          <p:cNvSpPr/>
          <p:nvPr/>
        </p:nvSpPr>
        <p:spPr>
          <a:xfrm>
            <a:off x="11786616" y="199339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12344400" y="2013140"/>
            <a:ext cx="1481328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BALL VALVE, NORMALLY CLOSED (NC)</a:t>
            </a:r>
          </a:p>
        </p:txBody>
      </p:sp>
      <p:sp>
        <p:nvSpPr>
          <p:cNvPr id="631" name="Freeform 630"/>
          <p:cNvSpPr/>
          <p:nvPr/>
        </p:nvSpPr>
        <p:spPr>
          <a:xfrm>
            <a:off x="11786616" y="2267712"/>
            <a:ext cx="201168" cy="128015"/>
          </a:xfrm>
          <a:custGeom>
            <a:avLst/>
            <a:gdLst/>
            <a:ahLst/>
            <a:cxnLst/>
            <a:rect l="l" t="t" r="r" b="b"/>
            <a:pathLst>
              <a:path w="201168" h="128015">
                <a:moveTo>
                  <a:pt x="0" y="0"/>
                </a:moveTo>
                <a:lnTo>
                  <a:pt x="201168" y="128015"/>
                </a:lnTo>
                <a:lnTo>
                  <a:pt x="201168" y="0"/>
                </a:lnTo>
                <a:lnTo>
                  <a:pt x="0" y="128015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2" name="Connector 631"/>
          <p:cNvCxnSpPr/>
          <p:nvPr/>
        </p:nvCxnSpPr>
        <p:spPr>
          <a:xfrm flipV="1">
            <a:off x="11887200" y="2194560"/>
            <a:ext cx="0" cy="73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11841480" y="2194560"/>
            <a:ext cx="914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" name="TextBox 633"/>
          <p:cNvSpPr txBox="1"/>
          <p:nvPr/>
        </p:nvSpPr>
        <p:spPr>
          <a:xfrm>
            <a:off x="12344400" y="2287460"/>
            <a:ext cx="812673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NEEDLE VALVE (NV)</a:t>
            </a:r>
          </a:p>
        </p:txBody>
      </p:sp>
      <p:sp>
        <p:nvSpPr>
          <p:cNvPr id="635" name="Freeform 634"/>
          <p:cNvSpPr/>
          <p:nvPr/>
        </p:nvSpPr>
        <p:spPr>
          <a:xfrm>
            <a:off x="11786616" y="2542032"/>
            <a:ext cx="201168" cy="128015"/>
          </a:xfrm>
          <a:custGeom>
            <a:avLst/>
            <a:gdLst/>
            <a:ahLst/>
            <a:cxnLst/>
            <a:rect l="l" t="t" r="r" b="b"/>
            <a:pathLst>
              <a:path w="201168" h="128015">
                <a:moveTo>
                  <a:pt x="0" y="0"/>
                </a:moveTo>
                <a:lnTo>
                  <a:pt x="201168" y="128015"/>
                </a:lnTo>
                <a:lnTo>
                  <a:pt x="201168" y="0"/>
                </a:lnTo>
                <a:lnTo>
                  <a:pt x="0" y="128015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11864340" y="25831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12344400" y="2561780"/>
            <a:ext cx="112471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GLOBE VALVE, MANUAL (GV)</a:t>
            </a:r>
          </a:p>
        </p:txBody>
      </p:sp>
      <p:sp>
        <p:nvSpPr>
          <p:cNvPr id="638" name="Freeform 637"/>
          <p:cNvSpPr/>
          <p:nvPr/>
        </p:nvSpPr>
        <p:spPr>
          <a:xfrm>
            <a:off x="11795760" y="2816351"/>
            <a:ext cx="141732" cy="128016"/>
          </a:xfrm>
          <a:custGeom>
            <a:avLst/>
            <a:gdLst/>
            <a:ahLst/>
            <a:cxnLst/>
            <a:rect l="l" t="t" r="r" b="b"/>
            <a:pathLst>
              <a:path w="141732" h="128016">
                <a:moveTo>
                  <a:pt x="0" y="0"/>
                </a:moveTo>
                <a:lnTo>
                  <a:pt x="141732" y="64008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>
            <a:off x="11937492" y="2816351"/>
            <a:ext cx="0" cy="12801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0" name="TextBox 639"/>
          <p:cNvSpPr txBox="1"/>
          <p:nvPr/>
        </p:nvSpPr>
        <p:spPr>
          <a:xfrm>
            <a:off x="12344400" y="2836100"/>
            <a:ext cx="112471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CHECK VALVE (CK), FLOW →</a:t>
            </a:r>
          </a:p>
        </p:txBody>
      </p:sp>
      <p:sp>
        <p:nvSpPr>
          <p:cNvPr id="641" name="Freeform 640"/>
          <p:cNvSpPr/>
          <p:nvPr/>
        </p:nvSpPr>
        <p:spPr>
          <a:xfrm>
            <a:off x="11786616" y="3163823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2" name="Connector 641"/>
          <p:cNvCxnSpPr/>
          <p:nvPr/>
        </p:nvCxnSpPr>
        <p:spPr>
          <a:xfrm flipV="1">
            <a:off x="11887200" y="3044951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Rectangle 642"/>
          <p:cNvSpPr/>
          <p:nvPr/>
        </p:nvSpPr>
        <p:spPr>
          <a:xfrm>
            <a:off x="11818620" y="2935223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TextBox 643"/>
          <p:cNvSpPr txBox="1"/>
          <p:nvPr/>
        </p:nvSpPr>
        <p:spPr>
          <a:xfrm>
            <a:off x="12252960" y="3183572"/>
            <a:ext cx="10201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12344400" y="3110420"/>
            <a:ext cx="1704213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ON/OFF VALVE + SOLENOID (XV), FC / FO</a:t>
            </a:r>
          </a:p>
        </p:txBody>
      </p:sp>
      <p:sp>
        <p:nvSpPr>
          <p:cNvPr id="646" name="Freeform 645"/>
          <p:cNvSpPr/>
          <p:nvPr/>
        </p:nvSpPr>
        <p:spPr>
          <a:xfrm>
            <a:off x="11786616" y="3438143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7" name="Connector 646"/>
          <p:cNvCxnSpPr/>
          <p:nvPr/>
        </p:nvCxnSpPr>
        <p:spPr>
          <a:xfrm flipV="1">
            <a:off x="11887200" y="3319271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Freeform 647"/>
          <p:cNvSpPr/>
          <p:nvPr/>
        </p:nvSpPr>
        <p:spPr>
          <a:xfrm>
            <a:off x="11795760" y="3227831"/>
            <a:ext cx="182880" cy="91440"/>
          </a:xfrm>
          <a:custGeom>
            <a:avLst/>
            <a:gdLst/>
            <a:ahLst/>
            <a:cxnLst/>
            <a:rect l="l" t="t" r="r" b="b"/>
            <a:pathLst>
              <a:path w="182880" h="91440">
                <a:moveTo>
                  <a:pt x="0" y="91440"/>
                </a:moveTo>
                <a:lnTo>
                  <a:pt x="0" y="91440"/>
                </a:lnTo>
                <a:lnTo>
                  <a:pt x="12250" y="45720"/>
                </a:lnTo>
                <a:lnTo>
                  <a:pt x="45720" y="12251"/>
                </a:lnTo>
                <a:lnTo>
                  <a:pt x="91440" y="0"/>
                </a:lnTo>
                <a:lnTo>
                  <a:pt x="137160" y="12251"/>
                </a:lnTo>
                <a:lnTo>
                  <a:pt x="170629" y="45720"/>
                </a:lnTo>
                <a:lnTo>
                  <a:pt x="182880" y="9144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12252960" y="3457892"/>
            <a:ext cx="10201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12344400" y="3384740"/>
            <a:ext cx="165963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CONTROL VALVE, DIAPHRAGM (FV IN MFC)</a:t>
            </a:r>
          </a:p>
        </p:txBody>
      </p:sp>
      <p:sp>
        <p:nvSpPr>
          <p:cNvPr id="651" name="Freeform 650"/>
          <p:cNvSpPr/>
          <p:nvPr/>
        </p:nvSpPr>
        <p:spPr>
          <a:xfrm>
            <a:off x="11786616" y="3730751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2" name="Connector 651"/>
          <p:cNvCxnSpPr/>
          <p:nvPr/>
        </p:nvCxnSpPr>
        <p:spPr>
          <a:xfrm flipV="1">
            <a:off x="11887200" y="3611879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Oval 652"/>
          <p:cNvSpPr/>
          <p:nvPr/>
        </p:nvSpPr>
        <p:spPr>
          <a:xfrm>
            <a:off x="11804904" y="3447287"/>
            <a:ext cx="164592" cy="1645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4" name="Connector 653"/>
          <p:cNvCxnSpPr/>
          <p:nvPr/>
        </p:nvCxnSpPr>
        <p:spPr>
          <a:xfrm>
            <a:off x="11969496" y="3529583"/>
            <a:ext cx="64008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12252960" y="3750500"/>
            <a:ext cx="54864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56" name="TextBox 655"/>
          <p:cNvSpPr txBox="1"/>
          <p:nvPr/>
        </p:nvSpPr>
        <p:spPr>
          <a:xfrm>
            <a:off x="12344400" y="3659060"/>
            <a:ext cx="165963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SELF-ACTING REGULATOR PR / BPV (SET)</a:t>
            </a:r>
          </a:p>
        </p:txBody>
      </p:sp>
      <p:sp>
        <p:nvSpPr>
          <p:cNvPr id="657" name="Freeform 656"/>
          <p:cNvSpPr/>
          <p:nvPr/>
        </p:nvSpPr>
        <p:spPr>
          <a:xfrm>
            <a:off x="11818620" y="3995927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0" y="137160"/>
                </a:moveTo>
                <a:lnTo>
                  <a:pt x="137160" y="137160"/>
                </a:lnTo>
                <a:lnTo>
                  <a:pt x="6858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11887200" y="3927347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137160" y="0"/>
                </a:moveTo>
                <a:lnTo>
                  <a:pt x="13716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11841480" y="3776471"/>
            <a:ext cx="91440" cy="219456"/>
          </a:xfrm>
          <a:custGeom>
            <a:avLst/>
            <a:gdLst/>
            <a:ahLst/>
            <a:cxnLst/>
            <a:rect l="l" t="t" r="r" b="b"/>
            <a:pathLst>
              <a:path w="91440" h="219456">
                <a:moveTo>
                  <a:pt x="45720" y="219456"/>
                </a:moveTo>
                <a:lnTo>
                  <a:pt x="91440" y="160020"/>
                </a:lnTo>
                <a:lnTo>
                  <a:pt x="0" y="128016"/>
                </a:lnTo>
                <a:lnTo>
                  <a:pt x="91440" y="96012"/>
                </a:lnTo>
                <a:lnTo>
                  <a:pt x="0" y="64008"/>
                </a:lnTo>
                <a:lnTo>
                  <a:pt x="91440" y="32004"/>
                </a:lnTo>
                <a:lnTo>
                  <a:pt x="45720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TextBox 659"/>
          <p:cNvSpPr txBox="1"/>
          <p:nvPr/>
        </p:nvSpPr>
        <p:spPr>
          <a:xfrm>
            <a:off x="12344400" y="3933380"/>
            <a:ext cx="1303020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RELIEF VALVE (PSV), SET barg</a:t>
            </a:r>
          </a:p>
        </p:txBody>
      </p:sp>
      <p:sp>
        <p:nvSpPr>
          <p:cNvPr id="661" name="Rectangle 660"/>
          <p:cNvSpPr/>
          <p:nvPr/>
        </p:nvSpPr>
        <p:spPr>
          <a:xfrm>
            <a:off x="11804904" y="4187951"/>
            <a:ext cx="164592" cy="12801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FE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12344400" y="4207700"/>
            <a:ext cx="812673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FLOW ELEMENT (FE)</a:t>
            </a:r>
          </a:p>
        </p:txBody>
      </p:sp>
      <p:sp>
        <p:nvSpPr>
          <p:cNvPr id="663" name="Rectangle 662"/>
          <p:cNvSpPr/>
          <p:nvPr/>
        </p:nvSpPr>
        <p:spPr>
          <a:xfrm>
            <a:off x="11658600" y="4434839"/>
            <a:ext cx="457200" cy="182880"/>
          </a:xfrm>
          <a:prstGeom prst="rect">
            <a:avLst/>
          </a:prstGeom>
          <a:noFill/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TextBox 663"/>
          <p:cNvSpPr txBox="1"/>
          <p:nvPr/>
        </p:nvSpPr>
        <p:spPr>
          <a:xfrm>
            <a:off x="12344400" y="4482020"/>
            <a:ext cx="157048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PACKAGE BOUNDARY (MFC, VENDOR PKG)</a:t>
            </a:r>
          </a:p>
        </p:txBody>
      </p:sp>
      <p:sp>
        <p:nvSpPr>
          <p:cNvPr id="665" name="Oval 664"/>
          <p:cNvSpPr/>
          <p:nvPr/>
        </p:nvSpPr>
        <p:spPr>
          <a:xfrm>
            <a:off x="11731752" y="4718303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XT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nnn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12344400" y="4829492"/>
            <a:ext cx="1704213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FIELD INSTRUMENT (TRANSMITTER, GAUGE)</a:t>
            </a:r>
          </a:p>
        </p:txBody>
      </p:sp>
      <p:sp>
        <p:nvSpPr>
          <p:cNvPr id="667" name="Oval 666"/>
          <p:cNvSpPr/>
          <p:nvPr/>
        </p:nvSpPr>
        <p:spPr>
          <a:xfrm>
            <a:off x="11731752" y="5102351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XIC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nnn</a:t>
            </a:r>
          </a:p>
        </p:txBody>
      </p:sp>
      <p:cxnSp>
        <p:nvCxnSpPr>
          <p:cNvPr id="668" name="Connector 667"/>
          <p:cNvCxnSpPr/>
          <p:nvPr/>
        </p:nvCxnSpPr>
        <p:spPr>
          <a:xfrm>
            <a:off x="11731752" y="5257799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9" name="TextBox 668"/>
          <p:cNvSpPr txBox="1"/>
          <p:nvPr/>
        </p:nvSpPr>
        <p:spPr>
          <a:xfrm>
            <a:off x="12344400" y="5213540"/>
            <a:ext cx="1748790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DCS / HMI FUNCTION ON THE PLC (NOTE 5)</a:t>
            </a:r>
          </a:p>
        </p:txBody>
      </p:sp>
      <p:sp>
        <p:nvSpPr>
          <p:cNvPr id="670" name="Rectangle 669"/>
          <p:cNvSpPr/>
          <p:nvPr/>
        </p:nvSpPr>
        <p:spPr>
          <a:xfrm>
            <a:off x="11704320" y="5458967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11731752" y="5486399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XZ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nnn</a:t>
            </a:r>
          </a:p>
        </p:txBody>
      </p:sp>
      <p:cxnSp>
        <p:nvCxnSpPr>
          <p:cNvPr id="672" name="Connector 671"/>
          <p:cNvCxnSpPr/>
          <p:nvPr/>
        </p:nvCxnSpPr>
        <p:spPr>
          <a:xfrm>
            <a:off x="11731752" y="5641847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3" name="TextBox 672"/>
          <p:cNvSpPr txBox="1"/>
          <p:nvPr/>
        </p:nvSpPr>
        <p:spPr>
          <a:xfrm>
            <a:off x="12344400" y="5597588"/>
            <a:ext cx="1704213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SIS TRIP FUNCTION ON THE PLC (NOTE 5)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11794702" y="5929947"/>
            <a:ext cx="184994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 L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12344400" y="5926772"/>
            <a:ext cx="165963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ALARM (H, L) / TRIP (HH, LL) LETTERS</a:t>
            </a:r>
          </a:p>
        </p:txBody>
      </p:sp>
      <p:cxnSp>
        <p:nvCxnSpPr>
          <p:cNvPr id="676" name="Connector 675"/>
          <p:cNvCxnSpPr/>
          <p:nvPr/>
        </p:nvCxnSpPr>
        <p:spPr>
          <a:xfrm>
            <a:off x="11658600" y="6245351"/>
            <a:ext cx="27432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TextBox 676"/>
          <p:cNvSpPr txBox="1"/>
          <p:nvPr/>
        </p:nvSpPr>
        <p:spPr>
          <a:xfrm>
            <a:off x="12344400" y="6201092"/>
            <a:ext cx="1392174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CONTINUATION / OFF-SHEET ARROW</a:t>
            </a:r>
          </a:p>
        </p:txBody>
      </p:sp>
      <p:cxnSp>
        <p:nvCxnSpPr>
          <p:cNvPr id="678" name="Connector 677"/>
          <p:cNvCxnSpPr/>
          <p:nvPr/>
        </p:nvCxnSpPr>
        <p:spPr>
          <a:xfrm>
            <a:off x="11475720" y="6537959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9" name="TextBox 678"/>
          <p:cNvSpPr txBox="1"/>
          <p:nvPr/>
        </p:nvSpPr>
        <p:spPr>
          <a:xfrm>
            <a:off x="11567160" y="6635241"/>
            <a:ext cx="741349" cy="98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>ABBREVIATIONS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11567160" y="6778751"/>
            <a:ext cx="2194560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CV  COLD VENT (SHT 2)     DR  DRAIN     SHT  SHEET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11567160" y="6915911"/>
            <a:ext cx="2151766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 / FO  FAIL CLOSED / FAIL OPEN (ON LOSS OF AIR)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11567160" y="7053071"/>
            <a:ext cx="2322941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LO / NO / NC  LOCKED OPEN / NORM. OPEN / NORM. CLOSED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11567160" y="7190231"/>
            <a:ext cx="2194560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IH  INSULATED (HOT)     *  OTS ASSUMPTION (NOTE 6)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11567160" y="7327391"/>
            <a:ext cx="2066178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TBC  TO BE CONFIRMED     HOLD  OPEN DESIGN ITEM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11567160" y="7522209"/>
            <a:ext cx="2167128" cy="98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>LINE NUMBER: SIZE - SERVICE - NO. (- IH)</a:t>
            </a:r>
          </a:p>
        </p:txBody>
      </p:sp>
      <p:sp>
        <p:nvSpPr>
          <p:cNvPr id="686" name="TextBox 685"/>
          <p:cNvSpPr txBox="1"/>
          <p:nvPr/>
        </p:nvSpPr>
        <p:spPr>
          <a:xfrm>
            <a:off x="11567160" y="7665720"/>
            <a:ext cx="2322941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HG  HYDROGEN       CD  CARBON DIOXIDE    NG  NITROGEN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11567160" y="7802880"/>
            <a:ext cx="2536911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PL  PROCESS LIQUID   PM  PROCESS MIXED     PG  PROCESS GAS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11567160" y="7940040"/>
            <a:ext cx="2451323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VG  VENT GAS        CHS / CHR  CHILLED WATER SUP. / RET.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11567160" y="8077200"/>
            <a:ext cx="2108972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IA  INSTRUMENT AIR   SIZES PRELIMINARY (NOTE 11)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502920" y="8656066"/>
            <a:ext cx="318897" cy="98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502920" y="8778608"/>
            <a:ext cx="4155948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1. RE-DRAWN FOR TEACHING FROM P&amp;ID 2407-PE-PID-001 A6 (SHT 1-2) WITH INL 2407-IN-INL-001 R4,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502920" y="8868956"/>
            <a:ext cx="4467987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C&amp;E 2407-IN-CE-001 A2, RLB 2407-PE-RLB-001 A3 AND EQL 2407-ME-EQL-001 A1. NOT FOR CONSTRUCTION.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502920" y="8959303"/>
            <a:ext cx="4066794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2. DESIGN CASE = OTS REFERENCE RUN CASE 3, LHSV 0.30 h⁻¹: H₂ 32.7 NL/min, CO₂ 6.54 NL/min,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502920" y="9049651"/>
            <a:ext cx="4155948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ETHANOL 68.2 mL/min (H₂:CO₂:EtOH = 5:1:4 MOLAR), N₂ 0; PT-601 30.18 / PT-608 30.09 barg.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502920" y="9139999"/>
            <a:ext cx="4155948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3. AT DESIGN: E-601 ELEMENT 150.0 °C, OUTLET TT-602 127.0 °C (TWO-PHASE); BED TT-603/604/605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502920" y="9230347"/>
            <a:ext cx="4601718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130.2 / 148.3 / 151.4 °C; WALLS 180 / 162 / 152 °C*. HEATERS 2.37 / 2.04 / 1.72 kW, E-601 0.58 kW.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502920" y="9320695"/>
            <a:ext cx="43342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4. BALANCE CHECKED BEFORE DRAWING: IN 69.59 g/min (H₂ 2.94 + CO₂ 12.84 + EtOH 53.81) = OUT 69.59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502920" y="9411042"/>
            <a:ext cx="335356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(VENT 14.17 + LIQUID 55.42); C, H, O ELEMENT BALANCES CLOSE TO 0.00 %.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502920" y="9501390"/>
            <a:ext cx="3977640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5. THE DOCUMENTS SHOW ONE PLC FOR CONTROL, ALARMS AND TRIPS (INL I/O "SOFT"). EACH FIELD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502920" y="9591738"/>
            <a:ext cx="42451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TRANSMITTER IS DRAWN ONCE; ITS DCS AND SIS FUNCTIONS ARE SEPARATE SYMBOLS ON THE SAME PLC.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502920" y="9682086"/>
            <a:ext cx="2863215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HOLD: INDEPENDENT SIS LOGIC SOLVER / SENSORS PER IEC 61511.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4709160" y="8656066"/>
            <a:ext cx="54864" cy="98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4709160" y="8778608"/>
            <a:ext cx="4111371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6. * BAND-HEATER ZONES E1/E2/E3, TT/TIC-611/612/613, 4 kW PER ZONE AND THE BAND-HEATER TRIP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4709160" y="8868956"/>
            <a:ext cx="4378833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ARE OTS ASSUMPTIONS, NOT IN THE DOCUMENTS. TIC-604 CASCADE ON TIC-612 SP (NORMALLY MAN): OTS.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4709160" y="8959303"/>
            <a:ext cx="3933063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7. XV-101/201/301/401 AND THE MFC VALVES ARE DRIVEN BY THE SIS (PLC); WIRING NOT SHOWN.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4709160" y="9049651"/>
            <a:ext cx="246202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INTERLOCK SCHEDULE AND COMMON TRIP ACTIONS: SHT 2.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4709160" y="9139999"/>
            <a:ext cx="3843909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8. PRESSURE INSTRUMENTS C/W ROOT VALVE (SHOWN) AND TEST CONNECTION (TYP., NOT SHOWN).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4709160" y="9230347"/>
            <a:ext cx="43342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REGULATORS PR-101/102/201/202/203/401/402/404 C/W INLET + OUTLET PG (PG-101…414, NOT SHOWN).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4709160" y="9320695"/>
            <a:ext cx="4066794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9. E-601 → R-601 → E-602 LINES INSULATED (IH). R-601 TUBE UNDER BAND HEATERS + INSULATION.</a:t>
            </a:r>
          </a:p>
        </p:txBody>
      </p:sp>
      <p:sp>
        <p:nvSpPr>
          <p:cNvPr id="710" name="TextBox 709"/>
          <p:cNvSpPr txBox="1"/>
          <p:nvPr/>
        </p:nvSpPr>
        <p:spPr>
          <a:xfrm>
            <a:off x="4709160" y="9411042"/>
            <a:ext cx="3710178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10. FT-601 IS IN THE INL AND THE OTS, NOT ON P&amp;ID A6. TT-102 (INL) NOT SHOWN: TBC.</a:t>
            </a:r>
          </a:p>
        </p:txBody>
      </p:sp>
      <p:sp>
        <p:nvSpPr>
          <p:cNvPr id="711" name="TextBox 710"/>
          <p:cNvSpPr txBox="1"/>
          <p:nvPr/>
        </p:nvSpPr>
        <p:spPr>
          <a:xfrm>
            <a:off x="4709160" y="9501390"/>
            <a:ext cx="4200525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11. LINE SIZES PRELIMINARY: 1/2" OD TUBING FOR PROCESS (MIXED GAS 0.45 m/s, ETHANOL 0.016 m/s</a:t>
            </a:r>
          </a:p>
        </p:txBody>
      </p:sp>
      <p:sp>
        <p:nvSpPr>
          <p:cNvPr id="712" name="TextBox 711"/>
          <p:cNvSpPr txBox="1"/>
          <p:nvPr/>
        </p:nvSpPr>
        <p:spPr>
          <a:xfrm>
            <a:off x="4709160" y="9591738"/>
            <a:ext cx="4289679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AT DESIGN); CHILLED WATER 1" (2.0 m/s); COLD-VENT HEADER HOLD (PSV-601 FIRE CASE 400 kg/h).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4709160" y="9682086"/>
            <a:ext cx="4155948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12. VALVE NUMBERS PER INL R4; N₂ TRAIN NUMBERS PER P&amp;ID A6. NEW: BV-408 (PT-403 ROOT VALVE).</a:t>
            </a:r>
          </a:p>
        </p:txBody>
      </p:sp>
      <p:sp>
        <p:nvSpPr>
          <p:cNvPr id="714" name="TextBox 713"/>
          <p:cNvSpPr txBox="1"/>
          <p:nvPr/>
        </p:nvSpPr>
        <p:spPr>
          <a:xfrm>
            <a:off x="9326880" y="8656066"/>
            <a:ext cx="54864" cy="98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15" name="TextBox 714"/>
          <p:cNvSpPr txBox="1"/>
          <p:nvPr/>
        </p:nvSpPr>
        <p:spPr>
          <a:xfrm>
            <a:off x="9326880" y="8778608"/>
            <a:ext cx="157048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13. FT-601 LOCATION TBC (NOTE 10).</a:t>
            </a:r>
          </a:p>
        </p:txBody>
      </p:sp>
      <p:sp>
        <p:nvSpPr>
          <p:cNvPr id="716" name="TextBox 715"/>
          <p:cNvSpPr txBox="1"/>
          <p:nvPr/>
        </p:nvSpPr>
        <p:spPr>
          <a:xfrm>
            <a:off x="9326880" y="8868956"/>
            <a:ext cx="2684907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14. PSV OUTLETS: NO OUTLET ISOLATION IN THE DOCUMENTS (FREE</a:t>
            </a:r>
          </a:p>
        </p:txBody>
      </p:sp>
      <p:sp>
        <p:nvSpPr>
          <p:cNvPr id="717" name="TextBox 716"/>
          <p:cNvSpPr txBox="1"/>
          <p:nvPr/>
        </p:nvSpPr>
        <p:spPr>
          <a:xfrm>
            <a:off x="9326880" y="8959303"/>
            <a:ext cx="2328291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TO CV). HOLD IF PSVs ARE TO BE REMOVED ON LINE.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9326880" y="9049651"/>
            <a:ext cx="2640330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15. PSV-302 SET 36 barg (RLB A3) IS BELOW THE NORMAL P-301</a:t>
            </a:r>
          </a:p>
        </p:txBody>
      </p:sp>
      <p:sp>
        <p:nvSpPr>
          <p:cNvPr id="719" name="TextBox 718"/>
          <p:cNvSpPr txBox="1"/>
          <p:nvPr/>
        </p:nvSpPr>
        <p:spPr>
          <a:xfrm>
            <a:off x="9326880" y="9139999"/>
            <a:ext cx="2417445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DISCHARGE PT-301 55.7 barg AND PAHH-301 62: HOLD.</a:t>
            </a:r>
          </a:p>
        </p:txBody>
      </p:sp>
      <p:sp>
        <p:nvSpPr>
          <p:cNvPr id="720" name="TextBox 719"/>
          <p:cNvSpPr txBox="1"/>
          <p:nvPr/>
        </p:nvSpPr>
        <p:spPr>
          <a:xfrm>
            <a:off x="9326880" y="9230347"/>
            <a:ext cx="2818638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16. PAL-203/103 AT 27 barg ARE BELOW THE 30 barg PROCESS: TBC.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9326880" y="9320695"/>
            <a:ext cx="2684907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17. PSV BYPASSES (BV NC + NV) TO BE CAR-SEALED CLOSED: TBC.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9326880" y="9411042"/>
            <a:ext cx="2729484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18. N₂ LP BLANKET 1.5 barg vs T-301 PSV-301 SET 2 barg: TBC.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9326880" y="9501390"/>
            <a:ext cx="246202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19. CK-301 / CK-302 DISSIMILAR TYPES (P&amp;ID A6 NOTE 1).</a:t>
            </a:r>
          </a:p>
        </p:txBody>
      </p:sp>
      <p:cxnSp>
        <p:nvCxnSpPr>
          <p:cNvPr id="724" name="Connector 723"/>
          <p:cNvCxnSpPr/>
          <p:nvPr/>
        </p:nvCxnSpPr>
        <p:spPr>
          <a:xfrm>
            <a:off x="320040" y="8595360"/>
            <a:ext cx="112928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11750040" y="8814815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11750040" y="8988552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TextBox 732"/>
          <p:cNvSpPr txBox="1"/>
          <p:nvPr/>
        </p:nvSpPr>
        <p:spPr>
          <a:xfrm>
            <a:off x="11750040" y="8641080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734" name="TextBox 733"/>
          <p:cNvSpPr txBox="1"/>
          <p:nvPr/>
        </p:nvSpPr>
        <p:spPr>
          <a:xfrm>
            <a:off x="12070080" y="8641080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735" name="TextBox 734"/>
          <p:cNvSpPr txBox="1"/>
          <p:nvPr/>
        </p:nvSpPr>
        <p:spPr>
          <a:xfrm>
            <a:off x="14026896" y="8641080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736" name="TextBox 735"/>
          <p:cNvSpPr txBox="1"/>
          <p:nvPr/>
        </p:nvSpPr>
        <p:spPr>
          <a:xfrm>
            <a:off x="11750040" y="8814815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REF</a:t>
            </a:r>
          </a:p>
        </p:txBody>
      </p:sp>
      <p:sp>
        <p:nvSpPr>
          <p:cNvPr id="737" name="TextBox 736"/>
          <p:cNvSpPr txBox="1"/>
          <p:nvPr/>
        </p:nvSpPr>
        <p:spPr>
          <a:xfrm>
            <a:off x="12070080" y="8814815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MTJA-OTS-PID-001 rev A · used in the OTS displays</a:t>
            </a:r>
          </a:p>
        </p:txBody>
      </p:sp>
      <p:sp>
        <p:nvSpPr>
          <p:cNvPr id="738" name="TextBox 737"/>
          <p:cNvSpPr txBox="1"/>
          <p:nvPr/>
        </p:nvSpPr>
        <p:spPr>
          <a:xfrm>
            <a:off x="14026896" y="8814815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IN PAGE</a:t>
            </a:r>
          </a:p>
        </p:txBody>
      </p:sp>
      <p:sp>
        <p:nvSpPr>
          <p:cNvPr id="739" name="TextBox 738"/>
          <p:cNvSpPr txBox="1"/>
          <p:nvPr/>
        </p:nvSpPr>
        <p:spPr>
          <a:xfrm>
            <a:off x="11750040" y="8988552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740" name="TextBox 739"/>
          <p:cNvSpPr txBox="1"/>
          <p:nvPr/>
        </p:nvSpPr>
        <p:spPr>
          <a:xfrm>
            <a:off x="12070080" y="8988552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ALTERNATIVE VERSION, EPC STANDARD</a:t>
            </a:r>
          </a:p>
        </p:txBody>
      </p:sp>
      <p:sp>
        <p:nvSpPr>
          <p:cNvPr id="741" name="TextBox 740"/>
          <p:cNvSpPr txBox="1"/>
          <p:nvPr/>
        </p:nvSpPr>
        <p:spPr>
          <a:xfrm>
            <a:off x="14026896" y="8988552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24-OCT-26</a:t>
            </a:r>
          </a:p>
        </p:txBody>
      </p:sp>
      <p:sp>
        <p:nvSpPr>
          <p:cNvPr id="742" name="Rectangle 741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3" name="Connector 742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12008700" y="9204705"/>
            <a:ext cx="2536774" cy="98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CHULALONGKORN UNIVERSITY · CHEMICAL ENGINEERING</a:t>
            </a:r>
          </a:p>
        </p:txBody>
      </p:sp>
      <p:sp>
        <p:nvSpPr>
          <p:cNvPr id="747" name="TextBox 746"/>
          <p:cNvSpPr txBox="1"/>
          <p:nvPr/>
        </p:nvSpPr>
        <p:spPr>
          <a:xfrm>
            <a:off x="11855287" y="9340659"/>
            <a:ext cx="2843601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MTJA CO₂-METHANOL PILOT · TEACHING RE-DRAWING (NOT FOR CONSTRUCTION)</a:t>
            </a:r>
          </a:p>
        </p:txBody>
      </p:sp>
      <p:sp>
        <p:nvSpPr>
          <p:cNvPr id="748" name="TextBox 747"/>
          <p:cNvSpPr txBox="1"/>
          <p:nvPr/>
        </p:nvSpPr>
        <p:spPr>
          <a:xfrm>
            <a:off x="12102998" y="9518395"/>
            <a:ext cx="2348179" cy="1107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P&amp;ID — R-601 PILOT TRICKLE-BED REACTOR</a:t>
            </a:r>
          </a:p>
        </p:txBody>
      </p:sp>
      <p:sp>
        <p:nvSpPr>
          <p:cNvPr id="749" name="TextBox 748"/>
          <p:cNvSpPr txBox="1"/>
          <p:nvPr/>
        </p:nvSpPr>
        <p:spPr>
          <a:xfrm>
            <a:off x="12195409" y="9665081"/>
            <a:ext cx="2163356" cy="91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000000"/>
                </a:solidFill>
                <a:latin typeface="Arial"/>
              </a:rPr>
              <a:t>ALTERNATIVE VERSION · FEEDS · E-601 · R-601</a:t>
            </a:r>
          </a:p>
        </p:txBody>
      </p:sp>
      <p:cxnSp>
        <p:nvCxnSpPr>
          <p:cNvPr id="750" name="Connector 749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3" name="TextBox 752"/>
          <p:cNvSpPr txBox="1"/>
          <p:nvPr/>
        </p:nvSpPr>
        <p:spPr>
          <a:xfrm>
            <a:off x="11668715" y="9865106"/>
            <a:ext cx="926172" cy="1488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DRAWN</a:t>
            </a:r>
          </a:p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sp>
        <p:nvSpPr>
          <p:cNvPr id="754" name="TextBox 753"/>
          <p:cNvSpPr txBox="1"/>
          <p:nvPr/>
        </p:nvSpPr>
        <p:spPr>
          <a:xfrm>
            <a:off x="12769824" y="9865106"/>
            <a:ext cx="251002" cy="1488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CHK'D</a:t>
            </a:r>
          </a:p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--</a:t>
            </a:r>
          </a:p>
        </p:txBody>
      </p:sp>
      <p:sp>
        <p:nvSpPr>
          <p:cNvPr id="755" name="TextBox 754"/>
          <p:cNvSpPr txBox="1"/>
          <p:nvPr/>
        </p:nvSpPr>
        <p:spPr>
          <a:xfrm>
            <a:off x="13533348" y="9865106"/>
            <a:ext cx="251002" cy="1488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APP'D</a:t>
            </a:r>
          </a:p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--</a:t>
            </a:r>
          </a:p>
        </p:txBody>
      </p:sp>
      <p:sp>
        <p:nvSpPr>
          <p:cNvPr id="756" name="TextBox 755"/>
          <p:cNvSpPr txBox="1"/>
          <p:nvPr/>
        </p:nvSpPr>
        <p:spPr>
          <a:xfrm>
            <a:off x="14218417" y="9865106"/>
            <a:ext cx="407913" cy="1488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DATE</a:t>
            </a:r>
          </a:p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24-OCT-26</a:t>
            </a:r>
          </a:p>
        </p:txBody>
      </p:sp>
      <p:sp>
        <p:nvSpPr>
          <p:cNvPr id="757" name="TextBox 756"/>
          <p:cNvSpPr txBox="1"/>
          <p:nvPr/>
        </p:nvSpPr>
        <p:spPr>
          <a:xfrm>
            <a:off x="11821477" y="10139045"/>
            <a:ext cx="620649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R601-PID-001</a:t>
            </a:r>
          </a:p>
        </p:txBody>
      </p:sp>
      <p:sp>
        <p:nvSpPr>
          <p:cNvPr id="758" name="TextBox 757"/>
          <p:cNvSpPr txBox="1"/>
          <p:nvPr/>
        </p:nvSpPr>
        <p:spPr>
          <a:xfrm>
            <a:off x="12801028" y="10139045"/>
            <a:ext cx="188595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13497687" y="10139045"/>
            <a:ext cx="322326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14261211" y="10139045"/>
            <a:ext cx="322326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4069080"/>
            <a:ext cx="43434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4069080"/>
            <a:ext cx="3200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3872547"/>
            <a:ext cx="835647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FROM F-601 · SHT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46867"/>
            <a:ext cx="629015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1/2"-PM-603-IH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867912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103120" y="3867912"/>
            <a:ext cx="0" cy="40233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34640" y="3867912"/>
            <a:ext cx="0" cy="40233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00001" y="4090035"/>
            <a:ext cx="337756" cy="1043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E-602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1237" y="3961193"/>
            <a:ext cx="495284" cy="694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" b="0">
                <a:solidFill>
                  <a:srgbClr val="000000"/>
                </a:solidFill>
                <a:latin typeface="Arial"/>
              </a:rPr>
              <a:t>TUBE: PROCESS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560320" y="3136392"/>
            <a:ext cx="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530601" y="3746754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560320" y="3776472"/>
            <a:ext cx="685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246120" y="2999232"/>
            <a:ext cx="0" cy="7772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2496312" y="3438144"/>
            <a:ext cx="128015" cy="201168"/>
          </a:xfrm>
          <a:custGeom>
            <a:avLst/>
            <a:gdLst/>
            <a:ahLst/>
            <a:cxnLst/>
            <a:rect l="l" t="t" r="r" b="b"/>
            <a:pathLst>
              <a:path w="128015" h="201168">
                <a:moveTo>
                  <a:pt x="0" y="0"/>
                </a:moveTo>
                <a:lnTo>
                  <a:pt x="128015" y="201168"/>
                </a:lnTo>
                <a:lnTo>
                  <a:pt x="0" y="201168"/>
                </a:lnTo>
                <a:lnTo>
                  <a:pt x="128015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32888" y="3511296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0903" y="3494468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BV-623 LO</a:t>
            </a:r>
          </a:p>
        </p:txBody>
      </p:sp>
      <p:sp>
        <p:nvSpPr>
          <p:cNvPr id="20" name="Freeform 19"/>
          <p:cNvSpPr/>
          <p:nvPr/>
        </p:nvSpPr>
        <p:spPr>
          <a:xfrm>
            <a:off x="2491739" y="2999232"/>
            <a:ext cx="137161" cy="137160"/>
          </a:xfrm>
          <a:custGeom>
            <a:avLst/>
            <a:gdLst/>
            <a:ahLst/>
            <a:cxnLst/>
            <a:rect l="l" t="t" r="r" b="b"/>
            <a:pathLst>
              <a:path w="137161" h="137160">
                <a:moveTo>
                  <a:pt x="0" y="137160"/>
                </a:moveTo>
                <a:lnTo>
                  <a:pt x="137161" y="137160"/>
                </a:lnTo>
                <a:lnTo>
                  <a:pt x="68581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560320" y="2930652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137159" y="0"/>
                </a:moveTo>
                <a:lnTo>
                  <a:pt x="137159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514600" y="2779776"/>
            <a:ext cx="91439" cy="219456"/>
          </a:xfrm>
          <a:custGeom>
            <a:avLst/>
            <a:gdLst/>
            <a:ahLst/>
            <a:cxnLst/>
            <a:rect l="l" t="t" r="r" b="b"/>
            <a:pathLst>
              <a:path w="91439" h="219456">
                <a:moveTo>
                  <a:pt x="45720" y="219456"/>
                </a:moveTo>
                <a:lnTo>
                  <a:pt x="91439" y="160020"/>
                </a:lnTo>
                <a:lnTo>
                  <a:pt x="0" y="128016"/>
                </a:lnTo>
                <a:lnTo>
                  <a:pt x="91439" y="96012"/>
                </a:lnTo>
                <a:lnTo>
                  <a:pt x="0" y="64008"/>
                </a:lnTo>
                <a:lnTo>
                  <a:pt x="91439" y="32004"/>
                </a:lnTo>
                <a:lnTo>
                  <a:pt x="45720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0816" y="2640965"/>
            <a:ext cx="526351" cy="167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PSV-602</a:t>
            </a:r>
          </a:p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SET 4 barg</a:t>
            </a:r>
          </a:p>
        </p:txBody>
      </p:sp>
      <p:sp>
        <p:nvSpPr>
          <p:cNvPr id="24" name="Freeform 23"/>
          <p:cNvSpPr/>
          <p:nvPr/>
        </p:nvSpPr>
        <p:spPr>
          <a:xfrm>
            <a:off x="3182112" y="3465576"/>
            <a:ext cx="128015" cy="201168"/>
          </a:xfrm>
          <a:custGeom>
            <a:avLst/>
            <a:gdLst/>
            <a:ahLst/>
            <a:cxnLst/>
            <a:rect l="l" t="t" r="r" b="b"/>
            <a:pathLst>
              <a:path w="128015" h="201168">
                <a:moveTo>
                  <a:pt x="0" y="0"/>
                </a:moveTo>
                <a:lnTo>
                  <a:pt x="128015" y="201168"/>
                </a:lnTo>
                <a:lnTo>
                  <a:pt x="0" y="201168"/>
                </a:lnTo>
                <a:lnTo>
                  <a:pt x="128015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46703" y="3521900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BV-622 NC</a:t>
            </a:r>
          </a:p>
        </p:txBody>
      </p:sp>
      <p:sp>
        <p:nvSpPr>
          <p:cNvPr id="26" name="Freeform 25"/>
          <p:cNvSpPr/>
          <p:nvPr/>
        </p:nvSpPr>
        <p:spPr>
          <a:xfrm>
            <a:off x="3182112" y="3172968"/>
            <a:ext cx="128015" cy="201168"/>
          </a:xfrm>
          <a:custGeom>
            <a:avLst/>
            <a:gdLst/>
            <a:ahLst/>
            <a:cxnLst/>
            <a:rect l="l" t="t" r="r" b="b"/>
            <a:pathLst>
              <a:path w="128015" h="201168">
                <a:moveTo>
                  <a:pt x="0" y="0"/>
                </a:moveTo>
                <a:lnTo>
                  <a:pt x="128015" y="201168"/>
                </a:lnTo>
                <a:lnTo>
                  <a:pt x="0" y="201168"/>
                </a:lnTo>
                <a:lnTo>
                  <a:pt x="128015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310127" y="3273552"/>
            <a:ext cx="731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383279" y="3227832"/>
            <a:ext cx="0" cy="914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447288" y="3229292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NV-602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97479" y="2999232"/>
            <a:ext cx="54864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216401" y="2969514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3246120" y="2999232"/>
            <a:ext cx="41148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94176" y="2956560"/>
            <a:ext cx="598017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TO SAFE LOC.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2194560" y="3483864"/>
            <a:ext cx="0" cy="384048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2130552" y="3594506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14773" y="3650830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BV-614 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9424" y="3480149"/>
            <a:ext cx="224599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1">
                <a:solidFill>
                  <a:srgbClr val="000000"/>
                </a:solidFill>
                <a:latin typeface="Arial"/>
              </a:rPr>
              <a:t>VENT</a:t>
            </a:r>
          </a:p>
        </p:txBody>
      </p:sp>
      <p:sp>
        <p:nvSpPr>
          <p:cNvPr id="38" name="Oval 37"/>
          <p:cNvSpPr/>
          <p:nvPr/>
        </p:nvSpPr>
        <p:spPr>
          <a:xfrm>
            <a:off x="2164841" y="3838194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2331720" y="4270248"/>
            <a:ext cx="0" cy="384048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2267712" y="4342485"/>
            <a:ext cx="128015" cy="201168"/>
          </a:xfrm>
          <a:custGeom>
            <a:avLst/>
            <a:gdLst/>
            <a:ahLst/>
            <a:cxnLst/>
            <a:rect l="l" t="t" r="r" b="b"/>
            <a:pathLst>
              <a:path w="128015" h="201168">
                <a:moveTo>
                  <a:pt x="0" y="0"/>
                </a:moveTo>
                <a:lnTo>
                  <a:pt x="128015" y="201168"/>
                </a:lnTo>
                <a:lnTo>
                  <a:pt x="0" y="201168"/>
                </a:lnTo>
                <a:lnTo>
                  <a:pt x="128015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32303" y="4398810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BV-615 NC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37124" y="4577429"/>
            <a:ext cx="139731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1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43" name="Oval 42"/>
          <p:cNvSpPr/>
          <p:nvPr/>
        </p:nvSpPr>
        <p:spPr>
          <a:xfrm>
            <a:off x="2302001" y="424053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82162" y="4039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611880" y="4069080"/>
            <a:ext cx="0" cy="3474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456432" y="441655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609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611880" y="4727448"/>
            <a:ext cx="0" cy="14630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3456432" y="487375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609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456432" y="502920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321615" y="4951603"/>
            <a:ext cx="98240" cy="155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1">
                <a:solidFill>
                  <a:srgbClr val="000000"/>
                </a:solidFill>
                <a:latin typeface="Arial"/>
              </a:rPr>
              <a:t>H</a:t>
            </a:r>
          </a:p>
          <a:p>
            <a:pPr algn="r"/>
            <a:r>
              <a:rPr sz="459" b="1">
                <a:solidFill>
                  <a:srgbClr val="000000"/>
                </a:solidFill>
                <a:latin typeface="Arial"/>
              </a:rPr>
              <a:t>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767328" y="5029200"/>
            <a:ext cx="11887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886200" y="4846320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913632" y="487375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609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913632" y="502920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998271" y="5253291"/>
            <a:ext cx="141617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4760" y="3918267"/>
            <a:ext cx="50598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1/2"-PM-604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5989320"/>
            <a:ext cx="77724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3733" y="6215411"/>
            <a:ext cx="417909" cy="96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CHILLER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0707" y="6359715"/>
            <a:ext cx="423961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PKG 15 °C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325880" y="6172200"/>
            <a:ext cx="731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057400" y="4270248"/>
            <a:ext cx="0" cy="190195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834640" y="4270248"/>
            <a:ext cx="0" cy="235915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325880" y="6629400"/>
            <a:ext cx="15087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1993392" y="5202936"/>
            <a:ext cx="128016" cy="16459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FE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755648" y="5285232"/>
            <a:ext cx="23774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444752" y="5129784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701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298448" y="5285232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987552" y="5129784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701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87552" y="5285232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093879" y="5006403"/>
            <a:ext cx="98240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L</a:t>
            </a:r>
          </a:p>
        </p:txBody>
      </p:sp>
      <p:cxnSp>
        <p:nvCxnSpPr>
          <p:cNvPr id="71" name="Connector 70"/>
          <p:cNvCxnSpPr/>
          <p:nvPr/>
        </p:nvCxnSpPr>
        <p:spPr>
          <a:xfrm flipH="1">
            <a:off x="914400" y="5285232"/>
            <a:ext cx="7315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548640" y="5102352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76072" y="5129784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701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76072" y="5285232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60711" y="4978971"/>
            <a:ext cx="141617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LL</a:t>
            </a:r>
          </a:p>
        </p:txBody>
      </p:sp>
      <p:sp>
        <p:nvSpPr>
          <p:cNvPr id="76" name="Freeform 75"/>
          <p:cNvSpPr/>
          <p:nvPr/>
        </p:nvSpPr>
        <p:spPr>
          <a:xfrm>
            <a:off x="1993392" y="4745736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029968" y="481888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57984" y="4802060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BV-703 LO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691640" y="6172200"/>
            <a:ext cx="0" cy="329184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1627632" y="6219748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92224" y="6276073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BV-702 NC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97044" y="6424517"/>
            <a:ext cx="139731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1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83" name="Oval 82"/>
          <p:cNvSpPr/>
          <p:nvPr/>
        </p:nvSpPr>
        <p:spPr>
          <a:xfrm>
            <a:off x="1661922" y="61424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770632" y="4791455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811780" y="48691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35224" y="4847780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GV-701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2834640" y="5349240"/>
            <a:ext cx="365760" cy="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898648" y="528523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59630" y="5167820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BV-705 NC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36976" y="5308949"/>
            <a:ext cx="224599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1">
                <a:solidFill>
                  <a:srgbClr val="000000"/>
                </a:solidFill>
                <a:latin typeface="Arial"/>
              </a:rPr>
              <a:t>VENT</a:t>
            </a:r>
          </a:p>
        </p:txBody>
      </p:sp>
      <p:sp>
        <p:nvSpPr>
          <p:cNvPr id="91" name="Oval 90"/>
          <p:cNvSpPr/>
          <p:nvPr/>
        </p:nvSpPr>
        <p:spPr>
          <a:xfrm>
            <a:off x="2804922" y="5319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2834640" y="5852160"/>
            <a:ext cx="365760" cy="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reeform 92"/>
          <p:cNvSpPr/>
          <p:nvPr/>
        </p:nvSpPr>
        <p:spPr>
          <a:xfrm>
            <a:off x="2898648" y="578815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759630" y="5670740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BV-704 NC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36976" y="5811869"/>
            <a:ext cx="139731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1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96" name="Oval 95"/>
          <p:cNvSpPr/>
          <p:nvPr/>
        </p:nvSpPr>
        <p:spPr>
          <a:xfrm>
            <a:off x="2804922" y="58224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71600" y="6039675"/>
            <a:ext cx="464972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1"-CHS-701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71600" y="6698043"/>
            <a:ext cx="464972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1"-CHR-701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502920" y="5760720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4400" y="5760720"/>
            <a:ext cx="0" cy="2286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585216" y="569671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58368" y="573328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6921" y="5579300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BV-701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2920" y="5830951"/>
            <a:ext cx="262318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1">
                <a:solidFill>
                  <a:srgbClr val="000000"/>
                </a:solidFill>
                <a:latin typeface="Arial"/>
              </a:rPr>
              <a:t>WATER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7434071"/>
            <a:ext cx="566928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8228" y="7536116"/>
            <a:ext cx="196310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1080" y="7664132"/>
            <a:ext cx="290607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COMP.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1069848" y="7635240"/>
            <a:ext cx="33649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Freeform 108"/>
          <p:cNvSpPr/>
          <p:nvPr/>
        </p:nvSpPr>
        <p:spPr>
          <a:xfrm>
            <a:off x="1271016" y="757123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 flipV="1">
            <a:off x="1371600" y="7452360"/>
            <a:ext cx="0" cy="11887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1289304" y="7287768"/>
            <a:ext cx="164592" cy="1645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1453896" y="7370064"/>
            <a:ext cx="64008" cy="6400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1202721" y="7688452"/>
            <a:ext cx="337756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PR-901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7→4.5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691640" y="7635240"/>
            <a:ext cx="0" cy="36576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Freeform 114"/>
          <p:cNvSpPr/>
          <p:nvPr/>
        </p:nvSpPr>
        <p:spPr>
          <a:xfrm>
            <a:off x="1627632" y="7699248"/>
            <a:ext cx="128016" cy="201167"/>
          </a:xfrm>
          <a:custGeom>
            <a:avLst/>
            <a:gdLst/>
            <a:ahLst/>
            <a:cxnLst/>
            <a:rect l="l" t="t" r="r" b="b"/>
            <a:pathLst>
              <a:path w="128016" h="201167">
                <a:moveTo>
                  <a:pt x="0" y="0"/>
                </a:moveTo>
                <a:lnTo>
                  <a:pt x="128016" y="201167"/>
                </a:lnTo>
                <a:lnTo>
                  <a:pt x="0" y="201167"/>
                </a:lnTo>
                <a:lnTo>
                  <a:pt x="128016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792224" y="7755572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BV-905 NC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412176" y="7924133"/>
            <a:ext cx="224599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1">
                <a:solidFill>
                  <a:srgbClr val="000000"/>
                </a:solidFill>
                <a:latin typeface="Arial"/>
              </a:rPr>
              <a:t>TEST</a:t>
            </a:r>
          </a:p>
        </p:txBody>
      </p:sp>
      <p:sp>
        <p:nvSpPr>
          <p:cNvPr id="118" name="Oval 117"/>
          <p:cNvSpPr/>
          <p:nvPr/>
        </p:nvSpPr>
        <p:spPr>
          <a:xfrm>
            <a:off x="1661922" y="76055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210562" y="76055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>
            <a:off x="2240280" y="7635240"/>
            <a:ext cx="0" cy="3017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 120"/>
          <p:cNvSpPr/>
          <p:nvPr/>
        </p:nvSpPr>
        <p:spPr>
          <a:xfrm>
            <a:off x="2194560" y="7699248"/>
            <a:ext cx="91440" cy="146304"/>
          </a:xfrm>
          <a:custGeom>
            <a:avLst/>
            <a:gdLst/>
            <a:ahLst/>
            <a:cxnLst/>
            <a:rect l="l" t="t" r="r" b="b"/>
            <a:pathLst>
              <a:path w="91440" h="146304">
                <a:moveTo>
                  <a:pt x="0" y="0"/>
                </a:moveTo>
                <a:lnTo>
                  <a:pt x="91440" y="146304"/>
                </a:lnTo>
                <a:lnTo>
                  <a:pt x="0" y="146304"/>
                </a:lnTo>
                <a:lnTo>
                  <a:pt x="9144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212848" y="774496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313432" y="7751191"/>
            <a:ext cx="303809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1">
                <a:solidFill>
                  <a:srgbClr val="000000"/>
                </a:solidFill>
                <a:latin typeface="Arial"/>
              </a:rPr>
              <a:t>BV-906</a:t>
            </a:r>
          </a:p>
        </p:txBody>
      </p:sp>
      <p:sp>
        <p:nvSpPr>
          <p:cNvPr id="124" name="Oval 123"/>
          <p:cNvSpPr/>
          <p:nvPr/>
        </p:nvSpPr>
        <p:spPr>
          <a:xfrm>
            <a:off x="2084832" y="79369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902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2395728" y="8092440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2542032" y="79369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902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2542032" y="809244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2604982" y="8289099"/>
            <a:ext cx="184994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 L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2852928" y="8092440"/>
            <a:ext cx="11887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2971800" y="7909560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999232" y="79369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902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2999232" y="809244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3018805" y="8316531"/>
            <a:ext cx="271748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HH LL</a:t>
            </a:r>
          </a:p>
        </p:txBody>
      </p:sp>
      <p:sp>
        <p:nvSpPr>
          <p:cNvPr id="134" name="Oval 133"/>
          <p:cNvSpPr/>
          <p:nvPr/>
        </p:nvSpPr>
        <p:spPr>
          <a:xfrm>
            <a:off x="3490722" y="76055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 flipV="1">
            <a:off x="3520440" y="7269480"/>
            <a:ext cx="0" cy="36576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Freeform 135"/>
          <p:cNvSpPr/>
          <p:nvPr/>
        </p:nvSpPr>
        <p:spPr>
          <a:xfrm>
            <a:off x="3456432" y="7351776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3493008" y="742492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621024" y="7408100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BV-901</a:t>
            </a:r>
          </a:p>
        </p:txBody>
      </p:sp>
      <p:sp>
        <p:nvSpPr>
          <p:cNvPr id="139" name="Oval 138"/>
          <p:cNvSpPr/>
          <p:nvPr/>
        </p:nvSpPr>
        <p:spPr>
          <a:xfrm>
            <a:off x="3874770" y="76055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3904487" y="7269480"/>
            <a:ext cx="0" cy="36576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Freeform 140"/>
          <p:cNvSpPr/>
          <p:nvPr/>
        </p:nvSpPr>
        <p:spPr>
          <a:xfrm>
            <a:off x="3840479" y="7351776"/>
            <a:ext cx="128017" cy="201168"/>
          </a:xfrm>
          <a:custGeom>
            <a:avLst/>
            <a:gdLst/>
            <a:ahLst/>
            <a:cxnLst/>
            <a:rect l="l" t="t" r="r" b="b"/>
            <a:pathLst>
              <a:path w="128017" h="201168">
                <a:moveTo>
                  <a:pt x="0" y="0"/>
                </a:moveTo>
                <a:lnTo>
                  <a:pt x="128017" y="201168"/>
                </a:lnTo>
                <a:lnTo>
                  <a:pt x="0" y="201168"/>
                </a:lnTo>
                <a:lnTo>
                  <a:pt x="128017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877055" y="742492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005072" y="7408100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BV-902</a:t>
            </a:r>
          </a:p>
        </p:txBody>
      </p:sp>
      <p:sp>
        <p:nvSpPr>
          <p:cNvPr id="144" name="Oval 143"/>
          <p:cNvSpPr/>
          <p:nvPr/>
        </p:nvSpPr>
        <p:spPr>
          <a:xfrm>
            <a:off x="4258818" y="76055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 flipV="1">
            <a:off x="4288536" y="7269480"/>
            <a:ext cx="0" cy="36576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Freeform 145"/>
          <p:cNvSpPr/>
          <p:nvPr/>
        </p:nvSpPr>
        <p:spPr>
          <a:xfrm>
            <a:off x="4224528" y="7351776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261104" y="742492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389120" y="7408100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BV-903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389120" y="7202551"/>
            <a:ext cx="511263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1">
                <a:solidFill>
                  <a:srgbClr val="000000"/>
                </a:solidFill>
                <a:latin typeface="Arial"/>
              </a:rPr>
              <a:t>TO IA USERS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4434840" y="7635240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Freeform 150"/>
          <p:cNvSpPr/>
          <p:nvPr/>
        </p:nvSpPr>
        <p:spPr>
          <a:xfrm>
            <a:off x="4471416" y="757123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44568" y="760780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403121" y="7728140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BV-904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4709160" y="7635240"/>
            <a:ext cx="2286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4974336" y="7592567"/>
            <a:ext cx="552754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IA TO P-302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474720" y="7713027"/>
            <a:ext cx="50598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1/2"-IA-901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4892040" y="3611880"/>
            <a:ext cx="457200" cy="1645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951761" y="4428363"/>
            <a:ext cx="337756" cy="1043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D-601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955910" y="4578223"/>
            <a:ext cx="329458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HP SEP.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968392" y="4691126"/>
            <a:ext cx="304495" cy="726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36 barg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004053" y="4782566"/>
            <a:ext cx="233172" cy="726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75 °C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5349240" y="4069080"/>
            <a:ext cx="1188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/>
          <p:cNvSpPr/>
          <p:nvPr/>
        </p:nvSpPr>
        <p:spPr>
          <a:xfrm>
            <a:off x="5468112" y="39136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LS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605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5779008" y="4069080"/>
            <a:ext cx="11887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ectangle 164"/>
          <p:cNvSpPr/>
          <p:nvPr/>
        </p:nvSpPr>
        <p:spPr>
          <a:xfrm>
            <a:off x="5897880" y="3886200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5925312" y="39136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605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5925312" y="406908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6300216" y="4027995"/>
            <a:ext cx="141617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HH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5349240" y="4754880"/>
            <a:ext cx="1188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/>
          <p:cNvSpPr/>
          <p:nvPr/>
        </p:nvSpPr>
        <p:spPr>
          <a:xfrm>
            <a:off x="5468112" y="45994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601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5779008" y="4754880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Oval 171"/>
          <p:cNvSpPr/>
          <p:nvPr/>
        </p:nvSpPr>
        <p:spPr>
          <a:xfrm>
            <a:off x="5925312" y="45994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601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5925312" y="475488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5988262" y="4476051"/>
            <a:ext cx="184994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 L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5623560" y="4910328"/>
            <a:ext cx="0" cy="32004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5623560" y="5230368"/>
            <a:ext cx="27432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ctangle 176"/>
          <p:cNvSpPr/>
          <p:nvPr/>
        </p:nvSpPr>
        <p:spPr>
          <a:xfrm>
            <a:off x="5897880" y="5047488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5925312" y="5074920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601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5925312" y="5230368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6300216" y="5152770"/>
            <a:ext cx="141617" cy="155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HH</a:t>
            </a:r>
          </a:p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LL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6236208" y="4754880"/>
            <a:ext cx="30175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6537960" y="4754880"/>
            <a:ext cx="0" cy="75895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6583680" y="4828286"/>
            <a:ext cx="281178" cy="726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1">
                <a:solidFill>
                  <a:srgbClr val="000000"/>
                </a:solidFill>
                <a:latin typeface="Arial"/>
              </a:rPr>
              <a:t>ON/OFF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5120640" y="525780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5120640" y="5806440"/>
            <a:ext cx="21488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7269480" y="5394960"/>
            <a:ext cx="0" cy="411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269480" y="5394960"/>
            <a:ext cx="2743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Freeform 187"/>
          <p:cNvSpPr/>
          <p:nvPr/>
        </p:nvSpPr>
        <p:spPr>
          <a:xfrm>
            <a:off x="5056631" y="5358383"/>
            <a:ext cx="128017" cy="201169"/>
          </a:xfrm>
          <a:custGeom>
            <a:avLst/>
            <a:gdLst/>
            <a:ahLst/>
            <a:cxnLst/>
            <a:rect l="l" t="t" r="r" b="b"/>
            <a:pathLst>
              <a:path w="128017" h="201169">
                <a:moveTo>
                  <a:pt x="0" y="0"/>
                </a:moveTo>
                <a:lnTo>
                  <a:pt x="128017" y="201169"/>
                </a:lnTo>
                <a:lnTo>
                  <a:pt x="0" y="201169"/>
                </a:lnTo>
                <a:lnTo>
                  <a:pt x="128017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5093207" y="5431536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540853" y="5414708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BV-632 LO</a:t>
            </a:r>
          </a:p>
        </p:txBody>
      </p:sp>
      <p:cxnSp>
        <p:nvCxnSpPr>
          <p:cNvPr id="191" name="Connector 190"/>
          <p:cNvCxnSpPr/>
          <p:nvPr/>
        </p:nvCxnSpPr>
        <p:spPr>
          <a:xfrm flipH="1">
            <a:off x="4736592" y="5641848"/>
            <a:ext cx="384048" cy="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Freeform 191"/>
          <p:cNvSpPr/>
          <p:nvPr/>
        </p:nvSpPr>
        <p:spPr>
          <a:xfrm>
            <a:off x="4847234" y="5577840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4708217" y="5734748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BV-633 NC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560284" y="5601557"/>
            <a:ext cx="139731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1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195" name="Oval 194"/>
          <p:cNvSpPr/>
          <p:nvPr/>
        </p:nvSpPr>
        <p:spPr>
          <a:xfrm>
            <a:off x="5090922" y="561213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6437376" y="574243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6537960" y="5623559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ectangle 197"/>
          <p:cNvSpPr/>
          <p:nvPr/>
        </p:nvSpPr>
        <p:spPr>
          <a:xfrm>
            <a:off x="6469380" y="5513831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298358" y="5917628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XV-601 FC</a:t>
            </a:r>
          </a:p>
        </p:txBody>
      </p:sp>
      <p:sp>
        <p:nvSpPr>
          <p:cNvPr id="200" name="Freeform 199"/>
          <p:cNvSpPr/>
          <p:nvPr/>
        </p:nvSpPr>
        <p:spPr>
          <a:xfrm>
            <a:off x="6830568" y="5742431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6931152" y="5669279"/>
            <a:ext cx="0" cy="73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6885432" y="5669279"/>
            <a:ext cx="914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6762273" y="5899340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NV-609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669280" y="5884227"/>
            <a:ext cx="50598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1/2"-PL-601</a:t>
            </a:r>
          </a:p>
        </p:txBody>
      </p:sp>
      <p:cxnSp>
        <p:nvCxnSpPr>
          <p:cNvPr id="205" name="Connector 204"/>
          <p:cNvCxnSpPr/>
          <p:nvPr/>
        </p:nvCxnSpPr>
        <p:spPr>
          <a:xfrm flipV="1">
            <a:off x="5120640" y="777240"/>
            <a:ext cx="0" cy="2834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Freeform 205"/>
          <p:cNvSpPr/>
          <p:nvPr/>
        </p:nvSpPr>
        <p:spPr>
          <a:xfrm>
            <a:off x="5056631" y="3300984"/>
            <a:ext cx="128017" cy="201168"/>
          </a:xfrm>
          <a:custGeom>
            <a:avLst/>
            <a:gdLst/>
            <a:ahLst/>
            <a:cxnLst/>
            <a:rect l="l" t="t" r="r" b="b"/>
            <a:pathLst>
              <a:path w="128017" h="201168">
                <a:moveTo>
                  <a:pt x="0" y="0"/>
                </a:moveTo>
                <a:lnTo>
                  <a:pt x="128017" y="201168"/>
                </a:lnTo>
                <a:lnTo>
                  <a:pt x="0" y="201168"/>
                </a:lnTo>
                <a:lnTo>
                  <a:pt x="128017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093207" y="3374136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540853" y="3357308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BV-601 LO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056631" y="3008376"/>
            <a:ext cx="128016" cy="16459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FE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5184648" y="3090672"/>
            <a:ext cx="23774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Oval 210"/>
          <p:cNvSpPr/>
          <p:nvPr/>
        </p:nvSpPr>
        <p:spPr>
          <a:xfrm>
            <a:off x="5422392" y="2935224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603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5733288" y="3090672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Oval 212"/>
          <p:cNvSpPr/>
          <p:nvPr/>
        </p:nvSpPr>
        <p:spPr>
          <a:xfrm>
            <a:off x="5879592" y="2935224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603</a:t>
            </a:r>
          </a:p>
        </p:txBody>
      </p:sp>
      <p:cxnSp>
        <p:nvCxnSpPr>
          <p:cNvPr id="214" name="Connector 213"/>
          <p:cNvCxnSpPr/>
          <p:nvPr/>
        </p:nvCxnSpPr>
        <p:spPr>
          <a:xfrm>
            <a:off x="5879592" y="3090672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4736706" y="3052762"/>
            <a:ext cx="292493" cy="75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20" b="1">
                <a:solidFill>
                  <a:srgbClr val="000000"/>
                </a:solidFill>
                <a:latin typeface="Arial"/>
              </a:rPr>
              <a:t>FG-602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5175503" y="3360483"/>
            <a:ext cx="50598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1/2"-VG-602</a:t>
            </a:r>
          </a:p>
        </p:txBody>
      </p:sp>
      <p:sp>
        <p:nvSpPr>
          <p:cNvPr id="217" name="Oval 216"/>
          <p:cNvSpPr/>
          <p:nvPr/>
        </p:nvSpPr>
        <p:spPr>
          <a:xfrm>
            <a:off x="5090922" y="2786634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 flipH="1">
            <a:off x="4526280" y="2816352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4526280" y="2084831"/>
            <a:ext cx="0" cy="73152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Oval 219"/>
          <p:cNvSpPr/>
          <p:nvPr/>
        </p:nvSpPr>
        <p:spPr>
          <a:xfrm>
            <a:off x="4496562" y="2695194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1" name="Connector 220"/>
          <p:cNvCxnSpPr/>
          <p:nvPr/>
        </p:nvCxnSpPr>
        <p:spPr>
          <a:xfrm flipH="1">
            <a:off x="4142232" y="2724912"/>
            <a:ext cx="38404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4142232" y="1947672"/>
            <a:ext cx="0" cy="7772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Freeform 222"/>
          <p:cNvSpPr/>
          <p:nvPr/>
        </p:nvSpPr>
        <p:spPr>
          <a:xfrm>
            <a:off x="4462272" y="2386584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498848" y="2459736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4626864" y="2442908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BV-624 LO</a:t>
            </a:r>
          </a:p>
        </p:txBody>
      </p:sp>
      <p:sp>
        <p:nvSpPr>
          <p:cNvPr id="226" name="Freeform 225"/>
          <p:cNvSpPr/>
          <p:nvPr/>
        </p:nvSpPr>
        <p:spPr>
          <a:xfrm>
            <a:off x="4457700" y="1947672"/>
            <a:ext cx="137160" cy="137159"/>
          </a:xfrm>
          <a:custGeom>
            <a:avLst/>
            <a:gdLst/>
            <a:ahLst/>
            <a:cxnLst/>
            <a:rect l="l" t="t" r="r" b="b"/>
            <a:pathLst>
              <a:path w="137160" h="137159">
                <a:moveTo>
                  <a:pt x="0" y="137159"/>
                </a:moveTo>
                <a:lnTo>
                  <a:pt x="137160" y="137159"/>
                </a:lnTo>
                <a:lnTo>
                  <a:pt x="6858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4389120" y="1879091"/>
            <a:ext cx="137160" cy="137161"/>
          </a:xfrm>
          <a:custGeom>
            <a:avLst/>
            <a:gdLst/>
            <a:ahLst/>
            <a:cxnLst/>
            <a:rect l="l" t="t" r="r" b="b"/>
            <a:pathLst>
              <a:path w="137160" h="137161">
                <a:moveTo>
                  <a:pt x="0" y="0"/>
                </a:moveTo>
                <a:lnTo>
                  <a:pt x="0" y="137161"/>
                </a:lnTo>
                <a:lnTo>
                  <a:pt x="137160" y="6858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4480560" y="1728216"/>
            <a:ext cx="91440" cy="219456"/>
          </a:xfrm>
          <a:custGeom>
            <a:avLst/>
            <a:gdLst/>
            <a:ahLst/>
            <a:cxnLst/>
            <a:rect l="l" t="t" r="r" b="b"/>
            <a:pathLst>
              <a:path w="91440" h="219456">
                <a:moveTo>
                  <a:pt x="45720" y="219456"/>
                </a:moveTo>
                <a:lnTo>
                  <a:pt x="91440" y="160020"/>
                </a:lnTo>
                <a:lnTo>
                  <a:pt x="0" y="128016"/>
                </a:lnTo>
                <a:lnTo>
                  <a:pt x="91440" y="96012"/>
                </a:lnTo>
                <a:lnTo>
                  <a:pt x="0" y="64008"/>
                </a:lnTo>
                <a:lnTo>
                  <a:pt x="91440" y="32004"/>
                </a:lnTo>
                <a:lnTo>
                  <a:pt x="45720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4617720" y="1818005"/>
            <a:ext cx="573500" cy="167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PSV-603</a:t>
            </a:r>
          </a:p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SET 36 barg</a:t>
            </a:r>
          </a:p>
        </p:txBody>
      </p:sp>
      <p:sp>
        <p:nvSpPr>
          <p:cNvPr id="230" name="Freeform 229"/>
          <p:cNvSpPr/>
          <p:nvPr/>
        </p:nvSpPr>
        <p:spPr>
          <a:xfrm>
            <a:off x="4078224" y="2414016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3562445" y="2470340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BV-625 NC</a:t>
            </a:r>
          </a:p>
        </p:txBody>
      </p:sp>
      <p:sp>
        <p:nvSpPr>
          <p:cNvPr id="232" name="Freeform 231"/>
          <p:cNvSpPr/>
          <p:nvPr/>
        </p:nvSpPr>
        <p:spPr>
          <a:xfrm>
            <a:off x="4078224" y="2121408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Connector 232"/>
          <p:cNvCxnSpPr/>
          <p:nvPr/>
        </p:nvCxnSpPr>
        <p:spPr>
          <a:xfrm>
            <a:off x="4206240" y="2221992"/>
            <a:ext cx="731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4279392" y="2176272"/>
            <a:ext cx="0" cy="914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3603307" y="2177732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NV-603</a:t>
            </a:r>
          </a:p>
        </p:txBody>
      </p:sp>
      <p:cxnSp>
        <p:nvCxnSpPr>
          <p:cNvPr id="236" name="Connector 235"/>
          <p:cNvCxnSpPr/>
          <p:nvPr/>
        </p:nvCxnSpPr>
        <p:spPr>
          <a:xfrm flipH="1">
            <a:off x="4142232" y="1947672"/>
            <a:ext cx="24688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Oval 236"/>
          <p:cNvSpPr/>
          <p:nvPr/>
        </p:nvSpPr>
        <p:spPr>
          <a:xfrm>
            <a:off x="4112514" y="1917953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8" name="Connector 237"/>
          <p:cNvCxnSpPr/>
          <p:nvPr/>
        </p:nvCxnSpPr>
        <p:spPr>
          <a:xfrm flipH="1">
            <a:off x="3730752" y="1947672"/>
            <a:ext cx="41148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3412998" y="1904999"/>
            <a:ext cx="281178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1">
                <a:solidFill>
                  <a:srgbClr val="000000"/>
                </a:solidFill>
                <a:latin typeface="Arial"/>
              </a:rPr>
              <a:t>TO CV</a:t>
            </a:r>
          </a:p>
        </p:txBody>
      </p:sp>
      <p:cxnSp>
        <p:nvCxnSpPr>
          <p:cNvPr id="240" name="Connector 239"/>
          <p:cNvCxnSpPr/>
          <p:nvPr/>
        </p:nvCxnSpPr>
        <p:spPr>
          <a:xfrm>
            <a:off x="5120640" y="777240"/>
            <a:ext cx="21031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Freeform 240"/>
          <p:cNvSpPr/>
          <p:nvPr/>
        </p:nvSpPr>
        <p:spPr>
          <a:xfrm>
            <a:off x="5340096" y="713232"/>
            <a:ext cx="201168" cy="128015"/>
          </a:xfrm>
          <a:custGeom>
            <a:avLst/>
            <a:gdLst/>
            <a:ahLst/>
            <a:cxnLst/>
            <a:rect l="l" t="t" r="r" b="b"/>
            <a:pathLst>
              <a:path w="201168" h="128015">
                <a:moveTo>
                  <a:pt x="0" y="0"/>
                </a:moveTo>
                <a:lnTo>
                  <a:pt x="201168" y="128015"/>
                </a:lnTo>
                <a:lnTo>
                  <a:pt x="201168" y="0"/>
                </a:lnTo>
                <a:lnTo>
                  <a:pt x="0" y="128015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5413248" y="74980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5271801" y="870140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BV-645</a:t>
            </a:r>
          </a:p>
        </p:txBody>
      </p:sp>
      <p:sp>
        <p:nvSpPr>
          <p:cNvPr id="244" name="Freeform 243"/>
          <p:cNvSpPr/>
          <p:nvPr/>
        </p:nvSpPr>
        <p:spPr>
          <a:xfrm>
            <a:off x="5751576" y="713232"/>
            <a:ext cx="201168" cy="128015"/>
          </a:xfrm>
          <a:custGeom>
            <a:avLst/>
            <a:gdLst/>
            <a:ahLst/>
            <a:cxnLst/>
            <a:rect l="l" t="t" r="r" b="b"/>
            <a:pathLst>
              <a:path w="201168" h="128015">
                <a:moveTo>
                  <a:pt x="0" y="0"/>
                </a:moveTo>
                <a:lnTo>
                  <a:pt x="201168" y="128015"/>
                </a:lnTo>
                <a:lnTo>
                  <a:pt x="201168" y="0"/>
                </a:lnTo>
                <a:lnTo>
                  <a:pt x="0" y="128015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5" name="Connector 244"/>
          <p:cNvCxnSpPr/>
          <p:nvPr/>
        </p:nvCxnSpPr>
        <p:spPr>
          <a:xfrm flipV="1">
            <a:off x="5852160" y="594359"/>
            <a:ext cx="0" cy="11887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Oval 245"/>
          <p:cNvSpPr/>
          <p:nvPr/>
        </p:nvSpPr>
        <p:spPr>
          <a:xfrm>
            <a:off x="5769864" y="429768"/>
            <a:ext cx="164592" cy="1645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7" name="Connector 246"/>
          <p:cNvCxnSpPr/>
          <p:nvPr/>
        </p:nvCxnSpPr>
        <p:spPr>
          <a:xfrm>
            <a:off x="5934456" y="512064"/>
            <a:ext cx="64008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/>
          <p:cNvSpPr txBox="1"/>
          <p:nvPr/>
        </p:nvSpPr>
        <p:spPr>
          <a:xfrm>
            <a:off x="5683281" y="830453"/>
            <a:ext cx="337756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PR-601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30→5</a:t>
            </a:r>
          </a:p>
        </p:txBody>
      </p:sp>
      <p:sp>
        <p:nvSpPr>
          <p:cNvPr id="249" name="Oval 248"/>
          <p:cNvSpPr/>
          <p:nvPr/>
        </p:nvSpPr>
        <p:spPr>
          <a:xfrm>
            <a:off x="6279642" y="747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6501383" y="713232"/>
            <a:ext cx="201169" cy="128015"/>
          </a:xfrm>
          <a:custGeom>
            <a:avLst/>
            <a:gdLst/>
            <a:ahLst/>
            <a:cxnLst/>
            <a:rect l="l" t="t" r="r" b="b"/>
            <a:pathLst>
              <a:path w="201169" h="128015">
                <a:moveTo>
                  <a:pt x="0" y="0"/>
                </a:moveTo>
                <a:lnTo>
                  <a:pt x="201169" y="128015"/>
                </a:lnTo>
                <a:lnTo>
                  <a:pt x="201169" y="0"/>
                </a:lnTo>
                <a:lnTo>
                  <a:pt x="0" y="128015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6574536" y="74980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6433089" y="870140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BV-617</a:t>
            </a:r>
          </a:p>
        </p:txBody>
      </p:sp>
      <p:sp>
        <p:nvSpPr>
          <p:cNvPr id="253" name="Freeform 252"/>
          <p:cNvSpPr/>
          <p:nvPr/>
        </p:nvSpPr>
        <p:spPr>
          <a:xfrm>
            <a:off x="6830568" y="713232"/>
            <a:ext cx="201168" cy="128015"/>
          </a:xfrm>
          <a:custGeom>
            <a:avLst/>
            <a:gdLst/>
            <a:ahLst/>
            <a:cxnLst/>
            <a:rect l="l" t="t" r="r" b="b"/>
            <a:pathLst>
              <a:path w="201168" h="128015">
                <a:moveTo>
                  <a:pt x="0" y="0"/>
                </a:moveTo>
                <a:lnTo>
                  <a:pt x="201168" y="128015"/>
                </a:lnTo>
                <a:lnTo>
                  <a:pt x="201168" y="0"/>
                </a:lnTo>
                <a:lnTo>
                  <a:pt x="0" y="128015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Connector 253"/>
          <p:cNvCxnSpPr/>
          <p:nvPr/>
        </p:nvCxnSpPr>
        <p:spPr>
          <a:xfrm>
            <a:off x="6931152" y="841247"/>
            <a:ext cx="0" cy="7315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6885432" y="914400"/>
            <a:ext cx="914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/>
          <p:cNvSpPr txBox="1"/>
          <p:nvPr/>
        </p:nvSpPr>
        <p:spPr>
          <a:xfrm>
            <a:off x="6762273" y="586676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NV-608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223760" y="566928"/>
            <a:ext cx="566928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7427928" y="655859"/>
            <a:ext cx="158591" cy="96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GC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7349661" y="800163"/>
            <a:ext cx="315125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AT-610</a:t>
            </a:r>
          </a:p>
        </p:txBody>
      </p:sp>
      <p:cxnSp>
        <p:nvCxnSpPr>
          <p:cNvPr id="260" name="Connector 259"/>
          <p:cNvCxnSpPr/>
          <p:nvPr/>
        </p:nvCxnSpPr>
        <p:spPr>
          <a:xfrm>
            <a:off x="7680960" y="987552"/>
            <a:ext cx="0" cy="3383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Oval 260"/>
          <p:cNvSpPr/>
          <p:nvPr/>
        </p:nvSpPr>
        <p:spPr>
          <a:xfrm>
            <a:off x="7651242" y="1296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7936992" y="6217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610</a:t>
            </a:r>
          </a:p>
        </p:txBody>
      </p:sp>
      <p:cxnSp>
        <p:nvCxnSpPr>
          <p:cNvPr id="263" name="Connector 262"/>
          <p:cNvCxnSpPr/>
          <p:nvPr/>
        </p:nvCxnSpPr>
        <p:spPr>
          <a:xfrm>
            <a:off x="7936992" y="77724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8023517" y="966343"/>
            <a:ext cx="137845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H₂</a:t>
            </a:r>
          </a:p>
        </p:txBody>
      </p:sp>
      <p:sp>
        <p:nvSpPr>
          <p:cNvPr id="265" name="Oval 264"/>
          <p:cNvSpPr/>
          <p:nvPr/>
        </p:nvSpPr>
        <p:spPr>
          <a:xfrm>
            <a:off x="8348471" y="6217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611</a:t>
            </a:r>
          </a:p>
        </p:txBody>
      </p:sp>
      <p:cxnSp>
        <p:nvCxnSpPr>
          <p:cNvPr id="266" name="Connector 265"/>
          <p:cNvCxnSpPr/>
          <p:nvPr/>
        </p:nvCxnSpPr>
        <p:spPr>
          <a:xfrm>
            <a:off x="8348471" y="77724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/>
          <p:cNvSpPr txBox="1"/>
          <p:nvPr/>
        </p:nvSpPr>
        <p:spPr>
          <a:xfrm>
            <a:off x="8414251" y="966343"/>
            <a:ext cx="179336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CO₂</a:t>
            </a:r>
          </a:p>
        </p:txBody>
      </p:sp>
      <p:sp>
        <p:nvSpPr>
          <p:cNvPr id="268" name="Oval 267"/>
          <p:cNvSpPr/>
          <p:nvPr/>
        </p:nvSpPr>
        <p:spPr>
          <a:xfrm>
            <a:off x="8759952" y="6217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612</a:t>
            </a:r>
          </a:p>
        </p:txBody>
      </p:sp>
      <p:cxnSp>
        <p:nvCxnSpPr>
          <p:cNvPr id="269" name="Connector 268"/>
          <p:cNvCxnSpPr/>
          <p:nvPr/>
        </p:nvCxnSpPr>
        <p:spPr>
          <a:xfrm>
            <a:off x="8759952" y="77724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/>
          <p:cNvSpPr txBox="1"/>
          <p:nvPr/>
        </p:nvSpPr>
        <p:spPr>
          <a:xfrm>
            <a:off x="8846477" y="966343"/>
            <a:ext cx="137845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CO</a:t>
            </a:r>
          </a:p>
        </p:txBody>
      </p:sp>
      <p:sp>
        <p:nvSpPr>
          <p:cNvPr id="271" name="Oval 270"/>
          <p:cNvSpPr/>
          <p:nvPr/>
        </p:nvSpPr>
        <p:spPr>
          <a:xfrm>
            <a:off x="9171432" y="6217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613</a:t>
            </a:r>
          </a:p>
        </p:txBody>
      </p:sp>
      <p:cxnSp>
        <p:nvCxnSpPr>
          <p:cNvPr id="272" name="Connector 271"/>
          <p:cNvCxnSpPr/>
          <p:nvPr/>
        </p:nvCxnSpPr>
        <p:spPr>
          <a:xfrm>
            <a:off x="9171432" y="77724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9257957" y="966343"/>
            <a:ext cx="137845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N₂</a:t>
            </a:r>
          </a:p>
        </p:txBody>
      </p:sp>
      <p:cxnSp>
        <p:nvCxnSpPr>
          <p:cNvPr id="274" name="Connector 273"/>
          <p:cNvCxnSpPr/>
          <p:nvPr/>
        </p:nvCxnSpPr>
        <p:spPr>
          <a:xfrm>
            <a:off x="7790688" y="777240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8247888" y="777240"/>
            <a:ext cx="10058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8659367" y="777240"/>
            <a:ext cx="100585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9070848" y="777240"/>
            <a:ext cx="10058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6309360" y="777240"/>
            <a:ext cx="0" cy="5486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6309360" y="1325880"/>
            <a:ext cx="43891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Freeform 279"/>
          <p:cNvSpPr/>
          <p:nvPr/>
        </p:nvSpPr>
        <p:spPr>
          <a:xfrm>
            <a:off x="6501383" y="1261872"/>
            <a:ext cx="201169" cy="128016"/>
          </a:xfrm>
          <a:custGeom>
            <a:avLst/>
            <a:gdLst/>
            <a:ahLst/>
            <a:cxnLst/>
            <a:rect l="l" t="t" r="r" b="b"/>
            <a:pathLst>
              <a:path w="201169" h="128016">
                <a:moveTo>
                  <a:pt x="0" y="0"/>
                </a:moveTo>
                <a:lnTo>
                  <a:pt x="201169" y="128016"/>
                </a:lnTo>
                <a:lnTo>
                  <a:pt x="201169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6574536" y="129844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6433089" y="1418780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BV-621</a:t>
            </a:r>
          </a:p>
        </p:txBody>
      </p:sp>
      <p:sp>
        <p:nvSpPr>
          <p:cNvPr id="283" name="Freeform 282"/>
          <p:cNvSpPr/>
          <p:nvPr/>
        </p:nvSpPr>
        <p:spPr>
          <a:xfrm>
            <a:off x="6986016" y="126187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4" name="Connector 283"/>
          <p:cNvCxnSpPr/>
          <p:nvPr/>
        </p:nvCxnSpPr>
        <p:spPr>
          <a:xfrm flipV="1">
            <a:off x="7086600" y="1143000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Rectangle 284"/>
          <p:cNvSpPr/>
          <p:nvPr/>
        </p:nvSpPr>
        <p:spPr>
          <a:xfrm>
            <a:off x="7018020" y="1033271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6846998" y="1437068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XV-603 FO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8229600" y="1184211"/>
            <a:ext cx="50598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1/2"-VG-603</a:t>
            </a:r>
          </a:p>
        </p:txBody>
      </p:sp>
      <p:sp>
        <p:nvSpPr>
          <p:cNvPr id="288" name="Oval 287"/>
          <p:cNvSpPr/>
          <p:nvPr/>
        </p:nvSpPr>
        <p:spPr>
          <a:xfrm>
            <a:off x="5090922" y="193624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9" name="Connector 288"/>
          <p:cNvCxnSpPr/>
          <p:nvPr/>
        </p:nvCxnSpPr>
        <p:spPr>
          <a:xfrm>
            <a:off x="5120640" y="1965960"/>
            <a:ext cx="55778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Oval 289"/>
          <p:cNvSpPr/>
          <p:nvPr/>
        </p:nvSpPr>
        <p:spPr>
          <a:xfrm>
            <a:off x="5548122" y="193624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1" name="Connector 290"/>
          <p:cNvCxnSpPr/>
          <p:nvPr/>
        </p:nvCxnSpPr>
        <p:spPr>
          <a:xfrm>
            <a:off x="5577840" y="1965960"/>
            <a:ext cx="0" cy="27432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Freeform 291"/>
          <p:cNvSpPr/>
          <p:nvPr/>
        </p:nvSpPr>
        <p:spPr>
          <a:xfrm>
            <a:off x="5532120" y="2029967"/>
            <a:ext cx="91439" cy="146305"/>
          </a:xfrm>
          <a:custGeom>
            <a:avLst/>
            <a:gdLst/>
            <a:ahLst/>
            <a:cxnLst/>
            <a:rect l="l" t="t" r="r" b="b"/>
            <a:pathLst>
              <a:path w="91439" h="146305">
                <a:moveTo>
                  <a:pt x="0" y="0"/>
                </a:moveTo>
                <a:lnTo>
                  <a:pt x="91439" y="146305"/>
                </a:lnTo>
                <a:lnTo>
                  <a:pt x="0" y="146305"/>
                </a:lnTo>
                <a:lnTo>
                  <a:pt x="91439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5550407" y="207568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200878" y="2063622"/>
            <a:ext cx="303809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BV-637</a:t>
            </a:r>
          </a:p>
        </p:txBody>
      </p:sp>
      <p:sp>
        <p:nvSpPr>
          <p:cNvPr id="295" name="Oval 294"/>
          <p:cNvSpPr/>
          <p:nvPr/>
        </p:nvSpPr>
        <p:spPr>
          <a:xfrm>
            <a:off x="5422392" y="2240280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608</a:t>
            </a:r>
          </a:p>
        </p:txBody>
      </p:sp>
      <p:cxnSp>
        <p:nvCxnSpPr>
          <p:cNvPr id="296" name="Connector 295"/>
          <p:cNvCxnSpPr/>
          <p:nvPr/>
        </p:nvCxnSpPr>
        <p:spPr>
          <a:xfrm>
            <a:off x="5733288" y="2395728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Oval 296"/>
          <p:cNvSpPr/>
          <p:nvPr/>
        </p:nvSpPr>
        <p:spPr>
          <a:xfrm>
            <a:off x="5879592" y="2240280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5879592" y="2395728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TextBox 298"/>
          <p:cNvSpPr txBox="1"/>
          <p:nvPr/>
        </p:nvSpPr>
        <p:spPr>
          <a:xfrm>
            <a:off x="5985919" y="2592387"/>
            <a:ext cx="98240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cxnSp>
        <p:nvCxnSpPr>
          <p:cNvPr id="300" name="Connector 299"/>
          <p:cNvCxnSpPr/>
          <p:nvPr/>
        </p:nvCxnSpPr>
        <p:spPr>
          <a:xfrm>
            <a:off x="6190488" y="2395728"/>
            <a:ext cx="11887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Rectangle 300"/>
          <p:cNvSpPr/>
          <p:nvPr/>
        </p:nvSpPr>
        <p:spPr>
          <a:xfrm>
            <a:off x="6309359" y="2212848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6336792" y="2240280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608</a:t>
            </a:r>
          </a:p>
        </p:txBody>
      </p:sp>
      <p:cxnSp>
        <p:nvCxnSpPr>
          <p:cNvPr id="303" name="Connector 302"/>
          <p:cNvCxnSpPr/>
          <p:nvPr/>
        </p:nvCxnSpPr>
        <p:spPr>
          <a:xfrm>
            <a:off x="6336792" y="2395728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TextBox 303"/>
          <p:cNvSpPr txBox="1"/>
          <p:nvPr/>
        </p:nvSpPr>
        <p:spPr>
          <a:xfrm>
            <a:off x="6421431" y="2619819"/>
            <a:ext cx="141617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HH</a:t>
            </a:r>
          </a:p>
        </p:txBody>
      </p:sp>
      <p:sp>
        <p:nvSpPr>
          <p:cNvPr id="305" name="Oval 304"/>
          <p:cNvSpPr/>
          <p:nvPr/>
        </p:nvSpPr>
        <p:spPr>
          <a:xfrm>
            <a:off x="6874002" y="193624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6" name="Connector 305"/>
          <p:cNvCxnSpPr/>
          <p:nvPr/>
        </p:nvCxnSpPr>
        <p:spPr>
          <a:xfrm>
            <a:off x="6903720" y="1965960"/>
            <a:ext cx="0" cy="27432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Freeform 306"/>
          <p:cNvSpPr/>
          <p:nvPr/>
        </p:nvSpPr>
        <p:spPr>
          <a:xfrm>
            <a:off x="6858000" y="2029967"/>
            <a:ext cx="91440" cy="146305"/>
          </a:xfrm>
          <a:custGeom>
            <a:avLst/>
            <a:gdLst/>
            <a:ahLst/>
            <a:cxnLst/>
            <a:rect l="l" t="t" r="r" b="b"/>
            <a:pathLst>
              <a:path w="91440" h="146305">
                <a:moveTo>
                  <a:pt x="0" y="0"/>
                </a:moveTo>
                <a:lnTo>
                  <a:pt x="91440" y="146305"/>
                </a:lnTo>
                <a:lnTo>
                  <a:pt x="0" y="146305"/>
                </a:lnTo>
                <a:lnTo>
                  <a:pt x="9144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876288" y="207568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6976872" y="2063622"/>
            <a:ext cx="303809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1">
                <a:solidFill>
                  <a:srgbClr val="000000"/>
                </a:solidFill>
                <a:latin typeface="Arial"/>
              </a:rPr>
              <a:t>BV-636</a:t>
            </a:r>
          </a:p>
        </p:txBody>
      </p:sp>
      <p:sp>
        <p:nvSpPr>
          <p:cNvPr id="310" name="Oval 309"/>
          <p:cNvSpPr/>
          <p:nvPr/>
        </p:nvSpPr>
        <p:spPr>
          <a:xfrm>
            <a:off x="6748272" y="2240280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PG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607</a:t>
            </a:r>
          </a:p>
        </p:txBody>
      </p:sp>
      <p:sp>
        <p:nvSpPr>
          <p:cNvPr id="311" name="Oval 310"/>
          <p:cNvSpPr/>
          <p:nvPr/>
        </p:nvSpPr>
        <p:spPr>
          <a:xfrm>
            <a:off x="7239762" y="193624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7879842" y="193624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3" name="Connector 312"/>
          <p:cNvCxnSpPr/>
          <p:nvPr/>
        </p:nvCxnSpPr>
        <p:spPr>
          <a:xfrm>
            <a:off x="7269480" y="1965960"/>
            <a:ext cx="0" cy="3200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7269480" y="2286000"/>
            <a:ext cx="6400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7909560" y="1965960"/>
            <a:ext cx="0" cy="3200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Freeform 315"/>
          <p:cNvSpPr/>
          <p:nvPr/>
        </p:nvSpPr>
        <p:spPr>
          <a:xfrm>
            <a:off x="7488936" y="222199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7" name="Connector 316"/>
          <p:cNvCxnSpPr/>
          <p:nvPr/>
        </p:nvCxnSpPr>
        <p:spPr>
          <a:xfrm>
            <a:off x="7589520" y="2350008"/>
            <a:ext cx="0" cy="73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7543800" y="2423160"/>
            <a:ext cx="914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TextBox 318"/>
          <p:cNvSpPr txBox="1"/>
          <p:nvPr/>
        </p:nvSpPr>
        <p:spPr>
          <a:xfrm>
            <a:off x="7420641" y="2479484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NV-607</a:t>
            </a:r>
          </a:p>
        </p:txBody>
      </p:sp>
      <p:sp>
        <p:nvSpPr>
          <p:cNvPr id="320" name="Freeform 319"/>
          <p:cNvSpPr/>
          <p:nvPr/>
        </p:nvSpPr>
        <p:spPr>
          <a:xfrm>
            <a:off x="7488936" y="1901952"/>
            <a:ext cx="201168" cy="128015"/>
          </a:xfrm>
          <a:custGeom>
            <a:avLst/>
            <a:gdLst/>
            <a:ahLst/>
            <a:cxnLst/>
            <a:rect l="l" t="t" r="r" b="b"/>
            <a:pathLst>
              <a:path w="201168" h="128015">
                <a:moveTo>
                  <a:pt x="0" y="0"/>
                </a:moveTo>
                <a:lnTo>
                  <a:pt x="201168" y="128015"/>
                </a:lnTo>
                <a:lnTo>
                  <a:pt x="201168" y="0"/>
                </a:lnTo>
                <a:lnTo>
                  <a:pt x="0" y="128015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1" name="Connector 320"/>
          <p:cNvCxnSpPr/>
          <p:nvPr/>
        </p:nvCxnSpPr>
        <p:spPr>
          <a:xfrm flipV="1">
            <a:off x="7589520" y="1783080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Oval 321"/>
          <p:cNvSpPr/>
          <p:nvPr/>
        </p:nvSpPr>
        <p:spPr>
          <a:xfrm>
            <a:off x="7507224" y="1618488"/>
            <a:ext cx="164592" cy="1645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3" name="Connector 322"/>
          <p:cNvCxnSpPr/>
          <p:nvPr/>
        </p:nvCxnSpPr>
        <p:spPr>
          <a:xfrm>
            <a:off x="7671816" y="1700784"/>
            <a:ext cx="64008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TextBox 323"/>
          <p:cNvSpPr txBox="1"/>
          <p:nvPr/>
        </p:nvSpPr>
        <p:spPr>
          <a:xfrm>
            <a:off x="7562088" y="2058860"/>
            <a:ext cx="54864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7726679" y="1607693"/>
            <a:ext cx="573500" cy="167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BPV-601</a:t>
            </a:r>
          </a:p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SET 30 barg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8595360" y="1824291"/>
            <a:ext cx="50598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1/2"-VG-604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7543800" y="4206240"/>
            <a:ext cx="457200" cy="1463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7603521" y="4839843"/>
            <a:ext cx="337756" cy="1043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D-602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7595189" y="4991290"/>
            <a:ext cx="354421" cy="758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>
                <a:solidFill>
                  <a:srgbClr val="000000"/>
                </a:solidFill>
                <a:latin typeface="Arial"/>
              </a:rPr>
              <a:t>LP FLASH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7637983" y="5102606"/>
            <a:ext cx="268833" cy="726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6 barg</a:t>
            </a:r>
          </a:p>
        </p:txBody>
      </p:sp>
      <p:cxnSp>
        <p:nvCxnSpPr>
          <p:cNvPr id="331" name="Connector 330"/>
          <p:cNvCxnSpPr/>
          <p:nvPr/>
        </p:nvCxnSpPr>
        <p:spPr>
          <a:xfrm flipV="1">
            <a:off x="7772400" y="4069080"/>
            <a:ext cx="0" cy="1371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Oval 331"/>
          <p:cNvSpPr/>
          <p:nvPr/>
        </p:nvSpPr>
        <p:spPr>
          <a:xfrm>
            <a:off x="7742681" y="4039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3" name="Connector 332"/>
          <p:cNvCxnSpPr/>
          <p:nvPr/>
        </p:nvCxnSpPr>
        <p:spPr>
          <a:xfrm>
            <a:off x="7772400" y="4069080"/>
            <a:ext cx="29260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7772400" y="3337560"/>
            <a:ext cx="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Oval 334"/>
          <p:cNvSpPr/>
          <p:nvPr/>
        </p:nvSpPr>
        <p:spPr>
          <a:xfrm>
            <a:off x="7742681" y="39479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6" name="Connector 335"/>
          <p:cNvCxnSpPr/>
          <p:nvPr/>
        </p:nvCxnSpPr>
        <p:spPr>
          <a:xfrm flipH="1">
            <a:off x="7388352" y="3977640"/>
            <a:ext cx="38404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7388352" y="3200400"/>
            <a:ext cx="0" cy="7772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Freeform 337"/>
          <p:cNvSpPr/>
          <p:nvPr/>
        </p:nvSpPr>
        <p:spPr>
          <a:xfrm>
            <a:off x="7708392" y="3639312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7744968" y="3712463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7872983" y="3695636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BV-626 LO</a:t>
            </a:r>
          </a:p>
        </p:txBody>
      </p:sp>
      <p:sp>
        <p:nvSpPr>
          <p:cNvPr id="341" name="Freeform 340"/>
          <p:cNvSpPr/>
          <p:nvPr/>
        </p:nvSpPr>
        <p:spPr>
          <a:xfrm>
            <a:off x="7703820" y="320040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0"/>
                </a:moveTo>
                <a:lnTo>
                  <a:pt x="137159" y="137160"/>
                </a:lnTo>
                <a:lnTo>
                  <a:pt x="6858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7635240" y="3131820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0" y="0"/>
                </a:moveTo>
                <a:lnTo>
                  <a:pt x="0" y="137160"/>
                </a:lnTo>
                <a:lnTo>
                  <a:pt x="137160" y="685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7726679" y="2980944"/>
            <a:ext cx="91441" cy="219456"/>
          </a:xfrm>
          <a:custGeom>
            <a:avLst/>
            <a:gdLst/>
            <a:ahLst/>
            <a:cxnLst/>
            <a:rect l="l" t="t" r="r" b="b"/>
            <a:pathLst>
              <a:path w="91441" h="219456">
                <a:moveTo>
                  <a:pt x="45721" y="219456"/>
                </a:moveTo>
                <a:lnTo>
                  <a:pt x="91441" y="160020"/>
                </a:lnTo>
                <a:lnTo>
                  <a:pt x="0" y="128016"/>
                </a:lnTo>
                <a:lnTo>
                  <a:pt x="91441" y="96012"/>
                </a:lnTo>
                <a:lnTo>
                  <a:pt x="0" y="64008"/>
                </a:lnTo>
                <a:lnTo>
                  <a:pt x="91441" y="32004"/>
                </a:lnTo>
                <a:lnTo>
                  <a:pt x="45721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7863840" y="3070733"/>
            <a:ext cx="526351" cy="167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PSV-606</a:t>
            </a:r>
          </a:p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SET 2 barg</a:t>
            </a:r>
          </a:p>
        </p:txBody>
      </p:sp>
      <p:sp>
        <p:nvSpPr>
          <p:cNvPr id="345" name="Freeform 344"/>
          <p:cNvSpPr/>
          <p:nvPr/>
        </p:nvSpPr>
        <p:spPr>
          <a:xfrm>
            <a:off x="7324344" y="3666744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6808565" y="3723068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BV-646 NC</a:t>
            </a:r>
          </a:p>
        </p:txBody>
      </p:sp>
      <p:sp>
        <p:nvSpPr>
          <p:cNvPr id="347" name="Freeform 346"/>
          <p:cNvSpPr/>
          <p:nvPr/>
        </p:nvSpPr>
        <p:spPr>
          <a:xfrm>
            <a:off x="7324344" y="3374136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7452360" y="3474720"/>
            <a:ext cx="731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7525512" y="3429000"/>
            <a:ext cx="0" cy="914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TextBox 349"/>
          <p:cNvSpPr txBox="1"/>
          <p:nvPr/>
        </p:nvSpPr>
        <p:spPr>
          <a:xfrm>
            <a:off x="6849427" y="3430460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NV-611</a:t>
            </a:r>
          </a:p>
        </p:txBody>
      </p:sp>
      <p:cxnSp>
        <p:nvCxnSpPr>
          <p:cNvPr id="351" name="Connector 350"/>
          <p:cNvCxnSpPr/>
          <p:nvPr/>
        </p:nvCxnSpPr>
        <p:spPr>
          <a:xfrm flipH="1">
            <a:off x="7388352" y="3200400"/>
            <a:ext cx="24688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Oval 351"/>
          <p:cNvSpPr/>
          <p:nvPr/>
        </p:nvSpPr>
        <p:spPr>
          <a:xfrm>
            <a:off x="7358633" y="31706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3" name="Connector 352"/>
          <p:cNvCxnSpPr/>
          <p:nvPr/>
        </p:nvCxnSpPr>
        <p:spPr>
          <a:xfrm flipH="1">
            <a:off x="6976872" y="3200400"/>
            <a:ext cx="41148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TextBox 353"/>
          <p:cNvSpPr txBox="1"/>
          <p:nvPr/>
        </p:nvSpPr>
        <p:spPr>
          <a:xfrm>
            <a:off x="6659118" y="3157728"/>
            <a:ext cx="281178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1">
                <a:solidFill>
                  <a:srgbClr val="000000"/>
                </a:solidFill>
                <a:latin typeface="Arial"/>
              </a:rPr>
              <a:t>TO CV</a:t>
            </a:r>
          </a:p>
        </p:txBody>
      </p:sp>
      <p:sp>
        <p:nvSpPr>
          <p:cNvPr id="355" name="Freeform 354"/>
          <p:cNvSpPr/>
          <p:nvPr/>
        </p:nvSpPr>
        <p:spPr>
          <a:xfrm>
            <a:off x="8311896" y="4005072"/>
            <a:ext cx="201167" cy="128016"/>
          </a:xfrm>
          <a:custGeom>
            <a:avLst/>
            <a:gdLst/>
            <a:ahLst/>
            <a:cxnLst/>
            <a:rect l="l" t="t" r="r" b="b"/>
            <a:pathLst>
              <a:path w="201167" h="128016">
                <a:moveTo>
                  <a:pt x="0" y="0"/>
                </a:moveTo>
                <a:lnTo>
                  <a:pt x="201167" y="128016"/>
                </a:lnTo>
                <a:lnTo>
                  <a:pt x="201167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6" name="Connector 355"/>
          <p:cNvCxnSpPr/>
          <p:nvPr/>
        </p:nvCxnSpPr>
        <p:spPr>
          <a:xfrm flipV="1">
            <a:off x="8412480" y="3886200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Oval 356"/>
          <p:cNvSpPr/>
          <p:nvPr/>
        </p:nvSpPr>
        <p:spPr>
          <a:xfrm>
            <a:off x="8330183" y="3721608"/>
            <a:ext cx="164592" cy="1645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8" name="Connector 357"/>
          <p:cNvCxnSpPr/>
          <p:nvPr/>
        </p:nvCxnSpPr>
        <p:spPr>
          <a:xfrm>
            <a:off x="8494776" y="3803904"/>
            <a:ext cx="64008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9" name="TextBox 358"/>
          <p:cNvSpPr txBox="1"/>
          <p:nvPr/>
        </p:nvSpPr>
        <p:spPr>
          <a:xfrm>
            <a:off x="8385048" y="4161980"/>
            <a:ext cx="54864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8558784" y="3710813"/>
            <a:ext cx="620649" cy="167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BPV-602</a:t>
            </a:r>
          </a:p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SET 0.2 barg</a:t>
            </a:r>
          </a:p>
        </p:txBody>
      </p:sp>
      <p:sp>
        <p:nvSpPr>
          <p:cNvPr id="361" name="Oval 360"/>
          <p:cNvSpPr/>
          <p:nvPr/>
        </p:nvSpPr>
        <p:spPr>
          <a:xfrm>
            <a:off x="8108442" y="4039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8702802" y="4039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3" name="Connector 362"/>
          <p:cNvCxnSpPr/>
          <p:nvPr/>
        </p:nvCxnSpPr>
        <p:spPr>
          <a:xfrm>
            <a:off x="8138160" y="4069080"/>
            <a:ext cx="0" cy="3200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8138160" y="4389120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8732520" y="4069080"/>
            <a:ext cx="0" cy="3200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Freeform 365"/>
          <p:cNvSpPr/>
          <p:nvPr/>
        </p:nvSpPr>
        <p:spPr>
          <a:xfrm>
            <a:off x="8165592" y="4325112"/>
            <a:ext cx="201167" cy="128016"/>
          </a:xfrm>
          <a:custGeom>
            <a:avLst/>
            <a:gdLst/>
            <a:ahLst/>
            <a:cxnLst/>
            <a:rect l="l" t="t" r="r" b="b"/>
            <a:pathLst>
              <a:path w="201167" h="128016">
                <a:moveTo>
                  <a:pt x="0" y="0"/>
                </a:moveTo>
                <a:lnTo>
                  <a:pt x="201167" y="128016"/>
                </a:lnTo>
                <a:lnTo>
                  <a:pt x="201167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7" name="Connector 366"/>
          <p:cNvCxnSpPr/>
          <p:nvPr/>
        </p:nvCxnSpPr>
        <p:spPr>
          <a:xfrm>
            <a:off x="8266175" y="4453128"/>
            <a:ext cx="0" cy="73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8220456" y="4526280"/>
            <a:ext cx="914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TextBox 368"/>
          <p:cNvSpPr txBox="1"/>
          <p:nvPr/>
        </p:nvSpPr>
        <p:spPr>
          <a:xfrm>
            <a:off x="8090325" y="4585779"/>
            <a:ext cx="315125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NV-604</a:t>
            </a:r>
          </a:p>
        </p:txBody>
      </p:sp>
      <p:sp>
        <p:nvSpPr>
          <p:cNvPr id="370" name="Freeform 369"/>
          <p:cNvSpPr/>
          <p:nvPr/>
        </p:nvSpPr>
        <p:spPr>
          <a:xfrm>
            <a:off x="8476488" y="432511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8613648" y="4585779"/>
            <a:ext cx="445255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BV-627 NC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8961120" y="3927411"/>
            <a:ext cx="50598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1/2"-VG-605</a:t>
            </a:r>
          </a:p>
        </p:txBody>
      </p:sp>
      <p:cxnSp>
        <p:nvCxnSpPr>
          <p:cNvPr id="373" name="Connector 372"/>
          <p:cNvCxnSpPr/>
          <p:nvPr/>
        </p:nvCxnSpPr>
        <p:spPr>
          <a:xfrm>
            <a:off x="8001000" y="5212080"/>
            <a:ext cx="256031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Oval 373"/>
          <p:cNvSpPr/>
          <p:nvPr/>
        </p:nvSpPr>
        <p:spPr>
          <a:xfrm>
            <a:off x="8257031" y="50566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602</a:t>
            </a:r>
          </a:p>
        </p:txBody>
      </p:sp>
      <p:cxnSp>
        <p:nvCxnSpPr>
          <p:cNvPr id="375" name="Connector 374"/>
          <p:cNvCxnSpPr/>
          <p:nvPr/>
        </p:nvCxnSpPr>
        <p:spPr>
          <a:xfrm>
            <a:off x="8567928" y="5212080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6" name="Oval 375"/>
          <p:cNvSpPr/>
          <p:nvPr/>
        </p:nvSpPr>
        <p:spPr>
          <a:xfrm>
            <a:off x="8714232" y="50566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602</a:t>
            </a:r>
          </a:p>
        </p:txBody>
      </p:sp>
      <p:cxnSp>
        <p:nvCxnSpPr>
          <p:cNvPr id="377" name="Connector 376"/>
          <p:cNvCxnSpPr/>
          <p:nvPr/>
        </p:nvCxnSpPr>
        <p:spPr>
          <a:xfrm>
            <a:off x="8714232" y="521208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TextBox 377"/>
          <p:cNvSpPr txBox="1"/>
          <p:nvPr/>
        </p:nvSpPr>
        <p:spPr>
          <a:xfrm>
            <a:off x="8777182" y="4933251"/>
            <a:ext cx="184994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H L</a:t>
            </a:r>
          </a:p>
        </p:txBody>
      </p:sp>
      <p:cxnSp>
        <p:nvCxnSpPr>
          <p:cNvPr id="379" name="Connector 378"/>
          <p:cNvCxnSpPr/>
          <p:nvPr/>
        </p:nvCxnSpPr>
        <p:spPr>
          <a:xfrm>
            <a:off x="8412480" y="5367528"/>
            <a:ext cx="0" cy="11887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Rectangle 379"/>
          <p:cNvSpPr/>
          <p:nvPr/>
        </p:nvSpPr>
        <p:spPr>
          <a:xfrm>
            <a:off x="8229600" y="5486400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8257031" y="55138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LZ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602</a:t>
            </a:r>
          </a:p>
        </p:txBody>
      </p:sp>
      <p:cxnSp>
        <p:nvCxnSpPr>
          <p:cNvPr id="382" name="Connector 381"/>
          <p:cNvCxnSpPr/>
          <p:nvPr/>
        </p:nvCxnSpPr>
        <p:spPr>
          <a:xfrm>
            <a:off x="8257031" y="5669280"/>
            <a:ext cx="310897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TextBox 382"/>
          <p:cNvSpPr txBox="1"/>
          <p:nvPr/>
        </p:nvSpPr>
        <p:spPr>
          <a:xfrm>
            <a:off x="8051406" y="5591683"/>
            <a:ext cx="141617" cy="155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1">
                <a:solidFill>
                  <a:srgbClr val="000000"/>
                </a:solidFill>
                <a:latin typeface="Arial"/>
              </a:rPr>
              <a:t>HH</a:t>
            </a:r>
          </a:p>
          <a:p>
            <a:pPr algn="r"/>
            <a:r>
              <a:rPr sz="459" b="1">
                <a:solidFill>
                  <a:srgbClr val="000000"/>
                </a:solidFill>
                <a:latin typeface="Arial"/>
              </a:rPr>
              <a:t>LL</a:t>
            </a:r>
          </a:p>
        </p:txBody>
      </p:sp>
      <p:cxnSp>
        <p:nvCxnSpPr>
          <p:cNvPr id="384" name="Connector 383"/>
          <p:cNvCxnSpPr/>
          <p:nvPr/>
        </p:nvCxnSpPr>
        <p:spPr>
          <a:xfrm>
            <a:off x="8869680" y="5367528"/>
            <a:ext cx="0" cy="110642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5" name="TextBox 384"/>
          <p:cNvSpPr txBox="1"/>
          <p:nvPr/>
        </p:nvSpPr>
        <p:spPr>
          <a:xfrm>
            <a:off x="8924544" y="5815838"/>
            <a:ext cx="281178" cy="726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1">
                <a:solidFill>
                  <a:srgbClr val="000000"/>
                </a:solidFill>
                <a:latin typeface="Arial"/>
              </a:rPr>
              <a:t>ON/OFF</a:t>
            </a:r>
          </a:p>
        </p:txBody>
      </p:sp>
      <p:cxnSp>
        <p:nvCxnSpPr>
          <p:cNvPr id="386" name="Connector 385"/>
          <p:cNvCxnSpPr/>
          <p:nvPr/>
        </p:nvCxnSpPr>
        <p:spPr>
          <a:xfrm>
            <a:off x="7772400" y="5669280"/>
            <a:ext cx="0" cy="10972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7772400" y="6766560"/>
            <a:ext cx="1737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Freeform 387"/>
          <p:cNvSpPr/>
          <p:nvPr/>
        </p:nvSpPr>
        <p:spPr>
          <a:xfrm>
            <a:off x="7708392" y="5779007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7744968" y="5852159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7192613" y="5835332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BV-634 LO</a:t>
            </a:r>
          </a:p>
        </p:txBody>
      </p:sp>
      <p:cxnSp>
        <p:nvCxnSpPr>
          <p:cNvPr id="391" name="Connector 390"/>
          <p:cNvCxnSpPr/>
          <p:nvPr/>
        </p:nvCxnSpPr>
        <p:spPr>
          <a:xfrm flipH="1">
            <a:off x="7388352" y="6144768"/>
            <a:ext cx="384048" cy="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Freeform 391"/>
          <p:cNvSpPr/>
          <p:nvPr/>
        </p:nvSpPr>
        <p:spPr>
          <a:xfrm>
            <a:off x="7498994" y="6080759"/>
            <a:ext cx="201168" cy="128017"/>
          </a:xfrm>
          <a:custGeom>
            <a:avLst/>
            <a:gdLst/>
            <a:ahLst/>
            <a:cxnLst/>
            <a:rect l="l" t="t" r="r" b="b"/>
            <a:pathLst>
              <a:path w="201168" h="128017">
                <a:moveTo>
                  <a:pt x="0" y="0"/>
                </a:moveTo>
                <a:lnTo>
                  <a:pt x="201168" y="128017"/>
                </a:lnTo>
                <a:lnTo>
                  <a:pt x="201168" y="0"/>
                </a:lnTo>
                <a:lnTo>
                  <a:pt x="0" y="128017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7359977" y="6237668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BV-635 NC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6915007" y="6104477"/>
            <a:ext cx="436768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1">
                <a:solidFill>
                  <a:srgbClr val="000000"/>
                </a:solidFill>
                <a:latin typeface="Arial"/>
              </a:rPr>
              <a:t>SAMPLE PT</a:t>
            </a:r>
          </a:p>
        </p:txBody>
      </p:sp>
      <p:sp>
        <p:nvSpPr>
          <p:cNvPr id="395" name="Oval 394"/>
          <p:cNvSpPr/>
          <p:nvPr/>
        </p:nvSpPr>
        <p:spPr>
          <a:xfrm>
            <a:off x="7742681" y="611505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8375904" y="6702552"/>
            <a:ext cx="164592" cy="12801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FE</a:t>
            </a:r>
          </a:p>
        </p:txBody>
      </p:sp>
      <p:cxnSp>
        <p:nvCxnSpPr>
          <p:cNvPr id="397" name="Connector 396"/>
          <p:cNvCxnSpPr/>
          <p:nvPr/>
        </p:nvCxnSpPr>
        <p:spPr>
          <a:xfrm>
            <a:off x="8458200" y="6830568"/>
            <a:ext cx="0" cy="19202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Oval 397"/>
          <p:cNvSpPr/>
          <p:nvPr/>
        </p:nvSpPr>
        <p:spPr>
          <a:xfrm>
            <a:off x="8302752" y="70225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FIQ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602</a:t>
            </a:r>
          </a:p>
        </p:txBody>
      </p:sp>
      <p:sp>
        <p:nvSpPr>
          <p:cNvPr id="399" name="Freeform 398"/>
          <p:cNvSpPr/>
          <p:nvPr/>
        </p:nvSpPr>
        <p:spPr>
          <a:xfrm>
            <a:off x="8769096" y="6702552"/>
            <a:ext cx="201167" cy="128016"/>
          </a:xfrm>
          <a:custGeom>
            <a:avLst/>
            <a:gdLst/>
            <a:ahLst/>
            <a:cxnLst/>
            <a:rect l="l" t="t" r="r" b="b"/>
            <a:pathLst>
              <a:path w="201167" h="128016">
                <a:moveTo>
                  <a:pt x="0" y="0"/>
                </a:moveTo>
                <a:lnTo>
                  <a:pt x="201167" y="128016"/>
                </a:lnTo>
                <a:lnTo>
                  <a:pt x="201167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0" name="Connector 399"/>
          <p:cNvCxnSpPr/>
          <p:nvPr/>
        </p:nvCxnSpPr>
        <p:spPr>
          <a:xfrm flipV="1">
            <a:off x="8869680" y="6583680"/>
            <a:ext cx="0" cy="1188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1" name="Rectangle 400"/>
          <p:cNvSpPr/>
          <p:nvPr/>
        </p:nvSpPr>
        <p:spPr>
          <a:xfrm>
            <a:off x="8801100" y="6473952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8630078" y="6877748"/>
            <a:ext cx="479202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XV-602 FC</a:t>
            </a:r>
          </a:p>
        </p:txBody>
      </p:sp>
      <p:sp>
        <p:nvSpPr>
          <p:cNvPr id="403" name="Freeform 402"/>
          <p:cNvSpPr/>
          <p:nvPr/>
        </p:nvSpPr>
        <p:spPr>
          <a:xfrm>
            <a:off x="9134856" y="6702552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9208008" y="673912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9066561" y="6566852"/>
            <a:ext cx="337756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BV-628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7882127" y="6844347"/>
            <a:ext cx="505983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 i="1">
                <a:solidFill>
                  <a:srgbClr val="000000"/>
                </a:solidFill>
                <a:latin typeface="Arial"/>
              </a:rPr>
              <a:t>1/2"-PL-602</a:t>
            </a:r>
          </a:p>
        </p:txBody>
      </p:sp>
      <p:sp>
        <p:nvSpPr>
          <p:cNvPr id="407" name="Rounded Rectangle 406"/>
          <p:cNvSpPr/>
          <p:nvPr/>
        </p:nvSpPr>
        <p:spPr>
          <a:xfrm>
            <a:off x="9509760" y="6492240"/>
            <a:ext cx="128016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9969174" y="6673818"/>
            <a:ext cx="361330" cy="1123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T-601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9712299" y="6839966"/>
            <a:ext cx="875080" cy="726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PRODUCT TANK (2 SHELLS)</a:t>
            </a:r>
          </a:p>
        </p:txBody>
      </p:sp>
      <p:cxnSp>
        <p:nvCxnSpPr>
          <p:cNvPr id="410" name="Connector 409"/>
          <p:cNvCxnSpPr/>
          <p:nvPr/>
        </p:nvCxnSpPr>
        <p:spPr>
          <a:xfrm flipV="1">
            <a:off x="9921240" y="5760720"/>
            <a:ext cx="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Oval 410"/>
          <p:cNvSpPr/>
          <p:nvPr/>
        </p:nvSpPr>
        <p:spPr>
          <a:xfrm>
            <a:off x="9891522" y="63710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2" name="Connector 411"/>
          <p:cNvCxnSpPr/>
          <p:nvPr/>
        </p:nvCxnSpPr>
        <p:spPr>
          <a:xfrm>
            <a:off x="9921240" y="6400800"/>
            <a:ext cx="731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10652760" y="5623559"/>
            <a:ext cx="0" cy="77724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Freeform 413"/>
          <p:cNvSpPr/>
          <p:nvPr/>
        </p:nvSpPr>
        <p:spPr>
          <a:xfrm>
            <a:off x="9857232" y="6062471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893808" y="6135623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10021824" y="6118796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BV-640 LO</a:t>
            </a:r>
          </a:p>
        </p:txBody>
      </p:sp>
      <p:sp>
        <p:nvSpPr>
          <p:cNvPr id="417" name="Freeform 416"/>
          <p:cNvSpPr/>
          <p:nvPr/>
        </p:nvSpPr>
        <p:spPr>
          <a:xfrm>
            <a:off x="9852660" y="5623559"/>
            <a:ext cx="137159" cy="137161"/>
          </a:xfrm>
          <a:custGeom>
            <a:avLst/>
            <a:gdLst/>
            <a:ahLst/>
            <a:cxnLst/>
            <a:rect l="l" t="t" r="r" b="b"/>
            <a:pathLst>
              <a:path w="137159" h="137161">
                <a:moveTo>
                  <a:pt x="0" y="137161"/>
                </a:moveTo>
                <a:lnTo>
                  <a:pt x="137159" y="137161"/>
                </a:lnTo>
                <a:lnTo>
                  <a:pt x="6858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9921240" y="5554979"/>
            <a:ext cx="137160" cy="137161"/>
          </a:xfrm>
          <a:custGeom>
            <a:avLst/>
            <a:gdLst/>
            <a:ahLst/>
            <a:cxnLst/>
            <a:rect l="l" t="t" r="r" b="b"/>
            <a:pathLst>
              <a:path w="137160" h="137161">
                <a:moveTo>
                  <a:pt x="137160" y="0"/>
                </a:moveTo>
                <a:lnTo>
                  <a:pt x="137160" y="137161"/>
                </a:lnTo>
                <a:lnTo>
                  <a:pt x="0" y="685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9875519" y="5404103"/>
            <a:ext cx="91441" cy="219456"/>
          </a:xfrm>
          <a:custGeom>
            <a:avLst/>
            <a:gdLst/>
            <a:ahLst/>
            <a:cxnLst/>
            <a:rect l="l" t="t" r="r" b="b"/>
            <a:pathLst>
              <a:path w="91441" h="219456">
                <a:moveTo>
                  <a:pt x="45721" y="219456"/>
                </a:moveTo>
                <a:lnTo>
                  <a:pt x="91441" y="160020"/>
                </a:lnTo>
                <a:lnTo>
                  <a:pt x="0" y="128016"/>
                </a:lnTo>
                <a:lnTo>
                  <a:pt x="91441" y="96012"/>
                </a:lnTo>
                <a:lnTo>
                  <a:pt x="0" y="64009"/>
                </a:lnTo>
                <a:lnTo>
                  <a:pt x="91441" y="32004"/>
                </a:lnTo>
                <a:lnTo>
                  <a:pt x="45721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9321736" y="5265293"/>
            <a:ext cx="526351" cy="167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PSV-604</a:t>
            </a:r>
          </a:p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SET 2 barg</a:t>
            </a:r>
          </a:p>
        </p:txBody>
      </p:sp>
      <p:sp>
        <p:nvSpPr>
          <p:cNvPr id="421" name="Freeform 420"/>
          <p:cNvSpPr/>
          <p:nvPr/>
        </p:nvSpPr>
        <p:spPr>
          <a:xfrm>
            <a:off x="10588752" y="6089903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10753344" y="6146228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BV-631 NC</a:t>
            </a:r>
          </a:p>
        </p:txBody>
      </p:sp>
      <p:sp>
        <p:nvSpPr>
          <p:cNvPr id="423" name="Freeform 422"/>
          <p:cNvSpPr/>
          <p:nvPr/>
        </p:nvSpPr>
        <p:spPr>
          <a:xfrm>
            <a:off x="10588752" y="5797295"/>
            <a:ext cx="128016" cy="201169"/>
          </a:xfrm>
          <a:custGeom>
            <a:avLst/>
            <a:gdLst/>
            <a:ahLst/>
            <a:cxnLst/>
            <a:rect l="l" t="t" r="r" b="b"/>
            <a:pathLst>
              <a:path w="128016" h="201169">
                <a:moveTo>
                  <a:pt x="0" y="0"/>
                </a:moveTo>
                <a:lnTo>
                  <a:pt x="128016" y="201169"/>
                </a:lnTo>
                <a:lnTo>
                  <a:pt x="0" y="201169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4" name="Connector 423"/>
          <p:cNvCxnSpPr/>
          <p:nvPr/>
        </p:nvCxnSpPr>
        <p:spPr>
          <a:xfrm>
            <a:off x="10716768" y="5897879"/>
            <a:ext cx="731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10789920" y="5852159"/>
            <a:ext cx="0" cy="914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TextBox 425"/>
          <p:cNvSpPr txBox="1"/>
          <p:nvPr/>
        </p:nvSpPr>
        <p:spPr>
          <a:xfrm>
            <a:off x="10853928" y="5853620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NV-605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10058400" y="5623559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Oval 427"/>
          <p:cNvSpPr/>
          <p:nvPr/>
        </p:nvSpPr>
        <p:spPr>
          <a:xfrm>
            <a:off x="10623042" y="55938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9" name="Connector 428"/>
          <p:cNvCxnSpPr/>
          <p:nvPr/>
        </p:nvCxnSpPr>
        <p:spPr>
          <a:xfrm>
            <a:off x="10652760" y="5623559"/>
            <a:ext cx="27432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10963656" y="5580887"/>
            <a:ext cx="281178" cy="8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TO CV</a:t>
            </a:r>
          </a:p>
        </p:txBody>
      </p:sp>
      <p:cxnSp>
        <p:nvCxnSpPr>
          <p:cNvPr id="431" name="Connector 430"/>
          <p:cNvCxnSpPr/>
          <p:nvPr/>
        </p:nvCxnSpPr>
        <p:spPr>
          <a:xfrm flipV="1">
            <a:off x="9646920" y="6144768"/>
            <a:ext cx="0" cy="34747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Rectangle 431"/>
          <p:cNvSpPr/>
          <p:nvPr/>
        </p:nvSpPr>
        <p:spPr>
          <a:xfrm>
            <a:off x="9592056" y="5943600"/>
            <a:ext cx="109728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3" name="Connector 432"/>
          <p:cNvCxnSpPr/>
          <p:nvPr/>
        </p:nvCxnSpPr>
        <p:spPr>
          <a:xfrm flipV="1">
            <a:off x="9646920" y="5742432"/>
            <a:ext cx="0" cy="20116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4" name="TextBox 433"/>
          <p:cNvSpPr txBox="1"/>
          <p:nvPr/>
        </p:nvSpPr>
        <p:spPr>
          <a:xfrm>
            <a:off x="9557251" y="5629783"/>
            <a:ext cx="179336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ATM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9210179" y="6004687"/>
            <a:ext cx="345300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BDV-601</a:t>
            </a:r>
          </a:p>
        </p:txBody>
      </p:sp>
      <p:sp>
        <p:nvSpPr>
          <p:cNvPr id="436" name="Oval 435"/>
          <p:cNvSpPr/>
          <p:nvPr/>
        </p:nvSpPr>
        <p:spPr>
          <a:xfrm>
            <a:off x="9617202" y="62796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7" name="Connector 436"/>
          <p:cNvCxnSpPr/>
          <p:nvPr/>
        </p:nvCxnSpPr>
        <p:spPr>
          <a:xfrm>
            <a:off x="9144000" y="6309360"/>
            <a:ext cx="5029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9125712" y="6309360"/>
            <a:ext cx="292608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9" name="TextBox 438"/>
          <p:cNvSpPr txBox="1"/>
          <p:nvPr/>
        </p:nvSpPr>
        <p:spPr>
          <a:xfrm>
            <a:off x="9144000" y="6180010"/>
            <a:ext cx="569728" cy="75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" b="1">
                <a:solidFill>
                  <a:srgbClr val="000000"/>
                </a:solidFill>
                <a:latin typeface="Arial"/>
              </a:rPr>
              <a:t>N₂ LP · SHT 1</a:t>
            </a:r>
          </a:p>
        </p:txBody>
      </p:sp>
      <p:cxnSp>
        <p:nvCxnSpPr>
          <p:cNvPr id="440" name="Connector 439"/>
          <p:cNvCxnSpPr/>
          <p:nvPr/>
        </p:nvCxnSpPr>
        <p:spPr>
          <a:xfrm>
            <a:off x="10753344" y="6601968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1" name="Oval 440"/>
          <p:cNvSpPr/>
          <p:nvPr/>
        </p:nvSpPr>
        <p:spPr>
          <a:xfrm>
            <a:off x="10954512" y="6446520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LS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603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11301984" y="6560883"/>
            <a:ext cx="98240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cxnSp>
        <p:nvCxnSpPr>
          <p:cNvPr id="443" name="Connector 442"/>
          <p:cNvCxnSpPr/>
          <p:nvPr/>
        </p:nvCxnSpPr>
        <p:spPr>
          <a:xfrm>
            <a:off x="10753344" y="6949440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Oval 443"/>
          <p:cNvSpPr/>
          <p:nvPr/>
        </p:nvSpPr>
        <p:spPr>
          <a:xfrm>
            <a:off x="10954512" y="67939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LS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604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11301984" y="6908355"/>
            <a:ext cx="98240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L</a:t>
            </a:r>
          </a:p>
        </p:txBody>
      </p:sp>
      <p:cxnSp>
        <p:nvCxnSpPr>
          <p:cNvPr id="446" name="Connector 445"/>
          <p:cNvCxnSpPr/>
          <p:nvPr/>
        </p:nvCxnSpPr>
        <p:spPr>
          <a:xfrm>
            <a:off x="9921240" y="7040880"/>
            <a:ext cx="0" cy="36576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Freeform 446"/>
          <p:cNvSpPr/>
          <p:nvPr/>
        </p:nvSpPr>
        <p:spPr>
          <a:xfrm>
            <a:off x="9857232" y="7104888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00000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9341453" y="7161212"/>
            <a:ext cx="47920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BV-643 NC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9976104" y="7329773"/>
            <a:ext cx="139731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1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450" name="Oval 449"/>
          <p:cNvSpPr/>
          <p:nvPr/>
        </p:nvSpPr>
        <p:spPr>
          <a:xfrm>
            <a:off x="9891522" y="7011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1" name="Connector 450"/>
          <p:cNvCxnSpPr/>
          <p:nvPr/>
        </p:nvCxnSpPr>
        <p:spPr>
          <a:xfrm>
            <a:off x="10424160" y="7040880"/>
            <a:ext cx="0" cy="7772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Freeform 451"/>
          <p:cNvSpPr/>
          <p:nvPr/>
        </p:nvSpPr>
        <p:spPr>
          <a:xfrm>
            <a:off x="10360152" y="7168896"/>
            <a:ext cx="128016" cy="201168"/>
          </a:xfrm>
          <a:custGeom>
            <a:avLst/>
            <a:gdLst/>
            <a:ahLst/>
            <a:cxnLst/>
            <a:rect l="l" t="t" r="r" b="b"/>
            <a:pathLst>
              <a:path w="128016" h="201168">
                <a:moveTo>
                  <a:pt x="0" y="0"/>
                </a:moveTo>
                <a:lnTo>
                  <a:pt x="128016" y="201168"/>
                </a:lnTo>
                <a:lnTo>
                  <a:pt x="0" y="201168"/>
                </a:lnTo>
                <a:lnTo>
                  <a:pt x="12801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10396728" y="724204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10524744" y="7225220"/>
            <a:ext cx="33775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BV-629</a:t>
            </a:r>
          </a:p>
        </p:txBody>
      </p:sp>
      <p:sp>
        <p:nvSpPr>
          <p:cNvPr id="455" name="Oval 454"/>
          <p:cNvSpPr/>
          <p:nvPr/>
        </p:nvSpPr>
        <p:spPr>
          <a:xfrm>
            <a:off x="10259568" y="78181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10293000" y="7943215"/>
            <a:ext cx="262318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P-302</a:t>
            </a:r>
          </a:p>
        </p:txBody>
      </p:sp>
      <p:cxnSp>
        <p:nvCxnSpPr>
          <p:cNvPr id="457" name="Connector 456"/>
          <p:cNvCxnSpPr/>
          <p:nvPr/>
        </p:nvCxnSpPr>
        <p:spPr>
          <a:xfrm>
            <a:off x="10588752" y="7982712"/>
            <a:ext cx="20116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Rectangle 457"/>
          <p:cNvSpPr/>
          <p:nvPr/>
        </p:nvSpPr>
        <p:spPr>
          <a:xfrm>
            <a:off x="10789920" y="7589520"/>
            <a:ext cx="502920" cy="77724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10891504" y="7837868"/>
            <a:ext cx="290607" cy="88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T-602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10848898" y="7973822"/>
            <a:ext cx="375818" cy="726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WASTE IBC</a:t>
            </a:r>
          </a:p>
        </p:txBody>
      </p:sp>
      <p:cxnSp>
        <p:nvCxnSpPr>
          <p:cNvPr id="461" name="Connector 460"/>
          <p:cNvCxnSpPr/>
          <p:nvPr/>
        </p:nvCxnSpPr>
        <p:spPr>
          <a:xfrm flipV="1">
            <a:off x="10424160" y="8147304"/>
            <a:ext cx="0" cy="265176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TextBox 461"/>
          <p:cNvSpPr txBox="1"/>
          <p:nvPr/>
        </p:nvSpPr>
        <p:spPr>
          <a:xfrm>
            <a:off x="9830028" y="8301418"/>
            <a:ext cx="530123" cy="75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20" b="1">
                <a:solidFill>
                  <a:srgbClr val="000000"/>
                </a:solidFill>
                <a:latin typeface="Arial"/>
              </a:rPr>
              <a:t>IA (BV-904A)</a:t>
            </a:r>
          </a:p>
        </p:txBody>
      </p:sp>
      <p:cxnSp>
        <p:nvCxnSpPr>
          <p:cNvPr id="463" name="Connector 462"/>
          <p:cNvCxnSpPr/>
          <p:nvPr/>
        </p:nvCxnSpPr>
        <p:spPr>
          <a:xfrm flipV="1">
            <a:off x="10698480" y="685800"/>
            <a:ext cx="0" cy="338328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TextBox 463"/>
          <p:cNvSpPr txBox="1"/>
          <p:nvPr/>
        </p:nvSpPr>
        <p:spPr>
          <a:xfrm>
            <a:off x="9894722" y="580771"/>
            <a:ext cx="748893" cy="155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1">
                <a:solidFill>
                  <a:srgbClr val="000000"/>
                </a:solidFill>
                <a:latin typeface="Arial"/>
              </a:rPr>
              <a:t>COLD VENT VS-601</a:t>
            </a:r>
          </a:p>
          <a:p>
            <a:pPr algn="r"/>
            <a:r>
              <a:rPr sz="459" b="1">
                <a:solidFill>
                  <a:srgbClr val="000000"/>
                </a:solidFill>
                <a:latin typeface="Arial"/>
              </a:rPr>
              <a:t>TO SAFE LOCATION</a:t>
            </a:r>
          </a:p>
        </p:txBody>
      </p:sp>
      <p:sp>
        <p:nvSpPr>
          <p:cNvPr id="465" name="Oval 464"/>
          <p:cNvSpPr/>
          <p:nvPr/>
        </p:nvSpPr>
        <p:spPr>
          <a:xfrm>
            <a:off x="10668761" y="1296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10668761" y="193624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10668761" y="4039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8" name="Connector 467"/>
          <p:cNvCxnSpPr/>
          <p:nvPr/>
        </p:nvCxnSpPr>
        <p:spPr>
          <a:xfrm>
            <a:off x="10012680" y="2377440"/>
            <a:ext cx="6858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TextBox 468"/>
          <p:cNvSpPr txBox="1"/>
          <p:nvPr/>
        </p:nvSpPr>
        <p:spPr>
          <a:xfrm>
            <a:off x="9082278" y="2337943"/>
            <a:ext cx="884682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FROM PSV-601 (SHT 1)</a:t>
            </a:r>
          </a:p>
        </p:txBody>
      </p:sp>
      <p:cxnSp>
        <p:nvCxnSpPr>
          <p:cNvPr id="470" name="Connector 469"/>
          <p:cNvCxnSpPr/>
          <p:nvPr/>
        </p:nvCxnSpPr>
        <p:spPr>
          <a:xfrm>
            <a:off x="10012680" y="2651760"/>
            <a:ext cx="6858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TextBox 470"/>
          <p:cNvSpPr txBox="1"/>
          <p:nvPr/>
        </p:nvSpPr>
        <p:spPr>
          <a:xfrm>
            <a:off x="8376932" y="2612263"/>
            <a:ext cx="1590027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FROM PSV-301 + NV-101/201/401 (SHT 1)</a:t>
            </a:r>
          </a:p>
        </p:txBody>
      </p:sp>
      <p:cxnSp>
        <p:nvCxnSpPr>
          <p:cNvPr id="472" name="Connector 471"/>
          <p:cNvCxnSpPr/>
          <p:nvPr/>
        </p:nvCxnSpPr>
        <p:spPr>
          <a:xfrm>
            <a:off x="10012680" y="2926080"/>
            <a:ext cx="6858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TextBox 472"/>
          <p:cNvSpPr txBox="1"/>
          <p:nvPr/>
        </p:nvSpPr>
        <p:spPr>
          <a:xfrm>
            <a:off x="9414205" y="2886583"/>
            <a:ext cx="552754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FROM PSV-603</a:t>
            </a:r>
          </a:p>
        </p:txBody>
      </p:sp>
      <p:cxnSp>
        <p:nvCxnSpPr>
          <p:cNvPr id="474" name="Connector 473"/>
          <p:cNvCxnSpPr/>
          <p:nvPr/>
        </p:nvCxnSpPr>
        <p:spPr>
          <a:xfrm>
            <a:off x="10012680" y="3200400"/>
            <a:ext cx="6858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5" name="TextBox 474"/>
          <p:cNvSpPr txBox="1"/>
          <p:nvPr/>
        </p:nvSpPr>
        <p:spPr>
          <a:xfrm>
            <a:off x="9414205" y="3160903"/>
            <a:ext cx="552754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FROM PSV-606</a:t>
            </a:r>
          </a:p>
        </p:txBody>
      </p:sp>
      <p:cxnSp>
        <p:nvCxnSpPr>
          <p:cNvPr id="476" name="Connector 475"/>
          <p:cNvCxnSpPr/>
          <p:nvPr/>
        </p:nvCxnSpPr>
        <p:spPr>
          <a:xfrm>
            <a:off x="10012680" y="3474720"/>
            <a:ext cx="6858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9414205" y="3435222"/>
            <a:ext cx="552754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FROM PSV-604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10753344" y="3537458"/>
            <a:ext cx="407913" cy="148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 i="1">
                <a:solidFill>
                  <a:srgbClr val="000000"/>
                </a:solidFill>
                <a:latin typeface="Arial"/>
              </a:rPr>
              <a:t>1"-VG-610</a:t>
            </a:r>
          </a:p>
          <a:p>
            <a:pPr algn="l"/>
            <a:r>
              <a:rPr sz="440" b="0" i="1">
                <a:solidFill>
                  <a:srgbClr val="000000"/>
                </a:solidFill>
                <a:latin typeface="Arial"/>
              </a:rPr>
              <a:t>(HOLD)</a:t>
            </a:r>
          </a:p>
        </p:txBody>
      </p:sp>
      <p:sp>
        <p:nvSpPr>
          <p:cNvPr id="479" name="Rectangle 478"/>
          <p:cNvSpPr/>
          <p:nvPr/>
        </p:nvSpPr>
        <p:spPr>
          <a:xfrm>
            <a:off x="11475720" y="502920"/>
            <a:ext cx="3246120" cy="7955279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11513553" y="581914"/>
            <a:ext cx="3170453" cy="98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INTERLOCK SCHEDULE (SIS ON THE PLC · C&amp;E 2407-IN-CE-001 A2)</a:t>
            </a:r>
          </a:p>
        </p:txBody>
      </p:sp>
      <p:cxnSp>
        <p:nvCxnSpPr>
          <p:cNvPr id="481" name="Connector 480"/>
          <p:cNvCxnSpPr/>
          <p:nvPr/>
        </p:nvCxnSpPr>
        <p:spPr>
          <a:xfrm>
            <a:off x="11475720" y="758952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TextBox 481"/>
          <p:cNvSpPr txBox="1"/>
          <p:nvPr/>
        </p:nvSpPr>
        <p:spPr>
          <a:xfrm>
            <a:off x="11663286" y="804735"/>
            <a:ext cx="228371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TRIP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12115800" y="804735"/>
            <a:ext cx="271748" cy="82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CAUSE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13522918" y="804735"/>
            <a:ext cx="184994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SET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13913767" y="804735"/>
            <a:ext cx="98240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14117278" y="804735"/>
            <a:ext cx="184994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ARM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14290071" y="804735"/>
            <a:ext cx="488632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XV 601/2/3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11584076" y="980058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PALL-203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12115800" y="980058"/>
            <a:ext cx="996330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H₂ SUPPLY PRESS. LOW-LOW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13450686" y="980058"/>
            <a:ext cx="329458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24 barg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13915842" y="980058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14162730" y="980058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14408886" y="980058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-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11584076" y="1153794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PALL-103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12115800" y="1153794"/>
            <a:ext cx="1035558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CO₂ SUPPLY PRESS. LOW-LOW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13450686" y="1153794"/>
            <a:ext cx="329458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24 barg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13915842" y="1153794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14162730" y="1153794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4408886" y="1153794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O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1584076" y="1327530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PAHH-301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2115800" y="1327530"/>
            <a:ext cx="1270924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ETHANOL SUPPLY PRESS. HIGH-HIGH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13450686" y="1327530"/>
            <a:ext cx="329458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62 barg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13915842" y="1327530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14162730" y="1327530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14408886" y="1327530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O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1584076" y="1501266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PALL-301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12115800" y="1501266"/>
            <a:ext cx="1192469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ETHANOL SUPPLY PRESS. LOW-LOW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13450686" y="1501266"/>
            <a:ext cx="329458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50 barg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13915842" y="1501266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14162730" y="1501266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R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14408886" y="1501266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-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11584076" y="1675002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PALL-601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12115800" y="1675002"/>
            <a:ext cx="1074785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R-601 INLET PRESS. LOW-LOW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13450686" y="1675002"/>
            <a:ext cx="329458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27 barg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13915842" y="1675002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14162730" y="1675002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R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4408886" y="1675002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-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11584076" y="1848738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PAHH-601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12115800" y="1848738"/>
            <a:ext cx="1153241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R-601 INLET PRESS. HIGH-HIGH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13450686" y="1848738"/>
            <a:ext cx="329458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33 barg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13915842" y="1848738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14162730" y="1848738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14408886" y="1848738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O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11584076" y="2022474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PAHH-608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12115800" y="2022474"/>
            <a:ext cx="917874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D-601 PRESS. HIGH-HIGH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13450686" y="2022474"/>
            <a:ext cx="329458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33 barg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13915842" y="2022474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14162730" y="2022474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14408886" y="2022474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O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11584076" y="2196211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TAHH-601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12115800" y="2196211"/>
            <a:ext cx="878646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E-601 TEMP. HIGH-HIGH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13470300" y="2196211"/>
            <a:ext cx="290230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167 °C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13915842" y="2196211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14162730" y="2196211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14408886" y="2196211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O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11584076" y="2369946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TAHH-602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12115800" y="2369946"/>
            <a:ext cx="1114013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R-601 INLET TEMP. HIGH-HIGH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13470300" y="2369946"/>
            <a:ext cx="290230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167 °C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13915842" y="2369946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14162730" y="2369946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14408886" y="2369946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O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11584076" y="2543682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TAHH-605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12115800" y="2543682"/>
            <a:ext cx="1153241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R-601 OUTLET TEMP. HIGH-HIGH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13470300" y="2543682"/>
            <a:ext cx="290230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167 °C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13915842" y="2543682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14162730" y="2543682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14408886" y="2543682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O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11584076" y="2717418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LALL-601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12115800" y="2717418"/>
            <a:ext cx="800191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D-601 LEVEL LOW-LOW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13509528" y="2717418"/>
            <a:ext cx="211775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10 %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13915842" y="2717418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14162730" y="2717418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R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14408886" y="2717418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O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11584076" y="2891154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LAHH-601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12115800" y="2891154"/>
            <a:ext cx="878646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D-601 LEVEL HIGH-HIGH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13509528" y="2891154"/>
            <a:ext cx="211775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80 %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13915842" y="2891154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14162730" y="2891154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14408886" y="2891154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O O O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11584076" y="3064890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LAHH-605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12115800" y="3064890"/>
            <a:ext cx="1153241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LS-605 D-601 LEVEL HIGH-HIGH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13509528" y="3064890"/>
            <a:ext cx="211775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85 %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13915842" y="3064890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14162730" y="3064890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14408886" y="3064890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O O O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11584076" y="3238626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LALL-602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12115800" y="3238626"/>
            <a:ext cx="800191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D-602 LEVEL LOW-LOW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13509528" y="3238626"/>
            <a:ext cx="211775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10 %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13915842" y="3238626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14162730" y="3238626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R</a:t>
            </a:r>
          </a:p>
        </p:txBody>
      </p:sp>
      <p:sp>
        <p:nvSpPr>
          <p:cNvPr id="571" name="TextBox 570"/>
          <p:cNvSpPr txBox="1"/>
          <p:nvPr/>
        </p:nvSpPr>
        <p:spPr>
          <a:xfrm>
            <a:off x="14408886" y="3238626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-</a:t>
            </a:r>
          </a:p>
        </p:txBody>
      </p:sp>
      <p:sp>
        <p:nvSpPr>
          <p:cNvPr id="572" name="TextBox 571"/>
          <p:cNvSpPr txBox="1"/>
          <p:nvPr/>
        </p:nvSpPr>
        <p:spPr>
          <a:xfrm>
            <a:off x="11584076" y="3412362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LAHH-602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12115800" y="3412362"/>
            <a:ext cx="878646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D-602 LEVEL HIGH-HIGH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13509528" y="3412362"/>
            <a:ext cx="211775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80 %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13915842" y="3412362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14162730" y="3412362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14408886" y="3412362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O -</a:t>
            </a:r>
          </a:p>
        </p:txBody>
      </p:sp>
      <p:sp>
        <p:nvSpPr>
          <p:cNvPr id="578" name="TextBox 577"/>
          <p:cNvSpPr txBox="1"/>
          <p:nvPr/>
        </p:nvSpPr>
        <p:spPr>
          <a:xfrm>
            <a:off x="11584076" y="3586098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FALL-701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12115800" y="3586098"/>
            <a:ext cx="1074785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CHILLED WATER FLOW LOW-LOW</a:t>
            </a:r>
          </a:p>
        </p:txBody>
      </p:sp>
      <p:sp>
        <p:nvSpPr>
          <p:cNvPr id="580" name="TextBox 579"/>
          <p:cNvSpPr txBox="1"/>
          <p:nvPr/>
        </p:nvSpPr>
        <p:spPr>
          <a:xfrm>
            <a:off x="13391845" y="3586098"/>
            <a:ext cx="44714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60.3 L/min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13915842" y="3586098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82" name="TextBox 581"/>
          <p:cNvSpPr txBox="1"/>
          <p:nvPr/>
        </p:nvSpPr>
        <p:spPr>
          <a:xfrm>
            <a:off x="14162730" y="3586098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R</a:t>
            </a:r>
          </a:p>
        </p:txBody>
      </p:sp>
      <p:sp>
        <p:nvSpPr>
          <p:cNvPr id="583" name="TextBox 582"/>
          <p:cNvSpPr txBox="1"/>
          <p:nvPr/>
        </p:nvSpPr>
        <p:spPr>
          <a:xfrm>
            <a:off x="14408886" y="3586098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O</a:t>
            </a:r>
          </a:p>
        </p:txBody>
      </p:sp>
      <p:sp>
        <p:nvSpPr>
          <p:cNvPr id="584" name="TextBox 583"/>
          <p:cNvSpPr txBox="1"/>
          <p:nvPr/>
        </p:nvSpPr>
        <p:spPr>
          <a:xfrm>
            <a:off x="11584076" y="3759834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TAHH-609</a:t>
            </a:r>
          </a:p>
        </p:txBody>
      </p:sp>
      <p:sp>
        <p:nvSpPr>
          <p:cNvPr id="585" name="TextBox 584"/>
          <p:cNvSpPr txBox="1"/>
          <p:nvPr/>
        </p:nvSpPr>
        <p:spPr>
          <a:xfrm>
            <a:off x="12115800" y="3759834"/>
            <a:ext cx="1153241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E-602 OUTLET TEMP. HIGH-HIGH</a:t>
            </a:r>
          </a:p>
        </p:txBody>
      </p:sp>
      <p:sp>
        <p:nvSpPr>
          <p:cNvPr id="586" name="TextBox 585"/>
          <p:cNvSpPr txBox="1"/>
          <p:nvPr/>
        </p:nvSpPr>
        <p:spPr>
          <a:xfrm>
            <a:off x="13489914" y="3759834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34 °C</a:t>
            </a:r>
          </a:p>
        </p:txBody>
      </p:sp>
      <p:sp>
        <p:nvSpPr>
          <p:cNvPr id="587" name="TextBox 586"/>
          <p:cNvSpPr txBox="1"/>
          <p:nvPr/>
        </p:nvSpPr>
        <p:spPr>
          <a:xfrm>
            <a:off x="13915842" y="3759834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88" name="TextBox 587"/>
          <p:cNvSpPr txBox="1"/>
          <p:nvPr/>
        </p:nvSpPr>
        <p:spPr>
          <a:xfrm>
            <a:off x="14162730" y="3759834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89" name="TextBox 588"/>
          <p:cNvSpPr txBox="1"/>
          <p:nvPr/>
        </p:nvSpPr>
        <p:spPr>
          <a:xfrm>
            <a:off x="14408886" y="3759834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O</a:t>
            </a:r>
          </a:p>
        </p:txBody>
      </p:sp>
      <p:sp>
        <p:nvSpPr>
          <p:cNvPr id="590" name="TextBox 589"/>
          <p:cNvSpPr txBox="1"/>
          <p:nvPr/>
        </p:nvSpPr>
        <p:spPr>
          <a:xfrm>
            <a:off x="11584076" y="3933570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PALL-902</a:t>
            </a:r>
          </a:p>
        </p:txBody>
      </p:sp>
      <p:sp>
        <p:nvSpPr>
          <p:cNvPr id="591" name="TextBox 590"/>
          <p:cNvSpPr txBox="1"/>
          <p:nvPr/>
        </p:nvSpPr>
        <p:spPr>
          <a:xfrm>
            <a:off x="12115800" y="3933570"/>
            <a:ext cx="1035558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INSTR. AIR HEADER LOW-LOW</a:t>
            </a:r>
          </a:p>
        </p:txBody>
      </p:sp>
      <p:sp>
        <p:nvSpPr>
          <p:cNvPr id="592" name="TextBox 591"/>
          <p:cNvSpPr txBox="1"/>
          <p:nvPr/>
        </p:nvSpPr>
        <p:spPr>
          <a:xfrm>
            <a:off x="13431072" y="3933570"/>
            <a:ext cx="368686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0.9 barg</a:t>
            </a:r>
          </a:p>
        </p:txBody>
      </p:sp>
      <p:sp>
        <p:nvSpPr>
          <p:cNvPr id="593" name="TextBox 592"/>
          <p:cNvSpPr txBox="1"/>
          <p:nvPr/>
        </p:nvSpPr>
        <p:spPr>
          <a:xfrm>
            <a:off x="13915842" y="3933570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14162730" y="3933570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4408886" y="3933570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- - -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11584076" y="4107307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PAHH-902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2115800" y="4107307"/>
            <a:ext cx="1114013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INSTR. AIR HEADER HIGH-HIGH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13431072" y="4107307"/>
            <a:ext cx="368686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5.1 barg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3915842" y="4107307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14162730" y="4107307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14408886" y="4107307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- - -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11625567" y="4281043"/>
            <a:ext cx="303809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ESD-SW</a:t>
            </a:r>
          </a:p>
        </p:txBody>
      </p:sp>
      <p:sp>
        <p:nvSpPr>
          <p:cNvPr id="603" name="TextBox 602"/>
          <p:cNvSpPr txBox="1"/>
          <p:nvPr/>
        </p:nvSpPr>
        <p:spPr>
          <a:xfrm>
            <a:off x="12115800" y="4281043"/>
            <a:ext cx="1114013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OPERATOR EMERGENCY SHUTDOWN</a:t>
            </a:r>
          </a:p>
        </p:txBody>
      </p:sp>
      <p:sp>
        <p:nvSpPr>
          <p:cNvPr id="604" name="TextBox 603"/>
          <p:cNvSpPr txBox="1"/>
          <p:nvPr/>
        </p:nvSpPr>
        <p:spPr>
          <a:xfrm>
            <a:off x="13568370" y="4281043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13915842" y="4281043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14162730" y="4281043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14408886" y="4281043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 C O</a:t>
            </a:r>
          </a:p>
        </p:txBody>
      </p:sp>
      <p:cxnSp>
        <p:nvCxnSpPr>
          <p:cNvPr id="608" name="Connector 607"/>
          <p:cNvCxnSpPr/>
          <p:nvPr/>
        </p:nvCxnSpPr>
        <p:spPr>
          <a:xfrm>
            <a:off x="11475720" y="758952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11475720" y="932688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11475720" y="1106424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11475720" y="1280160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11475720" y="1453896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11475720" y="1627632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11475720" y="1801368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11475720" y="1975104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11475720" y="2148840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11475720" y="2322576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1475720" y="2496312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11475720" y="2670048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1475720" y="2843784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11475720" y="3017520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1475720" y="3191256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11475720" y="3364992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>
            <a:off x="11475720" y="3538728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11475720" y="3712464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1475720" y="3886200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11475720" y="4059935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11475720" y="4233672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11475720" y="4407408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12079224" y="758952"/>
            <a:ext cx="0" cy="3648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13377672" y="758952"/>
            <a:ext cx="0" cy="3648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13853160" y="758952"/>
            <a:ext cx="0" cy="3648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14072616" y="758952"/>
            <a:ext cx="0" cy="3648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14346936" y="758952"/>
            <a:ext cx="0" cy="3648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11530584" y="4495133"/>
            <a:ext cx="1879520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1">
                <a:solidFill>
                  <a:srgbClr val="000000"/>
                </a:solidFill>
                <a:latin typeface="Arial"/>
              </a:rPr>
              <a:t>ON ANY TRIP (COMMON SHUTDOWN, OTS sisTrip):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11530584" y="4609433"/>
            <a:ext cx="2742857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 CLOSE XV-101, XV-201, XV-301 · FV-101 / FV-201 TO 0 % · STOP P-301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11530584" y="4723733"/>
            <a:ext cx="2702737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 OPEN XV-401 AND FV-401 100 % (N₂ PURGE) · E-601 AND E1/E2/E3 OFF*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11530584" y="4838033"/>
            <a:ext cx="2582379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 ALL FIC/TIC TO MAN, OUTPUT 0 · XV-601/602 PER COLUMN: C CLOSE,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11530584" y="4952333"/>
            <a:ext cx="2421902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 O OPEN, - NO ACTION · XV-603: O = OPEN (DEPRESSURE TO CV).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11530584" y="5066633"/>
            <a:ext cx="2770632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1">
                <a:solidFill>
                  <a:srgbClr val="000000"/>
                </a:solidFill>
                <a:latin typeface="Arial"/>
              </a:rPr>
              <a:t>ARM: A = ALWAYS · R = RUN ONLY (BYPASSED IN READY FOR START-UP).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11530584" y="5180933"/>
            <a:ext cx="2685764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1">
                <a:solidFill>
                  <a:srgbClr val="000000"/>
                </a:solidFill>
                <a:latin typeface="Arial"/>
              </a:rPr>
              <a:t>RESET: TRIPPED → READY BY OPERATOR WHEN NO "A" TRIP IS ACTIVE;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11530584" y="5295233"/>
            <a:ext cx="1940471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 READY → RUN ("ARM") ONLY WITH ALL PERMISSIVES: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11530584" y="5409533"/>
            <a:ext cx="1699755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 · R-601 INLET PRESSURE PT-601 &gt;= 29 barg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11530584" y="5523833"/>
            <a:ext cx="1459039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 · P-301 RUNNING, PT-301 &gt;= 53 barg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11530584" y="5638133"/>
            <a:ext cx="1539278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 · CHILLED WATER FT-701 &gt;= 63.7 L/min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11530584" y="5752433"/>
            <a:ext cx="1218323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 · D-601 LEVEL LT-601 &gt;= 20 %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11530584" y="5866733"/>
            <a:ext cx="1218323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 · D-602 LEVEL LT-602 &gt;= 20 %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11530584" y="5981033"/>
            <a:ext cx="1298562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 · H₂ AND CO₂ SUPPLY &gt;= 27 barg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11530584" y="6095333"/>
            <a:ext cx="1378800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 · XV-603 DEPRESSURE VALVE CLOSED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11530584" y="6209633"/>
            <a:ext cx="2218991" cy="805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1">
                <a:solidFill>
                  <a:srgbClr val="000000"/>
                </a:solidFill>
                <a:latin typeface="Arial"/>
              </a:rPr>
              <a:t>XV-603 CLOSE BLOCKED BELOW 2 barg AIR (FAILS OPEN).</a:t>
            </a:r>
          </a:p>
        </p:txBody>
      </p:sp>
      <p:cxnSp>
        <p:nvCxnSpPr>
          <p:cNvPr id="651" name="Connector 650"/>
          <p:cNvCxnSpPr/>
          <p:nvPr/>
        </p:nvCxnSpPr>
        <p:spPr>
          <a:xfrm>
            <a:off x="11475720" y="6455664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2" name="TextBox 651"/>
          <p:cNvSpPr txBox="1"/>
          <p:nvPr/>
        </p:nvSpPr>
        <p:spPr>
          <a:xfrm>
            <a:off x="11856796" y="6534658"/>
            <a:ext cx="2483967" cy="98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RELIEF VALVE SCHEDULE (RLB 2407-PE-RLB-001 A3)</a:t>
            </a:r>
          </a:p>
        </p:txBody>
      </p:sp>
      <p:sp>
        <p:nvSpPr>
          <p:cNvPr id="653" name="TextBox 652"/>
          <p:cNvSpPr txBox="1"/>
          <p:nvPr/>
        </p:nvSpPr>
        <p:spPr>
          <a:xfrm>
            <a:off x="11669515" y="6759067"/>
            <a:ext cx="179336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PSV</a:t>
            </a:r>
          </a:p>
        </p:txBody>
      </p:sp>
      <p:sp>
        <p:nvSpPr>
          <p:cNvPr id="654" name="TextBox 653"/>
          <p:cNvSpPr txBox="1"/>
          <p:nvPr/>
        </p:nvSpPr>
        <p:spPr>
          <a:xfrm>
            <a:off x="12215012" y="6759067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PROTECTS</a:t>
            </a:r>
          </a:p>
        </p:txBody>
      </p:sp>
      <p:sp>
        <p:nvSpPr>
          <p:cNvPr id="655" name="TextBox 654"/>
          <p:cNvSpPr txBox="1"/>
          <p:nvPr/>
        </p:nvSpPr>
        <p:spPr>
          <a:xfrm>
            <a:off x="12809372" y="6759067"/>
            <a:ext cx="3867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SET barg</a:t>
            </a:r>
          </a:p>
        </p:txBody>
      </p:sp>
      <p:sp>
        <p:nvSpPr>
          <p:cNvPr id="656" name="TextBox 655"/>
          <p:cNvSpPr txBox="1"/>
          <p:nvPr/>
        </p:nvSpPr>
        <p:spPr>
          <a:xfrm>
            <a:off x="13384415" y="6759067"/>
            <a:ext cx="635736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GOVERNING CASE</a:t>
            </a:r>
          </a:p>
        </p:txBody>
      </p:sp>
      <p:sp>
        <p:nvSpPr>
          <p:cNvPr id="657" name="TextBox 656"/>
          <p:cNvSpPr txBox="1"/>
          <p:nvPr/>
        </p:nvSpPr>
        <p:spPr>
          <a:xfrm>
            <a:off x="14337106" y="6759067"/>
            <a:ext cx="220827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kg/h</a:t>
            </a:r>
          </a:p>
        </p:txBody>
      </p:sp>
      <p:sp>
        <p:nvSpPr>
          <p:cNvPr id="658" name="TextBox 657"/>
          <p:cNvSpPr txBox="1"/>
          <p:nvPr/>
        </p:nvSpPr>
        <p:spPr>
          <a:xfrm>
            <a:off x="11586533" y="6932803"/>
            <a:ext cx="345300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PSV-301</a:t>
            </a:r>
          </a:p>
        </p:txBody>
      </p:sp>
      <p:sp>
        <p:nvSpPr>
          <p:cNvPr id="659" name="TextBox 658"/>
          <p:cNvSpPr txBox="1"/>
          <p:nvPr/>
        </p:nvSpPr>
        <p:spPr>
          <a:xfrm>
            <a:off x="12282906" y="6932803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T-301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12955722" y="6932803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13596396" y="6932803"/>
            <a:ext cx="211775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FIRE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14361246" y="6932803"/>
            <a:ext cx="172547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543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11586533" y="7106539"/>
            <a:ext cx="345300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PSV-302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12145609" y="7106539"/>
            <a:ext cx="525597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P-301 DISCH.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12798811" y="7106539"/>
            <a:ext cx="407913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36 (HOLD)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13400257" y="7106539"/>
            <a:ext cx="60405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BLOCKED OUTLET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14341632" y="7106539"/>
            <a:ext cx="211775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14.4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11586533" y="7280275"/>
            <a:ext cx="345300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PSV-601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12125995" y="7280275"/>
            <a:ext cx="564824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E-601 / R-601</a:t>
            </a:r>
          </a:p>
        </p:txBody>
      </p:sp>
      <p:sp>
        <p:nvSpPr>
          <p:cNvPr id="670" name="TextBox 669"/>
          <p:cNvSpPr txBox="1"/>
          <p:nvPr/>
        </p:nvSpPr>
        <p:spPr>
          <a:xfrm>
            <a:off x="12936108" y="7280275"/>
            <a:ext cx="133319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13400257" y="7280275"/>
            <a:ext cx="60405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FIRE, GAS EXP.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14322018" y="7280275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400.1</a:t>
            </a:r>
          </a:p>
        </p:txBody>
      </p:sp>
      <p:sp>
        <p:nvSpPr>
          <p:cNvPr id="673" name="TextBox 672"/>
          <p:cNvSpPr txBox="1"/>
          <p:nvPr/>
        </p:nvSpPr>
        <p:spPr>
          <a:xfrm>
            <a:off x="11586533" y="7454011"/>
            <a:ext cx="345300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PSV-602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12165223" y="7454011"/>
            <a:ext cx="486369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E-602 SHELL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12955722" y="7454011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13439485" y="7454011"/>
            <a:ext cx="525597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TUBE RUPTURE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14302404" y="7454011"/>
            <a:ext cx="290230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VENDOR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11586533" y="7627747"/>
            <a:ext cx="345300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PSV-603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12282906" y="7627747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D-601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12936108" y="7627747"/>
            <a:ext cx="133319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13400257" y="7627747"/>
            <a:ext cx="60405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FIRE, GAS EXP.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14322018" y="7627747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294.4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11586533" y="7801483"/>
            <a:ext cx="345300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PSV-604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12282906" y="7801483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T-601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12955722" y="7801483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86" name="TextBox 685"/>
          <p:cNvSpPr txBox="1"/>
          <p:nvPr/>
        </p:nvSpPr>
        <p:spPr>
          <a:xfrm>
            <a:off x="13596396" y="7801483"/>
            <a:ext cx="211775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FIRE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14322018" y="7801483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179.8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11586533" y="7975219"/>
            <a:ext cx="345300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PSV-606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12282906" y="7975219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D-602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12955722" y="7975219"/>
            <a:ext cx="940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13302188" y="7975219"/>
            <a:ext cx="800191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FIRE (BLOW-BY 22.7)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14322018" y="7975219"/>
            <a:ext cx="251002" cy="789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189.1</a:t>
            </a:r>
          </a:p>
        </p:txBody>
      </p:sp>
      <p:cxnSp>
        <p:nvCxnSpPr>
          <p:cNvPr id="693" name="Connector 692"/>
          <p:cNvCxnSpPr/>
          <p:nvPr/>
        </p:nvCxnSpPr>
        <p:spPr>
          <a:xfrm>
            <a:off x="11475720" y="6711696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11475720" y="6885432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11475720" y="7059168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11475720" y="7232904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11475720" y="7406640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11475720" y="7580375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11475720" y="7754112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11475720" y="7927848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11475720" y="8101583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>
            <a:off x="12042648" y="6711696"/>
            <a:ext cx="0" cy="138988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12774168" y="6711696"/>
            <a:ext cx="0" cy="138988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>
            <a:off x="13231368" y="6711696"/>
            <a:ext cx="0" cy="138988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14173200" y="6711696"/>
            <a:ext cx="0" cy="138988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6" name="TextBox 705"/>
          <p:cNvSpPr txBox="1"/>
          <p:nvPr/>
        </p:nvSpPr>
        <p:spPr>
          <a:xfrm>
            <a:off x="11530584" y="8171814"/>
            <a:ext cx="3153857" cy="789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ALL PSVs: INLET BV LO; BYPASS BV NC + NV; NO OUTLET ISOLATION (NOTE 14, SHT 1).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502920" y="8656066"/>
            <a:ext cx="1744675" cy="98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>NOTES (SHEET 1 NOTES 1-19 APPLY)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502920" y="8778608"/>
            <a:ext cx="4423410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20. AT DESIGN: E-602 OUTLET TT-609 30.4 °C, DUTY 1.06 kW OF 5.3 kW RATED; CHILLED WATER 67.0 L/min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502920" y="8868956"/>
            <a:ext cx="478002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AT 15 °C (dT 0.23 K). D-601 PT-608 30.09 barg; VENT FT-603 37.4 NL/min (H₂ 84.4, CO₂ 14.9, CO 0.66 %);</a:t>
            </a:r>
          </a:p>
        </p:txBody>
      </p:sp>
      <p:sp>
        <p:nvSpPr>
          <p:cNvPr id="710" name="TextBox 709"/>
          <p:cNvSpPr txBox="1"/>
          <p:nvPr/>
        </p:nvSpPr>
        <p:spPr>
          <a:xfrm>
            <a:off x="502920" y="8959303"/>
            <a:ext cx="4735449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LIQUID TO T-601 69.3 mL/min (MeOH 1.69 wt%). OTS ALARM LIMITS FROM ALM; TRIP SETTINGS FROM TRIPS / K.</a:t>
            </a:r>
          </a:p>
        </p:txBody>
      </p:sp>
      <p:sp>
        <p:nvSpPr>
          <p:cNvPr id="711" name="TextBox 710"/>
          <p:cNvSpPr txBox="1"/>
          <p:nvPr/>
        </p:nvSpPr>
        <p:spPr>
          <a:xfrm>
            <a:off x="502920" y="9049651"/>
            <a:ext cx="4200525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21. LIC-601 / LIC-602 ARE ON/OFF: XV-601 OPENS AT 50 %, CLOSES AT 40 %; XV-602 OPENS AT 50 %,</a:t>
            </a:r>
          </a:p>
        </p:txBody>
      </p:sp>
      <p:sp>
        <p:nvSpPr>
          <p:cNvPr id="712" name="TextBox 711"/>
          <p:cNvSpPr txBox="1"/>
          <p:nvPr/>
        </p:nvSpPr>
        <p:spPr>
          <a:xfrm>
            <a:off x="502920" y="9139999"/>
            <a:ext cx="3977640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CLOSES AT 25 %. XV-601 IS ALSO THE LALL-601 TRIP VALVE (SHARED FINAL ELEMENT): HOLD.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502920" y="9230347"/>
            <a:ext cx="3977640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22. LALL/LAHH-601 AND -602 USE THE CONTROL TRANSMITTERS LT-601/602; TAHH-601 USES TT-601</a:t>
            </a:r>
          </a:p>
        </p:txBody>
      </p:sp>
      <p:sp>
        <p:nvSpPr>
          <p:cNvPr id="714" name="TextBox 713"/>
          <p:cNvSpPr txBox="1"/>
          <p:nvPr/>
        </p:nvSpPr>
        <p:spPr>
          <a:xfrm>
            <a:off x="502920" y="9320695"/>
            <a:ext cx="3977640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(TIC-601 PV). LAHH-605 (LS-605) IS INDEPENDENT. SEPARATE SIS SENSORS: HOLD (NOTE 5).</a:t>
            </a:r>
          </a:p>
        </p:txBody>
      </p:sp>
      <p:sp>
        <p:nvSpPr>
          <p:cNvPr id="715" name="TextBox 714"/>
          <p:cNvSpPr txBox="1"/>
          <p:nvPr/>
        </p:nvSpPr>
        <p:spPr>
          <a:xfrm>
            <a:off x="502920" y="9411042"/>
            <a:ext cx="4378833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23. XV-603 DEPRESSURES THROUGH BV-645 / PR-601 / BV-621 AS ON P&amp;ID A6; THE OTS VENTS DIRECT: TBC.</a:t>
            </a:r>
          </a:p>
        </p:txBody>
      </p:sp>
      <p:sp>
        <p:nvSpPr>
          <p:cNvPr id="716" name="TextBox 715"/>
          <p:cNvSpPr txBox="1"/>
          <p:nvPr/>
        </p:nvSpPr>
        <p:spPr>
          <a:xfrm>
            <a:off x="5852160" y="8656066"/>
            <a:ext cx="54864" cy="98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17" name="TextBox 716"/>
          <p:cNvSpPr txBox="1"/>
          <p:nvPr/>
        </p:nvSpPr>
        <p:spPr>
          <a:xfrm>
            <a:off x="5852160" y="8778608"/>
            <a:ext cx="3977640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24. E-602 TUBE (PROCESS) DESIGN 33 barg (EQL A1) IS BELOW THE 36 barg SET OF PSV-601/603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5852160" y="8868956"/>
            <a:ext cx="210540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AND EQUAL TO PAHH-601/608 (33 barg): HOLD.</a:t>
            </a:r>
          </a:p>
        </p:txBody>
      </p:sp>
      <p:sp>
        <p:nvSpPr>
          <p:cNvPr id="719" name="TextBox 718"/>
          <p:cNvSpPr txBox="1"/>
          <p:nvPr/>
        </p:nvSpPr>
        <p:spPr>
          <a:xfrm>
            <a:off x="5852160" y="8959303"/>
            <a:ext cx="402221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25. BV-622 APPEARS TWICE IN INL R4 (PSV-602 AND PSV-606 BYPASS); THE BPV-602 BYPASS VALVE</a:t>
            </a:r>
          </a:p>
        </p:txBody>
      </p:sp>
      <p:sp>
        <p:nvSpPr>
          <p:cNvPr id="720" name="TextBox 719"/>
          <p:cNvSpPr txBox="1"/>
          <p:nvPr/>
        </p:nvSpPr>
        <p:spPr>
          <a:xfrm>
            <a:off x="5852160" y="9049651"/>
            <a:ext cx="3442716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IS BV-627 AND THE PSV-606 BYPASS IS BV-646 / NV-611 (NEW NUMBERS): HOLD.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5852160" y="9139999"/>
            <a:ext cx="4289679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26. GC AT-610 WITH AI-610…613 (H₂, CO₂, CO, N₂ DRY %%) AS IN THE OTS; GC CYCLE 4 min (ASSUMED).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5852160" y="9230347"/>
            <a:ext cx="4512564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27. T-601: 2 SHELLS (EQL); LG-601 C/W BV-641/642 NOT SHOWN. T-601 DESIGN ATM vs PSV-604 2 barg: TBC.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5852160" y="9320695"/>
            <a:ext cx="4111371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28. COLD-VENT HEADER / VS-601 SIZE HOLD (RELIEF LOADS IN THE SCHEDULE); NO GAS DETECTION OR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5852160" y="9411042"/>
            <a:ext cx="3799332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FLAME ARRESTER IN THE DOCUMENTS: TBC. SEAL-POT DRAIN BV-644 (P&amp;ID A6) NOT SHOWN.</a:t>
            </a:r>
          </a:p>
        </p:txBody>
      </p:sp>
      <p:sp>
        <p:nvSpPr>
          <p:cNvPr id="725" name="TextBox 724"/>
          <p:cNvSpPr txBox="1"/>
          <p:nvPr/>
        </p:nvSpPr>
        <p:spPr>
          <a:xfrm>
            <a:off x="5852160" y="9501390"/>
            <a:ext cx="4557141" cy="88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29. FAIL POSITIONS ON LOSS OF AIR (PT-902 &lt; 2 barg): XV-601/602 CLOSE, XV-603 OPENS. FT-701 TYPE TBD.</a:t>
            </a:r>
          </a:p>
        </p:txBody>
      </p:sp>
      <p:cxnSp>
        <p:nvCxnSpPr>
          <p:cNvPr id="726" name="Connector 725"/>
          <p:cNvCxnSpPr/>
          <p:nvPr/>
        </p:nvCxnSpPr>
        <p:spPr>
          <a:xfrm>
            <a:off x="320040" y="8595360"/>
            <a:ext cx="112928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11750040" y="8814815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11750040" y="8988552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5" name="TextBox 734"/>
          <p:cNvSpPr txBox="1"/>
          <p:nvPr/>
        </p:nvSpPr>
        <p:spPr>
          <a:xfrm>
            <a:off x="11750040" y="8641080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736" name="TextBox 735"/>
          <p:cNvSpPr txBox="1"/>
          <p:nvPr/>
        </p:nvSpPr>
        <p:spPr>
          <a:xfrm>
            <a:off x="12070080" y="8641080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737" name="TextBox 736"/>
          <p:cNvSpPr txBox="1"/>
          <p:nvPr/>
        </p:nvSpPr>
        <p:spPr>
          <a:xfrm>
            <a:off x="14026896" y="8641080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738" name="TextBox 737"/>
          <p:cNvSpPr txBox="1"/>
          <p:nvPr/>
        </p:nvSpPr>
        <p:spPr>
          <a:xfrm>
            <a:off x="11750040" y="8814815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REF</a:t>
            </a:r>
          </a:p>
        </p:txBody>
      </p:sp>
      <p:sp>
        <p:nvSpPr>
          <p:cNvPr id="739" name="TextBox 738"/>
          <p:cNvSpPr txBox="1"/>
          <p:nvPr/>
        </p:nvSpPr>
        <p:spPr>
          <a:xfrm>
            <a:off x="12070080" y="8814815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MTJA-OTS-PID-001 rev A · used in the OTS displays</a:t>
            </a:r>
          </a:p>
        </p:txBody>
      </p:sp>
      <p:sp>
        <p:nvSpPr>
          <p:cNvPr id="740" name="TextBox 739"/>
          <p:cNvSpPr txBox="1"/>
          <p:nvPr/>
        </p:nvSpPr>
        <p:spPr>
          <a:xfrm>
            <a:off x="14026896" y="8814815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IN PAGE</a:t>
            </a:r>
          </a:p>
        </p:txBody>
      </p:sp>
      <p:sp>
        <p:nvSpPr>
          <p:cNvPr id="741" name="TextBox 740"/>
          <p:cNvSpPr txBox="1"/>
          <p:nvPr/>
        </p:nvSpPr>
        <p:spPr>
          <a:xfrm>
            <a:off x="11750040" y="8988552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742" name="TextBox 741"/>
          <p:cNvSpPr txBox="1"/>
          <p:nvPr/>
        </p:nvSpPr>
        <p:spPr>
          <a:xfrm>
            <a:off x="12070080" y="8988552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ALTERNATIVE VERSION, EPC STANDARD</a:t>
            </a:r>
          </a:p>
        </p:txBody>
      </p:sp>
      <p:sp>
        <p:nvSpPr>
          <p:cNvPr id="743" name="TextBox 742"/>
          <p:cNvSpPr txBox="1"/>
          <p:nvPr/>
        </p:nvSpPr>
        <p:spPr>
          <a:xfrm>
            <a:off x="14026896" y="8988552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24-OCT-26</a:t>
            </a:r>
          </a:p>
        </p:txBody>
      </p:sp>
      <p:sp>
        <p:nvSpPr>
          <p:cNvPr id="744" name="Rectangle 743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5" name="Connector 744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8" name="TextBox 747"/>
          <p:cNvSpPr txBox="1"/>
          <p:nvPr/>
        </p:nvSpPr>
        <p:spPr>
          <a:xfrm>
            <a:off x="12008700" y="9204705"/>
            <a:ext cx="2536774" cy="98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CHULALONGKORN UNIVERSITY · CHEMICAL ENGINEERING</a:t>
            </a:r>
          </a:p>
        </p:txBody>
      </p:sp>
      <p:sp>
        <p:nvSpPr>
          <p:cNvPr id="749" name="TextBox 748"/>
          <p:cNvSpPr txBox="1"/>
          <p:nvPr/>
        </p:nvSpPr>
        <p:spPr>
          <a:xfrm>
            <a:off x="11855287" y="9340659"/>
            <a:ext cx="2843601" cy="82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MTJA CO₂-METHANOL PILOT · TEACHING RE-DRAWING (NOT FOR CONSTRUCTION)</a:t>
            </a:r>
          </a:p>
        </p:txBody>
      </p:sp>
      <p:sp>
        <p:nvSpPr>
          <p:cNvPr id="750" name="TextBox 749"/>
          <p:cNvSpPr txBox="1"/>
          <p:nvPr/>
        </p:nvSpPr>
        <p:spPr>
          <a:xfrm>
            <a:off x="12102998" y="9518395"/>
            <a:ext cx="2348179" cy="1107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P&amp;ID — R-601 PILOT TRICKLE-BED REACTOR</a:t>
            </a:r>
          </a:p>
        </p:txBody>
      </p:sp>
      <p:sp>
        <p:nvSpPr>
          <p:cNvPr id="751" name="TextBox 750"/>
          <p:cNvSpPr txBox="1"/>
          <p:nvPr/>
        </p:nvSpPr>
        <p:spPr>
          <a:xfrm>
            <a:off x="11999271" y="9665081"/>
            <a:ext cx="2555633" cy="91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000000"/>
                </a:solidFill>
                <a:latin typeface="Arial"/>
              </a:rPr>
              <a:t>ALTERNATIVE VERSION · SEPARATION · VENT · UTILITIES</a:t>
            </a:r>
          </a:p>
        </p:txBody>
      </p:sp>
      <p:cxnSp>
        <p:nvCxnSpPr>
          <p:cNvPr id="752" name="Connector 751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11668715" y="9865106"/>
            <a:ext cx="926172" cy="1488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DRAWN</a:t>
            </a:r>
          </a:p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sp>
        <p:nvSpPr>
          <p:cNvPr id="756" name="TextBox 755"/>
          <p:cNvSpPr txBox="1"/>
          <p:nvPr/>
        </p:nvSpPr>
        <p:spPr>
          <a:xfrm>
            <a:off x="12769824" y="9865106"/>
            <a:ext cx="251002" cy="1488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CHK'D</a:t>
            </a:r>
          </a:p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--</a:t>
            </a:r>
          </a:p>
        </p:txBody>
      </p:sp>
      <p:sp>
        <p:nvSpPr>
          <p:cNvPr id="757" name="TextBox 756"/>
          <p:cNvSpPr txBox="1"/>
          <p:nvPr/>
        </p:nvSpPr>
        <p:spPr>
          <a:xfrm>
            <a:off x="13533348" y="9865106"/>
            <a:ext cx="251002" cy="1488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APP'D</a:t>
            </a:r>
          </a:p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--</a:t>
            </a:r>
          </a:p>
        </p:txBody>
      </p:sp>
      <p:sp>
        <p:nvSpPr>
          <p:cNvPr id="758" name="TextBox 757"/>
          <p:cNvSpPr txBox="1"/>
          <p:nvPr/>
        </p:nvSpPr>
        <p:spPr>
          <a:xfrm>
            <a:off x="14218417" y="9865106"/>
            <a:ext cx="407913" cy="1488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DATE</a:t>
            </a:r>
          </a:p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24-OCT-26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11821477" y="10139045"/>
            <a:ext cx="620649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R601-PID-001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12801028" y="10139045"/>
            <a:ext cx="188595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761" name="TextBox 760"/>
          <p:cNvSpPr txBox="1"/>
          <p:nvPr/>
        </p:nvSpPr>
        <p:spPr>
          <a:xfrm>
            <a:off x="13497687" y="10139045"/>
            <a:ext cx="322326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14261211" y="10139045"/>
            <a:ext cx="322326" cy="1678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