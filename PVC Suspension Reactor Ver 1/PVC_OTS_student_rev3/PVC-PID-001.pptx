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4758416" cy="10323576"/>
          </a:xfrm>
          <a:prstGeom prst="rect">
            <a:avLst/>
          </a:prstGeom>
          <a:noFill/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4484096" cy="10049256"/>
          </a:xfrm>
          <a:prstGeom prst="rect">
            <a:avLst/>
          </a:prstGeom>
          <a:noFill/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087368" y="3749039"/>
            <a:ext cx="2432304" cy="3685032"/>
          </a:xfrm>
          <a:custGeom>
            <a:avLst/>
            <a:gdLst/>
            <a:ahLst/>
            <a:cxnLst/>
            <a:rect l="l" t="t" r="r" b="b"/>
            <a:pathLst>
              <a:path w="2432304" h="3685032">
                <a:moveTo>
                  <a:pt x="0" y="0"/>
                </a:moveTo>
                <a:lnTo>
                  <a:pt x="0" y="2468881"/>
                </a:lnTo>
                <a:lnTo>
                  <a:pt x="18476" y="2680063"/>
                </a:lnTo>
                <a:lnTo>
                  <a:pt x="73342" y="2884829"/>
                </a:lnTo>
                <a:lnTo>
                  <a:pt x="162933" y="3076957"/>
                </a:lnTo>
                <a:lnTo>
                  <a:pt x="284525" y="3250608"/>
                </a:lnTo>
                <a:lnTo>
                  <a:pt x="434424" y="3400507"/>
                </a:lnTo>
                <a:lnTo>
                  <a:pt x="608075" y="3522099"/>
                </a:lnTo>
                <a:lnTo>
                  <a:pt x="800203" y="3611690"/>
                </a:lnTo>
                <a:lnTo>
                  <a:pt x="1004969" y="3666556"/>
                </a:lnTo>
                <a:lnTo>
                  <a:pt x="1216152" y="3685032"/>
                </a:lnTo>
                <a:lnTo>
                  <a:pt x="1427334" y="3666556"/>
                </a:lnTo>
                <a:lnTo>
                  <a:pt x="1632100" y="3611690"/>
                </a:lnTo>
                <a:lnTo>
                  <a:pt x="1824228" y="3522099"/>
                </a:lnTo>
                <a:lnTo>
                  <a:pt x="1997879" y="3400507"/>
                </a:lnTo>
                <a:lnTo>
                  <a:pt x="2147778" y="3250608"/>
                </a:lnTo>
                <a:lnTo>
                  <a:pt x="2269370" y="3076957"/>
                </a:lnTo>
                <a:lnTo>
                  <a:pt x="2358961" y="2884829"/>
                </a:lnTo>
                <a:lnTo>
                  <a:pt x="2413827" y="2680063"/>
                </a:lnTo>
                <a:lnTo>
                  <a:pt x="2432304" y="2468881"/>
                </a:lnTo>
                <a:lnTo>
                  <a:pt x="2432304" y="0"/>
                </a:lnTo>
              </a:path>
            </a:pathLst>
          </a:custGeom>
          <a:noFill/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087368" y="3749039"/>
            <a:ext cx="118872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6400800" y="3749039"/>
            <a:ext cx="118872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206240" y="3017520"/>
            <a:ext cx="2194560" cy="4297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261103" y="3749039"/>
            <a:ext cx="2084833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532120" y="3611880"/>
            <a:ext cx="73152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NLL 83 %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7" y="4069080"/>
            <a:ext cx="91440" cy="260604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08192" y="4069080"/>
            <a:ext cx="91440" cy="260604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4617720"/>
            <a:ext cx="822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WATER-COOLED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BAFFLES (4)</a:t>
            </a:r>
          </a:p>
        </p:txBody>
      </p:sp>
      <p:sp>
        <p:nvSpPr>
          <p:cNvPr id="13" name="Oval 12"/>
          <p:cNvSpPr/>
          <p:nvPr/>
        </p:nvSpPr>
        <p:spPr>
          <a:xfrm>
            <a:off x="5148072" y="25420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8072" y="2633472"/>
            <a:ext cx="310896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03520" y="2852928"/>
            <a:ext cx="0" cy="405079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92040" y="5806440"/>
            <a:ext cx="8229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4892040" y="5742431"/>
            <a:ext cx="0" cy="128017"/>
          </a:xfrm>
          <a:custGeom>
            <a:avLst/>
            <a:gdLst/>
            <a:ahLst/>
            <a:cxnLst/>
            <a:rect l="l" t="t" r="r" b="b"/>
            <a:pathLst>
              <a:path w="0" h="128017">
                <a:moveTo>
                  <a:pt x="0" y="0"/>
                </a:moveTo>
                <a:lnTo>
                  <a:pt x="0" y="128017"/>
                </a:lnTo>
              </a:path>
            </a:pathLst>
          </a:cu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5715000" y="5742431"/>
            <a:ext cx="0" cy="128017"/>
          </a:xfrm>
          <a:custGeom>
            <a:avLst/>
            <a:gdLst/>
            <a:ahLst/>
            <a:cxnLst/>
            <a:rect l="l" t="t" r="r" b="b"/>
            <a:pathLst>
              <a:path w="0" h="128017">
                <a:moveTo>
                  <a:pt x="0" y="0"/>
                </a:moveTo>
                <a:lnTo>
                  <a:pt x="0" y="128017"/>
                </a:lnTo>
              </a:path>
            </a:pathLst>
          </a:cu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892040" y="6720840"/>
            <a:ext cx="8229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4892040" y="6656831"/>
            <a:ext cx="0" cy="128017"/>
          </a:xfrm>
          <a:custGeom>
            <a:avLst/>
            <a:gdLst/>
            <a:ahLst/>
            <a:cxnLst/>
            <a:rect l="l" t="t" r="r" b="b"/>
            <a:pathLst>
              <a:path w="0" h="128017">
                <a:moveTo>
                  <a:pt x="0" y="0"/>
                </a:moveTo>
                <a:lnTo>
                  <a:pt x="0" y="128017"/>
                </a:lnTo>
              </a:path>
            </a:pathLst>
          </a:cu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5715000" y="6656831"/>
            <a:ext cx="0" cy="128017"/>
          </a:xfrm>
          <a:custGeom>
            <a:avLst/>
            <a:gdLst/>
            <a:ahLst/>
            <a:cxnLst/>
            <a:rect l="l" t="t" r="r" b="b"/>
            <a:pathLst>
              <a:path w="0" h="128017">
                <a:moveTo>
                  <a:pt x="0" y="0"/>
                </a:moveTo>
                <a:lnTo>
                  <a:pt x="0" y="128017"/>
                </a:lnTo>
              </a:path>
            </a:pathLst>
          </a:cu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2715768"/>
            <a:ext cx="3200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M-101</a:t>
            </a:r>
          </a:p>
        </p:txBody>
      </p:sp>
      <p:sp>
        <p:nvSpPr>
          <p:cNvPr id="23" name="Oval 22"/>
          <p:cNvSpPr/>
          <p:nvPr/>
        </p:nvSpPr>
        <p:spPr>
          <a:xfrm>
            <a:off x="5367528" y="19385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JI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67528" y="21031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394959" y="2267712"/>
            <a:ext cx="137161" cy="3017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372099" y="2546604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40096" y="1380744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67528" y="140817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XS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67528" y="157276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532120" y="1764792"/>
            <a:ext cx="0" cy="17373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965960" y="6720840"/>
            <a:ext cx="21031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R-101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6858000"/>
            <a:ext cx="21031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PVC SUSPENSION POLYMERISATION REACTOR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6972300"/>
            <a:ext cx="21031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140 m3, D 4.5 m x T/T 7.4 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7086600"/>
            <a:ext cx="21031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15.2 barg &amp; FV / 93 C, JACKET 5.2 barg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7200900"/>
            <a:ext cx="21031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AGITATOR M-101 330 kW, 2 IMPELLERS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02920"/>
            <a:ext cx="3657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658368"/>
            <a:ext cx="822960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1">
                <a:solidFill>
                  <a:srgbClr val="000000"/>
                </a:solidFill>
                <a:latin typeface="Arial"/>
              </a:rPr>
              <a:t>D-105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786384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SHORT-STOP POT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N2-PRESSURISED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777240"/>
            <a:ext cx="914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14400" y="777240"/>
            <a:ext cx="41148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029200" y="777240"/>
            <a:ext cx="0" cy="227512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2624328" y="69951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2743200" y="594359"/>
            <a:ext cx="0" cy="10515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674620" y="493776"/>
            <a:ext cx="137160" cy="10058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79192" y="498347"/>
            <a:ext cx="128016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868680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XV-104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23160" y="978407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55898" y="658368"/>
            <a:ext cx="35204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1"-SS-104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5840" y="1097280"/>
            <a:ext cx="3657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" y="1220724"/>
            <a:ext cx="822960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160" y="1348740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1188720"/>
            <a:ext cx="566928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50" b="1">
                <a:solidFill>
                  <a:srgbClr val="000000"/>
                </a:solidFill>
                <a:latin typeface="Arial"/>
              </a:rPr>
              <a:t>D-104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1316736"/>
            <a:ext cx="61264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INITIATOR</a:t>
            </a:r>
          </a:p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DOSING POT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371600" y="1325880"/>
            <a:ext cx="36576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4999482" y="1296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786737" y="1391716"/>
            <a:ext cx="175565" cy="82296"/>
          </a:xfrm>
          <a:custGeom>
            <a:avLst/>
            <a:gdLst/>
            <a:ahLst/>
            <a:cxnLst/>
            <a:rect l="l" t="t" r="r" b="b"/>
            <a:pathLst>
              <a:path w="175565" h="82296">
                <a:moveTo>
                  <a:pt x="0" y="82296"/>
                </a:moveTo>
                <a:lnTo>
                  <a:pt x="175565" y="82296"/>
                </a:lnTo>
                <a:lnTo>
                  <a:pt x="87782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764791" y="121615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808683" y="1238097"/>
            <a:ext cx="17556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645920" y="1499616"/>
            <a:ext cx="4572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P-104</a:t>
            </a:r>
          </a:p>
        </p:txBody>
      </p:sp>
      <p:sp>
        <p:nvSpPr>
          <p:cNvPr id="60" name="Freeform 59"/>
          <p:cNvSpPr/>
          <p:nvPr/>
        </p:nvSpPr>
        <p:spPr>
          <a:xfrm>
            <a:off x="3264408" y="124815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3383280" y="1143000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3314700" y="1042415"/>
            <a:ext cx="137160" cy="10058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19272" y="1046988"/>
            <a:ext cx="128016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63240" y="1417320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XV-103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63240" y="1527048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30218" y="1207008"/>
            <a:ext cx="35204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1"-IN-103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1645920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VCM FROM</a:t>
            </a:r>
          </a:p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TK-100 (25 C)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411480" y="1874519"/>
            <a:ext cx="43891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800600" y="1874519"/>
            <a:ext cx="0" cy="12650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1208836" y="1962302"/>
            <a:ext cx="234087" cy="109728"/>
          </a:xfrm>
          <a:custGeom>
            <a:avLst/>
            <a:gdLst/>
            <a:ahLst/>
            <a:cxnLst/>
            <a:rect l="l" t="t" r="r" b="b"/>
            <a:pathLst>
              <a:path w="234087" h="109728">
                <a:moveTo>
                  <a:pt x="0" y="109728"/>
                </a:moveTo>
                <a:lnTo>
                  <a:pt x="234087" y="109728"/>
                </a:lnTo>
                <a:lnTo>
                  <a:pt x="117044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179576" y="1728216"/>
            <a:ext cx="292608" cy="2926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1238097" y="1757476"/>
            <a:ext cx="234087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051560" y="2139696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P-103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212848" y="1764791"/>
            <a:ext cx="0" cy="21945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267712" y="1764791"/>
            <a:ext cx="0" cy="21945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2075688" y="140817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075688" y="157276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240280" y="1737360"/>
            <a:ext cx="0" cy="2743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2670048" y="1796795"/>
            <a:ext cx="237743" cy="155448"/>
          </a:xfrm>
          <a:custGeom>
            <a:avLst/>
            <a:gdLst/>
            <a:ahLst/>
            <a:cxnLst/>
            <a:rect l="l" t="t" r="r" b="b"/>
            <a:pathLst>
              <a:path w="237743" h="155448">
                <a:moveTo>
                  <a:pt x="0" y="0"/>
                </a:moveTo>
                <a:lnTo>
                  <a:pt x="237743" y="155448"/>
                </a:lnTo>
                <a:lnTo>
                  <a:pt x="237743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 flipV="1">
            <a:off x="2788920" y="1673351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Freeform 80"/>
          <p:cNvSpPr/>
          <p:nvPr/>
        </p:nvSpPr>
        <p:spPr>
          <a:xfrm>
            <a:off x="2697479" y="1592306"/>
            <a:ext cx="182881" cy="81045"/>
          </a:xfrm>
          <a:custGeom>
            <a:avLst/>
            <a:gdLst/>
            <a:ahLst/>
            <a:cxnLst/>
            <a:rect l="l" t="t" r="r" b="b"/>
            <a:pathLst>
              <a:path w="182881" h="81045">
                <a:moveTo>
                  <a:pt x="182881" y="81045"/>
                </a:moveTo>
                <a:lnTo>
                  <a:pt x="177366" y="52899"/>
                </a:lnTo>
                <a:lnTo>
                  <a:pt x="161488" y="28147"/>
                </a:lnTo>
                <a:lnTo>
                  <a:pt x="137160" y="9775"/>
                </a:lnTo>
                <a:lnTo>
                  <a:pt x="107319" y="0"/>
                </a:lnTo>
                <a:lnTo>
                  <a:pt x="75562" y="0"/>
                </a:lnTo>
                <a:lnTo>
                  <a:pt x="45721" y="9775"/>
                </a:lnTo>
                <a:lnTo>
                  <a:pt x="21393" y="28147"/>
                </a:lnTo>
                <a:lnTo>
                  <a:pt x="5515" y="52899"/>
                </a:lnTo>
                <a:lnTo>
                  <a:pt x="0" y="81045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468879" y="1984248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FV-102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68879" y="2093976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2404872" y="1572768"/>
            <a:ext cx="20116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606040" y="1572768"/>
            <a:ext cx="0" cy="10058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606040" y="1673352"/>
            <a:ext cx="9144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2432304" y="1399032"/>
            <a:ext cx="45720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FQ 51 t</a:t>
            </a:r>
          </a:p>
        </p:txBody>
      </p:sp>
      <p:sp>
        <p:nvSpPr>
          <p:cNvPr id="88" name="Freeform 87"/>
          <p:cNvSpPr/>
          <p:nvPr/>
        </p:nvSpPr>
        <p:spPr>
          <a:xfrm>
            <a:off x="3493008" y="1796795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 flipV="1">
            <a:off x="3611880" y="1691639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3543300" y="1591055"/>
            <a:ext cx="137160" cy="10058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547872" y="1595628"/>
            <a:ext cx="128016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291840" y="1965960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XV-102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91840" y="2075688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48506" y="1755648"/>
            <a:ext cx="35204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4"-VC-102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480" y="2560320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DEMIN WATER</a:t>
            </a:r>
          </a:p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55 C, 6 barg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600200" y="2057400"/>
            <a:ext cx="36576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1520" y="2043684"/>
            <a:ext cx="822960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1520" y="2171700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11680" y="2103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TK-107 PVA</a:t>
            </a:r>
          </a:p>
        </p:txBody>
      </p:sp>
      <p:sp>
        <p:nvSpPr>
          <p:cNvPr id="100" name="Freeform 99"/>
          <p:cNvSpPr/>
          <p:nvPr/>
        </p:nvSpPr>
        <p:spPr>
          <a:xfrm>
            <a:off x="1723644" y="2308860"/>
            <a:ext cx="118872" cy="182880"/>
          </a:xfrm>
          <a:custGeom>
            <a:avLst/>
            <a:gdLst/>
            <a:ahLst/>
            <a:cxnLst/>
            <a:rect l="l" t="t" r="r" b="b"/>
            <a:pathLst>
              <a:path w="118872" h="182880">
                <a:moveTo>
                  <a:pt x="0" y="0"/>
                </a:moveTo>
                <a:lnTo>
                  <a:pt x="118872" y="182880"/>
                </a:lnTo>
                <a:lnTo>
                  <a:pt x="0" y="182880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874519" y="2340864"/>
            <a:ext cx="45720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HV-107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783080" y="2286000"/>
            <a:ext cx="0" cy="1828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783080" y="2487168"/>
            <a:ext cx="0" cy="2743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1753362" y="24848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411480" y="2514600"/>
            <a:ext cx="41605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4572000" y="2514600"/>
            <a:ext cx="0" cy="782335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395728" y="2404872"/>
            <a:ext cx="0" cy="219456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2450591" y="2404872"/>
            <a:ext cx="0" cy="219456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2258568" y="27157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2258568" y="28803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2423160" y="2624328"/>
            <a:ext cx="0" cy="914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737360" y="2834640"/>
            <a:ext cx="475488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FQ 60 t</a:t>
            </a:r>
          </a:p>
        </p:txBody>
      </p:sp>
      <p:sp>
        <p:nvSpPr>
          <p:cNvPr id="113" name="Freeform 112"/>
          <p:cNvSpPr/>
          <p:nvPr/>
        </p:nvSpPr>
        <p:spPr>
          <a:xfrm>
            <a:off x="2898648" y="2436876"/>
            <a:ext cx="237743" cy="155448"/>
          </a:xfrm>
          <a:custGeom>
            <a:avLst/>
            <a:gdLst/>
            <a:ahLst/>
            <a:cxnLst/>
            <a:rect l="l" t="t" r="r" b="b"/>
            <a:pathLst>
              <a:path w="237743" h="155448">
                <a:moveTo>
                  <a:pt x="0" y="0"/>
                </a:moveTo>
                <a:lnTo>
                  <a:pt x="237743" y="155448"/>
                </a:lnTo>
                <a:lnTo>
                  <a:pt x="237743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 flipV="1">
            <a:off x="3017520" y="231343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Freeform 114"/>
          <p:cNvSpPr/>
          <p:nvPr/>
        </p:nvSpPr>
        <p:spPr>
          <a:xfrm>
            <a:off x="2926079" y="2232386"/>
            <a:ext cx="182881" cy="81046"/>
          </a:xfrm>
          <a:custGeom>
            <a:avLst/>
            <a:gdLst/>
            <a:ahLst/>
            <a:cxnLst/>
            <a:rect l="l" t="t" r="r" b="b"/>
            <a:pathLst>
              <a:path w="182881" h="81046">
                <a:moveTo>
                  <a:pt x="182881" y="81046"/>
                </a:moveTo>
                <a:lnTo>
                  <a:pt x="177366" y="52899"/>
                </a:lnTo>
                <a:lnTo>
                  <a:pt x="161488" y="28147"/>
                </a:lnTo>
                <a:lnTo>
                  <a:pt x="137160" y="9775"/>
                </a:lnTo>
                <a:lnTo>
                  <a:pt x="107319" y="0"/>
                </a:lnTo>
                <a:lnTo>
                  <a:pt x="75562" y="0"/>
                </a:lnTo>
                <a:lnTo>
                  <a:pt x="45721" y="9775"/>
                </a:lnTo>
                <a:lnTo>
                  <a:pt x="21393" y="28147"/>
                </a:lnTo>
                <a:lnTo>
                  <a:pt x="5515" y="52899"/>
                </a:lnTo>
                <a:lnTo>
                  <a:pt x="0" y="8104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697479" y="2642616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FV-101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697479" y="2752344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2587752" y="2880360"/>
            <a:ext cx="17373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2761488" y="2221992"/>
            <a:ext cx="0" cy="65836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2761488" y="2221992"/>
            <a:ext cx="164592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Freeform 120"/>
          <p:cNvSpPr/>
          <p:nvPr/>
        </p:nvSpPr>
        <p:spPr>
          <a:xfrm>
            <a:off x="3538728" y="243687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 flipV="1">
            <a:off x="3657600" y="2331720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3589020" y="2231136"/>
            <a:ext cx="137160" cy="10058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593592" y="2235708"/>
            <a:ext cx="128016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37560" y="2642616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XV-101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37560" y="2752344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139946" y="2395728"/>
            <a:ext cx="35204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6"-PW-101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11480" y="3291840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INJECTION WATER</a:t>
            </a:r>
          </a:p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30 C, 16 barg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411480" y="3246120"/>
            <a:ext cx="3611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4023360" y="2514600"/>
            <a:ext cx="0" cy="7315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/>
          <p:cNvSpPr/>
          <p:nvPr/>
        </p:nvSpPr>
        <p:spPr>
          <a:xfrm>
            <a:off x="3993642" y="24848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2212848" y="3136391"/>
            <a:ext cx="0" cy="21945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267712" y="3136391"/>
            <a:ext cx="0" cy="21945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>
            <a:off x="2075688" y="3447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2075688" y="36118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240280" y="3355848"/>
            <a:ext cx="0" cy="914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Freeform 136"/>
          <p:cNvSpPr/>
          <p:nvPr/>
        </p:nvSpPr>
        <p:spPr>
          <a:xfrm>
            <a:off x="3127248" y="3168396"/>
            <a:ext cx="237743" cy="155448"/>
          </a:xfrm>
          <a:custGeom>
            <a:avLst/>
            <a:gdLst/>
            <a:ahLst/>
            <a:cxnLst/>
            <a:rect l="l" t="t" r="r" b="b"/>
            <a:pathLst>
              <a:path w="237743" h="155448">
                <a:moveTo>
                  <a:pt x="0" y="0"/>
                </a:moveTo>
                <a:lnTo>
                  <a:pt x="237743" y="155448"/>
                </a:lnTo>
                <a:lnTo>
                  <a:pt x="237743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 flipV="1">
            <a:off x="3246120" y="3044951"/>
            <a:ext cx="0" cy="12344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Freeform 138"/>
          <p:cNvSpPr/>
          <p:nvPr/>
        </p:nvSpPr>
        <p:spPr>
          <a:xfrm>
            <a:off x="3154679" y="2963906"/>
            <a:ext cx="182881" cy="81045"/>
          </a:xfrm>
          <a:custGeom>
            <a:avLst/>
            <a:gdLst/>
            <a:ahLst/>
            <a:cxnLst/>
            <a:rect l="l" t="t" r="r" b="b"/>
            <a:pathLst>
              <a:path w="182881" h="81045">
                <a:moveTo>
                  <a:pt x="182881" y="81045"/>
                </a:moveTo>
                <a:lnTo>
                  <a:pt x="177366" y="52899"/>
                </a:lnTo>
                <a:lnTo>
                  <a:pt x="161488" y="28147"/>
                </a:lnTo>
                <a:lnTo>
                  <a:pt x="137160" y="9775"/>
                </a:lnTo>
                <a:lnTo>
                  <a:pt x="107319" y="0"/>
                </a:lnTo>
                <a:lnTo>
                  <a:pt x="75562" y="0"/>
                </a:lnTo>
                <a:lnTo>
                  <a:pt x="45721" y="9775"/>
                </a:lnTo>
                <a:lnTo>
                  <a:pt x="21393" y="28147"/>
                </a:lnTo>
                <a:lnTo>
                  <a:pt x="5515" y="52899"/>
                </a:lnTo>
                <a:lnTo>
                  <a:pt x="0" y="81045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26079" y="3374136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FV-103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926079" y="3483864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2404872" y="3611880"/>
            <a:ext cx="52120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2926080" y="2953512"/>
            <a:ext cx="0" cy="65836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2926080" y="2953512"/>
            <a:ext cx="22860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1188720" y="3840480"/>
            <a:ext cx="11887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SP FROM LIC-100 (CAS)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435858" y="3127248"/>
            <a:ext cx="35204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2"-PW-103</a:t>
            </a:r>
          </a:p>
        </p:txBody>
      </p:sp>
      <p:cxnSp>
        <p:nvCxnSpPr>
          <p:cNvPr id="147" name="Connector 146"/>
          <p:cNvCxnSpPr/>
          <p:nvPr/>
        </p:nvCxnSpPr>
        <p:spPr>
          <a:xfrm flipV="1">
            <a:off x="5806440" y="1188720"/>
            <a:ext cx="0" cy="195083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5806440" y="1188720"/>
            <a:ext cx="55321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10927080" y="1261872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TO VCM</a:t>
            </a:r>
          </a:p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RECOVERY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636258" y="1069848"/>
            <a:ext cx="35204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6"-VG-105</a:t>
            </a:r>
          </a:p>
        </p:txBody>
      </p:sp>
      <p:cxnSp>
        <p:nvCxnSpPr>
          <p:cNvPr id="151" name="Connector 150"/>
          <p:cNvCxnSpPr/>
          <p:nvPr/>
        </p:nvCxnSpPr>
        <p:spPr>
          <a:xfrm flipV="1">
            <a:off x="6263640" y="502920"/>
            <a:ext cx="0" cy="6858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Oval 151"/>
          <p:cNvSpPr/>
          <p:nvPr/>
        </p:nvSpPr>
        <p:spPr>
          <a:xfrm>
            <a:off x="6233922" y="11590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6190488" y="786384"/>
            <a:ext cx="146304" cy="219456"/>
          </a:xfrm>
          <a:custGeom>
            <a:avLst/>
            <a:gdLst/>
            <a:ahLst/>
            <a:cxnLst/>
            <a:rect l="l" t="t" r="r" b="b"/>
            <a:pathLst>
              <a:path w="146304" h="219456">
                <a:moveTo>
                  <a:pt x="0" y="0"/>
                </a:moveTo>
                <a:lnTo>
                  <a:pt x="146304" y="219456"/>
                </a:lnTo>
                <a:lnTo>
                  <a:pt x="0" y="219456"/>
                </a:lnTo>
                <a:lnTo>
                  <a:pt x="146304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>
            <a:off x="6190488" y="749808"/>
            <a:ext cx="146304" cy="1280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6373368" y="786384"/>
            <a:ext cx="5029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PSV-100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373368" y="896112"/>
            <a:ext cx="54864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SET 15.0 barg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336792" y="420624"/>
            <a:ext cx="9601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TO DUMP TANK D-103</a:t>
            </a:r>
          </a:p>
        </p:txBody>
      </p:sp>
      <p:cxnSp>
        <p:nvCxnSpPr>
          <p:cNvPr id="158" name="Connector 157"/>
          <p:cNvCxnSpPr/>
          <p:nvPr/>
        </p:nvCxnSpPr>
        <p:spPr>
          <a:xfrm flipV="1">
            <a:off x="7360920" y="502920"/>
            <a:ext cx="0" cy="6858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7331202" y="11590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7283196" y="777240"/>
            <a:ext cx="155448" cy="237743"/>
          </a:xfrm>
          <a:custGeom>
            <a:avLst/>
            <a:gdLst/>
            <a:ahLst/>
            <a:cxnLst/>
            <a:rect l="l" t="t" r="r" b="b"/>
            <a:pathLst>
              <a:path w="155448" h="237743">
                <a:moveTo>
                  <a:pt x="0" y="0"/>
                </a:moveTo>
                <a:lnTo>
                  <a:pt x="155448" y="237743"/>
                </a:lnTo>
                <a:lnTo>
                  <a:pt x="0" y="237743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1" name="Connector 160"/>
          <p:cNvCxnSpPr/>
          <p:nvPr/>
        </p:nvCxnSpPr>
        <p:spPr>
          <a:xfrm flipH="1">
            <a:off x="7178040" y="896112"/>
            <a:ext cx="1051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 161"/>
          <p:cNvSpPr/>
          <p:nvPr/>
        </p:nvSpPr>
        <p:spPr>
          <a:xfrm>
            <a:off x="7077456" y="827532"/>
            <a:ext cx="100584" cy="1371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082028" y="832103"/>
            <a:ext cx="914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470648" y="786384"/>
            <a:ext cx="566928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XV-108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470648" y="905256"/>
            <a:ext cx="566928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FC (ESD)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434072" y="420624"/>
            <a:ext cx="100584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TO EMERG. VENT TANK</a:t>
            </a:r>
          </a:p>
        </p:txBody>
      </p:sp>
      <p:cxnSp>
        <p:nvCxnSpPr>
          <p:cNvPr id="167" name="Connector 166"/>
          <p:cNvCxnSpPr/>
          <p:nvPr/>
        </p:nvCxnSpPr>
        <p:spPr>
          <a:xfrm flipV="1">
            <a:off x="8458200" y="502920"/>
            <a:ext cx="0" cy="6858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Oval 167"/>
          <p:cNvSpPr/>
          <p:nvPr/>
        </p:nvSpPr>
        <p:spPr>
          <a:xfrm>
            <a:off x="8428482" y="11590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8380475" y="777240"/>
            <a:ext cx="155449" cy="237743"/>
          </a:xfrm>
          <a:custGeom>
            <a:avLst/>
            <a:gdLst/>
            <a:ahLst/>
            <a:cxnLst/>
            <a:rect l="l" t="t" r="r" b="b"/>
            <a:pathLst>
              <a:path w="155449" h="237743">
                <a:moveTo>
                  <a:pt x="0" y="0"/>
                </a:moveTo>
                <a:lnTo>
                  <a:pt x="155449" y="237743"/>
                </a:lnTo>
                <a:lnTo>
                  <a:pt x="0" y="237743"/>
                </a:lnTo>
                <a:lnTo>
                  <a:pt x="155449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0" name="Connector 169"/>
          <p:cNvCxnSpPr/>
          <p:nvPr/>
        </p:nvCxnSpPr>
        <p:spPr>
          <a:xfrm flipH="1">
            <a:off x="8275320" y="896112"/>
            <a:ext cx="10515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/>
          <p:cNvSpPr/>
          <p:nvPr/>
        </p:nvSpPr>
        <p:spPr>
          <a:xfrm>
            <a:off x="8174736" y="827532"/>
            <a:ext cx="100584" cy="1371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179308" y="832103"/>
            <a:ext cx="914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567928" y="786384"/>
            <a:ext cx="566928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XV-109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567928" y="905256"/>
            <a:ext cx="566928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531352" y="420624"/>
            <a:ext cx="100584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TO VACUUM PUMP VP-101</a:t>
            </a:r>
          </a:p>
        </p:txBody>
      </p:sp>
      <p:sp>
        <p:nvSpPr>
          <p:cNvPr id="176" name="Freeform 175"/>
          <p:cNvSpPr/>
          <p:nvPr/>
        </p:nvSpPr>
        <p:spPr>
          <a:xfrm>
            <a:off x="9025128" y="111099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7" name="Connector 176"/>
          <p:cNvCxnSpPr/>
          <p:nvPr/>
        </p:nvCxnSpPr>
        <p:spPr>
          <a:xfrm flipV="1">
            <a:off x="9144000" y="1005840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Rectangle 177"/>
          <p:cNvSpPr/>
          <p:nvPr/>
        </p:nvSpPr>
        <p:spPr>
          <a:xfrm>
            <a:off x="9075420" y="905256"/>
            <a:ext cx="137160" cy="10058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9079992" y="909828"/>
            <a:ext cx="128016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823960" y="1280160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XV-105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823960" y="1389888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182" name="Freeform 181"/>
          <p:cNvSpPr/>
          <p:nvPr/>
        </p:nvSpPr>
        <p:spPr>
          <a:xfrm>
            <a:off x="9756648" y="111099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9875520" y="98755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Freeform 183"/>
          <p:cNvSpPr/>
          <p:nvPr/>
        </p:nvSpPr>
        <p:spPr>
          <a:xfrm>
            <a:off x="9784080" y="906506"/>
            <a:ext cx="182880" cy="81046"/>
          </a:xfrm>
          <a:custGeom>
            <a:avLst/>
            <a:gdLst/>
            <a:ahLst/>
            <a:cxnLst/>
            <a:rect l="l" t="t" r="r" b="b"/>
            <a:pathLst>
              <a:path w="182880" h="81046">
                <a:moveTo>
                  <a:pt x="182880" y="81046"/>
                </a:moveTo>
                <a:lnTo>
                  <a:pt x="177365" y="52899"/>
                </a:lnTo>
                <a:lnTo>
                  <a:pt x="161487" y="28147"/>
                </a:lnTo>
                <a:lnTo>
                  <a:pt x="137160" y="9775"/>
                </a:lnTo>
                <a:lnTo>
                  <a:pt x="107318" y="0"/>
                </a:lnTo>
                <a:lnTo>
                  <a:pt x="75561" y="0"/>
                </a:lnTo>
                <a:lnTo>
                  <a:pt x="45720" y="9775"/>
                </a:lnTo>
                <a:lnTo>
                  <a:pt x="21392" y="28147"/>
                </a:lnTo>
                <a:lnTo>
                  <a:pt x="5514" y="52899"/>
                </a:lnTo>
                <a:lnTo>
                  <a:pt x="0" y="8104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9555480" y="1298448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PV-105 (HIC-105)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9555480" y="1408176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cxnSp>
        <p:nvCxnSpPr>
          <p:cNvPr id="187" name="Connector 186"/>
          <p:cNvCxnSpPr/>
          <p:nvPr/>
        </p:nvCxnSpPr>
        <p:spPr>
          <a:xfrm flipH="1">
            <a:off x="5806440" y="1920240"/>
            <a:ext cx="1874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5776722" y="1890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6967728" y="184251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 flipV="1">
            <a:off x="7086600" y="1700784"/>
            <a:ext cx="0" cy="14173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6995160" y="1517904"/>
            <a:ext cx="182880" cy="18288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205472" y="1499616"/>
            <a:ext cx="7772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PCV-141 1.5 barg</a:t>
            </a:r>
          </a:p>
        </p:txBody>
      </p:sp>
      <p:sp>
        <p:nvSpPr>
          <p:cNvPr id="193" name="Freeform 192"/>
          <p:cNvSpPr/>
          <p:nvPr/>
        </p:nvSpPr>
        <p:spPr>
          <a:xfrm>
            <a:off x="6373368" y="184251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172200" y="2011680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HV-141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7726679" y="1819656"/>
            <a:ext cx="6400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N2 PAD</a:t>
            </a:r>
          </a:p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6 barg</a:t>
            </a:r>
          </a:p>
        </p:txBody>
      </p:sp>
      <p:cxnSp>
        <p:nvCxnSpPr>
          <p:cNvPr id="196" name="Connector 195"/>
          <p:cNvCxnSpPr/>
          <p:nvPr/>
        </p:nvCxnSpPr>
        <p:spPr>
          <a:xfrm flipV="1">
            <a:off x="6080760" y="2971800"/>
            <a:ext cx="0" cy="36845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080760" y="2971800"/>
            <a:ext cx="32461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9326880" y="2788920"/>
            <a:ext cx="0" cy="1828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6675120" y="3017520"/>
            <a:ext cx="20116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18"-VG-110  VCM VAPOUR UP / CONDENSATE DOWN</a:t>
            </a:r>
          </a:p>
        </p:txBody>
      </p:sp>
      <p:sp>
        <p:nvSpPr>
          <p:cNvPr id="200" name="Oval 199"/>
          <p:cNvSpPr/>
          <p:nvPr/>
        </p:nvSpPr>
        <p:spPr>
          <a:xfrm>
            <a:off x="6556248" y="23957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201" name="Connector 200"/>
          <p:cNvCxnSpPr/>
          <p:nvPr/>
        </p:nvCxnSpPr>
        <p:spPr>
          <a:xfrm>
            <a:off x="6556248" y="256032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6720840" y="2724912"/>
            <a:ext cx="0" cy="2468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Oval 202"/>
          <p:cNvSpPr/>
          <p:nvPr/>
        </p:nvSpPr>
        <p:spPr>
          <a:xfrm>
            <a:off x="6697979" y="294894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077456" y="236829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7104888" y="23957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7104888" y="25603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7269480" y="2752344"/>
            <a:ext cx="0" cy="2194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Oval 207"/>
          <p:cNvSpPr/>
          <p:nvPr/>
        </p:nvSpPr>
        <p:spPr>
          <a:xfrm>
            <a:off x="7246620" y="294894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7479792" y="2395728"/>
            <a:ext cx="54864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PSHH-101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12.5 barg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9052559" y="1783080"/>
            <a:ext cx="548640" cy="10058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1" name="Connector 210"/>
          <p:cNvCxnSpPr/>
          <p:nvPr/>
        </p:nvCxnSpPr>
        <p:spPr>
          <a:xfrm>
            <a:off x="9052559" y="2084831"/>
            <a:ext cx="548641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052559" y="2487168"/>
            <a:ext cx="548641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244584" y="2084831"/>
            <a:ext cx="0" cy="402337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326880" y="2084831"/>
            <a:ext cx="0" cy="402337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409176" y="2084831"/>
            <a:ext cx="0" cy="402337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9326880" y="160020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326880" y="1600200"/>
            <a:ext cx="1554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10881360" y="1188720"/>
            <a:ext cx="0" cy="4114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Oval 218"/>
          <p:cNvSpPr/>
          <p:nvPr/>
        </p:nvSpPr>
        <p:spPr>
          <a:xfrm>
            <a:off x="10851642" y="11590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10305288" y="152247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1" name="Connector 220"/>
          <p:cNvCxnSpPr/>
          <p:nvPr/>
        </p:nvCxnSpPr>
        <p:spPr>
          <a:xfrm flipV="1">
            <a:off x="10424160" y="139903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Freeform 221"/>
          <p:cNvSpPr/>
          <p:nvPr/>
        </p:nvSpPr>
        <p:spPr>
          <a:xfrm>
            <a:off x="10332720" y="1317986"/>
            <a:ext cx="182880" cy="81046"/>
          </a:xfrm>
          <a:custGeom>
            <a:avLst/>
            <a:gdLst/>
            <a:ahLst/>
            <a:cxnLst/>
            <a:rect l="l" t="t" r="r" b="b"/>
            <a:pathLst>
              <a:path w="182880" h="81046">
                <a:moveTo>
                  <a:pt x="182880" y="81046"/>
                </a:moveTo>
                <a:lnTo>
                  <a:pt x="177365" y="52899"/>
                </a:lnTo>
                <a:lnTo>
                  <a:pt x="161487" y="28147"/>
                </a:lnTo>
                <a:lnTo>
                  <a:pt x="137160" y="9775"/>
                </a:lnTo>
                <a:lnTo>
                  <a:pt x="107318" y="0"/>
                </a:lnTo>
                <a:lnTo>
                  <a:pt x="75561" y="0"/>
                </a:lnTo>
                <a:lnTo>
                  <a:pt x="45720" y="9775"/>
                </a:lnTo>
                <a:lnTo>
                  <a:pt x="21392" y="28147"/>
                </a:lnTo>
                <a:lnTo>
                  <a:pt x="5514" y="52899"/>
                </a:lnTo>
                <a:lnTo>
                  <a:pt x="0" y="8104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104120" y="1709928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HV-135 (HIC-135)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104120" y="1819656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225" name="Oval 224"/>
          <p:cNvSpPr/>
          <p:nvPr/>
        </p:nvSpPr>
        <p:spPr>
          <a:xfrm>
            <a:off x="9528048" y="17739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132</a:t>
            </a:r>
          </a:p>
        </p:txBody>
      </p:sp>
      <p:cxnSp>
        <p:nvCxnSpPr>
          <p:cNvPr id="226" name="Connector 225"/>
          <p:cNvCxnSpPr/>
          <p:nvPr/>
        </p:nvCxnSpPr>
        <p:spPr>
          <a:xfrm>
            <a:off x="9528048" y="193852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9692640" y="1600200"/>
            <a:ext cx="0" cy="17373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Oval 227"/>
          <p:cNvSpPr/>
          <p:nvPr/>
        </p:nvSpPr>
        <p:spPr>
          <a:xfrm>
            <a:off x="9669780" y="157734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9" name="Connector 228"/>
          <p:cNvCxnSpPr/>
          <p:nvPr/>
        </p:nvCxnSpPr>
        <p:spPr>
          <a:xfrm>
            <a:off x="9601200" y="2240280"/>
            <a:ext cx="3200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Freeform 229"/>
          <p:cNvSpPr/>
          <p:nvPr/>
        </p:nvSpPr>
        <p:spPr>
          <a:xfrm>
            <a:off x="9921240" y="2148840"/>
            <a:ext cx="329184" cy="182880"/>
          </a:xfrm>
          <a:custGeom>
            <a:avLst/>
            <a:gdLst/>
            <a:ahLst/>
            <a:cxnLst/>
            <a:rect l="l" t="t" r="r" b="b"/>
            <a:pathLst>
              <a:path w="329184" h="182880">
                <a:moveTo>
                  <a:pt x="0" y="0"/>
                </a:moveTo>
                <a:lnTo>
                  <a:pt x="256032" y="0"/>
                </a:lnTo>
                <a:lnTo>
                  <a:pt x="329184" y="91440"/>
                </a:lnTo>
                <a:lnTo>
                  <a:pt x="256032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10296144" y="213969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CWR TO TE-131 (PID-002)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9601200" y="2651760"/>
            <a:ext cx="3200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Freeform 232"/>
          <p:cNvSpPr/>
          <p:nvPr/>
        </p:nvSpPr>
        <p:spPr>
          <a:xfrm>
            <a:off x="9921240" y="2560320"/>
            <a:ext cx="329184" cy="182880"/>
          </a:xfrm>
          <a:custGeom>
            <a:avLst/>
            <a:gdLst/>
            <a:ahLst/>
            <a:cxnLst/>
            <a:rect l="l" t="t" r="r" b="b"/>
            <a:pathLst>
              <a:path w="329184" h="182880">
                <a:moveTo>
                  <a:pt x="0" y="0"/>
                </a:moveTo>
                <a:lnTo>
                  <a:pt x="256032" y="0"/>
                </a:lnTo>
                <a:lnTo>
                  <a:pt x="329184" y="91440"/>
                </a:lnTo>
                <a:lnTo>
                  <a:pt x="256032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0296144" y="2551176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CWS FROM FV-130 (PID-002)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9738360" y="3017520"/>
            <a:ext cx="137160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E-101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9738360" y="3154679"/>
            <a:ext cx="13716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REFLUX CONDENSER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9738360" y="3268979"/>
            <a:ext cx="13716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VERTICAL, VCM IN TUBES</a:t>
            </a:r>
          </a:p>
        </p:txBody>
      </p:sp>
      <p:sp>
        <p:nvSpPr>
          <p:cNvPr id="238" name="Freeform 237"/>
          <p:cNvSpPr/>
          <p:nvPr/>
        </p:nvSpPr>
        <p:spPr>
          <a:xfrm>
            <a:off x="6263640" y="3537984"/>
            <a:ext cx="128016" cy="164592"/>
          </a:xfrm>
          <a:custGeom>
            <a:avLst/>
            <a:gdLst/>
            <a:ahLst/>
            <a:cxnLst/>
            <a:rect l="l" t="t" r="r" b="b"/>
            <a:pathLst>
              <a:path w="128016" h="164592">
                <a:moveTo>
                  <a:pt x="0" y="0"/>
                </a:moveTo>
                <a:lnTo>
                  <a:pt x="128016" y="0"/>
                </a:lnTo>
                <a:lnTo>
                  <a:pt x="64008" y="164592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9" name="Connector 238"/>
          <p:cNvCxnSpPr/>
          <p:nvPr/>
        </p:nvCxnSpPr>
        <p:spPr>
          <a:xfrm>
            <a:off x="6327648" y="3702576"/>
            <a:ext cx="0" cy="182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Oval 239"/>
          <p:cNvSpPr/>
          <p:nvPr/>
        </p:nvSpPr>
        <p:spPr>
          <a:xfrm>
            <a:off x="6922008" y="3328415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241" name="Connector 240"/>
          <p:cNvCxnSpPr/>
          <p:nvPr/>
        </p:nvCxnSpPr>
        <p:spPr>
          <a:xfrm>
            <a:off x="6922008" y="349300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ectangle 241"/>
          <p:cNvSpPr/>
          <p:nvPr/>
        </p:nvSpPr>
        <p:spPr>
          <a:xfrm>
            <a:off x="7443216" y="3300984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470648" y="3328415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244" name="Connector 243"/>
          <p:cNvCxnSpPr/>
          <p:nvPr/>
        </p:nvCxnSpPr>
        <p:spPr>
          <a:xfrm>
            <a:off x="7470648" y="3493008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6391656" y="3611136"/>
            <a:ext cx="530352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6922008" y="3493008"/>
            <a:ext cx="0" cy="11812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7251192" y="3493008"/>
            <a:ext cx="192024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Box 247"/>
          <p:cNvSpPr txBox="1"/>
          <p:nvPr/>
        </p:nvSpPr>
        <p:spPr>
          <a:xfrm>
            <a:off x="7882127" y="3611880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LT-100 RADAR; SP TO FIC-103</a:t>
            </a:r>
          </a:p>
        </p:txBody>
      </p:sp>
      <p:cxnSp>
        <p:nvCxnSpPr>
          <p:cNvPr id="249" name="Connector 248"/>
          <p:cNvCxnSpPr/>
          <p:nvPr/>
        </p:nvCxnSpPr>
        <p:spPr>
          <a:xfrm>
            <a:off x="6519672" y="4023360"/>
            <a:ext cx="134416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Freeform 249"/>
          <p:cNvSpPr/>
          <p:nvPr/>
        </p:nvSpPr>
        <p:spPr>
          <a:xfrm>
            <a:off x="7863840" y="3931920"/>
            <a:ext cx="329183" cy="182880"/>
          </a:xfrm>
          <a:custGeom>
            <a:avLst/>
            <a:gdLst/>
            <a:ahLst/>
            <a:cxnLst/>
            <a:rect l="l" t="t" r="r" b="b"/>
            <a:pathLst>
              <a:path w="329183" h="182880">
                <a:moveTo>
                  <a:pt x="0" y="0"/>
                </a:moveTo>
                <a:lnTo>
                  <a:pt x="256031" y="0"/>
                </a:lnTo>
                <a:lnTo>
                  <a:pt x="329183" y="91440"/>
                </a:lnTo>
                <a:lnTo>
                  <a:pt x="256031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8238744" y="3922776"/>
            <a:ext cx="18288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JACKET RETURN TO P-101A/B (PID-002)</a:t>
            </a:r>
          </a:p>
        </p:txBody>
      </p:sp>
      <p:cxnSp>
        <p:nvCxnSpPr>
          <p:cNvPr id="252" name="Connector 251"/>
          <p:cNvCxnSpPr/>
          <p:nvPr/>
        </p:nvCxnSpPr>
        <p:spPr>
          <a:xfrm>
            <a:off x="6400800" y="4526280"/>
            <a:ext cx="14630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Freeform 252"/>
          <p:cNvSpPr/>
          <p:nvPr/>
        </p:nvSpPr>
        <p:spPr>
          <a:xfrm>
            <a:off x="7863840" y="4434840"/>
            <a:ext cx="329183" cy="182880"/>
          </a:xfrm>
          <a:custGeom>
            <a:avLst/>
            <a:gdLst/>
            <a:ahLst/>
            <a:cxnLst/>
            <a:rect l="l" t="t" r="r" b="b"/>
            <a:pathLst>
              <a:path w="329183" h="182880">
                <a:moveTo>
                  <a:pt x="0" y="0"/>
                </a:moveTo>
                <a:lnTo>
                  <a:pt x="256031" y="0"/>
                </a:lnTo>
                <a:lnTo>
                  <a:pt x="329183" y="91440"/>
                </a:lnTo>
                <a:lnTo>
                  <a:pt x="256031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8238744" y="4425696"/>
            <a:ext cx="18288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BAFFLE CWR TO TE-121 (PID-002)</a:t>
            </a:r>
          </a:p>
        </p:txBody>
      </p:sp>
      <p:cxnSp>
        <p:nvCxnSpPr>
          <p:cNvPr id="255" name="Connector 254"/>
          <p:cNvCxnSpPr/>
          <p:nvPr/>
        </p:nvCxnSpPr>
        <p:spPr>
          <a:xfrm>
            <a:off x="6400800" y="5897880"/>
            <a:ext cx="14630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Freeform 255"/>
          <p:cNvSpPr/>
          <p:nvPr/>
        </p:nvSpPr>
        <p:spPr>
          <a:xfrm>
            <a:off x="7863840" y="5806440"/>
            <a:ext cx="329183" cy="182880"/>
          </a:xfrm>
          <a:custGeom>
            <a:avLst/>
            <a:gdLst/>
            <a:ahLst/>
            <a:cxnLst/>
            <a:rect l="l" t="t" r="r" b="b"/>
            <a:pathLst>
              <a:path w="329183" h="182880">
                <a:moveTo>
                  <a:pt x="0" y="0"/>
                </a:moveTo>
                <a:lnTo>
                  <a:pt x="256031" y="0"/>
                </a:lnTo>
                <a:lnTo>
                  <a:pt x="329183" y="91440"/>
                </a:lnTo>
                <a:lnTo>
                  <a:pt x="256031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8238744" y="5797296"/>
            <a:ext cx="18288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BAFFLE CWS FROM FV-120 (PID-002)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6519672" y="6903720"/>
            <a:ext cx="134416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Freeform 258"/>
          <p:cNvSpPr/>
          <p:nvPr/>
        </p:nvSpPr>
        <p:spPr>
          <a:xfrm>
            <a:off x="7863840" y="6812280"/>
            <a:ext cx="329183" cy="182879"/>
          </a:xfrm>
          <a:custGeom>
            <a:avLst/>
            <a:gdLst/>
            <a:ahLst/>
            <a:cxnLst/>
            <a:rect l="l" t="t" r="r" b="b"/>
            <a:pathLst>
              <a:path w="329183" h="182879">
                <a:moveTo>
                  <a:pt x="0" y="0"/>
                </a:moveTo>
                <a:lnTo>
                  <a:pt x="256031" y="0"/>
                </a:lnTo>
                <a:lnTo>
                  <a:pt x="329183" y="91440"/>
                </a:lnTo>
                <a:lnTo>
                  <a:pt x="256031" y="182879"/>
                </a:lnTo>
                <a:lnTo>
                  <a:pt x="0" y="182879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8238744" y="6803136"/>
            <a:ext cx="18288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JACKET SUPPLY FROM TE-110 (PID-002)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7076948" y="3904487"/>
            <a:ext cx="38506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10"-CW-111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7076948" y="6784848"/>
            <a:ext cx="38506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10"-CW-110</a:t>
            </a:r>
          </a:p>
        </p:txBody>
      </p:sp>
      <p:sp>
        <p:nvSpPr>
          <p:cNvPr id="263" name="Oval 262"/>
          <p:cNvSpPr/>
          <p:nvPr/>
        </p:nvSpPr>
        <p:spPr>
          <a:xfrm>
            <a:off x="3355848" y="48188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264" name="Connector 263"/>
          <p:cNvCxnSpPr/>
          <p:nvPr/>
        </p:nvCxnSpPr>
        <p:spPr>
          <a:xfrm>
            <a:off x="3355848" y="49834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3685032" y="4983480"/>
            <a:ext cx="5212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Oval 265"/>
          <p:cNvSpPr/>
          <p:nvPr/>
        </p:nvSpPr>
        <p:spPr>
          <a:xfrm>
            <a:off x="4183379" y="496062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3328416" y="543153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3355848" y="54589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269" name="Connector 268"/>
          <p:cNvCxnSpPr/>
          <p:nvPr/>
        </p:nvCxnSpPr>
        <p:spPr>
          <a:xfrm>
            <a:off x="3355848" y="56235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3712464" y="5623560"/>
            <a:ext cx="49377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Oval 270"/>
          <p:cNvSpPr/>
          <p:nvPr/>
        </p:nvSpPr>
        <p:spPr>
          <a:xfrm>
            <a:off x="4183379" y="560070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2743200" y="5870448"/>
            <a:ext cx="100584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TSHH-101 63 C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(INDEPENDENT TE)</a:t>
            </a:r>
          </a:p>
        </p:txBody>
      </p:sp>
      <p:sp>
        <p:nvSpPr>
          <p:cNvPr id="273" name="Freeform 272"/>
          <p:cNvSpPr/>
          <p:nvPr/>
        </p:nvSpPr>
        <p:spPr>
          <a:xfrm>
            <a:off x="2999232" y="4892040"/>
            <a:ext cx="329184" cy="182880"/>
          </a:xfrm>
          <a:custGeom>
            <a:avLst/>
            <a:gdLst/>
            <a:ahLst/>
            <a:cxnLst/>
            <a:rect l="l" t="t" r="r" b="b"/>
            <a:pathLst>
              <a:path w="329184" h="182880">
                <a:moveTo>
                  <a:pt x="329184" y="0"/>
                </a:moveTo>
                <a:lnTo>
                  <a:pt x="73152" y="0"/>
                </a:lnTo>
                <a:lnTo>
                  <a:pt x="0" y="91440"/>
                </a:lnTo>
                <a:lnTo>
                  <a:pt x="73152" y="182880"/>
                </a:lnTo>
                <a:lnTo>
                  <a:pt x="329184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2176272" y="4882896"/>
            <a:ext cx="77724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>
                <a:solidFill>
                  <a:srgbClr val="000000"/>
                </a:solidFill>
                <a:latin typeface="Arial"/>
              </a:rPr>
              <a:t>SP TO TIC-110</a:t>
            </a:r>
          </a:p>
          <a:p>
            <a:pPr algn="r"/>
            <a:r>
              <a:rPr sz="520" b="0">
                <a:solidFill>
                  <a:srgbClr val="000000"/>
                </a:solidFill>
                <a:latin typeface="Arial"/>
              </a:rPr>
              <a:t>(PID-002)</a:t>
            </a:r>
          </a:p>
        </p:txBody>
      </p:sp>
      <p:cxnSp>
        <p:nvCxnSpPr>
          <p:cNvPr id="275" name="Connector 274"/>
          <p:cNvCxnSpPr/>
          <p:nvPr/>
        </p:nvCxnSpPr>
        <p:spPr>
          <a:xfrm flipH="1">
            <a:off x="3328416" y="4983480"/>
            <a:ext cx="27432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Rectangle 275"/>
          <p:cNvSpPr/>
          <p:nvPr/>
        </p:nvSpPr>
        <p:spPr>
          <a:xfrm>
            <a:off x="3282696" y="4206240"/>
            <a:ext cx="475488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7" name="Connector 276"/>
          <p:cNvCxnSpPr/>
          <p:nvPr/>
        </p:nvCxnSpPr>
        <p:spPr>
          <a:xfrm>
            <a:off x="3282696" y="4343400"/>
            <a:ext cx="4754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TextBox 277"/>
          <p:cNvSpPr txBox="1"/>
          <p:nvPr/>
        </p:nvSpPr>
        <p:spPr>
          <a:xfrm>
            <a:off x="3282696" y="4215383"/>
            <a:ext cx="475488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1">
                <a:solidFill>
                  <a:srgbClr val="000000"/>
                </a:solidFill>
                <a:latin typeface="Arial"/>
              </a:rPr>
              <a:t>XI-100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3282696" y="4352544"/>
            <a:ext cx="475488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1">
                <a:solidFill>
                  <a:srgbClr val="000000"/>
                </a:solidFill>
                <a:latin typeface="Arial"/>
              </a:rPr>
              <a:t>CALC.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2331720" y="4279392"/>
            <a:ext cx="89611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CALORIMETRIC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CONVERSION</a:t>
            </a:r>
          </a:p>
        </p:txBody>
      </p:sp>
      <p:cxnSp>
        <p:nvCxnSpPr>
          <p:cNvPr id="281" name="Connector 280"/>
          <p:cNvCxnSpPr/>
          <p:nvPr/>
        </p:nvCxnSpPr>
        <p:spPr>
          <a:xfrm>
            <a:off x="4526279" y="7065617"/>
            <a:ext cx="0" cy="615343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Freeform 281"/>
          <p:cNvSpPr/>
          <p:nvPr/>
        </p:nvSpPr>
        <p:spPr>
          <a:xfrm>
            <a:off x="4443983" y="7680960"/>
            <a:ext cx="164592" cy="109728"/>
          </a:xfrm>
          <a:custGeom>
            <a:avLst/>
            <a:gdLst/>
            <a:ahLst/>
            <a:cxnLst/>
            <a:rect l="l" t="t" r="r" b="b"/>
            <a:pathLst>
              <a:path w="164592" h="109728">
                <a:moveTo>
                  <a:pt x="0" y="109728"/>
                </a:moveTo>
                <a:lnTo>
                  <a:pt x="164592" y="109728"/>
                </a:lnTo>
                <a:lnTo>
                  <a:pt x="82296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3" name="Connector 282"/>
          <p:cNvCxnSpPr/>
          <p:nvPr/>
        </p:nvCxnSpPr>
        <p:spPr>
          <a:xfrm>
            <a:off x="6080760" y="7065617"/>
            <a:ext cx="0" cy="615343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Freeform 283"/>
          <p:cNvSpPr/>
          <p:nvPr/>
        </p:nvSpPr>
        <p:spPr>
          <a:xfrm>
            <a:off x="5998464" y="7680960"/>
            <a:ext cx="164592" cy="109728"/>
          </a:xfrm>
          <a:custGeom>
            <a:avLst/>
            <a:gdLst/>
            <a:ahLst/>
            <a:cxnLst/>
            <a:rect l="l" t="t" r="r" b="b"/>
            <a:pathLst>
              <a:path w="164592" h="109728">
                <a:moveTo>
                  <a:pt x="0" y="109728"/>
                </a:moveTo>
                <a:lnTo>
                  <a:pt x="164592" y="109728"/>
                </a:lnTo>
                <a:lnTo>
                  <a:pt x="82296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3355848" y="75620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WI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286" name="Connector 285"/>
          <p:cNvCxnSpPr/>
          <p:nvPr/>
        </p:nvCxnSpPr>
        <p:spPr>
          <a:xfrm>
            <a:off x="3355848" y="7726679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3685032" y="7726679"/>
            <a:ext cx="758951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TextBox 287"/>
          <p:cNvSpPr txBox="1"/>
          <p:nvPr/>
        </p:nvSpPr>
        <p:spPr>
          <a:xfrm>
            <a:off x="2514600" y="7955279"/>
            <a:ext cx="146304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LOAD CELLS (3), CONTENTS t</a:t>
            </a:r>
          </a:p>
        </p:txBody>
      </p:sp>
      <p:cxnSp>
        <p:nvCxnSpPr>
          <p:cNvPr id="289" name="Connector 288"/>
          <p:cNvCxnSpPr/>
          <p:nvPr/>
        </p:nvCxnSpPr>
        <p:spPr>
          <a:xfrm>
            <a:off x="5303520" y="7434072"/>
            <a:ext cx="0" cy="79552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5303520" y="8229600"/>
            <a:ext cx="31089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Freeform 290"/>
          <p:cNvSpPr/>
          <p:nvPr/>
        </p:nvSpPr>
        <p:spPr>
          <a:xfrm>
            <a:off x="5225796" y="7699248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55448" h="237744">
                <a:moveTo>
                  <a:pt x="0" y="0"/>
                </a:moveTo>
                <a:lnTo>
                  <a:pt x="155448" y="237744"/>
                </a:lnTo>
                <a:lnTo>
                  <a:pt x="0" y="237744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2" name="Connector 291"/>
          <p:cNvCxnSpPr/>
          <p:nvPr/>
        </p:nvCxnSpPr>
        <p:spPr>
          <a:xfrm flipH="1">
            <a:off x="5120640" y="7818120"/>
            <a:ext cx="1051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Rectangle 292"/>
          <p:cNvSpPr/>
          <p:nvPr/>
        </p:nvSpPr>
        <p:spPr>
          <a:xfrm>
            <a:off x="5020056" y="7749540"/>
            <a:ext cx="100584" cy="1371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024628" y="7754112"/>
            <a:ext cx="914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413248" y="7708392"/>
            <a:ext cx="566928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XV-106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5413248" y="7827264"/>
            <a:ext cx="566928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297" name="Freeform 296"/>
          <p:cNvSpPr/>
          <p:nvPr/>
        </p:nvSpPr>
        <p:spPr>
          <a:xfrm>
            <a:off x="8412480" y="8138160"/>
            <a:ext cx="329183" cy="182880"/>
          </a:xfrm>
          <a:custGeom>
            <a:avLst/>
            <a:gdLst/>
            <a:ahLst/>
            <a:cxnLst/>
            <a:rect l="l" t="t" r="r" b="b"/>
            <a:pathLst>
              <a:path w="329183" h="182880">
                <a:moveTo>
                  <a:pt x="0" y="0"/>
                </a:moveTo>
                <a:lnTo>
                  <a:pt x="256031" y="0"/>
                </a:lnTo>
                <a:lnTo>
                  <a:pt x="329183" y="91440"/>
                </a:lnTo>
                <a:lnTo>
                  <a:pt x="256031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8787384" y="8129016"/>
            <a:ext cx="20116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PVC SLURRY TO BLOWDOWN TANK D-102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6590538" y="8110727"/>
            <a:ext cx="35204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8"-SL-106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11612880" y="411480"/>
            <a:ext cx="3154680" cy="8138160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1704320" y="475488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cxnSp>
        <p:nvCxnSpPr>
          <p:cNvPr id="302" name="Connector 301"/>
          <p:cNvCxnSpPr/>
          <p:nvPr/>
        </p:nvCxnSpPr>
        <p:spPr>
          <a:xfrm>
            <a:off x="11750040" y="73152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TextBox 302"/>
          <p:cNvSpPr txBox="1"/>
          <p:nvPr/>
        </p:nvSpPr>
        <p:spPr>
          <a:xfrm>
            <a:off x="12179808" y="64008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304" name="Connector 303"/>
          <p:cNvCxnSpPr/>
          <p:nvPr/>
        </p:nvCxnSpPr>
        <p:spPr>
          <a:xfrm>
            <a:off x="13258800" y="731520"/>
            <a:ext cx="38404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TextBox 304"/>
          <p:cNvSpPr txBox="1"/>
          <p:nvPr/>
        </p:nvSpPr>
        <p:spPr>
          <a:xfrm>
            <a:off x="13688568" y="64008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UTILITY LINE (CW, STEAM, N2)</a:t>
            </a:r>
          </a:p>
        </p:txBody>
      </p:sp>
      <p:cxnSp>
        <p:nvCxnSpPr>
          <p:cNvPr id="306" name="Connector 305"/>
          <p:cNvCxnSpPr/>
          <p:nvPr/>
        </p:nvCxnSpPr>
        <p:spPr>
          <a:xfrm>
            <a:off x="11750040" y="1005840"/>
            <a:ext cx="38404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TextBox 306"/>
          <p:cNvSpPr txBox="1"/>
          <p:nvPr/>
        </p:nvSpPr>
        <p:spPr>
          <a:xfrm>
            <a:off x="12179808" y="91440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SIGNAL LINE</a:t>
            </a:r>
          </a:p>
        </p:txBody>
      </p:sp>
      <p:cxnSp>
        <p:nvCxnSpPr>
          <p:cNvPr id="308" name="Connector 307"/>
          <p:cNvCxnSpPr/>
          <p:nvPr/>
        </p:nvCxnSpPr>
        <p:spPr>
          <a:xfrm>
            <a:off x="13258800" y="100584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13450824" y="896112"/>
            <a:ext cx="0" cy="3200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0" name="Freeform 309"/>
          <p:cNvSpPr/>
          <p:nvPr/>
        </p:nvSpPr>
        <p:spPr>
          <a:xfrm>
            <a:off x="13450824" y="92811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1" name="Connector 310"/>
          <p:cNvCxnSpPr/>
          <p:nvPr/>
        </p:nvCxnSpPr>
        <p:spPr>
          <a:xfrm>
            <a:off x="13450824" y="1083564"/>
            <a:ext cx="0" cy="3200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TextBox 311"/>
          <p:cNvSpPr txBox="1"/>
          <p:nvPr/>
        </p:nvSpPr>
        <p:spPr>
          <a:xfrm>
            <a:off x="13688568" y="91440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LINE JUMP (NO JOIN)</a:t>
            </a:r>
          </a:p>
        </p:txBody>
      </p:sp>
      <p:cxnSp>
        <p:nvCxnSpPr>
          <p:cNvPr id="313" name="Connector 312"/>
          <p:cNvCxnSpPr/>
          <p:nvPr/>
        </p:nvCxnSpPr>
        <p:spPr>
          <a:xfrm>
            <a:off x="11750040" y="13258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Freeform 313"/>
          <p:cNvSpPr/>
          <p:nvPr/>
        </p:nvSpPr>
        <p:spPr>
          <a:xfrm>
            <a:off x="11850624" y="126644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5" name="Connector 314"/>
          <p:cNvCxnSpPr/>
          <p:nvPr/>
        </p:nvCxnSpPr>
        <p:spPr>
          <a:xfrm flipV="1">
            <a:off x="11942064" y="1216151"/>
            <a:ext cx="0" cy="4572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Freeform 315"/>
          <p:cNvSpPr/>
          <p:nvPr/>
        </p:nvSpPr>
        <p:spPr>
          <a:xfrm>
            <a:off x="11878056" y="1159419"/>
            <a:ext cx="128016" cy="56732"/>
          </a:xfrm>
          <a:custGeom>
            <a:avLst/>
            <a:gdLst/>
            <a:ahLst/>
            <a:cxnLst/>
            <a:rect l="l" t="t" r="r" b="b"/>
            <a:pathLst>
              <a:path w="128016" h="56732">
                <a:moveTo>
                  <a:pt x="128016" y="56732"/>
                </a:moveTo>
                <a:lnTo>
                  <a:pt x="124155" y="37030"/>
                </a:lnTo>
                <a:lnTo>
                  <a:pt x="113040" y="19703"/>
                </a:lnTo>
                <a:lnTo>
                  <a:pt x="96012" y="6843"/>
                </a:lnTo>
                <a:lnTo>
                  <a:pt x="75122" y="0"/>
                </a:lnTo>
                <a:lnTo>
                  <a:pt x="52893" y="0"/>
                </a:lnTo>
                <a:lnTo>
                  <a:pt x="32004" y="6843"/>
                </a:lnTo>
                <a:lnTo>
                  <a:pt x="14975" y="19703"/>
                </a:lnTo>
                <a:lnTo>
                  <a:pt x="3860" y="37030"/>
                </a:lnTo>
                <a:lnTo>
                  <a:pt x="0" y="56732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12179808" y="118871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CONTROL VALVE FO / FC</a:t>
            </a:r>
          </a:p>
        </p:txBody>
      </p:sp>
      <p:cxnSp>
        <p:nvCxnSpPr>
          <p:cNvPr id="318" name="Connector 317"/>
          <p:cNvCxnSpPr/>
          <p:nvPr/>
        </p:nvCxnSpPr>
        <p:spPr>
          <a:xfrm>
            <a:off x="13258800" y="13258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Freeform 318"/>
          <p:cNvSpPr/>
          <p:nvPr/>
        </p:nvSpPr>
        <p:spPr>
          <a:xfrm>
            <a:off x="13359384" y="126644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 flipV="1">
            <a:off x="13450824" y="1225295"/>
            <a:ext cx="0" cy="3657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Rectangle 320"/>
          <p:cNvSpPr/>
          <p:nvPr/>
        </p:nvSpPr>
        <p:spPr>
          <a:xfrm>
            <a:off x="13405104" y="1170431"/>
            <a:ext cx="91440" cy="5486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13688568" y="118871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ON/OFF VALVE (SEQ. / SIS)</a:t>
            </a:r>
          </a:p>
        </p:txBody>
      </p:sp>
      <p:cxnSp>
        <p:nvCxnSpPr>
          <p:cNvPr id="323" name="Connector 322"/>
          <p:cNvCxnSpPr/>
          <p:nvPr/>
        </p:nvCxnSpPr>
        <p:spPr>
          <a:xfrm>
            <a:off x="11750040" y="15544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Freeform 323"/>
          <p:cNvSpPr/>
          <p:nvPr/>
        </p:nvSpPr>
        <p:spPr>
          <a:xfrm>
            <a:off x="11850624" y="149504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12179808" y="146303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MANUAL VALVE</a:t>
            </a:r>
          </a:p>
        </p:txBody>
      </p:sp>
      <p:cxnSp>
        <p:nvCxnSpPr>
          <p:cNvPr id="326" name="Connector 325"/>
          <p:cNvCxnSpPr/>
          <p:nvPr/>
        </p:nvCxnSpPr>
        <p:spPr>
          <a:xfrm>
            <a:off x="13258800" y="15544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3423392" y="147218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3478256" y="147218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TextBox 328"/>
          <p:cNvSpPr txBox="1"/>
          <p:nvPr/>
        </p:nvSpPr>
        <p:spPr>
          <a:xfrm>
            <a:off x="13688568" y="146303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ORIFICE FLOW ELEMENT</a:t>
            </a:r>
          </a:p>
        </p:txBody>
      </p:sp>
      <p:sp>
        <p:nvSpPr>
          <p:cNvPr id="330" name="Oval 329"/>
          <p:cNvSpPr/>
          <p:nvPr/>
        </p:nvSpPr>
        <p:spPr>
          <a:xfrm>
            <a:off x="11841480" y="171907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331" name="Connector 330"/>
          <p:cNvCxnSpPr/>
          <p:nvPr/>
        </p:nvCxnSpPr>
        <p:spPr>
          <a:xfrm>
            <a:off x="11841480" y="1828800"/>
            <a:ext cx="2194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TextBox 331"/>
          <p:cNvSpPr txBox="1"/>
          <p:nvPr/>
        </p:nvSpPr>
        <p:spPr>
          <a:xfrm>
            <a:off x="12179808" y="173736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DCS INSTRUMENT</a:t>
            </a:r>
          </a:p>
        </p:txBody>
      </p:sp>
      <p:sp>
        <p:nvSpPr>
          <p:cNvPr id="333" name="Oval 332"/>
          <p:cNvSpPr/>
          <p:nvPr/>
        </p:nvSpPr>
        <p:spPr>
          <a:xfrm>
            <a:off x="13350240" y="171907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3688568" y="173736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FIELD INSTRUMENT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11823192" y="1975103"/>
            <a:ext cx="256032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1841480" y="1993391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337" name="Connector 336"/>
          <p:cNvCxnSpPr/>
          <p:nvPr/>
        </p:nvCxnSpPr>
        <p:spPr>
          <a:xfrm>
            <a:off x="11841480" y="2103120"/>
            <a:ext cx="2194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TextBox 337"/>
          <p:cNvSpPr txBox="1"/>
          <p:nvPr/>
        </p:nvSpPr>
        <p:spPr>
          <a:xfrm>
            <a:off x="12179808" y="201167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SIS FUNCTION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13313664" y="2011679"/>
            <a:ext cx="292608" cy="18288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>
            <a:off x="13313664" y="2103120"/>
            <a:ext cx="2926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" name="TextBox 340"/>
          <p:cNvSpPr txBox="1"/>
          <p:nvPr/>
        </p:nvSpPr>
        <p:spPr>
          <a:xfrm>
            <a:off x="13688568" y="201167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DCS FUNCTION BLOCK</a:t>
            </a:r>
          </a:p>
        </p:txBody>
      </p:sp>
      <p:sp>
        <p:nvSpPr>
          <p:cNvPr id="342" name="Freeform 341"/>
          <p:cNvSpPr/>
          <p:nvPr/>
        </p:nvSpPr>
        <p:spPr>
          <a:xfrm>
            <a:off x="11795760" y="2304287"/>
            <a:ext cx="283464" cy="146304"/>
          </a:xfrm>
          <a:custGeom>
            <a:avLst/>
            <a:gdLst/>
            <a:ahLst/>
            <a:cxnLst/>
            <a:rect l="l" t="t" r="r" b="b"/>
            <a:pathLst>
              <a:path w="283464" h="146304">
                <a:moveTo>
                  <a:pt x="0" y="0"/>
                </a:moveTo>
                <a:lnTo>
                  <a:pt x="210312" y="0"/>
                </a:lnTo>
                <a:lnTo>
                  <a:pt x="283464" y="73152"/>
                </a:lnTo>
                <a:lnTo>
                  <a:pt x="210312" y="146304"/>
                </a:lnTo>
                <a:lnTo>
                  <a:pt x="0" y="14630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12179808" y="228599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OFF-SHEET LINK</a:t>
            </a:r>
          </a:p>
        </p:txBody>
      </p:sp>
      <p:cxnSp>
        <p:nvCxnSpPr>
          <p:cNvPr id="344" name="Connector 343"/>
          <p:cNvCxnSpPr/>
          <p:nvPr/>
        </p:nvCxnSpPr>
        <p:spPr>
          <a:xfrm flipV="1">
            <a:off x="13450824" y="2432303"/>
            <a:ext cx="0" cy="7315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Freeform 344"/>
          <p:cNvSpPr/>
          <p:nvPr/>
        </p:nvSpPr>
        <p:spPr>
          <a:xfrm>
            <a:off x="13395960" y="2276856"/>
            <a:ext cx="109728" cy="164591"/>
          </a:xfrm>
          <a:custGeom>
            <a:avLst/>
            <a:gdLst/>
            <a:ahLst/>
            <a:cxnLst/>
            <a:rect l="l" t="t" r="r" b="b"/>
            <a:pathLst>
              <a:path w="109728" h="164591">
                <a:moveTo>
                  <a:pt x="0" y="0"/>
                </a:moveTo>
                <a:lnTo>
                  <a:pt x="109728" y="164591"/>
                </a:lnTo>
                <a:lnTo>
                  <a:pt x="0" y="164591"/>
                </a:lnTo>
                <a:lnTo>
                  <a:pt x="10972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6" name="Connector 345"/>
          <p:cNvCxnSpPr/>
          <p:nvPr/>
        </p:nvCxnSpPr>
        <p:spPr>
          <a:xfrm>
            <a:off x="13395960" y="2285999"/>
            <a:ext cx="109728" cy="914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TextBox 346"/>
          <p:cNvSpPr txBox="1"/>
          <p:nvPr/>
        </p:nvSpPr>
        <p:spPr>
          <a:xfrm>
            <a:off x="13688568" y="228599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RELIEF VALVE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11704320" y="2670048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CONTROL LOOP SCHEDULE</a:t>
            </a:r>
          </a:p>
        </p:txBody>
      </p:sp>
      <p:cxnSp>
        <p:nvCxnSpPr>
          <p:cNvPr id="349" name="Connector 348"/>
          <p:cNvCxnSpPr/>
          <p:nvPr/>
        </p:nvCxnSpPr>
        <p:spPr>
          <a:xfrm>
            <a:off x="11704320" y="285292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11704320" y="299923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11704320" y="314553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11704320" y="329184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11704320" y="343814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11704320" y="358444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11704320" y="373075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11704320" y="387705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11704320" y="402336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11704320" y="416966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11704320" y="431596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11704320" y="446227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11704320" y="460857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11704320" y="475488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11704320" y="490118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11704320" y="2852928"/>
            <a:ext cx="0" cy="2048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12161520" y="2852928"/>
            <a:ext cx="0" cy="2048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12874752" y="2852928"/>
            <a:ext cx="0" cy="2048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13624560" y="2852928"/>
            <a:ext cx="0" cy="2048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13862304" y="2852928"/>
            <a:ext cx="0" cy="2048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14721840" y="2852928"/>
            <a:ext cx="0" cy="2048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TextBox 369"/>
          <p:cNvSpPr txBox="1"/>
          <p:nvPr/>
        </p:nvSpPr>
        <p:spPr>
          <a:xfrm>
            <a:off x="11731752" y="2852928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LOOP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12188952" y="2852928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MEASURES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12902184" y="2852928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MOVES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13651992" y="2852928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FAIL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13889736" y="2852928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SET / NOTE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11731752" y="2999232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FIC-101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12188952" y="2999232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WATER CHARGE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12902184" y="2999232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FV-101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13651992" y="2999232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3889736" y="2999232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240 m3/h, FQ 60 t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11731752" y="3145536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FIC-102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2188952" y="3145536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VCM CHARGE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2902184" y="3145536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FV-102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13651992" y="3145536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13889736" y="3145536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180 t/h, FQ 51 t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11731752" y="3291840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LIC-100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12188952" y="3291840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R-101 LEVEL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12902184" y="3291840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FIC-103 SP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13651992" y="3291840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13889736" y="3291840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83 %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1731752" y="3438144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FIC-103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2188952" y="3438144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INJECTION WATER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12902184" y="3438144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FV-103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13651992" y="3438144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13889736" y="3438144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CAS (~3 m3/h)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11731752" y="3584448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TIC-100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12188952" y="3584448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R-101 TEMP.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12902184" y="3584448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TIC-110 SP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13651992" y="3584448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13889736" y="3584448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57.0 C (K 67)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11731752" y="3730752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TIC-110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12188952" y="3730752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JACKET INLET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12902184" y="3730752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TY-110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13651992" y="3730752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13889736" y="3730752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CAS (~38 C)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1731752" y="3877056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TY-110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2188952" y="3877056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0-50 % OUT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12902184" y="3877056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TV-110A STEAM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3651992" y="3877056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13889736" y="3877056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HEAT-UP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11731752" y="4023360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TY-110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12188952" y="4023360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50-100 % OUT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12902184" y="4023360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TV-110B CW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13651992" y="4023360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13889736" y="4023360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COOLING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11731752" y="4169664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FIC-120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12188952" y="4169664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BAFFLE CW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12902184" y="4169664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FV-120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13651992" y="4169664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13889736" y="4169664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80 m3/h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11731752" y="4315968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VPC-130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12188952" y="4315968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TIC-110 OUT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12902184" y="4315968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FIC-130 SP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13651992" y="4315968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13889736" y="4315968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50 % (NOTE 5)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11731752" y="4462272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FIC-130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12188952" y="4462272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E-101 CW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12902184" y="4462272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FV-130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13651992" y="4462272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13889736" y="4462272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CAS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11731752" y="4608576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HIC-135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12188952" y="4608576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12902184" y="4608576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HV-135 INERTS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3651992" y="4608576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13889736" y="4608576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MANUAL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11731752" y="4754880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HIC-105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12188952" y="4754880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12902184" y="4754880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PV-105 DEGAS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13651992" y="4754880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3889736" y="4754880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END OF BATCH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11704320" y="4974336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SIS INTERLOCKS</a:t>
            </a:r>
          </a:p>
        </p:txBody>
      </p:sp>
      <p:cxnSp>
        <p:nvCxnSpPr>
          <p:cNvPr id="441" name="Connector 440"/>
          <p:cNvCxnSpPr/>
          <p:nvPr/>
        </p:nvCxnSpPr>
        <p:spPr>
          <a:xfrm>
            <a:off x="11704320" y="515721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11704320" y="530352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11704320" y="544982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11704320" y="559612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11704320" y="574243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11704320" y="588873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11704320" y="603504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11704320" y="618134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11704320" y="5157216"/>
            <a:ext cx="0" cy="10241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11887200" y="5157216"/>
            <a:ext cx="0" cy="10241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12984480" y="5157216"/>
            <a:ext cx="0" cy="10241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13825728" y="5157216"/>
            <a:ext cx="0" cy="10241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14721840" y="5157216"/>
            <a:ext cx="0" cy="10241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TextBox 453"/>
          <p:cNvSpPr txBox="1"/>
          <p:nvPr/>
        </p:nvSpPr>
        <p:spPr>
          <a:xfrm>
            <a:off x="11731752" y="5157216"/>
            <a:ext cx="137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I-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1914632" y="5157216"/>
            <a:ext cx="10515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INITIATOR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13011911" y="5157216"/>
            <a:ext cx="795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SETTING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13853159" y="5157216"/>
            <a:ext cx="85039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ACTION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11731752" y="5303520"/>
            <a:ext cx="137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11914632" y="5303520"/>
            <a:ext cx="10515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TSHH-101 R-101 TEMP.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13011911" y="5303520"/>
            <a:ext cx="795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&gt; 63 C, 10 s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13853159" y="5303520"/>
            <a:ext cx="85039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11731752" y="5449824"/>
            <a:ext cx="137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11914632" y="5449824"/>
            <a:ext cx="10515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PSHH-101 R-101 PRESS.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13011911" y="5449824"/>
            <a:ext cx="795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&gt; 12.5 barg, 5 s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13853159" y="5449824"/>
            <a:ext cx="85039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11731752" y="5596128"/>
            <a:ext cx="137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11914632" y="5596128"/>
            <a:ext cx="10515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XS-101 AGITATOR STOP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13011911" y="5596128"/>
            <a:ext cx="795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REACTING, 15 s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13853159" y="5596128"/>
            <a:ext cx="85039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11731752" y="5742432"/>
            <a:ext cx="137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11914632" y="5742432"/>
            <a:ext cx="10515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FSLL-110 JACKET FLOW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13011911" y="5742432"/>
            <a:ext cx="795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&lt; 120 m3/h, 30 s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13853159" y="5742432"/>
            <a:ext cx="85039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11731752" y="5888736"/>
            <a:ext cx="137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11914632" y="5888736"/>
            <a:ext cx="10515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LSHH-100 R-101 LEVEL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13011911" y="5888736"/>
            <a:ext cx="795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&gt; 94 %, 5 s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13853159" y="5888736"/>
            <a:ext cx="85039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11731752" y="6035040"/>
            <a:ext cx="137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11914632" y="6035040"/>
            <a:ext cx="10515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HS-001 ESD PUSHBUTTON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13011911" y="6035040"/>
            <a:ext cx="795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MANUAL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13853159" y="6035040"/>
            <a:ext cx="85039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A + XV-108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11704320" y="6199632"/>
            <a:ext cx="30175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A = SHORT-STOP XV-104, CLOSE XV-101/102/103, FV-103 TO 0,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      FORCE TV-110B / FV-120 / FV-130 OPEN.  B = CLOSE XV-101/102, FV-103.</a:t>
            </a:r>
          </a:p>
        </p:txBody>
      </p:sp>
      <p:cxnSp>
        <p:nvCxnSpPr>
          <p:cNvPr id="483" name="Connector 482"/>
          <p:cNvCxnSpPr/>
          <p:nvPr/>
        </p:nvCxnSpPr>
        <p:spPr>
          <a:xfrm>
            <a:off x="11704320" y="651052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11704320" y="665226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11704320" y="679399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>
            <a:off x="11704320" y="693572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11704320" y="707745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11704320" y="721918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11704320" y="736092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11704320" y="750265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11704320" y="764438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11704320" y="6510528"/>
            <a:ext cx="0" cy="11338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13121640" y="6510528"/>
            <a:ext cx="0" cy="11338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14721840" y="6510528"/>
            <a:ext cx="0" cy="11338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5" name="TextBox 494"/>
          <p:cNvSpPr txBox="1"/>
          <p:nvPr/>
        </p:nvSpPr>
        <p:spPr>
          <a:xfrm>
            <a:off x="11731752" y="6510528"/>
            <a:ext cx="13716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ITEM (OTS DESIGN POINT)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13149072" y="6510528"/>
            <a:ext cx="155448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VALUE</a:t>
            </a:r>
          </a:p>
        </p:txBody>
      </p:sp>
      <p:sp>
        <p:nvSpPr>
          <p:cNvPr id="497" name="TextBox 496"/>
          <p:cNvSpPr txBox="1"/>
          <p:nvPr/>
        </p:nvSpPr>
        <p:spPr>
          <a:xfrm>
            <a:off x="11731752" y="6652260"/>
            <a:ext cx="13716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WATER / VCM CHARGE</a:t>
            </a:r>
          </a:p>
        </p:txBody>
      </p:sp>
      <p:sp>
        <p:nvSpPr>
          <p:cNvPr id="498" name="TextBox 497"/>
          <p:cNvSpPr txBox="1"/>
          <p:nvPr/>
        </p:nvSpPr>
        <p:spPr>
          <a:xfrm>
            <a:off x="13149072" y="6652260"/>
            <a:ext cx="155448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60 t (55 C) / 51 t (25 C)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11731752" y="6793992"/>
            <a:ext cx="13716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REACTION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13149072" y="6793992"/>
            <a:ext cx="155448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57.0 C, 8.6 barg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11731752" y="6935724"/>
            <a:ext cx="13716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LEVEL / CONTENTS AT 2 h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13149072" y="6935724"/>
            <a:ext cx="155448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83 % / 117.8 t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11731752" y="7077456"/>
            <a:ext cx="13716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Q REACTION AT 2 h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13149072" y="7077456"/>
            <a:ext cx="155448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2.71 MW (PEAK 3.43)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11731752" y="7219188"/>
            <a:ext cx="13716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JACKET / BAFFLES / E-101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3149072" y="7219188"/>
            <a:ext cx="155448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1.48 / 0.40 / 0.98 MW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11731752" y="7360920"/>
            <a:ext cx="13716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END POINT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13149072" y="7360920"/>
            <a:ext cx="155448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dP 1.8 bar, X 0.85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11731752" y="7502652"/>
            <a:ext cx="13716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PVC PER BATCH / TIME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13149072" y="7502652"/>
            <a:ext cx="155448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43.2 t / 5.3 h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57200" y="8659368"/>
            <a:ext cx="1115568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GENERAL NOTES: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1. DESIGN BASIS (REFERENCE CARD): VINYL CHLORIDE IN WATER -&gt; PVC; JACKETED BATCH TANK + REFLUX CONDENSER; 50-70 C, 8-12 bar; ORGANIC PEROXIDE INITIATOR; 200 kt/y -&gt; 7.9 MW (dHp 71 kJ/mol, 8000 h/y). PLANT = 4 x 140 m3 REACTORS R-101..R-104; THIS SHEET = R-101 (OTS UNIT).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2. RECIPE (ASSUMED OTS DESIGN POINT): 60 t DEMIN WATER 55 C + PVA (HV-107), 51 t VCM, INITIATORS A + B (t1/2 1.5 h / 12 h AT 57 C), 57.0 C (GRADE K 67). END POINT = PRESSURE DROP 1.8 bar -&gt; 85 % CONVERSION, 43.2 t PVC, REACTION 5.3 h; CYCLE ~7 h -&gt; 4 x 43.2 t x 8000 / 6.9 h = 200 kt/y.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3. VESSEL D 4.5 m x T/T 7.4 m (141.5 m3), SS-CLAD. SHELL 15.2 barg &amp; FULL VACUUM / 93 C, JACKET 5.2 barg (220 / 75 psi, 200 F). PSV-100 SET 15.0 barg TO DUMP TANK D-103: RUNAWAY / TWO-PHASE RELIEF SIZING TBC (DIERS METHOD).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4. BATCH SEQUENCE (DCS): XV-109 EVACUATE TO &lt;= 0.05 bar a -&gt; XV-101 WATER (FQ PRESET) -&gt; XV-102 VCM (PERMISSIVES: XV-106 SHUT, EVACUATED, WATER &gt;= 95 %, M-101 RUNNING, FI-110 &gt;= 300 m3/h) -&gt; HEAT-UP -&gt; XV-103 INITIATOR AT TI-100 &gt;= 54 C -&gt; REACTION -&gt; END POINT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   -&gt; XV-104 SHORT-STOP -&gt; XV-105 / PV-105 DEGAS BELOW 2 barg -&gt; HV-141 N2 PAD (1.5 barg) -&gt; XV-106 DISCHARGE. ALL XV FAIL CLOSED; SEQUENCE SIGNALS NOT SHOWN.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5. E-101: VCM VAPOUR UP AND CONDENSATE BACK DOWN THE SAME 18" NOZZLE. INERTS (N2 / AIR) COLLECT AT THE TOP AND BLANKET THE TUBES (TI-132 FALLS TOWARD CW TEMPERATURE) - VENT WITH HV-135. E-101 CW BY VPC-130 / FIC-130 ON PVC-PID-002 (ANTI-FOAM LIMIT 12 m3/h PER % XI-100).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6. XI-100 = CALORIMETRIC CONVERSION IN DCS = INTEGRAL(JACKET + BAFFLE + E-101 DUTIES - AGITATOR POWER + HEAT STORED) / (dHp x FQ-102).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7. LIC-100 (RADAR) HOLDS THE LEVEL WITH SHRINKAGE-COMPENSATION WATER (FIC-103 IN CASCADE): PVC 1.40 vs VCM 0.85 t/m3 -&gt; ABOUT 20 m3 INJECTED PER BATCH; KEEPS THE JACKET WETTED.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8. SIS I-1..I-6 IN A SEPARATE LOGIC SOLVER (TABLE). SHORT-STOP POT D-105 IS N2-PRESSURISED; SHORT-STOP ONLY MIXES WITH THE AGITATOR RUNNING (&lt; 30 s) - AGITATOR ON EMERGENCY POWER (TBC).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9. LINE SIZES AND MATERIALS PRELIMINARY - TBC BY PIPING. SERVICE CODES: PW PROCESS WATER, VC VCM LIQUID, VG VCM GAS, IN INITIATOR, SS SHORT-STOP, SL SLURRY, NG NITROGEN, CW COOLING / JACKET WATER.</a:t>
            </a:r>
          </a:p>
        </p:txBody>
      </p:sp>
      <p:cxnSp>
        <p:nvCxnSpPr>
          <p:cNvPr id="512" name="Connector 511"/>
          <p:cNvCxnSpPr/>
          <p:nvPr/>
        </p:nvCxnSpPr>
        <p:spPr>
          <a:xfrm>
            <a:off x="11750040" y="8641080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11750040" y="89016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>
            <a:off x="11750040" y="91622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1175004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1207008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14026896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14804135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9" name="TextBox 518"/>
          <p:cNvSpPr txBox="1"/>
          <p:nvPr/>
        </p:nvSpPr>
        <p:spPr>
          <a:xfrm>
            <a:off x="11750040" y="8641080"/>
            <a:ext cx="3200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REV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12070080" y="8641080"/>
            <a:ext cx="1956816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DESCRIPTION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14026896" y="8641080"/>
            <a:ext cx="7772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11750040" y="8901684"/>
            <a:ext cx="3200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12070080" y="8901684"/>
            <a:ext cx="1956816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ISSUED FOR OTS DEVELOPMENT (REVIEW)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14026896" y="8901684"/>
            <a:ext cx="7772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25-SEP-26</a:t>
            </a:r>
          </a:p>
        </p:txBody>
      </p:sp>
      <p:sp>
        <p:nvSpPr>
          <p:cNvPr id="525" name="Rectangle 524"/>
          <p:cNvSpPr/>
          <p:nvPr/>
        </p:nvSpPr>
        <p:spPr>
          <a:xfrm>
            <a:off x="11750040" y="9162288"/>
            <a:ext cx="305409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6" name="Connector 525"/>
          <p:cNvCxnSpPr/>
          <p:nvPr/>
        </p:nvCxnSpPr>
        <p:spPr>
          <a:xfrm>
            <a:off x="11750040" y="94731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11750040" y="9802367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11750040" y="100766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TextBox 528"/>
          <p:cNvSpPr txBox="1"/>
          <p:nvPr/>
        </p:nvSpPr>
        <p:spPr>
          <a:xfrm>
            <a:off x="11750040" y="9180576"/>
            <a:ext cx="3054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CHULA CHEM. ENG. - PVC REACTOR VER 1 (OTS)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11750040" y="9491472"/>
            <a:ext cx="3054096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P&amp;ID - R-101 PVC REACTOR,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CHARGES, CONDENSER, VENTS</a:t>
            </a:r>
          </a:p>
        </p:txBody>
      </p:sp>
      <p:cxnSp>
        <p:nvCxnSpPr>
          <p:cNvPr id="531" name="Connector 530"/>
          <p:cNvCxnSpPr/>
          <p:nvPr/>
        </p:nvCxnSpPr>
        <p:spPr>
          <a:xfrm>
            <a:off x="12513563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13277088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14040612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4" name="TextBox 533"/>
          <p:cNvSpPr txBox="1"/>
          <p:nvPr/>
        </p:nvSpPr>
        <p:spPr>
          <a:xfrm>
            <a:off x="11750040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DRAWN: APINAN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SOOTTITANTAWAT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12513563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CHK'D: --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13277088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APP'D: --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14040612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DATE: 25-SEP-26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11750040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DWG NO.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PVC-PID-001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12513563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REV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13277088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SCALE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N.T.S.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14040612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SHEET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1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