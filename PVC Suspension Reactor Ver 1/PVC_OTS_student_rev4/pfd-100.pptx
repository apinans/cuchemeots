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52000"/>
            <a:ext cx="10188000" cy="7056000"/>
          </a:xfrm>
          <a:prstGeom prst="rect">
            <a:avLst/>
          </a:prstGeom>
          <a:noFill/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5063" y="328030"/>
            <a:ext cx="31587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TK-100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449" y="393968"/>
            <a:ext cx="48910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VCM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0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158" y="393968"/>
            <a:ext cx="62768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VCM Charge Pump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1063" y="328030"/>
            <a:ext cx="31587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TK-107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740" y="393968"/>
            <a:ext cx="350519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PVA 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6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D-104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7804" y="393968"/>
            <a:ext cx="558393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Initiator Pot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7095" y="459907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(chilled)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4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P-104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3835" y="393968"/>
            <a:ext cx="66233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Initiator Dosing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1709" y="459907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Pump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2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D-105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6481" y="393968"/>
            <a:ext cx="59303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Short-stop Pot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9709" y="459907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(N2)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R-101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7158" y="393968"/>
            <a:ext cx="62768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PVC Reactor 140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3000" y="459907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7835" y="393968"/>
            <a:ext cx="66233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Reflux Condenser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9063" y="328030"/>
            <a:ext cx="31587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VP-101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2449" y="393968"/>
            <a:ext cx="48910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Vacuum Pump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4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D-103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8481" y="393968"/>
            <a:ext cx="59303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Emergency 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1709" y="459907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Tank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2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D-106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3804" y="393968"/>
            <a:ext cx="558393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VCM Gasholder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5772" y="459907"/>
            <a:ext cx="45445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1.25 bar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0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C-101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126" y="393968"/>
            <a:ext cx="523747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VCM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3772" y="459907"/>
            <a:ext cx="45445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Compressor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9095" y="328030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P-101 A/B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1063" y="393968"/>
            <a:ext cx="31587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Jacket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4449" y="459907"/>
            <a:ext cx="48910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Circulation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8386" y="525845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Pumps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16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D-102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9772" y="393968"/>
            <a:ext cx="45445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Blowdown 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12449" y="459907"/>
            <a:ext cx="48910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Slurry Tank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4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P-102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70449" y="393968"/>
            <a:ext cx="48910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Slurry Pump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2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T-201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835" y="393968"/>
            <a:ext cx="66233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Slurry Stripping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15063" y="459907"/>
            <a:ext cx="31587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Column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0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S-201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03772" y="393968"/>
            <a:ext cx="45445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Dewatering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3772" y="459907"/>
            <a:ext cx="45445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Centrifuge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48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D-201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9095" y="393968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PVC Dryer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52000" y="641754"/>
            <a:ext cx="10188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52" name="Rectangle 51"/>
          <p:cNvSpPr/>
          <p:nvPr/>
        </p:nvSpPr>
        <p:spPr>
          <a:xfrm>
            <a:off x="7056000" y="6192000"/>
            <a:ext cx="3384000" cy="11160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7056000" y="6357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7056000" y="6753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7056000" y="7005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7128000" y="6222817"/>
            <a:ext cx="1889099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PVC SUSPENSION REACTOR VER 1 · OPERATOR TRAINING SIMULATOR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94790" y="6432180"/>
            <a:ext cx="2706420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000000"/>
                </a:solidFill>
                <a:latin typeface="Arial"/>
              </a:rPr>
              <a:t>PFD-100 PVC suspension polymerisation — R-101 area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9120" y="6616400"/>
            <a:ext cx="199776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PVC SUSPENSION POLYMERISATION — R-101 AREA (1 OF 4 REACTORS)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06400" y="6779122"/>
            <a:ext cx="393826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DRAWING No.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06400" y="6878390"/>
            <a:ext cx="339496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PFD-100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47728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852768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REV.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2768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08640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65" name="TextBox 64"/>
          <p:cNvSpPr txBox="1"/>
          <p:nvPr/>
        </p:nvSpPr>
        <p:spPr>
          <a:xfrm>
            <a:off x="913680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SIZE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680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62784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9678240" y="6779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SHEET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78240" y="687839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064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06400" y="7130390"/>
            <a:ext cx="802487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47728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73" name="TextBox 72"/>
          <p:cNvSpPr txBox="1"/>
          <p:nvPr/>
        </p:nvSpPr>
        <p:spPr>
          <a:xfrm>
            <a:off x="8527680" y="7031122"/>
            <a:ext cx="289889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CHECKED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2768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08640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76" name="TextBox 75"/>
          <p:cNvSpPr txBox="1"/>
          <p:nvPr/>
        </p:nvSpPr>
        <p:spPr>
          <a:xfrm>
            <a:off x="91368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3680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NTS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62784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79" name="TextBox 78"/>
          <p:cNvSpPr txBox="1"/>
          <p:nvPr/>
        </p:nvSpPr>
        <p:spPr>
          <a:xfrm>
            <a:off x="9678240" y="7031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78240" y="7130390"/>
            <a:ext cx="438708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2026-09-29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2000" y="6292800"/>
            <a:ext cx="6768000" cy="1015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4000" y="6350195"/>
            <a:ext cx="32532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sp>
        <p:nvSpPr>
          <p:cNvPr id="83" name="Freeform 82"/>
          <p:cNvSpPr/>
          <p:nvPr/>
        </p:nvSpPr>
        <p:spPr>
          <a:xfrm>
            <a:off x="324000" y="6501472"/>
            <a:ext cx="288000" cy="115200"/>
          </a:xfrm>
          <a:custGeom>
            <a:avLst/>
            <a:gdLst/>
            <a:ahLst/>
            <a:cxnLst/>
            <a:rect l="l" t="t" r="r" b="b"/>
            <a:pathLst>
              <a:path w="288000" h="115200">
                <a:moveTo>
                  <a:pt x="68400" y="0"/>
                </a:moveTo>
                <a:lnTo>
                  <a:pt x="288000" y="0"/>
                </a:lnTo>
                <a:lnTo>
                  <a:pt x="2196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8000" y="6512082"/>
            <a:ext cx="545007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Mass Flow (t/h)</a:t>
            </a:r>
          </a:p>
        </p:txBody>
      </p:sp>
      <p:sp>
        <p:nvSpPr>
          <p:cNvPr id="86" name="Freeform 85"/>
          <p:cNvSpPr/>
          <p:nvPr/>
        </p:nvSpPr>
        <p:spPr>
          <a:xfrm>
            <a:off x="145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198000" y="57600"/>
                </a:lnTo>
                <a:lnTo>
                  <a:pt x="252000" y="115200"/>
                </a:lnTo>
                <a:lnTo>
                  <a:pt x="0" y="115200"/>
                </a:lnTo>
                <a:lnTo>
                  <a:pt x="54000" y="576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47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58000" y="6512082"/>
            <a:ext cx="632408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Liquid Flow (m³/h)</a:t>
            </a:r>
          </a:p>
        </p:txBody>
      </p:sp>
      <p:sp>
        <p:nvSpPr>
          <p:cNvPr id="89" name="Freeform 88"/>
          <p:cNvSpPr/>
          <p:nvPr/>
        </p:nvSpPr>
        <p:spPr>
          <a:xfrm>
            <a:off x="256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58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86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Temperature (°C)</a:t>
            </a:r>
          </a:p>
        </p:txBody>
      </p:sp>
      <p:sp>
        <p:nvSpPr>
          <p:cNvPr id="92" name="Freeform 91"/>
          <p:cNvSpPr/>
          <p:nvPr/>
        </p:nvSpPr>
        <p:spPr>
          <a:xfrm>
            <a:off x="367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0400" y="0"/>
                </a:moveTo>
                <a:lnTo>
                  <a:pt x="2016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9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7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Pressure (bar g)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4778400" y="65590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96" name="TextBox 95"/>
          <p:cNvSpPr txBox="1"/>
          <p:nvPr/>
        </p:nvSpPr>
        <p:spPr>
          <a:xfrm>
            <a:off x="5088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888400" y="6559072"/>
            <a:ext cx="259200" cy="0"/>
          </a:xfrm>
          <a:prstGeom prst="line">
            <a:avLst/>
          </a:prstGeom>
          <a:ln w="6480">
            <a:solidFill>
              <a:srgbClr val="000000"/>
            </a:solidFill>
          </a:ln>
          <a:effectLst/>
        </p:spPr>
      </p:cxnSp>
      <p:sp>
        <p:nvSpPr>
          <p:cNvPr id="98" name="TextBox 97"/>
          <p:cNvSpPr txBox="1"/>
          <p:nvPr/>
        </p:nvSpPr>
        <p:spPr>
          <a:xfrm>
            <a:off x="6198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sp>
        <p:nvSpPr>
          <p:cNvPr id="99" name="Freeform 98"/>
          <p:cNvSpPr/>
          <p:nvPr/>
        </p:nvSpPr>
        <p:spPr>
          <a:xfrm>
            <a:off x="385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68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 flipV="1">
            <a:off x="468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>
            <a:off x="413568" y="6668152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03" name="TextBox 102"/>
          <p:cNvSpPr txBox="1"/>
          <p:nvPr/>
        </p:nvSpPr>
        <p:spPr>
          <a:xfrm>
            <a:off x="648000" y="6778482"/>
            <a:ext cx="428472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Block Valve</a:t>
            </a:r>
          </a:p>
        </p:txBody>
      </p:sp>
      <p:sp>
        <p:nvSpPr>
          <p:cNvPr id="104" name="Freeform 103"/>
          <p:cNvSpPr/>
          <p:nvPr/>
        </p:nvSpPr>
        <p:spPr>
          <a:xfrm>
            <a:off x="1495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1578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 flipV="1">
            <a:off x="1578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07" name="Freeform 106"/>
          <p:cNvSpPr/>
          <p:nvPr/>
        </p:nvSpPr>
        <p:spPr>
          <a:xfrm>
            <a:off x="1539120" y="6613720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75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Control Valve</a:t>
            </a:r>
          </a:p>
        </p:txBody>
      </p:sp>
      <p:sp>
        <p:nvSpPr>
          <p:cNvPr id="109" name="Oval 108"/>
          <p:cNvSpPr/>
          <p:nvPr/>
        </p:nvSpPr>
        <p:spPr>
          <a:xfrm>
            <a:off x="2623200" y="6760672"/>
            <a:ext cx="129600" cy="129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623200" y="6760672"/>
            <a:ext cx="64800" cy="129600"/>
          </a:xfrm>
          <a:custGeom>
            <a:avLst/>
            <a:gdLst/>
            <a:ahLst/>
            <a:cxnLst/>
            <a:rect l="l" t="t" r="r" b="b"/>
            <a:pathLst>
              <a:path w="64800" h="129600">
                <a:moveTo>
                  <a:pt x="64800" y="64800"/>
                </a:moveTo>
                <a:lnTo>
                  <a:pt x="64800" y="129600"/>
                </a:lnTo>
                <a:lnTo>
                  <a:pt x="56342" y="129046"/>
                </a:lnTo>
                <a:lnTo>
                  <a:pt x="48029" y="127392"/>
                </a:lnTo>
                <a:lnTo>
                  <a:pt x="40002" y="124667"/>
                </a:lnTo>
                <a:lnTo>
                  <a:pt x="32400" y="120918"/>
                </a:lnTo>
                <a:lnTo>
                  <a:pt x="25352" y="116209"/>
                </a:lnTo>
                <a:lnTo>
                  <a:pt x="18979" y="110621"/>
                </a:lnTo>
                <a:lnTo>
                  <a:pt x="13391" y="104248"/>
                </a:lnTo>
                <a:lnTo>
                  <a:pt x="8682" y="97200"/>
                </a:lnTo>
                <a:lnTo>
                  <a:pt x="4933" y="89598"/>
                </a:lnTo>
                <a:lnTo>
                  <a:pt x="2208" y="81571"/>
                </a:lnTo>
                <a:lnTo>
                  <a:pt x="554" y="73258"/>
                </a:lnTo>
                <a:lnTo>
                  <a:pt x="0" y="64800"/>
                </a:lnTo>
                <a:lnTo>
                  <a:pt x="554" y="56342"/>
                </a:lnTo>
                <a:lnTo>
                  <a:pt x="2208" y="48029"/>
                </a:lnTo>
                <a:lnTo>
                  <a:pt x="4933" y="40002"/>
                </a:lnTo>
                <a:lnTo>
                  <a:pt x="8682" y="32400"/>
                </a:lnTo>
                <a:lnTo>
                  <a:pt x="13391" y="25352"/>
                </a:lnTo>
                <a:lnTo>
                  <a:pt x="18979" y="18979"/>
                </a:lnTo>
                <a:lnTo>
                  <a:pt x="25352" y="13391"/>
                </a:lnTo>
                <a:lnTo>
                  <a:pt x="32400" y="8682"/>
                </a:lnTo>
                <a:lnTo>
                  <a:pt x="40002" y="4933"/>
                </a:lnTo>
                <a:lnTo>
                  <a:pt x="48029" y="2208"/>
                </a:lnTo>
                <a:lnTo>
                  <a:pt x="56342" y="554"/>
                </a:lnTo>
                <a:lnTo>
                  <a:pt x="64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868000" y="6778482"/>
            <a:ext cx="74894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Input / Output</a:t>
            </a:r>
          </a:p>
        </p:txBody>
      </p:sp>
      <p:sp>
        <p:nvSpPr>
          <p:cNvPr id="112" name="Freeform 111"/>
          <p:cNvSpPr/>
          <p:nvPr/>
        </p:nvSpPr>
        <p:spPr>
          <a:xfrm>
            <a:off x="3711600" y="6739072"/>
            <a:ext cx="172800" cy="172800"/>
          </a:xfrm>
          <a:custGeom>
            <a:avLst/>
            <a:gdLst/>
            <a:ahLst/>
            <a:cxnLst/>
            <a:rect l="l" t="t" r="r" b="b"/>
            <a:pathLst>
              <a:path w="172800" h="172800">
                <a:moveTo>
                  <a:pt x="86400" y="0"/>
                </a:moveTo>
                <a:lnTo>
                  <a:pt x="172800" y="86400"/>
                </a:lnTo>
                <a:lnTo>
                  <a:pt x="86400" y="172800"/>
                </a:lnTo>
                <a:lnTo>
                  <a:pt x="0" y="864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690000" y="675689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97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Stream Number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778400" y="68254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>
            <a:off x="4908000" y="67174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4908000" y="68722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118" name="TextBox 117"/>
          <p:cNvSpPr txBox="1"/>
          <p:nvPr/>
        </p:nvSpPr>
        <p:spPr>
          <a:xfrm>
            <a:off x="508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Line Crossing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892000" y="6764272"/>
            <a:ext cx="252000" cy="12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19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Vessel / Drum</a:t>
            </a:r>
          </a:p>
        </p:txBody>
      </p:sp>
      <p:sp>
        <p:nvSpPr>
          <p:cNvPr id="121" name="Oval 120"/>
          <p:cNvSpPr/>
          <p:nvPr/>
        </p:nvSpPr>
        <p:spPr>
          <a:xfrm>
            <a:off x="408384" y="7010728"/>
            <a:ext cx="119232" cy="119232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8384" y="7070344"/>
            <a:ext cx="59616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H="1">
            <a:off x="39944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>
            <a:off x="50496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393480" y="7162749"/>
            <a:ext cx="14904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26" name="TextBox 125"/>
          <p:cNvSpPr txBox="1"/>
          <p:nvPr/>
        </p:nvSpPr>
        <p:spPr>
          <a:xfrm>
            <a:off x="648000" y="70448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Centrifugal Pump</a:t>
            </a:r>
          </a:p>
        </p:txBody>
      </p:sp>
      <p:sp>
        <p:nvSpPr>
          <p:cNvPr id="127" name="Oval 126"/>
          <p:cNvSpPr/>
          <p:nvPr/>
        </p:nvSpPr>
        <p:spPr>
          <a:xfrm>
            <a:off x="1528752" y="7024840"/>
            <a:ext cx="98496" cy="98496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1547466" y="7043554"/>
            <a:ext cx="61068" cy="61068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1547466" y="7043554"/>
            <a:ext cx="61068" cy="61068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H="1">
            <a:off x="1521365" y="7112501"/>
            <a:ext cx="26101" cy="37921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1608534" y="7112501"/>
            <a:ext cx="26101" cy="37921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>
            <a:off x="1516440" y="7150422"/>
            <a:ext cx="1231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33" name="TextBox 132"/>
          <p:cNvSpPr txBox="1"/>
          <p:nvPr/>
        </p:nvSpPr>
        <p:spPr>
          <a:xfrm>
            <a:off x="1758000" y="7044882"/>
            <a:ext cx="311937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PD Pump</a:t>
            </a:r>
          </a:p>
        </p:txBody>
      </p:sp>
      <p:sp>
        <p:nvSpPr>
          <p:cNvPr id="134" name="Freeform 133"/>
          <p:cNvSpPr/>
          <p:nvPr/>
        </p:nvSpPr>
        <p:spPr>
          <a:xfrm>
            <a:off x="2598000" y="7016272"/>
            <a:ext cx="180000" cy="151200"/>
          </a:xfrm>
          <a:custGeom>
            <a:avLst/>
            <a:gdLst/>
            <a:ahLst/>
            <a:cxnLst/>
            <a:rect l="l" t="t" r="r" b="b"/>
            <a:pathLst>
              <a:path w="180000" h="151200">
                <a:moveTo>
                  <a:pt x="0" y="0"/>
                </a:moveTo>
                <a:lnTo>
                  <a:pt x="180000" y="0"/>
                </a:lnTo>
                <a:lnTo>
                  <a:pt x="180000" y="117936"/>
                </a:lnTo>
                <a:lnTo>
                  <a:pt x="90000" y="151200"/>
                </a:lnTo>
                <a:lnTo>
                  <a:pt x="0" y="117936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664600" y="6989056"/>
            <a:ext cx="46800" cy="27216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2688000" y="6989056"/>
            <a:ext cx="0" cy="1209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2648400" y="7110016"/>
            <a:ext cx="792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38" name="TextBox 137"/>
          <p:cNvSpPr txBox="1"/>
          <p:nvPr/>
        </p:nvSpPr>
        <p:spPr>
          <a:xfrm>
            <a:off x="2868000" y="7044882"/>
            <a:ext cx="545007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Stirred Reactor</a:t>
            </a:r>
          </a:p>
        </p:txBody>
      </p:sp>
      <p:sp>
        <p:nvSpPr>
          <p:cNvPr id="139" name="Oval 138"/>
          <p:cNvSpPr/>
          <p:nvPr/>
        </p:nvSpPr>
        <p:spPr>
          <a:xfrm>
            <a:off x="3708000" y="7001872"/>
            <a:ext cx="180000" cy="180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3756600" y="7045072"/>
            <a:ext cx="82800" cy="93600"/>
          </a:xfrm>
          <a:custGeom>
            <a:avLst/>
            <a:gdLst/>
            <a:ahLst/>
            <a:cxnLst/>
            <a:rect l="l" t="t" r="r" b="b"/>
            <a:pathLst>
              <a:path w="82800" h="93600">
                <a:moveTo>
                  <a:pt x="41400" y="0"/>
                </a:moveTo>
                <a:lnTo>
                  <a:pt x="82800" y="18720"/>
                </a:lnTo>
                <a:lnTo>
                  <a:pt x="0" y="46800"/>
                </a:lnTo>
                <a:lnTo>
                  <a:pt x="82800" y="74880"/>
                </a:lnTo>
                <a:lnTo>
                  <a:pt x="41400" y="9360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978000" y="7044882"/>
            <a:ext cx="51587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Heat Exchanger</a:t>
            </a:r>
          </a:p>
        </p:txBody>
      </p:sp>
      <p:sp>
        <p:nvSpPr>
          <p:cNvPr id="142" name="Oval 141"/>
          <p:cNvSpPr/>
          <p:nvPr/>
        </p:nvSpPr>
        <p:spPr>
          <a:xfrm>
            <a:off x="4825200" y="7009072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4866600" y="7050472"/>
            <a:ext cx="82800" cy="82800"/>
          </a:xfrm>
          <a:custGeom>
            <a:avLst/>
            <a:gdLst/>
            <a:ahLst/>
            <a:cxnLst/>
            <a:rect l="l" t="t" r="r" b="b"/>
            <a:pathLst>
              <a:path w="82800" h="82800">
                <a:moveTo>
                  <a:pt x="0" y="0"/>
                </a:moveTo>
                <a:lnTo>
                  <a:pt x="82800" y="41400"/>
                </a:lnTo>
                <a:lnTo>
                  <a:pt x="0" y="82800"/>
                </a:lnTo>
                <a:close/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088000" y="70448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Blower / Fan</a:t>
            </a:r>
          </a:p>
        </p:txBody>
      </p:sp>
      <p:sp>
        <p:nvSpPr>
          <p:cNvPr id="145" name="Freeform 144"/>
          <p:cNvSpPr/>
          <p:nvPr/>
        </p:nvSpPr>
        <p:spPr>
          <a:xfrm>
            <a:off x="5902800" y="7016272"/>
            <a:ext cx="230400" cy="151200"/>
          </a:xfrm>
          <a:custGeom>
            <a:avLst/>
            <a:gdLst/>
            <a:ahLst/>
            <a:cxnLst/>
            <a:rect l="l" t="t" r="r" b="b"/>
            <a:pathLst>
              <a:path w="230400" h="151200">
                <a:moveTo>
                  <a:pt x="0" y="18144"/>
                </a:moveTo>
                <a:lnTo>
                  <a:pt x="115200" y="0"/>
                </a:lnTo>
                <a:lnTo>
                  <a:pt x="230400" y="18144"/>
                </a:lnTo>
                <a:lnTo>
                  <a:pt x="230400" y="151200"/>
                </a:lnTo>
                <a:lnTo>
                  <a:pt x="0" y="1512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198000" y="70448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Storage Tank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52000" y="5580000"/>
            <a:ext cx="6732000" cy="676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24000" y="5637395"/>
            <a:ext cx="28910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24000" y="5733089"/>
            <a:ext cx="3240277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1. Flags: R-101 design state 2.0 h into the reaction (OTS model); charge rates are the FIC set points.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24000" y="5825384"/>
            <a:ext cx="3240277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2. Batch: 60 t water + PVA, 51 t VCM, initiator; 57 °C, 8.6 bar g; end point at 1.8 bar pressure drop.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24000" y="5917679"/>
            <a:ext cx="3148151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3. Recovered VCM is condensed before storage (condenser not shown). Baffle CW and N2 pad not shown.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24000" y="6009974"/>
            <a:ext cx="2472562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4. T-201, S-201, D-201 are shared by R-101 to R-104 and shown as blocks only.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35815" y="1413501"/>
            <a:ext cx="1208371" cy="484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2390400" y="20556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>
            <a:off x="2390400" y="21852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H="1">
            <a:off x="2370960" y="2286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2600352" y="2286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2358000" y="23860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59" name="Rounded Rectangle 158"/>
          <p:cNvSpPr/>
          <p:nvPr/>
        </p:nvSpPr>
        <p:spPr>
          <a:xfrm>
            <a:off x="1029240" y="2612160"/>
            <a:ext cx="245520" cy="535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 flipV="1">
            <a:off x="1050840" y="2869286"/>
            <a:ext cx="202320" cy="6428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1" name="Rounded Rectangle 160"/>
          <p:cNvSpPr/>
          <p:nvPr/>
        </p:nvSpPr>
        <p:spPr>
          <a:xfrm>
            <a:off x="813240" y="3692160"/>
            <a:ext cx="245520" cy="535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 flipV="1">
            <a:off x="834840" y="3949286"/>
            <a:ext cx="202320" cy="6428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3" name="Oval 162"/>
          <p:cNvSpPr/>
          <p:nvPr/>
        </p:nvSpPr>
        <p:spPr>
          <a:xfrm>
            <a:off x="1742400" y="41436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>
            <a:off x="1791648" y="4192848"/>
            <a:ext cx="160704" cy="16070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 flipV="1">
            <a:off x="1791648" y="4192848"/>
            <a:ext cx="160704" cy="16070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H="1">
            <a:off x="1722960" y="4374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1952352" y="4374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>
            <a:off x="1710000" y="44740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9" name="Rounded Rectangle 168"/>
          <p:cNvSpPr/>
          <p:nvPr/>
        </p:nvSpPr>
        <p:spPr>
          <a:xfrm>
            <a:off x="813240" y="4772160"/>
            <a:ext cx="245520" cy="535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0" name="Connector 169"/>
          <p:cNvCxnSpPr/>
          <p:nvPr/>
        </p:nvCxnSpPr>
        <p:spPr>
          <a:xfrm flipV="1">
            <a:off x="834840" y="5029286"/>
            <a:ext cx="202320" cy="6428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1" name="Freeform 170"/>
          <p:cNvSpPr/>
          <p:nvPr/>
        </p:nvSpPr>
        <p:spPr>
          <a:xfrm>
            <a:off x="3275183" y="3110347"/>
            <a:ext cx="793634" cy="979306"/>
          </a:xfrm>
          <a:custGeom>
            <a:avLst/>
            <a:gdLst/>
            <a:ahLst/>
            <a:cxnLst/>
            <a:rect l="l" t="t" r="r" b="b"/>
            <a:pathLst>
              <a:path w="793634" h="979306">
                <a:moveTo>
                  <a:pt x="0" y="0"/>
                </a:moveTo>
                <a:lnTo>
                  <a:pt x="793634" y="0"/>
                </a:lnTo>
                <a:lnTo>
                  <a:pt x="793634" y="763859"/>
                </a:lnTo>
                <a:lnTo>
                  <a:pt x="396817" y="979306"/>
                </a:lnTo>
                <a:lnTo>
                  <a:pt x="0" y="763859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568827" y="2934072"/>
            <a:ext cx="206345" cy="176275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>
            <a:off x="3672000" y="2934072"/>
            <a:ext cx="0" cy="78344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>
            <a:off x="3497400" y="3717517"/>
            <a:ext cx="3492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5" name="Oval 174"/>
          <p:cNvSpPr/>
          <p:nvPr/>
        </p:nvSpPr>
        <p:spPr>
          <a:xfrm>
            <a:off x="4806000" y="1566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893480" y="1643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>
            <a:off x="4968000" y="1566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4968000" y="1812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9" name="Oval 178"/>
          <p:cNvSpPr/>
          <p:nvPr/>
        </p:nvSpPr>
        <p:spPr>
          <a:xfrm>
            <a:off x="4626000" y="2322000"/>
            <a:ext cx="396000" cy="396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4725000" y="2421000"/>
            <a:ext cx="198000" cy="198000"/>
          </a:xfrm>
          <a:custGeom>
            <a:avLst/>
            <a:gdLst/>
            <a:ahLst/>
            <a:cxnLst/>
            <a:rect l="l" t="t" r="r" b="b"/>
            <a:pathLst>
              <a:path w="198000" h="198000">
                <a:moveTo>
                  <a:pt x="0" y="0"/>
                </a:moveTo>
                <a:lnTo>
                  <a:pt x="198000" y="99000"/>
                </a:lnTo>
                <a:lnTo>
                  <a:pt x="0" y="198000"/>
                </a:lnTo>
                <a:close/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6033600" y="2649600"/>
            <a:ext cx="748800" cy="316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7308000" y="1478585"/>
            <a:ext cx="936000" cy="498830"/>
          </a:xfrm>
          <a:custGeom>
            <a:avLst/>
            <a:gdLst/>
            <a:ahLst/>
            <a:cxnLst/>
            <a:rect l="l" t="t" r="r" b="b"/>
            <a:pathLst>
              <a:path w="936000" h="498830">
                <a:moveTo>
                  <a:pt x="0" y="59859"/>
                </a:moveTo>
                <a:lnTo>
                  <a:pt x="468000" y="0"/>
                </a:lnTo>
                <a:lnTo>
                  <a:pt x="936000" y="59859"/>
                </a:lnTo>
                <a:lnTo>
                  <a:pt x="936000" y="498830"/>
                </a:lnTo>
                <a:lnTo>
                  <a:pt x="0" y="49883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8784000" y="1566000"/>
            <a:ext cx="576000" cy="468000"/>
          </a:xfrm>
          <a:custGeom>
            <a:avLst/>
            <a:gdLst/>
            <a:ahLst/>
            <a:cxnLst/>
            <a:rect l="l" t="t" r="r" b="b"/>
            <a:pathLst>
              <a:path w="576000" h="468000">
                <a:moveTo>
                  <a:pt x="0" y="0"/>
                </a:moveTo>
                <a:lnTo>
                  <a:pt x="576000" y="117000"/>
                </a:lnTo>
                <a:lnTo>
                  <a:pt x="576000" y="351000"/>
                </a:lnTo>
                <a:lnTo>
                  <a:pt x="0" y="4680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4910400" y="42516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H="1">
            <a:off x="5040000" y="43812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H="1">
            <a:off x="4890960" y="4482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5120352" y="4482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>
            <a:off x="4878000" y="45820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9" name="Freeform 188"/>
          <p:cNvSpPr/>
          <p:nvPr/>
        </p:nvSpPr>
        <p:spPr>
          <a:xfrm>
            <a:off x="4932000" y="4986601"/>
            <a:ext cx="936000" cy="538798"/>
          </a:xfrm>
          <a:custGeom>
            <a:avLst/>
            <a:gdLst/>
            <a:ahLst/>
            <a:cxnLst/>
            <a:rect l="l" t="t" r="r" b="b"/>
            <a:pathLst>
              <a:path w="936000" h="538798">
                <a:moveTo>
                  <a:pt x="0" y="64656"/>
                </a:moveTo>
                <a:lnTo>
                  <a:pt x="468000" y="0"/>
                </a:lnTo>
                <a:lnTo>
                  <a:pt x="936000" y="64656"/>
                </a:lnTo>
                <a:lnTo>
                  <a:pt x="936000" y="538798"/>
                </a:lnTo>
                <a:lnTo>
                  <a:pt x="0" y="538798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6350400" y="51516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>
            <a:off x="6350400" y="52812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H="1">
            <a:off x="6330960" y="5382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6560352" y="5382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>
            <a:off x="6318000" y="54820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95" name="Rounded Rectangle 194"/>
          <p:cNvSpPr/>
          <p:nvPr/>
        </p:nvSpPr>
        <p:spPr>
          <a:xfrm>
            <a:off x="7130585" y="3727321"/>
            <a:ext cx="498831" cy="118535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6" name="Connector 195"/>
          <p:cNvCxnSpPr/>
          <p:nvPr/>
        </p:nvCxnSpPr>
        <p:spPr>
          <a:xfrm>
            <a:off x="7162985" y="4065343"/>
            <a:ext cx="43403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7162985" y="4129007"/>
            <a:ext cx="43403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198" name="Connector 197"/>
          <p:cNvCxnSpPr/>
          <p:nvPr/>
        </p:nvCxnSpPr>
        <p:spPr>
          <a:xfrm>
            <a:off x="7162985" y="4192671"/>
            <a:ext cx="43403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7162985" y="4256336"/>
            <a:ext cx="43403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200" name="Connector 199"/>
          <p:cNvCxnSpPr/>
          <p:nvPr/>
        </p:nvCxnSpPr>
        <p:spPr>
          <a:xfrm>
            <a:off x="7162985" y="4320000"/>
            <a:ext cx="43403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7162985" y="4383664"/>
            <a:ext cx="43403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202" name="Connector 201"/>
          <p:cNvCxnSpPr/>
          <p:nvPr/>
        </p:nvCxnSpPr>
        <p:spPr>
          <a:xfrm>
            <a:off x="7162985" y="4447329"/>
            <a:ext cx="43403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7162985" y="4510993"/>
            <a:ext cx="43403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cxnSp>
        <p:nvCxnSpPr>
          <p:cNvPr id="204" name="Connector 203"/>
          <p:cNvCxnSpPr/>
          <p:nvPr/>
        </p:nvCxnSpPr>
        <p:spPr>
          <a:xfrm>
            <a:off x="7162985" y="4574657"/>
            <a:ext cx="434030" cy="0"/>
          </a:xfrm>
          <a:prstGeom prst="line">
            <a:avLst/>
          </a:prstGeom>
          <a:ln w="5400">
            <a:solidFill>
              <a:srgbClr val="000000"/>
            </a:solidFill>
            <a:prstDash val="dash"/>
          </a:ln>
          <a:effectLst/>
        </p:spPr>
      </p:cxnSp>
      <p:sp>
        <p:nvSpPr>
          <p:cNvPr id="205" name="Rectangle 204"/>
          <p:cNvSpPr/>
          <p:nvPr/>
        </p:nvSpPr>
        <p:spPr>
          <a:xfrm>
            <a:off x="8064000" y="5040000"/>
            <a:ext cx="576000" cy="4320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8179200" y="5126400"/>
            <a:ext cx="345600" cy="259200"/>
          </a:xfrm>
          <a:prstGeom prst="ellipse">
            <a:avLst/>
          </a:pr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9028800" y="4291200"/>
            <a:ext cx="806400" cy="34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9270720" y="4320000"/>
            <a:ext cx="0" cy="288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9432000" y="4320000"/>
            <a:ext cx="0" cy="288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>
            <a:off x="9593280" y="4320000"/>
            <a:ext cx="0" cy="288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11" name="Oval 210"/>
          <p:cNvSpPr/>
          <p:nvPr/>
        </p:nvSpPr>
        <p:spPr>
          <a:xfrm>
            <a:off x="457200" y="1141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457200" y="1141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457200" y="3373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457200" y="3373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57200" y="452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457200" y="452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0069200" y="243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0069200" y="243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397200" y="3661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6397200" y="3661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6397200" y="4093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6397200" y="4093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069200" y="452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10069200" y="452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069200" y="531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10069200" y="531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29000" y="3429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5661000" y="1701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6669000" y="1701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5733000" y="3717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5733000" y="4149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622800" y="1224000"/>
            <a:ext cx="219095" cy="432000"/>
          </a:xfrm>
          <a:custGeom>
            <a:avLst/>
            <a:gdLst/>
            <a:ahLst/>
            <a:cxnLst/>
            <a:rect l="l" t="t" r="r" b="b"/>
            <a:pathLst>
              <a:path w="219095" h="432000">
                <a:moveTo>
                  <a:pt x="0" y="0"/>
                </a:moveTo>
                <a:lnTo>
                  <a:pt x="97200" y="0"/>
                </a:lnTo>
                <a:lnTo>
                  <a:pt x="97200" y="432000"/>
                </a:lnTo>
                <a:lnTo>
                  <a:pt x="219095" y="432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748295" y="162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619200" y="1351547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612000" y="1383767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36" name="Freeform 235"/>
          <p:cNvSpPr/>
          <p:nvPr/>
        </p:nvSpPr>
        <p:spPr>
          <a:xfrm>
            <a:off x="1798863" y="1898499"/>
            <a:ext cx="591537" cy="286701"/>
          </a:xfrm>
          <a:custGeom>
            <a:avLst/>
            <a:gdLst/>
            <a:ahLst/>
            <a:cxnLst/>
            <a:rect l="l" t="t" r="r" b="b"/>
            <a:pathLst>
              <a:path w="591537" h="286701">
                <a:moveTo>
                  <a:pt x="0" y="0"/>
                </a:moveTo>
                <a:lnTo>
                  <a:pt x="0" y="286701"/>
                </a:lnTo>
                <a:lnTo>
                  <a:pt x="591537" y="286701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2296800" y="2152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1850481" y="20844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843281" y="21166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40" name="Freeform 239"/>
          <p:cNvSpPr/>
          <p:nvPr/>
        </p:nvSpPr>
        <p:spPr>
          <a:xfrm>
            <a:off x="2649600" y="2185200"/>
            <a:ext cx="625583" cy="1072043"/>
          </a:xfrm>
          <a:custGeom>
            <a:avLst/>
            <a:gdLst/>
            <a:ahLst/>
            <a:cxnLst/>
            <a:rect l="l" t="t" r="r" b="b"/>
            <a:pathLst>
              <a:path w="625583" h="1072043">
                <a:moveTo>
                  <a:pt x="0" y="0"/>
                </a:moveTo>
                <a:lnTo>
                  <a:pt x="302400" y="0"/>
                </a:lnTo>
                <a:lnTo>
                  <a:pt x="302400" y="1072043"/>
                </a:lnTo>
                <a:lnTo>
                  <a:pt x="625583" y="1072043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Freeform 240"/>
          <p:cNvSpPr/>
          <p:nvPr/>
        </p:nvSpPr>
        <p:spPr>
          <a:xfrm>
            <a:off x="3181583" y="3224123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2887200" y="2818575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2887200" y="2901375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2952000" y="2901375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45" name="Freeform 244"/>
          <p:cNvSpPr/>
          <p:nvPr/>
        </p:nvSpPr>
        <p:spPr>
          <a:xfrm>
            <a:off x="3109320" y="2862495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Freeform 245"/>
          <p:cNvSpPr/>
          <p:nvPr/>
        </p:nvSpPr>
        <p:spPr>
          <a:xfrm>
            <a:off x="2851200" y="232524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844000" y="235746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248" name="Connector 247"/>
          <p:cNvCxnSpPr/>
          <p:nvPr/>
        </p:nvCxnSpPr>
        <p:spPr>
          <a:xfrm>
            <a:off x="2952000" y="2476969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49" name="Freeform 248"/>
          <p:cNvSpPr/>
          <p:nvPr/>
        </p:nvSpPr>
        <p:spPr>
          <a:xfrm>
            <a:off x="3063600" y="2266369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3128400" y="2280689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251" name="Freeform 250"/>
          <p:cNvSpPr/>
          <p:nvPr/>
        </p:nvSpPr>
        <p:spPr>
          <a:xfrm>
            <a:off x="3081600" y="2406769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3128400" y="2421089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253" name="Freeform 252"/>
          <p:cNvSpPr/>
          <p:nvPr/>
        </p:nvSpPr>
        <p:spPr>
          <a:xfrm>
            <a:off x="3081600" y="2547169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3128400" y="2561489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255" name="Freeform 254"/>
          <p:cNvSpPr/>
          <p:nvPr/>
        </p:nvSpPr>
        <p:spPr>
          <a:xfrm>
            <a:off x="1152000" y="3144762"/>
            <a:ext cx="504000" cy="311238"/>
          </a:xfrm>
          <a:custGeom>
            <a:avLst/>
            <a:gdLst/>
            <a:ahLst/>
            <a:cxnLst/>
            <a:rect l="l" t="t" r="r" b="b"/>
            <a:pathLst>
              <a:path w="504000" h="311238">
                <a:moveTo>
                  <a:pt x="0" y="0"/>
                </a:moveTo>
                <a:lnTo>
                  <a:pt x="0" y="167238"/>
                </a:lnTo>
                <a:lnTo>
                  <a:pt x="504000" y="167238"/>
                </a:lnTo>
                <a:lnTo>
                  <a:pt x="504000" y="311238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1291581" y="3211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284381" y="3243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58" name="Freeform 257"/>
          <p:cNvSpPr/>
          <p:nvPr/>
        </p:nvSpPr>
        <p:spPr>
          <a:xfrm>
            <a:off x="622800" y="3456000"/>
            <a:ext cx="1033200" cy="0"/>
          </a:xfrm>
          <a:custGeom>
            <a:avLst/>
            <a:gdLst/>
            <a:ahLst/>
            <a:cxnLst/>
            <a:rect l="l" t="t" r="r" b="b"/>
            <a:pathLst>
              <a:path w="1033200" h="0">
                <a:moveTo>
                  <a:pt x="0" y="0"/>
                </a:moveTo>
                <a:lnTo>
                  <a:pt x="1033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Freeform 258"/>
          <p:cNvSpPr/>
          <p:nvPr/>
        </p:nvSpPr>
        <p:spPr>
          <a:xfrm>
            <a:off x="852624" y="335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845424" y="338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61" name="Freeform 260"/>
          <p:cNvSpPr/>
          <p:nvPr/>
        </p:nvSpPr>
        <p:spPr>
          <a:xfrm>
            <a:off x="1656000" y="3456000"/>
            <a:ext cx="1619183" cy="95035"/>
          </a:xfrm>
          <a:custGeom>
            <a:avLst/>
            <a:gdLst/>
            <a:ahLst/>
            <a:cxnLst/>
            <a:rect l="l" t="t" r="r" b="b"/>
            <a:pathLst>
              <a:path w="1619183" h="95035">
                <a:moveTo>
                  <a:pt x="0" y="0"/>
                </a:moveTo>
                <a:lnTo>
                  <a:pt x="792000" y="0"/>
                </a:lnTo>
                <a:lnTo>
                  <a:pt x="792000" y="95035"/>
                </a:lnTo>
                <a:lnTo>
                  <a:pt x="1619183" y="95035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3181583" y="3517915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2383200" y="3438309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2383200" y="3521109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5" name="Connector 264"/>
          <p:cNvCxnSpPr/>
          <p:nvPr/>
        </p:nvCxnSpPr>
        <p:spPr>
          <a:xfrm>
            <a:off x="2448000" y="3521109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66" name="Freeform 265"/>
          <p:cNvSpPr/>
          <p:nvPr/>
        </p:nvSpPr>
        <p:spPr>
          <a:xfrm>
            <a:off x="2605320" y="3482229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Freeform 266"/>
          <p:cNvSpPr/>
          <p:nvPr/>
        </p:nvSpPr>
        <p:spPr>
          <a:xfrm>
            <a:off x="1898043" y="335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890843" y="338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269" name="Connector 268"/>
          <p:cNvCxnSpPr/>
          <p:nvPr/>
        </p:nvCxnSpPr>
        <p:spPr>
          <a:xfrm flipV="1">
            <a:off x="2255976" y="3326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70" name="Freeform 269"/>
          <p:cNvSpPr/>
          <p:nvPr/>
        </p:nvSpPr>
        <p:spPr>
          <a:xfrm>
            <a:off x="2101176" y="29052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2147976" y="29195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240</a:t>
            </a:r>
          </a:p>
        </p:txBody>
      </p:sp>
      <p:sp>
        <p:nvSpPr>
          <p:cNvPr id="272" name="Freeform 271"/>
          <p:cNvSpPr/>
          <p:nvPr/>
        </p:nvSpPr>
        <p:spPr>
          <a:xfrm>
            <a:off x="2101176" y="3045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2147976" y="3059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55</a:t>
            </a:r>
          </a:p>
        </p:txBody>
      </p:sp>
      <p:sp>
        <p:nvSpPr>
          <p:cNvPr id="274" name="Freeform 273"/>
          <p:cNvSpPr/>
          <p:nvPr/>
        </p:nvSpPr>
        <p:spPr>
          <a:xfrm>
            <a:off x="2101176" y="3186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147976" y="3200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76" name="Freeform 275"/>
          <p:cNvSpPr/>
          <p:nvPr/>
        </p:nvSpPr>
        <p:spPr>
          <a:xfrm>
            <a:off x="936000" y="4224762"/>
            <a:ext cx="806400" cy="48438"/>
          </a:xfrm>
          <a:custGeom>
            <a:avLst/>
            <a:gdLst/>
            <a:ahLst/>
            <a:cxnLst/>
            <a:rect l="l" t="t" r="r" b="b"/>
            <a:pathLst>
              <a:path w="806400" h="48438">
                <a:moveTo>
                  <a:pt x="0" y="0"/>
                </a:moveTo>
                <a:lnTo>
                  <a:pt x="0" y="48438"/>
                </a:lnTo>
                <a:lnTo>
                  <a:pt x="806400" y="48438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1648800" y="4240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1214181" y="41724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1206981" y="42046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280" name="Freeform 279"/>
          <p:cNvSpPr/>
          <p:nvPr/>
        </p:nvSpPr>
        <p:spPr>
          <a:xfrm>
            <a:off x="2001600" y="4059908"/>
            <a:ext cx="662400" cy="213292"/>
          </a:xfrm>
          <a:custGeom>
            <a:avLst/>
            <a:gdLst/>
            <a:ahLst/>
            <a:cxnLst/>
            <a:rect l="l" t="t" r="r" b="b"/>
            <a:pathLst>
              <a:path w="662400" h="213292">
                <a:moveTo>
                  <a:pt x="0" y="213292"/>
                </a:moveTo>
                <a:lnTo>
                  <a:pt x="662400" y="213292"/>
                </a:lnTo>
                <a:lnTo>
                  <a:pt x="6624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2664000" y="3795861"/>
            <a:ext cx="611183" cy="166847"/>
          </a:xfrm>
          <a:custGeom>
            <a:avLst/>
            <a:gdLst/>
            <a:ahLst/>
            <a:cxnLst/>
            <a:rect l="l" t="t" r="r" b="b"/>
            <a:pathLst>
              <a:path w="611183" h="166847">
                <a:moveTo>
                  <a:pt x="0" y="166847"/>
                </a:moveTo>
                <a:lnTo>
                  <a:pt x="0" y="0"/>
                </a:lnTo>
                <a:lnTo>
                  <a:pt x="611183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3181583" y="3762741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2461095" y="41724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2453895" y="42046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85" name="Freeform 284"/>
          <p:cNvSpPr/>
          <p:nvPr/>
        </p:nvSpPr>
        <p:spPr>
          <a:xfrm>
            <a:off x="622800" y="4608000"/>
            <a:ext cx="190440" cy="326095"/>
          </a:xfrm>
          <a:custGeom>
            <a:avLst/>
            <a:gdLst/>
            <a:ahLst/>
            <a:cxnLst/>
            <a:rect l="l" t="t" r="r" b="b"/>
            <a:pathLst>
              <a:path w="190440" h="326095">
                <a:moveTo>
                  <a:pt x="0" y="0"/>
                </a:moveTo>
                <a:lnTo>
                  <a:pt x="97200" y="0"/>
                </a:lnTo>
                <a:lnTo>
                  <a:pt x="97200" y="326095"/>
                </a:lnTo>
                <a:lnTo>
                  <a:pt x="190440" y="326095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eeform 285"/>
          <p:cNvSpPr/>
          <p:nvPr/>
        </p:nvSpPr>
        <p:spPr>
          <a:xfrm>
            <a:off x="719640" y="4900975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1058760" y="4321800"/>
            <a:ext cx="1245240" cy="824105"/>
          </a:xfrm>
          <a:custGeom>
            <a:avLst/>
            <a:gdLst/>
            <a:ahLst/>
            <a:cxnLst/>
            <a:rect l="l" t="t" r="r" b="b"/>
            <a:pathLst>
              <a:path w="1245240" h="824105">
                <a:moveTo>
                  <a:pt x="0" y="824105"/>
                </a:moveTo>
                <a:lnTo>
                  <a:pt x="1245240" y="824105"/>
                </a:lnTo>
                <a:lnTo>
                  <a:pt x="124524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2304000" y="4011308"/>
            <a:ext cx="1223703" cy="213292"/>
          </a:xfrm>
          <a:custGeom>
            <a:avLst/>
            <a:gdLst/>
            <a:ahLst/>
            <a:cxnLst/>
            <a:rect l="l" t="t" r="r" b="b"/>
            <a:pathLst>
              <a:path w="1223703" h="213292">
                <a:moveTo>
                  <a:pt x="0" y="213292"/>
                </a:moveTo>
                <a:lnTo>
                  <a:pt x="0" y="0"/>
                </a:lnTo>
                <a:lnTo>
                  <a:pt x="1223703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3434103" y="3978188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Freeform 289"/>
          <p:cNvSpPr/>
          <p:nvPr/>
        </p:nvSpPr>
        <p:spPr>
          <a:xfrm>
            <a:off x="2239200" y="4506575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Freeform 290"/>
          <p:cNvSpPr/>
          <p:nvPr/>
        </p:nvSpPr>
        <p:spPr>
          <a:xfrm>
            <a:off x="2239200" y="4589375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2" name="Connector 291"/>
          <p:cNvCxnSpPr/>
          <p:nvPr/>
        </p:nvCxnSpPr>
        <p:spPr>
          <a:xfrm>
            <a:off x="2304000" y="4589375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2461320" y="4534943"/>
            <a:ext cx="0" cy="1088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94" name="Freeform 293"/>
          <p:cNvSpPr/>
          <p:nvPr/>
        </p:nvSpPr>
        <p:spPr>
          <a:xfrm>
            <a:off x="2111093" y="5045105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2103893" y="5077325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296" name="Freeform 295"/>
          <p:cNvSpPr/>
          <p:nvPr/>
        </p:nvSpPr>
        <p:spPr>
          <a:xfrm>
            <a:off x="3910090" y="2568600"/>
            <a:ext cx="0" cy="541747"/>
          </a:xfrm>
          <a:custGeom>
            <a:avLst/>
            <a:gdLst/>
            <a:ahLst/>
            <a:cxnLst/>
            <a:rect l="l" t="t" r="r" b="b"/>
            <a:pathLst>
              <a:path w="0" h="541747">
                <a:moveTo>
                  <a:pt x="0" y="541747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3910090" y="1728000"/>
            <a:ext cx="895910" cy="743400"/>
          </a:xfrm>
          <a:custGeom>
            <a:avLst/>
            <a:gdLst/>
            <a:ahLst/>
            <a:cxnLst/>
            <a:rect l="l" t="t" r="r" b="b"/>
            <a:pathLst>
              <a:path w="895910" h="743400">
                <a:moveTo>
                  <a:pt x="0" y="743400"/>
                </a:moveTo>
                <a:lnTo>
                  <a:pt x="0" y="0"/>
                </a:lnTo>
                <a:lnTo>
                  <a:pt x="89591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4712400" y="169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Freeform 298"/>
          <p:cNvSpPr/>
          <p:nvPr/>
        </p:nvSpPr>
        <p:spPr>
          <a:xfrm>
            <a:off x="4135636" y="162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4128436" y="165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301" name="Connector 300"/>
          <p:cNvCxnSpPr/>
          <p:nvPr/>
        </p:nvCxnSpPr>
        <p:spPr>
          <a:xfrm flipH="1">
            <a:off x="3672490" y="1971219"/>
            <a:ext cx="237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02" name="Freeform 301"/>
          <p:cNvSpPr/>
          <p:nvPr/>
        </p:nvSpPr>
        <p:spPr>
          <a:xfrm>
            <a:off x="3344890" y="1760619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3394399" y="1774939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12.9</a:t>
            </a:r>
          </a:p>
        </p:txBody>
      </p:sp>
      <p:sp>
        <p:nvSpPr>
          <p:cNvPr id="304" name="Freeform 303"/>
          <p:cNvSpPr/>
          <p:nvPr/>
        </p:nvSpPr>
        <p:spPr>
          <a:xfrm>
            <a:off x="3362890" y="1901019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3409690" y="1915339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57</a:t>
            </a:r>
          </a:p>
        </p:txBody>
      </p:sp>
      <p:sp>
        <p:nvSpPr>
          <p:cNvPr id="306" name="Freeform 305"/>
          <p:cNvSpPr/>
          <p:nvPr/>
        </p:nvSpPr>
        <p:spPr>
          <a:xfrm>
            <a:off x="3362890" y="2041419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3409690" y="2055739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8.6</a:t>
            </a:r>
          </a:p>
        </p:txBody>
      </p:sp>
      <p:sp>
        <p:nvSpPr>
          <p:cNvPr id="308" name="Freeform 307"/>
          <p:cNvSpPr/>
          <p:nvPr/>
        </p:nvSpPr>
        <p:spPr>
          <a:xfrm>
            <a:off x="5130000" y="1728000"/>
            <a:ext cx="558000" cy="0"/>
          </a:xfrm>
          <a:custGeom>
            <a:avLst/>
            <a:gdLst/>
            <a:ahLst/>
            <a:cxnLst/>
            <a:rect l="l" t="t" r="r" b="b"/>
            <a:pathLst>
              <a:path w="558000" h="0">
                <a:moveTo>
                  <a:pt x="0" y="0"/>
                </a:moveTo>
                <a:lnTo>
                  <a:pt x="558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5308200" y="162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5301000" y="165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311" name="Freeform 310"/>
          <p:cNvSpPr/>
          <p:nvPr/>
        </p:nvSpPr>
        <p:spPr>
          <a:xfrm>
            <a:off x="5688000" y="1728000"/>
            <a:ext cx="0" cy="743400"/>
          </a:xfrm>
          <a:custGeom>
            <a:avLst/>
            <a:gdLst/>
            <a:ahLst/>
            <a:cxnLst/>
            <a:rect l="l" t="t" r="r" b="b"/>
            <a:pathLst>
              <a:path w="0" h="743400">
                <a:moveTo>
                  <a:pt x="0" y="0"/>
                </a:moveTo>
                <a:lnTo>
                  <a:pt x="0" y="7434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Freeform 311"/>
          <p:cNvSpPr/>
          <p:nvPr/>
        </p:nvSpPr>
        <p:spPr>
          <a:xfrm>
            <a:off x="5688000" y="2568600"/>
            <a:ext cx="0" cy="190800"/>
          </a:xfrm>
          <a:custGeom>
            <a:avLst/>
            <a:gdLst/>
            <a:ahLst/>
            <a:cxnLst/>
            <a:rect l="l" t="t" r="r" b="b"/>
            <a:pathLst>
              <a:path w="0" h="190800">
                <a:moveTo>
                  <a:pt x="0" y="0"/>
                </a:moveTo>
                <a:lnTo>
                  <a:pt x="0" y="1908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Freeform 312"/>
          <p:cNvSpPr/>
          <p:nvPr/>
        </p:nvSpPr>
        <p:spPr>
          <a:xfrm>
            <a:off x="4068817" y="2856600"/>
            <a:ext cx="1619183" cy="332092"/>
          </a:xfrm>
          <a:custGeom>
            <a:avLst/>
            <a:gdLst/>
            <a:ahLst/>
            <a:cxnLst/>
            <a:rect l="l" t="t" r="r" b="b"/>
            <a:pathLst>
              <a:path w="1619183" h="332092">
                <a:moveTo>
                  <a:pt x="1619183" y="0"/>
                </a:moveTo>
                <a:lnTo>
                  <a:pt x="1619183" y="332092"/>
                </a:lnTo>
                <a:lnTo>
                  <a:pt x="0" y="332092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Freeform 313"/>
          <p:cNvSpPr/>
          <p:nvPr/>
        </p:nvSpPr>
        <p:spPr>
          <a:xfrm>
            <a:off x="4068817" y="3155572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Freeform 314"/>
          <p:cNvSpPr/>
          <p:nvPr/>
        </p:nvSpPr>
        <p:spPr>
          <a:xfrm>
            <a:off x="5507954" y="3087892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5500754" y="312011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317" name="Freeform 316"/>
          <p:cNvSpPr/>
          <p:nvPr/>
        </p:nvSpPr>
        <p:spPr>
          <a:xfrm>
            <a:off x="5688000" y="17280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Freeform 317"/>
          <p:cNvSpPr/>
          <p:nvPr/>
        </p:nvSpPr>
        <p:spPr>
          <a:xfrm>
            <a:off x="6109200" y="166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6192000" y="166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 flipV="1">
            <a:off x="6192000" y="1570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21" name="Freeform 320"/>
          <p:cNvSpPr/>
          <p:nvPr/>
        </p:nvSpPr>
        <p:spPr>
          <a:xfrm>
            <a:off x="6153120" y="1516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5708160" y="162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5700960" y="165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324" name="Freeform 323"/>
          <p:cNvSpPr/>
          <p:nvPr/>
        </p:nvSpPr>
        <p:spPr>
          <a:xfrm>
            <a:off x="3711682" y="2568600"/>
            <a:ext cx="0" cy="541747"/>
          </a:xfrm>
          <a:custGeom>
            <a:avLst/>
            <a:gdLst/>
            <a:ahLst/>
            <a:cxnLst/>
            <a:rect l="l" t="t" r="r" b="b"/>
            <a:pathLst>
              <a:path w="0" h="541747">
                <a:moveTo>
                  <a:pt x="0" y="541747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3711682" y="1368000"/>
            <a:ext cx="2984318" cy="1103400"/>
          </a:xfrm>
          <a:custGeom>
            <a:avLst/>
            <a:gdLst/>
            <a:ahLst/>
            <a:cxnLst/>
            <a:rect l="l" t="t" r="r" b="b"/>
            <a:pathLst>
              <a:path w="2984318" h="1103400">
                <a:moveTo>
                  <a:pt x="0" y="1103400"/>
                </a:moveTo>
                <a:lnTo>
                  <a:pt x="0" y="0"/>
                </a:lnTo>
                <a:lnTo>
                  <a:pt x="2984318" y="0"/>
                </a:lnTo>
                <a:lnTo>
                  <a:pt x="2984318" y="360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5955867" y="130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6038667" y="130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8" name="Connector 327"/>
          <p:cNvCxnSpPr/>
          <p:nvPr/>
        </p:nvCxnSpPr>
        <p:spPr>
          <a:xfrm flipV="1">
            <a:off x="6038667" y="1210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29" name="Freeform 328"/>
          <p:cNvSpPr/>
          <p:nvPr/>
        </p:nvSpPr>
        <p:spPr>
          <a:xfrm>
            <a:off x="5999787" y="1156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4411867" y="126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4404667" y="129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332" name="Freeform 331"/>
          <p:cNvSpPr/>
          <p:nvPr/>
        </p:nvSpPr>
        <p:spPr>
          <a:xfrm>
            <a:off x="6696000" y="1728000"/>
            <a:ext cx="612000" cy="0"/>
          </a:xfrm>
          <a:custGeom>
            <a:avLst/>
            <a:gdLst/>
            <a:ahLst/>
            <a:cxnLst/>
            <a:rect l="l" t="t" r="r" b="b"/>
            <a:pathLst>
              <a:path w="612000" h="0">
                <a:moveTo>
                  <a:pt x="0" y="0"/>
                </a:moveTo>
                <a:lnTo>
                  <a:pt x="612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7214400" y="169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6901200" y="162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6894000" y="165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cxnSp>
        <p:nvCxnSpPr>
          <p:cNvPr id="336" name="Connector 335"/>
          <p:cNvCxnSpPr/>
          <p:nvPr/>
        </p:nvCxnSpPr>
        <p:spPr>
          <a:xfrm flipV="1">
            <a:off x="6910200" y="1598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37" name="Freeform 336"/>
          <p:cNvSpPr/>
          <p:nvPr/>
        </p:nvSpPr>
        <p:spPr>
          <a:xfrm>
            <a:off x="6755400" y="1458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6786909" y="1472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0.24</a:t>
            </a:r>
          </a:p>
        </p:txBody>
      </p:sp>
      <p:sp>
        <p:nvSpPr>
          <p:cNvPr id="339" name="Freeform 338"/>
          <p:cNvSpPr/>
          <p:nvPr/>
        </p:nvSpPr>
        <p:spPr>
          <a:xfrm>
            <a:off x="8244000" y="1368000"/>
            <a:ext cx="655200" cy="360000"/>
          </a:xfrm>
          <a:custGeom>
            <a:avLst/>
            <a:gdLst/>
            <a:ahLst/>
            <a:cxnLst/>
            <a:rect l="l" t="t" r="r" b="b"/>
            <a:pathLst>
              <a:path w="655200" h="360000">
                <a:moveTo>
                  <a:pt x="0" y="360000"/>
                </a:moveTo>
                <a:lnTo>
                  <a:pt x="252000" y="360000"/>
                </a:lnTo>
                <a:lnTo>
                  <a:pt x="252000" y="0"/>
                </a:lnTo>
                <a:lnTo>
                  <a:pt x="655200" y="0"/>
                </a:lnTo>
                <a:lnTo>
                  <a:pt x="655200" y="2214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8866080" y="14958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Freeform 340"/>
          <p:cNvSpPr/>
          <p:nvPr/>
        </p:nvSpPr>
        <p:spPr>
          <a:xfrm>
            <a:off x="8401500" y="126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8394300" y="129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343" name="Freeform 342"/>
          <p:cNvSpPr/>
          <p:nvPr/>
        </p:nvSpPr>
        <p:spPr>
          <a:xfrm>
            <a:off x="1440000" y="900000"/>
            <a:ext cx="8496000" cy="1332000"/>
          </a:xfrm>
          <a:custGeom>
            <a:avLst/>
            <a:gdLst/>
            <a:ahLst/>
            <a:cxnLst/>
            <a:rect l="l" t="t" r="r" b="b"/>
            <a:pathLst>
              <a:path w="8496000" h="1332000">
                <a:moveTo>
                  <a:pt x="7804800" y="1040400"/>
                </a:moveTo>
                <a:lnTo>
                  <a:pt x="7804800" y="1332000"/>
                </a:lnTo>
                <a:lnTo>
                  <a:pt x="8496000" y="1332000"/>
                </a:lnTo>
                <a:lnTo>
                  <a:pt x="8496000" y="0"/>
                </a:lnTo>
                <a:lnTo>
                  <a:pt x="0" y="0"/>
                </a:lnTo>
                <a:lnTo>
                  <a:pt x="0" y="513501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1406880" y="1319901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6487850" y="79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6480650" y="83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347" name="Freeform 346"/>
          <p:cNvSpPr/>
          <p:nvPr/>
        </p:nvSpPr>
        <p:spPr>
          <a:xfrm>
            <a:off x="3513273" y="2520000"/>
            <a:ext cx="1112727" cy="590347"/>
          </a:xfrm>
          <a:custGeom>
            <a:avLst/>
            <a:gdLst/>
            <a:ahLst/>
            <a:cxnLst/>
            <a:rect l="l" t="t" r="r" b="b"/>
            <a:pathLst>
              <a:path w="1112727" h="590347">
                <a:moveTo>
                  <a:pt x="0" y="590347"/>
                </a:moveTo>
                <a:lnTo>
                  <a:pt x="0" y="0"/>
                </a:lnTo>
                <a:lnTo>
                  <a:pt x="1112727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Freeform 347"/>
          <p:cNvSpPr/>
          <p:nvPr/>
        </p:nvSpPr>
        <p:spPr>
          <a:xfrm>
            <a:off x="4532400" y="248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Freeform 348"/>
          <p:cNvSpPr/>
          <p:nvPr/>
        </p:nvSpPr>
        <p:spPr>
          <a:xfrm>
            <a:off x="3412473" y="2464563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3405273" y="2496783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351" name="Freeform 350"/>
          <p:cNvSpPr/>
          <p:nvPr/>
        </p:nvSpPr>
        <p:spPr>
          <a:xfrm>
            <a:off x="5022000" y="2520000"/>
            <a:ext cx="5047200" cy="0"/>
          </a:xfrm>
          <a:custGeom>
            <a:avLst/>
            <a:gdLst/>
            <a:ahLst/>
            <a:cxnLst/>
            <a:rect l="l" t="t" r="r" b="b"/>
            <a:pathLst>
              <a:path w="5047200" h="0">
                <a:moveTo>
                  <a:pt x="0" y="0"/>
                </a:moveTo>
                <a:lnTo>
                  <a:pt x="5047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Freeform 351"/>
          <p:cNvSpPr/>
          <p:nvPr/>
        </p:nvSpPr>
        <p:spPr>
          <a:xfrm>
            <a:off x="9975600" y="248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Freeform 352"/>
          <p:cNvSpPr/>
          <p:nvPr/>
        </p:nvSpPr>
        <p:spPr>
          <a:xfrm>
            <a:off x="7444800" y="241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7437600" y="245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355" name="Freeform 354"/>
          <p:cNvSpPr/>
          <p:nvPr/>
        </p:nvSpPr>
        <p:spPr>
          <a:xfrm>
            <a:off x="4068817" y="3237292"/>
            <a:ext cx="971183" cy="117882"/>
          </a:xfrm>
          <a:custGeom>
            <a:avLst/>
            <a:gdLst/>
            <a:ahLst/>
            <a:cxnLst/>
            <a:rect l="l" t="t" r="r" b="b"/>
            <a:pathLst>
              <a:path w="971183" h="117882">
                <a:moveTo>
                  <a:pt x="0" y="117882"/>
                </a:moveTo>
                <a:lnTo>
                  <a:pt x="971183" y="117882"/>
                </a:lnTo>
                <a:lnTo>
                  <a:pt x="971183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5040000" y="2808000"/>
            <a:ext cx="997571" cy="332092"/>
          </a:xfrm>
          <a:custGeom>
            <a:avLst/>
            <a:gdLst/>
            <a:ahLst/>
            <a:cxnLst/>
            <a:rect l="l" t="t" r="r" b="b"/>
            <a:pathLst>
              <a:path w="997571" h="332092">
                <a:moveTo>
                  <a:pt x="0" y="332092"/>
                </a:moveTo>
                <a:lnTo>
                  <a:pt x="0" y="0"/>
                </a:lnTo>
                <a:lnTo>
                  <a:pt x="997571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5943971" y="277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Freeform 357"/>
          <p:cNvSpPr/>
          <p:nvPr/>
        </p:nvSpPr>
        <p:spPr>
          <a:xfrm>
            <a:off x="4614999" y="3290374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4697799" y="3290374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0" name="Connector 359"/>
          <p:cNvCxnSpPr/>
          <p:nvPr/>
        </p:nvCxnSpPr>
        <p:spPr>
          <a:xfrm flipV="1">
            <a:off x="4697799" y="3197854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361" name="Connector 360"/>
          <p:cNvCxnSpPr/>
          <p:nvPr/>
        </p:nvCxnSpPr>
        <p:spPr>
          <a:xfrm>
            <a:off x="4643367" y="3197854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62" name="Freeform 361"/>
          <p:cNvSpPr/>
          <p:nvPr/>
        </p:nvSpPr>
        <p:spPr>
          <a:xfrm>
            <a:off x="4939200" y="2967592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4932000" y="299981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364" name="Freeform 363"/>
          <p:cNvSpPr/>
          <p:nvPr/>
        </p:nvSpPr>
        <p:spPr>
          <a:xfrm>
            <a:off x="4068817" y="3551035"/>
            <a:ext cx="1691183" cy="192965"/>
          </a:xfrm>
          <a:custGeom>
            <a:avLst/>
            <a:gdLst/>
            <a:ahLst/>
            <a:cxnLst/>
            <a:rect l="l" t="t" r="r" b="b"/>
            <a:pathLst>
              <a:path w="1691183" h="192965">
                <a:moveTo>
                  <a:pt x="0" y="0"/>
                </a:moveTo>
                <a:lnTo>
                  <a:pt x="827183" y="0"/>
                </a:lnTo>
                <a:lnTo>
                  <a:pt x="827183" y="192965"/>
                </a:lnTo>
                <a:lnTo>
                  <a:pt x="1691183" y="192965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4795200" y="3565126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4788000" y="3597346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sp>
        <p:nvSpPr>
          <p:cNvPr id="367" name="Freeform 366"/>
          <p:cNvSpPr/>
          <p:nvPr/>
        </p:nvSpPr>
        <p:spPr>
          <a:xfrm>
            <a:off x="5760000" y="3744000"/>
            <a:ext cx="637200" cy="0"/>
          </a:xfrm>
          <a:custGeom>
            <a:avLst/>
            <a:gdLst/>
            <a:ahLst/>
            <a:cxnLst/>
            <a:rect l="l" t="t" r="r" b="b"/>
            <a:pathLst>
              <a:path w="637200" h="0">
                <a:moveTo>
                  <a:pt x="637200" y="0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5995800" y="3679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6078600" y="3679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0" name="Connector 369"/>
          <p:cNvCxnSpPr/>
          <p:nvPr/>
        </p:nvCxnSpPr>
        <p:spPr>
          <a:xfrm flipV="1">
            <a:off x="6078600" y="3586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71" name="Freeform 370"/>
          <p:cNvSpPr/>
          <p:nvPr/>
        </p:nvSpPr>
        <p:spPr>
          <a:xfrm>
            <a:off x="6039720" y="3532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Freeform 371"/>
          <p:cNvSpPr/>
          <p:nvPr/>
        </p:nvSpPr>
        <p:spPr>
          <a:xfrm>
            <a:off x="5760000" y="3744000"/>
            <a:ext cx="0" cy="432000"/>
          </a:xfrm>
          <a:custGeom>
            <a:avLst/>
            <a:gdLst/>
            <a:ahLst/>
            <a:cxnLst/>
            <a:rect l="l" t="t" r="r" b="b"/>
            <a:pathLst>
              <a:path w="0" h="432000">
                <a:moveTo>
                  <a:pt x="0" y="0"/>
                </a:moveTo>
                <a:lnTo>
                  <a:pt x="0" y="43200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Freeform 372"/>
          <p:cNvSpPr/>
          <p:nvPr/>
        </p:nvSpPr>
        <p:spPr>
          <a:xfrm>
            <a:off x="5760000" y="4176000"/>
            <a:ext cx="637200" cy="0"/>
          </a:xfrm>
          <a:custGeom>
            <a:avLst/>
            <a:gdLst/>
            <a:ahLst/>
            <a:cxnLst/>
            <a:rect l="l" t="t" r="r" b="b"/>
            <a:pathLst>
              <a:path w="637200" h="0">
                <a:moveTo>
                  <a:pt x="637200" y="0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5995800" y="411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6078600" y="411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 flipV="1">
            <a:off x="6078600" y="4018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77" name="Freeform 376"/>
          <p:cNvSpPr/>
          <p:nvPr/>
        </p:nvSpPr>
        <p:spPr>
          <a:xfrm>
            <a:off x="6039720" y="3964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5169600" y="4176000"/>
            <a:ext cx="590400" cy="205200"/>
          </a:xfrm>
          <a:custGeom>
            <a:avLst/>
            <a:gdLst/>
            <a:ahLst/>
            <a:cxnLst/>
            <a:rect l="l" t="t" r="r" b="b"/>
            <a:pathLst>
              <a:path w="590400" h="205200">
                <a:moveTo>
                  <a:pt x="590400" y="0"/>
                </a:moveTo>
                <a:lnTo>
                  <a:pt x="590400" y="205200"/>
                </a:lnTo>
                <a:lnTo>
                  <a:pt x="0" y="20520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5169600" y="4348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3852372" y="3991722"/>
            <a:ext cx="1058028" cy="389478"/>
          </a:xfrm>
          <a:custGeom>
            <a:avLst/>
            <a:gdLst/>
            <a:ahLst/>
            <a:cxnLst/>
            <a:rect l="l" t="t" r="r" b="b"/>
            <a:pathLst>
              <a:path w="1058028" h="389478">
                <a:moveTo>
                  <a:pt x="1058028" y="389478"/>
                </a:moveTo>
                <a:lnTo>
                  <a:pt x="539628" y="389478"/>
                </a:lnTo>
                <a:lnTo>
                  <a:pt x="539628" y="0"/>
                </a:ln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3852372" y="3958602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Freeform 381"/>
          <p:cNvSpPr/>
          <p:nvPr/>
        </p:nvSpPr>
        <p:spPr>
          <a:xfrm>
            <a:off x="4291200" y="4075047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4284000" y="4107267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cxnSp>
        <p:nvCxnSpPr>
          <p:cNvPr id="384" name="Connector 383"/>
          <p:cNvCxnSpPr/>
          <p:nvPr/>
        </p:nvCxnSpPr>
        <p:spPr>
          <a:xfrm>
            <a:off x="4403773" y="43812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85" name="Freeform 384"/>
          <p:cNvSpPr/>
          <p:nvPr/>
        </p:nvSpPr>
        <p:spPr>
          <a:xfrm>
            <a:off x="4230973" y="45108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4295773" y="45251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468</a:t>
            </a:r>
          </a:p>
        </p:txBody>
      </p:sp>
      <p:sp>
        <p:nvSpPr>
          <p:cNvPr id="387" name="Freeform 386"/>
          <p:cNvSpPr/>
          <p:nvPr/>
        </p:nvSpPr>
        <p:spPr>
          <a:xfrm>
            <a:off x="4248973" y="46512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4280482" y="4665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38.2</a:t>
            </a:r>
          </a:p>
        </p:txBody>
      </p:sp>
      <p:sp>
        <p:nvSpPr>
          <p:cNvPr id="389" name="Freeform 388"/>
          <p:cNvSpPr/>
          <p:nvPr/>
        </p:nvSpPr>
        <p:spPr>
          <a:xfrm>
            <a:off x="3672000" y="4089653"/>
            <a:ext cx="1260000" cy="1166347"/>
          </a:xfrm>
          <a:custGeom>
            <a:avLst/>
            <a:gdLst/>
            <a:ahLst/>
            <a:cxnLst/>
            <a:rect l="l" t="t" r="r" b="b"/>
            <a:pathLst>
              <a:path w="1260000" h="1166347">
                <a:moveTo>
                  <a:pt x="0" y="0"/>
                </a:moveTo>
                <a:lnTo>
                  <a:pt x="0" y="1166347"/>
                </a:lnTo>
                <a:lnTo>
                  <a:pt x="1260000" y="1166347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Freeform 389"/>
          <p:cNvSpPr/>
          <p:nvPr/>
        </p:nvSpPr>
        <p:spPr>
          <a:xfrm>
            <a:off x="4838400" y="522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3607200" y="4734757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3607200" y="4817557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3" name="Connector 392"/>
          <p:cNvCxnSpPr/>
          <p:nvPr/>
        </p:nvCxnSpPr>
        <p:spPr>
          <a:xfrm>
            <a:off x="3672000" y="4817557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>
            <a:off x="3829320" y="4763125"/>
            <a:ext cx="0" cy="1088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95" name="Freeform 394"/>
          <p:cNvSpPr/>
          <p:nvPr/>
        </p:nvSpPr>
        <p:spPr>
          <a:xfrm>
            <a:off x="3618026" y="515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3610826" y="518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  <p:sp>
        <p:nvSpPr>
          <p:cNvPr id="397" name="Freeform 396"/>
          <p:cNvSpPr/>
          <p:nvPr/>
        </p:nvSpPr>
        <p:spPr>
          <a:xfrm>
            <a:off x="5868000" y="5256000"/>
            <a:ext cx="482400" cy="25200"/>
          </a:xfrm>
          <a:custGeom>
            <a:avLst/>
            <a:gdLst/>
            <a:ahLst/>
            <a:cxnLst/>
            <a:rect l="l" t="t" r="r" b="b"/>
            <a:pathLst>
              <a:path w="482400" h="25200">
                <a:moveTo>
                  <a:pt x="0" y="0"/>
                </a:moveTo>
                <a:lnTo>
                  <a:pt x="252000" y="0"/>
                </a:lnTo>
                <a:lnTo>
                  <a:pt x="252000" y="25200"/>
                </a:lnTo>
                <a:lnTo>
                  <a:pt x="482400" y="252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Freeform 397"/>
          <p:cNvSpPr/>
          <p:nvPr/>
        </p:nvSpPr>
        <p:spPr>
          <a:xfrm>
            <a:off x="6256800" y="5248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6019200" y="51570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6012000" y="51892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401" name="Freeform 400"/>
          <p:cNvSpPr/>
          <p:nvPr/>
        </p:nvSpPr>
        <p:spPr>
          <a:xfrm>
            <a:off x="6609600" y="4026787"/>
            <a:ext cx="520985" cy="1254413"/>
          </a:xfrm>
          <a:custGeom>
            <a:avLst/>
            <a:gdLst/>
            <a:ahLst/>
            <a:cxnLst/>
            <a:rect l="l" t="t" r="r" b="b"/>
            <a:pathLst>
              <a:path w="520985" h="1254413">
                <a:moveTo>
                  <a:pt x="0" y="1254413"/>
                </a:moveTo>
                <a:lnTo>
                  <a:pt x="230400" y="1254413"/>
                </a:lnTo>
                <a:lnTo>
                  <a:pt x="230400" y="0"/>
                </a:lnTo>
                <a:lnTo>
                  <a:pt x="520985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Freeform 401"/>
          <p:cNvSpPr/>
          <p:nvPr/>
        </p:nvSpPr>
        <p:spPr>
          <a:xfrm>
            <a:off x="7036985" y="3993667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6739200" y="4523101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6732000" y="4555321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405" name="Freeform 404"/>
          <p:cNvSpPr/>
          <p:nvPr/>
        </p:nvSpPr>
        <p:spPr>
          <a:xfrm>
            <a:off x="7380000" y="2568600"/>
            <a:ext cx="396000" cy="1164975"/>
          </a:xfrm>
          <a:custGeom>
            <a:avLst/>
            <a:gdLst/>
            <a:ahLst/>
            <a:cxnLst/>
            <a:rect l="l" t="t" r="r" b="b"/>
            <a:pathLst>
              <a:path w="396000" h="1164975">
                <a:moveTo>
                  <a:pt x="0" y="1164975"/>
                </a:moveTo>
                <a:lnTo>
                  <a:pt x="0" y="311400"/>
                </a:lnTo>
                <a:lnTo>
                  <a:pt x="396000" y="311400"/>
                </a:lnTo>
                <a:lnTo>
                  <a:pt x="396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7776000" y="1977415"/>
            <a:ext cx="0" cy="493985"/>
          </a:xfrm>
          <a:custGeom>
            <a:avLst/>
            <a:gdLst/>
            <a:ahLst/>
            <a:cxnLst/>
            <a:rect l="l" t="t" r="r" b="b"/>
            <a:pathLst>
              <a:path w="0" h="493985">
                <a:moveTo>
                  <a:pt x="0" y="493985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7742880" y="1977415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0"/>
                </a:moveTo>
                <a:lnTo>
                  <a:pt x="66240" y="93600"/>
                </a:lnTo>
                <a:lnTo>
                  <a:pt x="0" y="9360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7501705" y="277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7494505" y="281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  <p:sp>
        <p:nvSpPr>
          <p:cNvPr id="410" name="Freeform 409"/>
          <p:cNvSpPr/>
          <p:nvPr/>
        </p:nvSpPr>
        <p:spPr>
          <a:xfrm>
            <a:off x="7380000" y="4906425"/>
            <a:ext cx="684000" cy="349575"/>
          </a:xfrm>
          <a:custGeom>
            <a:avLst/>
            <a:gdLst/>
            <a:ahLst/>
            <a:cxnLst/>
            <a:rect l="l" t="t" r="r" b="b"/>
            <a:pathLst>
              <a:path w="684000" h="349575">
                <a:moveTo>
                  <a:pt x="0" y="0"/>
                </a:moveTo>
                <a:lnTo>
                  <a:pt x="0" y="349575"/>
                </a:lnTo>
                <a:lnTo>
                  <a:pt x="684000" y="349575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7970400" y="5222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7446413" y="515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7439213" y="518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  <p:sp>
        <p:nvSpPr>
          <p:cNvPr id="414" name="Freeform 413"/>
          <p:cNvSpPr/>
          <p:nvPr/>
        </p:nvSpPr>
        <p:spPr>
          <a:xfrm>
            <a:off x="8352000" y="4464000"/>
            <a:ext cx="676800" cy="576000"/>
          </a:xfrm>
          <a:custGeom>
            <a:avLst/>
            <a:gdLst/>
            <a:ahLst/>
            <a:cxnLst/>
            <a:rect l="l" t="t" r="r" b="b"/>
            <a:pathLst>
              <a:path w="676800" h="576000">
                <a:moveTo>
                  <a:pt x="0" y="576000"/>
                </a:moveTo>
                <a:lnTo>
                  <a:pt x="0" y="0"/>
                </a:lnTo>
                <a:lnTo>
                  <a:pt x="6768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8935200" y="4430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8301600" y="436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8294400" y="439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sp>
        <p:nvSpPr>
          <p:cNvPr id="418" name="Freeform 417"/>
          <p:cNvSpPr/>
          <p:nvPr/>
        </p:nvSpPr>
        <p:spPr>
          <a:xfrm>
            <a:off x="9835200" y="4464000"/>
            <a:ext cx="234000" cy="144000"/>
          </a:xfrm>
          <a:custGeom>
            <a:avLst/>
            <a:gdLst/>
            <a:ahLst/>
            <a:cxnLst/>
            <a:rect l="l" t="t" r="r" b="b"/>
            <a:pathLst>
              <a:path w="234000" h="144000">
                <a:moveTo>
                  <a:pt x="0" y="0"/>
                </a:moveTo>
                <a:lnTo>
                  <a:pt x="100800" y="0"/>
                </a:lnTo>
                <a:lnTo>
                  <a:pt x="100800" y="144000"/>
                </a:lnTo>
                <a:lnTo>
                  <a:pt x="234000" y="144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Freeform 418"/>
          <p:cNvSpPr/>
          <p:nvPr/>
        </p:nvSpPr>
        <p:spPr>
          <a:xfrm>
            <a:off x="9975600" y="457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9835200" y="44514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9828000" y="44836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  <p:sp>
        <p:nvSpPr>
          <p:cNvPr id="422" name="Freeform 421"/>
          <p:cNvSpPr/>
          <p:nvPr/>
        </p:nvSpPr>
        <p:spPr>
          <a:xfrm>
            <a:off x="8640000" y="5364000"/>
            <a:ext cx="1429200" cy="36000"/>
          </a:xfrm>
          <a:custGeom>
            <a:avLst/>
            <a:gdLst/>
            <a:ahLst/>
            <a:cxnLst/>
            <a:rect l="l" t="t" r="r" b="b"/>
            <a:pathLst>
              <a:path w="1429200" h="36000">
                <a:moveTo>
                  <a:pt x="0" y="0"/>
                </a:moveTo>
                <a:lnTo>
                  <a:pt x="720000" y="0"/>
                </a:lnTo>
                <a:lnTo>
                  <a:pt x="720000" y="36000"/>
                </a:lnTo>
                <a:lnTo>
                  <a:pt x="1429200" y="36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9975600" y="536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9259200" y="52758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9252000" y="53080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258441" y="1931754"/>
            <a:ext cx="36311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TK-100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2359701" y="2428407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P-103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648122" y="3178017"/>
            <a:ext cx="36311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TK-107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775701" y="4402017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D-104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1711701" y="4516407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P-104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775701" y="5338017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D-105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2936585" y="4122908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R-101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4807701" y="1923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E-101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4860000" y="2071065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cw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4642441" y="2751255"/>
            <a:ext cx="36311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VP-101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6247701" y="29996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D-103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6969402" y="2010670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D-106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8911701" y="2067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C-101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4794662" y="4624407"/>
            <a:ext cx="490676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P-101 A/B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5239701" y="483744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D-102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6319701" y="500244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P-102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6791987" y="4939680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T-201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8697600" y="491964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1" i="0">
                <a:solidFill>
                  <a:srgbClr val="000000"/>
                </a:solidFill>
                <a:latin typeface="Arial"/>
              </a:rPr>
              <a:t>S-201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9271701" y="46700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D-201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180338" y="995702"/>
            <a:ext cx="845006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VCM from Unloading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182320" y="3227702"/>
            <a:ext cx="804062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Demin Water 55 °C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322221" y="4379702"/>
            <a:ext cx="43555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Nitrogen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9549764" y="2291702"/>
            <a:ext cx="96784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Vent Gas to Treatment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6372000" y="3515702"/>
            <a:ext cx="21600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CW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6262221" y="3947702"/>
            <a:ext cx="43555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LP Steam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9893276" y="4724690"/>
            <a:ext cx="51744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PVC Powder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9588728" y="5171702"/>
            <a:ext cx="926896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Mother Liquor to WWT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5796000" y="3047903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Reflux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9099584" y="725702"/>
            <a:ext cx="640282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Recovered VCM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7488000" y="3129495"/>
            <a:ext cx="59933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Stripped VCM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