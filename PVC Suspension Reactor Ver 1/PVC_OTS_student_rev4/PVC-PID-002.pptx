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892808" y="3383280"/>
            <a:ext cx="1975104" cy="3136392"/>
          </a:xfrm>
          <a:custGeom>
            <a:avLst/>
            <a:gdLst/>
            <a:ahLst/>
            <a:cxnLst/>
            <a:rect l="l" t="t" r="r" b="b"/>
            <a:pathLst>
              <a:path w="1975104" h="3136392">
                <a:moveTo>
                  <a:pt x="0" y="0"/>
                </a:moveTo>
                <a:lnTo>
                  <a:pt x="0" y="2148840"/>
                </a:lnTo>
                <a:lnTo>
                  <a:pt x="15003" y="2320326"/>
                </a:lnTo>
                <a:lnTo>
                  <a:pt x="59556" y="2486602"/>
                </a:lnTo>
                <a:lnTo>
                  <a:pt x="132306" y="2642616"/>
                </a:lnTo>
                <a:lnTo>
                  <a:pt x="231043" y="2783626"/>
                </a:lnTo>
                <a:lnTo>
                  <a:pt x="352765" y="2905348"/>
                </a:lnTo>
                <a:lnTo>
                  <a:pt x="493776" y="3004085"/>
                </a:lnTo>
                <a:lnTo>
                  <a:pt x="649789" y="3076835"/>
                </a:lnTo>
                <a:lnTo>
                  <a:pt x="816065" y="3121388"/>
                </a:lnTo>
                <a:lnTo>
                  <a:pt x="987552" y="3136392"/>
                </a:lnTo>
                <a:lnTo>
                  <a:pt x="1159038" y="3121388"/>
                </a:lnTo>
                <a:lnTo>
                  <a:pt x="1325314" y="3076835"/>
                </a:lnTo>
                <a:lnTo>
                  <a:pt x="1481328" y="3004085"/>
                </a:lnTo>
                <a:lnTo>
                  <a:pt x="1622338" y="2905348"/>
                </a:lnTo>
                <a:lnTo>
                  <a:pt x="1744060" y="2783626"/>
                </a:lnTo>
                <a:lnTo>
                  <a:pt x="1842797" y="2642616"/>
                </a:lnTo>
                <a:lnTo>
                  <a:pt x="1915547" y="2486602"/>
                </a:lnTo>
                <a:lnTo>
                  <a:pt x="1960100" y="2320326"/>
                </a:lnTo>
                <a:lnTo>
                  <a:pt x="1975104" y="2148840"/>
                </a:lnTo>
                <a:lnTo>
                  <a:pt x="1975103" y="0"/>
                </a:lnTo>
              </a:path>
            </a:pathLst>
          </a:custGeom>
          <a:noFill/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1892808" y="3383280"/>
            <a:ext cx="11887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3749039" y="3383280"/>
            <a:ext cx="11887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11680" y="2377440"/>
            <a:ext cx="1737360" cy="4023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76272" y="3749039"/>
            <a:ext cx="91440" cy="21945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93007" y="3749039"/>
            <a:ext cx="91440" cy="21945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880360" y="2011680"/>
            <a:ext cx="0" cy="402336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532888" y="5120640"/>
            <a:ext cx="6949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532888" y="5897880"/>
            <a:ext cx="6949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743200" y="1737360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1810511"/>
            <a:ext cx="27432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66928"/>
            <a:ext cx="19202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R-101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704088"/>
            <a:ext cx="19202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PVC REACTOR (SEE PVC-PID-001)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818388"/>
            <a:ext cx="19202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JACKET 118 m2 WETTED, U 0.75 kW/m2K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932688"/>
            <a:ext cx="19202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BAFFLES 22 m2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7635240"/>
            <a:ext cx="1092708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828800" y="7507223"/>
            <a:ext cx="23774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CWS 32 C FROM CW SUPPLY HEADER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" y="8001000"/>
            <a:ext cx="10927080" cy="0"/>
          </a:xfrm>
          <a:prstGeom prst="line">
            <a:avLst/>
          </a:prstGeom>
          <a:ln w="12700">
            <a:solidFill>
              <a:srgbClr val="000000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7872983"/>
            <a:ext cx="23774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CWR TO COOLING TOWER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" y="8366760"/>
            <a:ext cx="1092708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828800" y="8238744"/>
            <a:ext cx="23774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LS  LP STEAM 3.5 barg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7872983"/>
            <a:ext cx="10972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1">
                <a:solidFill>
                  <a:srgbClr val="000000"/>
                </a:solidFill>
                <a:latin typeface="Arial"/>
              </a:rPr>
              <a:t>CWR</a:t>
            </a:r>
          </a:p>
        </p:txBody>
      </p:sp>
      <p:sp>
        <p:nvSpPr>
          <p:cNvPr id="26" name="Oval 25"/>
          <p:cNvSpPr/>
          <p:nvPr/>
        </p:nvSpPr>
        <p:spPr>
          <a:xfrm>
            <a:off x="5413248" y="71780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13248" y="7342631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77840" y="7507224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554979" y="761237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84682" y="76055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14400" y="5760720"/>
            <a:ext cx="0" cy="187452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4400" y="5760720"/>
            <a:ext cx="10972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4672" y="7242048"/>
            <a:ext cx="21945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04672" y="7296912"/>
            <a:ext cx="219456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836676" y="651052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713232" y="6629400"/>
            <a:ext cx="1234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632186" y="6537960"/>
            <a:ext cx="81046" cy="182880"/>
          </a:xfrm>
          <a:custGeom>
            <a:avLst/>
            <a:gdLst/>
            <a:ahLst/>
            <a:cxnLst/>
            <a:rect l="l" t="t" r="r" b="b"/>
            <a:pathLst>
              <a:path w="81046" h="182880">
                <a:moveTo>
                  <a:pt x="81046" y="182880"/>
                </a:moveTo>
                <a:lnTo>
                  <a:pt x="52899" y="177365"/>
                </a:lnTo>
                <a:lnTo>
                  <a:pt x="28147" y="161487"/>
                </a:lnTo>
                <a:lnTo>
                  <a:pt x="9775" y="137160"/>
                </a:lnTo>
                <a:lnTo>
                  <a:pt x="0" y="107318"/>
                </a:lnTo>
                <a:lnTo>
                  <a:pt x="0" y="75561"/>
                </a:lnTo>
                <a:lnTo>
                  <a:pt x="9775" y="45720"/>
                </a:lnTo>
                <a:lnTo>
                  <a:pt x="28147" y="21392"/>
                </a:lnTo>
                <a:lnTo>
                  <a:pt x="52899" y="5514"/>
                </a:lnTo>
                <a:lnTo>
                  <a:pt x="81046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4128" y="6519672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FV-120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" y="6647688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40" name="Oval 39"/>
          <p:cNvSpPr/>
          <p:nvPr/>
        </p:nvSpPr>
        <p:spPr>
          <a:xfrm>
            <a:off x="356615" y="71048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56615" y="7269480"/>
            <a:ext cx="32918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85800" y="7269480"/>
            <a:ext cx="1188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21207" y="6967728"/>
            <a:ext cx="0" cy="13716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1207" y="6967728"/>
            <a:ext cx="10972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630936" y="6720840"/>
            <a:ext cx="0" cy="24688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554480" y="4480560"/>
            <a:ext cx="4572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554480" y="4480560"/>
            <a:ext cx="0" cy="12024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Freeform 47"/>
          <p:cNvSpPr/>
          <p:nvPr/>
        </p:nvSpPr>
        <p:spPr>
          <a:xfrm>
            <a:off x="1554480" y="568299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1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554480" y="5838444"/>
            <a:ext cx="0" cy="171907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Freeform 49"/>
          <p:cNvSpPr/>
          <p:nvPr/>
        </p:nvSpPr>
        <p:spPr>
          <a:xfrm>
            <a:off x="1554480" y="7557515"/>
            <a:ext cx="77724" cy="155449"/>
          </a:xfrm>
          <a:custGeom>
            <a:avLst/>
            <a:gdLst/>
            <a:ahLst/>
            <a:cxnLst/>
            <a:rect l="l" t="t" r="r" b="b"/>
            <a:pathLst>
              <a:path w="77724" h="155449">
                <a:moveTo>
                  <a:pt x="0" y="155449"/>
                </a:moveTo>
                <a:lnTo>
                  <a:pt x="38862" y="145035"/>
                </a:lnTo>
                <a:lnTo>
                  <a:pt x="67310" y="116587"/>
                </a:lnTo>
                <a:lnTo>
                  <a:pt x="77724" y="77725"/>
                </a:lnTo>
                <a:lnTo>
                  <a:pt x="67310" y="38862"/>
                </a:lnTo>
                <a:lnTo>
                  <a:pt x="38862" y="1041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554480" y="7712964"/>
            <a:ext cx="0" cy="2880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1524762" y="797128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78408" y="46817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121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78408" y="48463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307592" y="484632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1531620" y="482345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0976" y="5641848"/>
            <a:ext cx="3520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4"-CW-120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867911" y="3520440"/>
            <a:ext cx="381304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680960" y="3520440"/>
            <a:ext cx="0" cy="1600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337047" y="3401568"/>
            <a:ext cx="8473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10"-CW-111 JACKET RETURN</a:t>
            </a:r>
          </a:p>
        </p:txBody>
      </p:sp>
      <p:sp>
        <p:nvSpPr>
          <p:cNvPr id="61" name="Oval 60"/>
          <p:cNvSpPr/>
          <p:nvPr/>
        </p:nvSpPr>
        <p:spPr>
          <a:xfrm>
            <a:off x="4590288" y="29443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111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590288" y="31089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754880" y="3273552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4732020" y="34975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7680960" y="4206240"/>
            <a:ext cx="914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7651242" y="4176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42" y="41765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8028432" y="4288536"/>
            <a:ext cx="219456" cy="102869"/>
          </a:xfrm>
          <a:custGeom>
            <a:avLst/>
            <a:gdLst/>
            <a:ahLst/>
            <a:cxnLst/>
            <a:rect l="l" t="t" r="r" b="b"/>
            <a:pathLst>
              <a:path w="219456" h="102869">
                <a:moveTo>
                  <a:pt x="0" y="102869"/>
                </a:moveTo>
                <a:lnTo>
                  <a:pt x="219456" y="102869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001000" y="4069079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8055864" y="4096511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909560" y="4425696"/>
            <a:ext cx="4572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P-101A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680960" y="5120640"/>
            <a:ext cx="9144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7651242" y="50909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565642" y="50909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Freeform 74"/>
          <p:cNvSpPr/>
          <p:nvPr/>
        </p:nvSpPr>
        <p:spPr>
          <a:xfrm>
            <a:off x="8028432" y="5202936"/>
            <a:ext cx="219456" cy="102869"/>
          </a:xfrm>
          <a:custGeom>
            <a:avLst/>
            <a:gdLst/>
            <a:ahLst/>
            <a:cxnLst/>
            <a:rect l="l" t="t" r="r" b="b"/>
            <a:pathLst>
              <a:path w="219456" h="102869">
                <a:moveTo>
                  <a:pt x="0" y="102869"/>
                </a:moveTo>
                <a:lnTo>
                  <a:pt x="219456" y="102869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01000" y="4983479"/>
            <a:ext cx="274320" cy="27432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8055864" y="5010912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909560" y="5340096"/>
            <a:ext cx="45720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P-101B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68512" y="4023360"/>
            <a:ext cx="10058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470 m3/h, ONE RUNNING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8595360" y="4206240"/>
            <a:ext cx="0" cy="283464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2880360" y="7040880"/>
            <a:ext cx="5715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2880360" y="6519672"/>
            <a:ext cx="0" cy="52120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3599688" y="6922008"/>
            <a:ext cx="8473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10"-CW-110 JACKET SUPPLY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680960" y="5120640"/>
            <a:ext cx="0" cy="184251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reeform 84"/>
          <p:cNvSpPr/>
          <p:nvPr/>
        </p:nvSpPr>
        <p:spPr>
          <a:xfrm>
            <a:off x="7680960" y="696315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7680960" y="7118604"/>
            <a:ext cx="0" cy="43891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Freeform 86"/>
          <p:cNvSpPr/>
          <p:nvPr/>
        </p:nvSpPr>
        <p:spPr>
          <a:xfrm>
            <a:off x="7680960" y="7557515"/>
            <a:ext cx="77724" cy="155449"/>
          </a:xfrm>
          <a:custGeom>
            <a:avLst/>
            <a:gdLst/>
            <a:ahLst/>
            <a:cxnLst/>
            <a:rect l="l" t="t" r="r" b="b"/>
            <a:pathLst>
              <a:path w="77724" h="155449">
                <a:moveTo>
                  <a:pt x="0" y="155449"/>
                </a:moveTo>
                <a:lnTo>
                  <a:pt x="38862" y="145035"/>
                </a:lnTo>
                <a:lnTo>
                  <a:pt x="67310" y="116587"/>
                </a:lnTo>
                <a:lnTo>
                  <a:pt x="77724" y="77725"/>
                </a:lnTo>
                <a:lnTo>
                  <a:pt x="67310" y="38862"/>
                </a:lnTo>
                <a:lnTo>
                  <a:pt x="38862" y="1041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7680960" y="7712964"/>
            <a:ext cx="0" cy="2880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7651242" y="797128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7603236" y="5870448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7758684" y="5989320"/>
            <a:ext cx="14173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/>
          <p:cNvSpPr/>
          <p:nvPr/>
        </p:nvSpPr>
        <p:spPr>
          <a:xfrm>
            <a:off x="7900416" y="5897880"/>
            <a:ext cx="182880" cy="182880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686800" y="5897880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PCV-112 BPR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 barg (SPILL)</a:t>
            </a:r>
          </a:p>
        </p:txBody>
      </p:sp>
      <p:cxnSp>
        <p:nvCxnSpPr>
          <p:cNvPr id="94" name="Connector 93"/>
          <p:cNvCxnSpPr/>
          <p:nvPr/>
        </p:nvCxnSpPr>
        <p:spPr>
          <a:xfrm flipV="1">
            <a:off x="8092440" y="7040880"/>
            <a:ext cx="0" cy="5943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8062721" y="76055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062721" y="7011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8014715" y="7214616"/>
            <a:ext cx="155449" cy="237744"/>
          </a:xfrm>
          <a:custGeom>
            <a:avLst/>
            <a:gdLst/>
            <a:ahLst/>
            <a:cxnLst/>
            <a:rect l="l" t="t" r="r" b="b"/>
            <a:pathLst>
              <a:path w="155449" h="237744">
                <a:moveTo>
                  <a:pt x="0" y="0"/>
                </a:moveTo>
                <a:lnTo>
                  <a:pt x="155449" y="237744"/>
                </a:lnTo>
                <a:lnTo>
                  <a:pt x="0" y="237744"/>
                </a:lnTo>
                <a:lnTo>
                  <a:pt x="155449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 flipH="1">
            <a:off x="7891271" y="7333488"/>
            <a:ext cx="1234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7810226" y="7242048"/>
            <a:ext cx="81045" cy="182879"/>
          </a:xfrm>
          <a:custGeom>
            <a:avLst/>
            <a:gdLst/>
            <a:ahLst/>
            <a:cxnLst/>
            <a:rect l="l" t="t" r="r" b="b"/>
            <a:pathLst>
              <a:path w="81045" h="182879">
                <a:moveTo>
                  <a:pt x="81045" y="182879"/>
                </a:moveTo>
                <a:lnTo>
                  <a:pt x="52899" y="177365"/>
                </a:lnTo>
                <a:lnTo>
                  <a:pt x="28147" y="161487"/>
                </a:lnTo>
                <a:lnTo>
                  <a:pt x="9775" y="137160"/>
                </a:lnTo>
                <a:lnTo>
                  <a:pt x="0" y="107318"/>
                </a:lnTo>
                <a:lnTo>
                  <a:pt x="0" y="75561"/>
                </a:lnTo>
                <a:lnTo>
                  <a:pt x="9775" y="45720"/>
                </a:lnTo>
                <a:lnTo>
                  <a:pt x="28147" y="21392"/>
                </a:lnTo>
                <a:lnTo>
                  <a:pt x="52899" y="5514"/>
                </a:lnTo>
                <a:lnTo>
                  <a:pt x="81045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202167" y="7223759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TV-110B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02167" y="7351775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949440" y="7040880"/>
            <a:ext cx="0" cy="516635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Freeform 102"/>
          <p:cNvSpPr/>
          <p:nvPr/>
        </p:nvSpPr>
        <p:spPr>
          <a:xfrm>
            <a:off x="6949440" y="7557515"/>
            <a:ext cx="77724" cy="155449"/>
          </a:xfrm>
          <a:custGeom>
            <a:avLst/>
            <a:gdLst/>
            <a:ahLst/>
            <a:cxnLst/>
            <a:rect l="l" t="t" r="r" b="b"/>
            <a:pathLst>
              <a:path w="77724" h="155449">
                <a:moveTo>
                  <a:pt x="0" y="155449"/>
                </a:moveTo>
                <a:lnTo>
                  <a:pt x="38862" y="145035"/>
                </a:lnTo>
                <a:lnTo>
                  <a:pt x="67310" y="116587"/>
                </a:lnTo>
                <a:lnTo>
                  <a:pt x="77724" y="77725"/>
                </a:lnTo>
                <a:lnTo>
                  <a:pt x="67310" y="38862"/>
                </a:lnTo>
                <a:lnTo>
                  <a:pt x="38862" y="1041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4" name="Connector 103"/>
          <p:cNvCxnSpPr/>
          <p:nvPr/>
        </p:nvCxnSpPr>
        <p:spPr>
          <a:xfrm>
            <a:off x="6949440" y="7712964"/>
            <a:ext cx="0" cy="21031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6949440" y="7923275"/>
            <a:ext cx="77724" cy="155449"/>
          </a:xfrm>
          <a:custGeom>
            <a:avLst/>
            <a:gdLst/>
            <a:ahLst/>
            <a:cxnLst/>
            <a:rect l="l" t="t" r="r" b="b"/>
            <a:pathLst>
              <a:path w="77724" h="155449">
                <a:moveTo>
                  <a:pt x="0" y="155449"/>
                </a:moveTo>
                <a:lnTo>
                  <a:pt x="38862" y="145035"/>
                </a:lnTo>
                <a:lnTo>
                  <a:pt x="67310" y="116587"/>
                </a:lnTo>
                <a:lnTo>
                  <a:pt x="77724" y="77725"/>
                </a:lnTo>
                <a:lnTo>
                  <a:pt x="67310" y="38863"/>
                </a:lnTo>
                <a:lnTo>
                  <a:pt x="38862" y="1041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onnector 105"/>
          <p:cNvCxnSpPr/>
          <p:nvPr/>
        </p:nvCxnSpPr>
        <p:spPr>
          <a:xfrm>
            <a:off x="6949440" y="8078724"/>
            <a:ext cx="0" cy="2880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/>
          <p:nvPr/>
        </p:nvSpPr>
        <p:spPr>
          <a:xfrm>
            <a:off x="6919722" y="83370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Freeform 107"/>
          <p:cNvSpPr/>
          <p:nvPr/>
        </p:nvSpPr>
        <p:spPr>
          <a:xfrm>
            <a:off x="6871716" y="7214616"/>
            <a:ext cx="155448" cy="237744"/>
          </a:xfrm>
          <a:custGeom>
            <a:avLst/>
            <a:gdLst/>
            <a:ahLst/>
            <a:cxnLst/>
            <a:rect l="l" t="t" r="r" b="b"/>
            <a:pathLst>
              <a:path w="155448" h="237744">
                <a:moveTo>
                  <a:pt x="0" y="0"/>
                </a:moveTo>
                <a:lnTo>
                  <a:pt x="155448" y="237744"/>
                </a:lnTo>
                <a:lnTo>
                  <a:pt x="0" y="237744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H="1">
            <a:off x="6748272" y="7333488"/>
            <a:ext cx="1234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6667226" y="7242048"/>
            <a:ext cx="81046" cy="182879"/>
          </a:xfrm>
          <a:custGeom>
            <a:avLst/>
            <a:gdLst/>
            <a:ahLst/>
            <a:cxnLst/>
            <a:rect l="l" t="t" r="r" b="b"/>
            <a:pathLst>
              <a:path w="81046" h="182879">
                <a:moveTo>
                  <a:pt x="81046" y="182879"/>
                </a:moveTo>
                <a:lnTo>
                  <a:pt x="52899" y="177365"/>
                </a:lnTo>
                <a:lnTo>
                  <a:pt x="28147" y="161487"/>
                </a:lnTo>
                <a:lnTo>
                  <a:pt x="9775" y="137160"/>
                </a:lnTo>
                <a:lnTo>
                  <a:pt x="0" y="107318"/>
                </a:lnTo>
                <a:lnTo>
                  <a:pt x="0" y="75561"/>
                </a:lnTo>
                <a:lnTo>
                  <a:pt x="9775" y="45720"/>
                </a:lnTo>
                <a:lnTo>
                  <a:pt x="28147" y="21392"/>
                </a:lnTo>
                <a:lnTo>
                  <a:pt x="52899" y="5514"/>
                </a:lnTo>
                <a:lnTo>
                  <a:pt x="81046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059168" y="7223759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TV-110A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59168" y="7351775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858000" y="6967728"/>
            <a:ext cx="182880" cy="14630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077455" y="6821424"/>
            <a:ext cx="5486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SM-101</a:t>
            </a:r>
          </a:p>
        </p:txBody>
      </p:sp>
      <p:sp>
        <p:nvSpPr>
          <p:cNvPr id="115" name="Oval 114"/>
          <p:cNvSpPr/>
          <p:nvPr/>
        </p:nvSpPr>
        <p:spPr>
          <a:xfrm>
            <a:off x="5870448" y="63733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870448" y="653796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6035040" y="6702552"/>
            <a:ext cx="0" cy="3383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6012179" y="70180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10328" y="693115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4965192" y="693115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Oval 120"/>
          <p:cNvSpPr/>
          <p:nvPr/>
        </p:nvSpPr>
        <p:spPr>
          <a:xfrm>
            <a:off x="4773168" y="63733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773168" y="65379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4937760" y="6702552"/>
            <a:ext cx="0" cy="2286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Rectangle 123"/>
          <p:cNvSpPr/>
          <p:nvPr/>
        </p:nvSpPr>
        <p:spPr>
          <a:xfrm>
            <a:off x="4151376" y="6345936"/>
            <a:ext cx="384048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178808" y="63733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110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4178808" y="65379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535424" y="6537960"/>
            <a:ext cx="23774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5870448" y="44988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5870448" y="466344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4709160" y="4599432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R-101 TEMP.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(TE-100, PVC-PID-001)</a:t>
            </a:r>
          </a:p>
        </p:txBody>
      </p:sp>
      <p:cxnSp>
        <p:nvCxnSpPr>
          <p:cNvPr id="131" name="Connector 130"/>
          <p:cNvCxnSpPr/>
          <p:nvPr/>
        </p:nvCxnSpPr>
        <p:spPr>
          <a:xfrm>
            <a:off x="6035040" y="4828032"/>
            <a:ext cx="0" cy="15453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6080760" y="5532120"/>
            <a:ext cx="82296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SP (CASCADE)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720840" y="5577840"/>
            <a:ext cx="457200" cy="2743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4" name="Connector 133"/>
          <p:cNvCxnSpPr/>
          <p:nvPr/>
        </p:nvCxnSpPr>
        <p:spPr>
          <a:xfrm>
            <a:off x="6720840" y="5715000"/>
            <a:ext cx="45720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6720840" y="5586983"/>
            <a:ext cx="45720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000000"/>
                </a:solidFill>
                <a:latin typeface="Arial"/>
              </a:rPr>
              <a:t>TY-110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720840" y="5724144"/>
            <a:ext cx="457200" cy="1188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1">
                <a:solidFill>
                  <a:srgbClr val="000000"/>
                </a:solidFill>
                <a:latin typeface="Arial"/>
              </a:rPr>
              <a:t>SPLIT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6199632" y="6537960"/>
            <a:ext cx="29260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6492240" y="5715000"/>
            <a:ext cx="0" cy="82296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6492240" y="5715000"/>
            <a:ext cx="22860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6858000" y="5852160"/>
            <a:ext cx="0" cy="20116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H="1">
            <a:off x="6675120" y="6053328"/>
            <a:ext cx="18288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6675120" y="6053328"/>
            <a:ext cx="0" cy="1170431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178040" y="5715000"/>
            <a:ext cx="32003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498079" y="5715000"/>
            <a:ext cx="0" cy="54864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498079" y="6263640"/>
            <a:ext cx="320041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818120" y="6263640"/>
            <a:ext cx="0" cy="960119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5806440" y="7269480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0-50 %</a:t>
            </a:r>
          </a:p>
          <a:p>
            <a:pPr algn="r"/>
            <a:r>
              <a:rPr sz="480" b="0">
                <a:solidFill>
                  <a:srgbClr val="000000"/>
                </a:solidFill>
                <a:latin typeface="Arial"/>
              </a:rPr>
              <a:t>STEAM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686800" y="6675120"/>
            <a:ext cx="7315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50-100 %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CW</a:t>
            </a:r>
          </a:p>
        </p:txBody>
      </p:sp>
      <p:sp>
        <p:nvSpPr>
          <p:cNvPr id="149" name="Oval 148"/>
          <p:cNvSpPr/>
          <p:nvPr/>
        </p:nvSpPr>
        <p:spPr>
          <a:xfrm>
            <a:off x="9070848" y="4590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VPC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130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9070848" y="47548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178040" y="5577840"/>
            <a:ext cx="274320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7452360" y="4754880"/>
            <a:ext cx="0" cy="82296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7452360" y="4754880"/>
            <a:ext cx="161848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TextBox 153"/>
          <p:cNvSpPr txBox="1"/>
          <p:nvPr/>
        </p:nvSpPr>
        <p:spPr>
          <a:xfrm>
            <a:off x="8796528" y="4956048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PV: TIC-110 OUT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SP: TV-110B 50 %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9326880" y="777240"/>
            <a:ext cx="548640" cy="1188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6" name="Connector 155"/>
          <p:cNvCxnSpPr/>
          <p:nvPr/>
        </p:nvCxnSpPr>
        <p:spPr>
          <a:xfrm>
            <a:off x="9326880" y="1078992"/>
            <a:ext cx="5486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9326880" y="1664207"/>
            <a:ext cx="5486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9518904" y="1078992"/>
            <a:ext cx="0" cy="585215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9601200" y="1078992"/>
            <a:ext cx="0" cy="585215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9683496" y="1078992"/>
            <a:ext cx="0" cy="585215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7818120" y="1051560"/>
            <a:ext cx="14630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50" b="1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818120" y="1197864"/>
            <a:ext cx="14630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REFLUX CONDENSER</a:t>
            </a:r>
          </a:p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(SEE PVC-PID-001)</a:t>
            </a:r>
          </a:p>
        </p:txBody>
      </p:sp>
      <p:cxnSp>
        <p:nvCxnSpPr>
          <p:cNvPr id="163" name="Connector 162"/>
          <p:cNvCxnSpPr/>
          <p:nvPr/>
        </p:nvCxnSpPr>
        <p:spPr>
          <a:xfrm flipV="1">
            <a:off x="3291840" y="2240280"/>
            <a:ext cx="0" cy="24079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3291840" y="2240280"/>
            <a:ext cx="63093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9601200" y="1965960"/>
            <a:ext cx="0" cy="27432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/>
          <p:cNvSpPr txBox="1"/>
          <p:nvPr/>
        </p:nvSpPr>
        <p:spPr>
          <a:xfrm>
            <a:off x="5171948" y="2121408"/>
            <a:ext cx="11775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18"-VG-110 VCM VAPOUR / CONDENSATE</a:t>
            </a:r>
          </a:p>
        </p:txBody>
      </p:sp>
      <p:cxnSp>
        <p:nvCxnSpPr>
          <p:cNvPr id="167" name="Connector 166"/>
          <p:cNvCxnSpPr/>
          <p:nvPr/>
        </p:nvCxnSpPr>
        <p:spPr>
          <a:xfrm flipV="1">
            <a:off x="9601200" y="566928"/>
            <a:ext cx="0" cy="210312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H="1">
            <a:off x="9098280" y="566928"/>
            <a:ext cx="5029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Freeform 168"/>
          <p:cNvSpPr/>
          <p:nvPr/>
        </p:nvSpPr>
        <p:spPr>
          <a:xfrm>
            <a:off x="8769096" y="475488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329184" y="0"/>
                </a:moveTo>
                <a:lnTo>
                  <a:pt x="73152" y="0"/>
                </a:lnTo>
                <a:lnTo>
                  <a:pt x="0" y="91440"/>
                </a:lnTo>
                <a:lnTo>
                  <a:pt x="73152" y="182880"/>
                </a:lnTo>
                <a:lnTo>
                  <a:pt x="329184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717536" y="466344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INERTS TO HV-135</a:t>
            </a:r>
          </a:p>
          <a:p>
            <a:pPr algn="r"/>
            <a:r>
              <a:rPr sz="520" b="0">
                <a:solidFill>
                  <a:srgbClr val="000000"/>
                </a:solidFill>
                <a:latin typeface="Arial"/>
              </a:rPr>
              <a:t>(PVC-PID-001)</a:t>
            </a:r>
          </a:p>
        </p:txBody>
      </p:sp>
      <p:cxnSp>
        <p:nvCxnSpPr>
          <p:cNvPr id="171" name="Connector 170"/>
          <p:cNvCxnSpPr/>
          <p:nvPr/>
        </p:nvCxnSpPr>
        <p:spPr>
          <a:xfrm>
            <a:off x="9875520" y="1005840"/>
            <a:ext cx="2743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149840" y="1005840"/>
            <a:ext cx="0" cy="69951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Freeform 172"/>
          <p:cNvSpPr/>
          <p:nvPr/>
        </p:nvSpPr>
        <p:spPr>
          <a:xfrm>
            <a:off x="10149840" y="170535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>
            <a:off x="10149840" y="1860804"/>
            <a:ext cx="0" cy="5696711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Freeform 174"/>
          <p:cNvSpPr/>
          <p:nvPr/>
        </p:nvSpPr>
        <p:spPr>
          <a:xfrm>
            <a:off x="10149840" y="7557515"/>
            <a:ext cx="77724" cy="155449"/>
          </a:xfrm>
          <a:custGeom>
            <a:avLst/>
            <a:gdLst/>
            <a:ahLst/>
            <a:cxnLst/>
            <a:rect l="l" t="t" r="r" b="b"/>
            <a:pathLst>
              <a:path w="77724" h="155449">
                <a:moveTo>
                  <a:pt x="0" y="155449"/>
                </a:moveTo>
                <a:lnTo>
                  <a:pt x="38862" y="145035"/>
                </a:lnTo>
                <a:lnTo>
                  <a:pt x="67310" y="116587"/>
                </a:lnTo>
                <a:lnTo>
                  <a:pt x="77724" y="77725"/>
                </a:lnTo>
                <a:lnTo>
                  <a:pt x="67310" y="38862"/>
                </a:lnTo>
                <a:lnTo>
                  <a:pt x="38862" y="1041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>
            <a:off x="10149840" y="7712964"/>
            <a:ext cx="0" cy="288036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Oval 176"/>
          <p:cNvSpPr/>
          <p:nvPr/>
        </p:nvSpPr>
        <p:spPr>
          <a:xfrm>
            <a:off x="10120122" y="797128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9985248" y="420624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131</a:t>
            </a:r>
          </a:p>
        </p:txBody>
      </p:sp>
      <p:cxnSp>
        <p:nvCxnSpPr>
          <p:cNvPr id="179" name="Connector 178"/>
          <p:cNvCxnSpPr/>
          <p:nvPr/>
        </p:nvCxnSpPr>
        <p:spPr>
          <a:xfrm>
            <a:off x="9985248" y="585216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149840" y="749808"/>
            <a:ext cx="0" cy="25603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10126980" y="98298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 flipV="1">
            <a:off x="10607040" y="1783080"/>
            <a:ext cx="0" cy="58521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9875520" y="1783080"/>
            <a:ext cx="7315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10577322" y="760552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>
            <a:off x="10497312" y="2807208"/>
            <a:ext cx="219455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0497312" y="2862072"/>
            <a:ext cx="219455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Oval 186"/>
          <p:cNvSpPr/>
          <p:nvPr/>
        </p:nvSpPr>
        <p:spPr>
          <a:xfrm>
            <a:off x="10899648" y="26700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130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0899648" y="283464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H="1">
            <a:off x="10716767" y="2834640"/>
            <a:ext cx="182881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Freeform 189"/>
          <p:cNvSpPr/>
          <p:nvPr/>
        </p:nvSpPr>
        <p:spPr>
          <a:xfrm>
            <a:off x="10529315" y="3721608"/>
            <a:ext cx="155449" cy="237744"/>
          </a:xfrm>
          <a:custGeom>
            <a:avLst/>
            <a:gdLst/>
            <a:ahLst/>
            <a:cxnLst/>
            <a:rect l="l" t="t" r="r" b="b"/>
            <a:pathLst>
              <a:path w="155449" h="237744">
                <a:moveTo>
                  <a:pt x="0" y="0"/>
                </a:moveTo>
                <a:lnTo>
                  <a:pt x="155449" y="237744"/>
                </a:lnTo>
                <a:lnTo>
                  <a:pt x="0" y="237744"/>
                </a:lnTo>
                <a:lnTo>
                  <a:pt x="155449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H="1">
            <a:off x="10405872" y="3840480"/>
            <a:ext cx="12344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Freeform 191"/>
          <p:cNvSpPr/>
          <p:nvPr/>
        </p:nvSpPr>
        <p:spPr>
          <a:xfrm>
            <a:off x="10324826" y="3749040"/>
            <a:ext cx="81046" cy="182880"/>
          </a:xfrm>
          <a:custGeom>
            <a:avLst/>
            <a:gdLst/>
            <a:ahLst/>
            <a:cxnLst/>
            <a:rect l="l" t="t" r="r" b="b"/>
            <a:pathLst>
              <a:path w="81046" h="182880">
                <a:moveTo>
                  <a:pt x="81046" y="182880"/>
                </a:moveTo>
                <a:lnTo>
                  <a:pt x="52899" y="177365"/>
                </a:lnTo>
                <a:lnTo>
                  <a:pt x="28147" y="161487"/>
                </a:lnTo>
                <a:lnTo>
                  <a:pt x="9775" y="137160"/>
                </a:lnTo>
                <a:lnTo>
                  <a:pt x="0" y="107318"/>
                </a:lnTo>
                <a:lnTo>
                  <a:pt x="0" y="75561"/>
                </a:lnTo>
                <a:lnTo>
                  <a:pt x="9775" y="45720"/>
                </a:lnTo>
                <a:lnTo>
                  <a:pt x="28147" y="21392"/>
                </a:lnTo>
                <a:lnTo>
                  <a:pt x="52899" y="5514"/>
                </a:lnTo>
                <a:lnTo>
                  <a:pt x="81046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0716767" y="3730752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FV-130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716767" y="3858768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11064240" y="2999232"/>
            <a:ext cx="0" cy="52120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H="1">
            <a:off x="10323576" y="3520440"/>
            <a:ext cx="74066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0323576" y="3520440"/>
            <a:ext cx="0" cy="228599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9400032" y="4754880"/>
            <a:ext cx="193852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1338560" y="2834640"/>
            <a:ext cx="0" cy="192024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H="1">
            <a:off x="11228832" y="2834640"/>
            <a:ext cx="10972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1" name="TextBox 200"/>
          <p:cNvSpPr txBox="1"/>
          <p:nvPr/>
        </p:nvSpPr>
        <p:spPr>
          <a:xfrm>
            <a:off x="10716768" y="4069080"/>
            <a:ext cx="8229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SP HIGH LIMIT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12 m3/h PER % XI-100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661904" y="5669280"/>
            <a:ext cx="352044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8"-CW-130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1612880" y="411480"/>
            <a:ext cx="3154680" cy="813816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1704320" y="47548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11750040" y="73152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TextBox 205"/>
          <p:cNvSpPr txBox="1"/>
          <p:nvPr/>
        </p:nvSpPr>
        <p:spPr>
          <a:xfrm>
            <a:off x="1217980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207" name="Connector 206"/>
          <p:cNvCxnSpPr/>
          <p:nvPr/>
        </p:nvCxnSpPr>
        <p:spPr>
          <a:xfrm>
            <a:off x="13258800" y="731520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1368856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UTILITY LINE (CW, STEAM, N2)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11750040" y="1005840"/>
            <a:ext cx="3840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1217980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SIGNAL LINE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13258800" y="100584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3450824" y="896112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Freeform 212"/>
          <p:cNvSpPr/>
          <p:nvPr/>
        </p:nvSpPr>
        <p:spPr>
          <a:xfrm>
            <a:off x="13450824" y="92811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13450824" y="1083564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1368856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LINE JUMP (NO JOIN)</a:t>
            </a:r>
          </a:p>
        </p:txBody>
      </p:sp>
      <p:cxnSp>
        <p:nvCxnSpPr>
          <p:cNvPr id="216" name="Connector 215"/>
          <p:cNvCxnSpPr/>
          <p:nvPr/>
        </p:nvCxnSpPr>
        <p:spPr>
          <a:xfrm>
            <a:off x="1175004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Freeform 216"/>
          <p:cNvSpPr/>
          <p:nvPr/>
        </p:nvSpPr>
        <p:spPr>
          <a:xfrm>
            <a:off x="1185062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 flipV="1">
            <a:off x="11942064" y="1216151"/>
            <a:ext cx="0" cy="457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Freeform 218"/>
          <p:cNvSpPr/>
          <p:nvPr/>
        </p:nvSpPr>
        <p:spPr>
          <a:xfrm>
            <a:off x="11878056" y="1159419"/>
            <a:ext cx="128016" cy="56732"/>
          </a:xfrm>
          <a:custGeom>
            <a:avLst/>
            <a:gdLst/>
            <a:ahLst/>
            <a:cxnLst/>
            <a:rect l="l" t="t" r="r" b="b"/>
            <a:pathLst>
              <a:path w="128016" h="56732">
                <a:moveTo>
                  <a:pt x="128016" y="56732"/>
                </a:moveTo>
                <a:lnTo>
                  <a:pt x="124155" y="37030"/>
                </a:lnTo>
                <a:lnTo>
                  <a:pt x="113040" y="19703"/>
                </a:lnTo>
                <a:lnTo>
                  <a:pt x="96012" y="6843"/>
                </a:lnTo>
                <a:lnTo>
                  <a:pt x="75122" y="0"/>
                </a:lnTo>
                <a:lnTo>
                  <a:pt x="52893" y="0"/>
                </a:lnTo>
                <a:lnTo>
                  <a:pt x="32004" y="6843"/>
                </a:lnTo>
                <a:lnTo>
                  <a:pt x="14975" y="19703"/>
                </a:lnTo>
                <a:lnTo>
                  <a:pt x="3860" y="37030"/>
                </a:lnTo>
                <a:lnTo>
                  <a:pt x="0" y="5673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217980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CONTROL VALVE FO / FC</a:t>
            </a:r>
          </a:p>
        </p:txBody>
      </p:sp>
      <p:cxnSp>
        <p:nvCxnSpPr>
          <p:cNvPr id="221" name="Connector 220"/>
          <p:cNvCxnSpPr/>
          <p:nvPr/>
        </p:nvCxnSpPr>
        <p:spPr>
          <a:xfrm>
            <a:off x="1325880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Freeform 221"/>
          <p:cNvSpPr/>
          <p:nvPr/>
        </p:nvSpPr>
        <p:spPr>
          <a:xfrm>
            <a:off x="1335938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Connector 222"/>
          <p:cNvCxnSpPr/>
          <p:nvPr/>
        </p:nvCxnSpPr>
        <p:spPr>
          <a:xfrm flipV="1">
            <a:off x="13450824" y="1225295"/>
            <a:ext cx="0" cy="3657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ectangle 223"/>
          <p:cNvSpPr/>
          <p:nvPr/>
        </p:nvSpPr>
        <p:spPr>
          <a:xfrm>
            <a:off x="13405104" y="1170431"/>
            <a:ext cx="91440" cy="5486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1368856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ON/OFF VALVE (SEQ. / SIS)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1175004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Freeform 226"/>
          <p:cNvSpPr/>
          <p:nvPr/>
        </p:nvSpPr>
        <p:spPr>
          <a:xfrm>
            <a:off x="11850624" y="14950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1217980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MANUAL VALVE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1325880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3423392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13478256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TextBox 231"/>
          <p:cNvSpPr txBox="1"/>
          <p:nvPr/>
        </p:nvSpPr>
        <p:spPr>
          <a:xfrm>
            <a:off x="1368856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ORIFICE FLOW ELEMENT</a:t>
            </a:r>
          </a:p>
        </p:txBody>
      </p:sp>
      <p:sp>
        <p:nvSpPr>
          <p:cNvPr id="233" name="Oval 232"/>
          <p:cNvSpPr/>
          <p:nvPr/>
        </p:nvSpPr>
        <p:spPr>
          <a:xfrm>
            <a:off x="1184148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11841480" y="182880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1217980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DCS INSTRUMENT</a:t>
            </a:r>
          </a:p>
        </p:txBody>
      </p:sp>
      <p:sp>
        <p:nvSpPr>
          <p:cNvPr id="236" name="Oval 235"/>
          <p:cNvSpPr/>
          <p:nvPr/>
        </p:nvSpPr>
        <p:spPr>
          <a:xfrm>
            <a:off x="1335024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368856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FIELD INSTRUMENT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1823192" y="1975103"/>
            <a:ext cx="256032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1841480" y="1993391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240" name="Connector 239"/>
          <p:cNvCxnSpPr/>
          <p:nvPr/>
        </p:nvCxnSpPr>
        <p:spPr>
          <a:xfrm>
            <a:off x="11841480" y="210312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TextBox 240"/>
          <p:cNvSpPr txBox="1"/>
          <p:nvPr/>
        </p:nvSpPr>
        <p:spPr>
          <a:xfrm>
            <a:off x="1217980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SIS FUNCTION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13313664" y="2011679"/>
            <a:ext cx="292608" cy="18288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3" name="Connector 242"/>
          <p:cNvCxnSpPr/>
          <p:nvPr/>
        </p:nvCxnSpPr>
        <p:spPr>
          <a:xfrm>
            <a:off x="13313664" y="210312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1368856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DCS FUNCTION BLOCK</a:t>
            </a:r>
          </a:p>
        </p:txBody>
      </p:sp>
      <p:sp>
        <p:nvSpPr>
          <p:cNvPr id="245" name="Freeform 244"/>
          <p:cNvSpPr/>
          <p:nvPr/>
        </p:nvSpPr>
        <p:spPr>
          <a:xfrm>
            <a:off x="11795760" y="2304287"/>
            <a:ext cx="283464" cy="146304"/>
          </a:xfrm>
          <a:custGeom>
            <a:avLst/>
            <a:gdLst/>
            <a:ahLst/>
            <a:cxnLst/>
            <a:rect l="l" t="t" r="r" b="b"/>
            <a:pathLst>
              <a:path w="283464" h="146304">
                <a:moveTo>
                  <a:pt x="0" y="0"/>
                </a:moveTo>
                <a:lnTo>
                  <a:pt x="210312" y="0"/>
                </a:lnTo>
                <a:lnTo>
                  <a:pt x="283464" y="73152"/>
                </a:lnTo>
                <a:lnTo>
                  <a:pt x="210312" y="146304"/>
                </a:lnTo>
                <a:lnTo>
                  <a:pt x="0" y="14630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1217980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OFF-SHEET LINK</a:t>
            </a:r>
          </a:p>
        </p:txBody>
      </p:sp>
      <p:cxnSp>
        <p:nvCxnSpPr>
          <p:cNvPr id="247" name="Connector 246"/>
          <p:cNvCxnSpPr/>
          <p:nvPr/>
        </p:nvCxnSpPr>
        <p:spPr>
          <a:xfrm flipV="1">
            <a:off x="13450824" y="2432303"/>
            <a:ext cx="0" cy="73153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Freeform 247"/>
          <p:cNvSpPr/>
          <p:nvPr/>
        </p:nvSpPr>
        <p:spPr>
          <a:xfrm>
            <a:off x="13395960" y="2276856"/>
            <a:ext cx="109728" cy="164591"/>
          </a:xfrm>
          <a:custGeom>
            <a:avLst/>
            <a:gdLst/>
            <a:ahLst/>
            <a:cxnLst/>
            <a:rect l="l" t="t" r="r" b="b"/>
            <a:pathLst>
              <a:path w="109728" h="164591">
                <a:moveTo>
                  <a:pt x="0" y="0"/>
                </a:moveTo>
                <a:lnTo>
                  <a:pt x="109728" y="164591"/>
                </a:lnTo>
                <a:lnTo>
                  <a:pt x="0" y="164591"/>
                </a:lnTo>
                <a:lnTo>
                  <a:pt x="10972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Connector 248"/>
          <p:cNvCxnSpPr/>
          <p:nvPr/>
        </p:nvCxnSpPr>
        <p:spPr>
          <a:xfrm>
            <a:off x="13395960" y="2285999"/>
            <a:ext cx="109728" cy="914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1368856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RELIEF VALVE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11704320" y="267004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CONTROL LOOP SCHEDULE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11704320" y="285292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1704320" y="299923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1704320" y="314553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1704320" y="329184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1704320" y="343814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1704320" y="358444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1704320" y="373075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1704320" y="387705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1704320" y="402336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1704320" y="416966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1704320" y="431596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1704320" y="446227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1704320" y="460857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1704320" y="475488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1704320" y="490118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1704320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2161520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2874752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13624560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3862304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4721840" y="2852928"/>
            <a:ext cx="0" cy="2048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11731752" y="285292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LOOP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2188952" y="2852928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MEASURES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2902184" y="2852928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MOVES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13651992" y="2852928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FAIL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13889736" y="2852928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 / NOTE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1731752" y="299923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2188952" y="2999232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WATER CHARGE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12902184" y="2999232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FV-101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3651992" y="2999232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3889736" y="2999232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240 m3/h, FQ 60 t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1731752" y="314553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FIC-102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12188952" y="3145536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VCM CHARGE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12902184" y="3145536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FV-102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13651992" y="3145536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3889736" y="3145536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180 t/h, FQ 51 t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1731752" y="3291840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LIC-100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12188952" y="3291840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R-101 LEVEL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12902184" y="3291840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FIC-103 SP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13651992" y="3291840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13889736" y="3291840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83 %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1731752" y="3438144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FIC-103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2188952" y="3438144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INJECTION WATER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2902184" y="3438144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FV-103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3651992" y="3438144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889736" y="3438144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CAS (~3 m3/h)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1731752" y="358444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TIC-100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2188952" y="3584448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R-101 TEMP.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2902184" y="3584448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TIC-110 SP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3651992" y="3584448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3889736" y="3584448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57.0 C (K 67)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1731752" y="373075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TIC-110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2188952" y="3730752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JACKET INLET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2902184" y="3730752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TY-110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13651992" y="3730752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3889736" y="3730752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CAS (~38 C)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1731752" y="387705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TY-110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2188952" y="3877056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0-50 % OUT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2902184" y="3877056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TV-110A STEAM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3651992" y="3877056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3889736" y="3877056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HEAT-UP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1731752" y="4023360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TY-110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2188952" y="4023360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50-100 % OUT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2902184" y="4023360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TV-110B CW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3651992" y="4023360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3889736" y="4023360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COOLING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1731752" y="4169664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FIC-120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2188952" y="4169664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BAFFLE CW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2902184" y="4169664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FV-120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13651992" y="4169664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3889736" y="4169664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80 m3/h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11731752" y="4315968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VPC-130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12188952" y="4315968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TIC-110 OUT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12902184" y="4315968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FIC-130 SP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13651992" y="4315968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27" name="TextBox 326"/>
          <p:cNvSpPr txBox="1"/>
          <p:nvPr/>
        </p:nvSpPr>
        <p:spPr>
          <a:xfrm>
            <a:off x="13889736" y="4315968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50 % (NOTE 5)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1731752" y="4462272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FIC-130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12188952" y="4462272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E-101 CW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2902184" y="4462272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FV-130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3651992" y="4462272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3889736" y="4462272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CAS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11731752" y="4608576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HIC-135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2188952" y="4608576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12902184" y="4608576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HV-135 INERTS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3651992" y="4608576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3889736" y="4608576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1731752" y="4754880"/>
            <a:ext cx="41148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HIC-105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2188952" y="4754880"/>
            <a:ext cx="66751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902184" y="4754880"/>
            <a:ext cx="704087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PV-105 DEGAS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3651992" y="4754880"/>
            <a:ext cx="192024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3889736" y="4754880"/>
            <a:ext cx="81381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END OF BATCH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1704320" y="4974336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SIS INTERLOCKS</a:t>
            </a:r>
          </a:p>
        </p:txBody>
      </p:sp>
      <p:cxnSp>
        <p:nvCxnSpPr>
          <p:cNvPr id="344" name="Connector 343"/>
          <p:cNvCxnSpPr/>
          <p:nvPr/>
        </p:nvCxnSpPr>
        <p:spPr>
          <a:xfrm>
            <a:off x="11704320" y="515721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11704320" y="530352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1704320" y="544982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11704320" y="559612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1704320" y="574243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>
            <a:off x="11704320" y="588873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>
            <a:off x="11704320" y="603504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11704320" y="618134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11704320" y="5157216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>
            <a:off x="11887200" y="5157216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2984480" y="5157216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13825728" y="5157216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14721840" y="5157216"/>
            <a:ext cx="0" cy="102412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TextBox 356"/>
          <p:cNvSpPr txBox="1"/>
          <p:nvPr/>
        </p:nvSpPr>
        <p:spPr>
          <a:xfrm>
            <a:off x="11731752" y="5157216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I-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11914632" y="5157216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INITIATOR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3011911" y="5157216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3853159" y="5157216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ACTION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11731752" y="5303520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1914632" y="5303520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TSHH-101 R-101 TEMP.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3011911" y="5303520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63 C, 10 s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3853159" y="5303520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1731752" y="5449824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1914632" y="5449824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PSHH-101 R-101 PRESS.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13011911" y="5449824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12.5 barg, 5 s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13853159" y="5449824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11731752" y="5596128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11914632" y="5596128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XS-101 AGITATOR STOP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3011911" y="5596128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REACTING, 15 s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3853159" y="5596128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1731752" y="5742432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11914632" y="5742432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FSLL-110 JACKET FLOW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3011911" y="5742432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&lt; 120 m3/h, 30 s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3853159" y="5742432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11731752" y="5888736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1914632" y="5888736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LSHH-100 R-101 LEVEL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3011911" y="5888736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94 %, 5 s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3853159" y="5888736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1731752" y="6035040"/>
            <a:ext cx="1371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1914632" y="6035040"/>
            <a:ext cx="10515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HS-001 ESD PUSHBUTTON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3011911" y="6035040"/>
            <a:ext cx="795528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3853159" y="6035040"/>
            <a:ext cx="850392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A + XV-108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1704320" y="6199632"/>
            <a:ext cx="30175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A = SHORT-STOP XV-104, CLOSE XV-101/102/103, FV-103 TO 0,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      FORCE TV-110B / FV-120 / FV-130 OPEN.  B = CLOSE XV-101/102, FV-103.</a:t>
            </a:r>
          </a:p>
        </p:txBody>
      </p:sp>
      <p:cxnSp>
        <p:nvCxnSpPr>
          <p:cNvPr id="386" name="Connector 385"/>
          <p:cNvCxnSpPr/>
          <p:nvPr/>
        </p:nvCxnSpPr>
        <p:spPr>
          <a:xfrm>
            <a:off x="11704320" y="651052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>
            <a:off x="11704320" y="665226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11704320" y="679399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>
            <a:off x="11704320" y="693572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>
            <a:off x="11704320" y="707745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11704320" y="721918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11704320" y="736092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11704320" y="750265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11704320" y="764438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11704320" y="6510528"/>
            <a:ext cx="0" cy="11338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13121640" y="6510528"/>
            <a:ext cx="0" cy="11338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14721840" y="6510528"/>
            <a:ext cx="0" cy="11338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TextBox 397"/>
          <p:cNvSpPr txBox="1"/>
          <p:nvPr/>
        </p:nvSpPr>
        <p:spPr>
          <a:xfrm>
            <a:off x="11731752" y="6510528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ITEM (OTS DESIGN POINT)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3149072" y="6510528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VALUE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1731752" y="6652260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WATER / VCM CHARGE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3149072" y="6652260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60 t (55 C) / 51 t (25 C)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1731752" y="6793992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REACTION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3149072" y="6793992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57.0 C, 8.6 barg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1731752" y="6935724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LEVEL / CONTENTS AT 2 h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3149072" y="6935724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83 % / 117.8 t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1731752" y="7077456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Q REACTION AT 2 h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3149072" y="7077456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2.71 MW (PEAK 3.43)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1731752" y="7219188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JACKET / BAFFLES / E-101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3149072" y="7219188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1.48 / 0.40 / 0.98 MW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1731752" y="7360920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END POINT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3149072" y="7360920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dP 1.8 bar, X 0.85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1731752" y="7502652"/>
            <a:ext cx="13716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PVC PER BATCH / TIME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3149072" y="7502652"/>
            <a:ext cx="155448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43.2 t / 5.3 h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457200" y="8659368"/>
            <a:ext cx="111556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GENERAL NOTES: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1. SEE PVC-PID-001 NOTES 1-3 FOR THE DESIGN BASIS AND RECIPE, NOTE 8 AND THE SIS TABLE FOR TRIPS. THIS SHEET SHOWS THE R-101 HEAT-REMOVAL SYSTEMS AND THE TEMPERATURE CONTROL.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2. JACKET: CLOSED TEMPERED-WATER LOOP, P-101A/B 470 m3/h (ONE RUNNING; B STARTED BY OPERATOR - AUTO-START TBC). CW 32 C INJECTED THROUGH TV-110B (FAIL OPEN) AND LP STEAM THROUGH TV-110A (FAIL CLOSED) + STEAM MIXER SM-101;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   THE SAME MASS SPILLS TO CWR THROUGH BACK-PRESSURE REGULATOR PCV-112 (LOOP 4 barg). FSLL-110 &lt; 120 m3/h FOR 30 s WHILE REACTING -&gt; SIS I-4 (SHORT-STOP).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3. TEMPERATURE CONTROL: TIC-100 (MASTER, R-101 CONTENTS; Kc 10, Ti 1500 s, Td 120 s) SETS TIC-110 (SLAVE, JACKET INLET; Kc 2, Ti 40 s). TY-110 SPLIT RANGE: OUTPUT 0 % = FULL STEAM, 50 % = BOTH SHUT, 100 % = FULL CW.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4. VPC-130 = VALVE-POSITION CONTROL: HOLDS TV-110B NEAR 50 % OPEN BY RESETTING FIC-130, SO THE JACKET KEEPS ITS TRIM MARGIN AND THE REFLUX CONDENSER TAKES THE GROWING LOAD. FIC-130 SP HIGH LIMIT = 12 m3/h PER % OF XI-100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   (ANTI-FOAM: TOO MUCH BOIL-UP BEFORE ~10 % CONVERSION CARRIES FOAM AND PVC INTO E-101).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5. BAFFLES: FOUR ADJUSTABLE WATER-COOLED BAFFLES (22 m2) ON ONCE-THROUGH CW, FIC-120 80 m3/h.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6. DESIGN DUTIES AT 2 h (X = 26 %): REACTION 2.71 MW + AGITATOR 0.29 MW = JACKET 1.48 + BAFFLES 0.40 + E-101 0.98 MW. PEAK REACTION 3.43 MW NEAR X = 0.7; THE JACKET ALONE (MAX ~1.8 MW) CANNOT CARRY IT - E-101 ADDS THE MISSING AREA.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7. CW SUPPLY 32 C (TROPICAL DESIGN). E-101 CW RETURN APPROACHES 55 C AT LOW FLOW: MINIMUM-FLOW / SCALING LIMIT TBC WITH THE CW TREATMENT VENDOR.</a:t>
            </a:r>
          </a:p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8. LINE SIZES AND MATERIALS PRELIMINARY - TBC BY PIPING. SERVICE CODES AS PVC-PID-001; LS = LP STEAM.</a:t>
            </a:r>
          </a:p>
        </p:txBody>
      </p:sp>
      <p:cxnSp>
        <p:nvCxnSpPr>
          <p:cNvPr id="415" name="Connector 414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11750040" y="89016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2" name="TextBox 421"/>
          <p:cNvSpPr txBox="1"/>
          <p:nvPr/>
        </p:nvSpPr>
        <p:spPr>
          <a:xfrm>
            <a:off x="11750040" y="8641080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12070080" y="8641080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4026896" y="8641080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1750040" y="8901684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2070080" y="8901684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ISSUED FOR OTS DEVELOPMENT (REVIEW)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4026896" y="8901684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25-SEP-26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9" name="Connector 428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2" name="TextBox 431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CHULA CHEM. ENG. - PVC REACTOR VER 1 (OTS)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- R-101 HEAT REMOVAL: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JACKET, BAFFLES, E-101 CW</a:t>
            </a:r>
          </a:p>
        </p:txBody>
      </p:sp>
      <p:cxnSp>
        <p:nvCxnSpPr>
          <p:cNvPr id="434" name="Connector 433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TextBox 436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DRAWN: APINAN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SOOTTITANTAWAT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25-SEP-26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PVC-PID-002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