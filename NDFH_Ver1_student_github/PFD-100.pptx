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252000"/>
            <a:ext cx="10188000" cy="7056000"/>
          </a:xfrm>
          <a:prstGeom prst="rect">
            <a:avLst/>
          </a:prstGeom>
          <a:noFill/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63" y="328030"/>
            <a:ext cx="315874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TK-101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495" y="393968"/>
            <a:ext cx="41981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Feed Tank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95" y="328030"/>
            <a:ext cx="41981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P-100 A/B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9972" y="393968"/>
            <a:ext cx="454456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Feed Pumps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5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E-100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9481" y="393968"/>
            <a:ext cx="59303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Feed Preheater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141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H-100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0407" y="393968"/>
            <a:ext cx="1008786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Natural-Draft Fired Heater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229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F-100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5112" y="393968"/>
            <a:ext cx="696975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Air Intake Screen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509877"/>
            <a:ext cx="10188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4" name="Rectangle 13"/>
          <p:cNvSpPr/>
          <p:nvPr/>
        </p:nvSpPr>
        <p:spPr>
          <a:xfrm>
            <a:off x="7056000" y="6192000"/>
            <a:ext cx="3384000" cy="11160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056000" y="6357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7056000" y="6753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7056000" y="7005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7128000" y="6222817"/>
            <a:ext cx="2011933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NATURAL DRAFT FIRED HEATER VER 1 · OPERATOR TRAINING SIMULATOR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316" y="6432180"/>
            <a:ext cx="1147368" cy="1676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000000"/>
                </a:solidFill>
                <a:latin typeface="Arial"/>
              </a:rPr>
              <a:t>PROCESS FLOW DIAGRAM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3136" y="6616400"/>
            <a:ext cx="2249728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000000"/>
                </a:solidFill>
                <a:latin typeface="Arial"/>
              </a:rPr>
              <a:t>H-100 NATURAL-DRAFT FIRED HEATER — FEED PREHEAT AND HEATING TO V-200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6400" y="6779122"/>
            <a:ext cx="393826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DRAWING No.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6400" y="6878390"/>
            <a:ext cx="339496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PFD-100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7728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8527680" y="6779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REV.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7680" y="6878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8640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9136800" y="6779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6800" y="6878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A4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2784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9678240" y="6779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SHEET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8240" y="6878390"/>
            <a:ext cx="306425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1 OF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6400" y="7031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DRAWN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06400" y="7130390"/>
            <a:ext cx="802487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Apinan Soottitantawat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7728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8527680" y="7031122"/>
            <a:ext cx="289889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CHECKED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7680" y="7130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08640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9136800" y="7031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SCALE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36800" y="7130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NTS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62784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9678240" y="7031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8240" y="7130390"/>
            <a:ext cx="438708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2026-09-28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2000" y="6292800"/>
            <a:ext cx="6768000" cy="10152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4000" y="6350195"/>
            <a:ext cx="325322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sp>
        <p:nvSpPr>
          <p:cNvPr id="45" name="Freeform 44"/>
          <p:cNvSpPr/>
          <p:nvPr/>
        </p:nvSpPr>
        <p:spPr>
          <a:xfrm>
            <a:off x="324000" y="6501472"/>
            <a:ext cx="288000" cy="115200"/>
          </a:xfrm>
          <a:custGeom>
            <a:avLst/>
            <a:gdLst/>
            <a:ahLst/>
            <a:cxnLst/>
            <a:rect l="l" t="t" r="r" b="b"/>
            <a:pathLst>
              <a:path w="288000" h="115200">
                <a:moveTo>
                  <a:pt x="68400" y="0"/>
                </a:moveTo>
                <a:lnTo>
                  <a:pt x="288000" y="0"/>
                </a:lnTo>
                <a:lnTo>
                  <a:pt x="2196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8000" y="65120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Mass Flow (kg/h)</a:t>
            </a:r>
          </a:p>
        </p:txBody>
      </p:sp>
      <p:sp>
        <p:nvSpPr>
          <p:cNvPr id="48" name="Freeform 47"/>
          <p:cNvSpPr/>
          <p:nvPr/>
        </p:nvSpPr>
        <p:spPr>
          <a:xfrm>
            <a:off x="1674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0" y="0"/>
                </a:moveTo>
                <a:lnTo>
                  <a:pt x="252000" y="0"/>
                </a:lnTo>
                <a:lnTo>
                  <a:pt x="2520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92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80000" y="65120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Temperature (°C)</a:t>
            </a:r>
          </a:p>
        </p:txBody>
      </p:sp>
      <p:sp>
        <p:nvSpPr>
          <p:cNvPr id="51" name="Freeform 50"/>
          <p:cNvSpPr/>
          <p:nvPr/>
        </p:nvSpPr>
        <p:spPr>
          <a:xfrm>
            <a:off x="3006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50400" y="0"/>
                </a:moveTo>
                <a:lnTo>
                  <a:pt x="201600" y="0"/>
                </a:lnTo>
                <a:lnTo>
                  <a:pt x="2520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24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12000" y="65120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Pressure (kPa g)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334400" y="6559072"/>
            <a:ext cx="259200" cy="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4644000" y="65120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Process Line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666400" y="6559072"/>
            <a:ext cx="259200" cy="0"/>
          </a:xfrm>
          <a:prstGeom prst="line">
            <a:avLst/>
          </a:prstGeom>
          <a:ln w="6480">
            <a:solidFill>
              <a:srgbClr val="000000"/>
            </a:solidFill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5976000" y="65120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Utility Line</a:t>
            </a:r>
          </a:p>
        </p:txBody>
      </p:sp>
      <p:sp>
        <p:nvSpPr>
          <p:cNvPr id="58" name="Freeform 57"/>
          <p:cNvSpPr/>
          <p:nvPr/>
        </p:nvSpPr>
        <p:spPr>
          <a:xfrm>
            <a:off x="3852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680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 flipV="1">
            <a:off x="468000" y="6668152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61" name="Freeform 60"/>
          <p:cNvSpPr/>
          <p:nvPr/>
        </p:nvSpPr>
        <p:spPr>
          <a:xfrm>
            <a:off x="429120" y="6613720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8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Control Valve</a:t>
            </a:r>
          </a:p>
        </p:txBody>
      </p:sp>
      <p:sp>
        <p:nvSpPr>
          <p:cNvPr id="63" name="Oval 62"/>
          <p:cNvSpPr/>
          <p:nvPr/>
        </p:nvSpPr>
        <p:spPr>
          <a:xfrm>
            <a:off x="1735200" y="6760672"/>
            <a:ext cx="129600" cy="129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735200" y="6760672"/>
            <a:ext cx="64800" cy="129600"/>
          </a:xfrm>
          <a:custGeom>
            <a:avLst/>
            <a:gdLst/>
            <a:ahLst/>
            <a:cxnLst/>
            <a:rect l="l" t="t" r="r" b="b"/>
            <a:pathLst>
              <a:path w="64800" h="129600">
                <a:moveTo>
                  <a:pt x="64800" y="64800"/>
                </a:moveTo>
                <a:lnTo>
                  <a:pt x="64800" y="129600"/>
                </a:lnTo>
                <a:lnTo>
                  <a:pt x="56342" y="129046"/>
                </a:lnTo>
                <a:lnTo>
                  <a:pt x="48029" y="127392"/>
                </a:lnTo>
                <a:lnTo>
                  <a:pt x="40002" y="124667"/>
                </a:lnTo>
                <a:lnTo>
                  <a:pt x="32400" y="120918"/>
                </a:lnTo>
                <a:lnTo>
                  <a:pt x="25352" y="116209"/>
                </a:lnTo>
                <a:lnTo>
                  <a:pt x="18979" y="110621"/>
                </a:lnTo>
                <a:lnTo>
                  <a:pt x="13391" y="104248"/>
                </a:lnTo>
                <a:lnTo>
                  <a:pt x="8682" y="97200"/>
                </a:lnTo>
                <a:lnTo>
                  <a:pt x="4933" y="89598"/>
                </a:lnTo>
                <a:lnTo>
                  <a:pt x="2208" y="81571"/>
                </a:lnTo>
                <a:lnTo>
                  <a:pt x="554" y="73258"/>
                </a:lnTo>
                <a:lnTo>
                  <a:pt x="0" y="64800"/>
                </a:lnTo>
                <a:lnTo>
                  <a:pt x="554" y="56342"/>
                </a:lnTo>
                <a:lnTo>
                  <a:pt x="2208" y="48029"/>
                </a:lnTo>
                <a:lnTo>
                  <a:pt x="4933" y="40002"/>
                </a:lnTo>
                <a:lnTo>
                  <a:pt x="8682" y="32400"/>
                </a:lnTo>
                <a:lnTo>
                  <a:pt x="13391" y="25352"/>
                </a:lnTo>
                <a:lnTo>
                  <a:pt x="18979" y="18979"/>
                </a:lnTo>
                <a:lnTo>
                  <a:pt x="25352" y="13391"/>
                </a:lnTo>
                <a:lnTo>
                  <a:pt x="32400" y="8682"/>
                </a:lnTo>
                <a:lnTo>
                  <a:pt x="40002" y="4933"/>
                </a:lnTo>
                <a:lnTo>
                  <a:pt x="48029" y="2208"/>
                </a:lnTo>
                <a:lnTo>
                  <a:pt x="56342" y="554"/>
                </a:lnTo>
                <a:lnTo>
                  <a:pt x="64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80000" y="6778482"/>
            <a:ext cx="748944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Process Input / Output</a:t>
            </a:r>
          </a:p>
        </p:txBody>
      </p:sp>
      <p:sp>
        <p:nvSpPr>
          <p:cNvPr id="66" name="Freeform 65"/>
          <p:cNvSpPr/>
          <p:nvPr/>
        </p:nvSpPr>
        <p:spPr>
          <a:xfrm>
            <a:off x="3045600" y="6739072"/>
            <a:ext cx="172800" cy="172800"/>
          </a:xfrm>
          <a:custGeom>
            <a:avLst/>
            <a:gdLst/>
            <a:ahLst/>
            <a:cxnLst/>
            <a:rect l="l" t="t" r="r" b="b"/>
            <a:pathLst>
              <a:path w="172800" h="172800">
                <a:moveTo>
                  <a:pt x="86400" y="0"/>
                </a:moveTo>
                <a:lnTo>
                  <a:pt x="172800" y="86400"/>
                </a:lnTo>
                <a:lnTo>
                  <a:pt x="86400" y="172800"/>
                </a:lnTo>
                <a:lnTo>
                  <a:pt x="0" y="864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24000" y="6756892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12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Stream Number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4334400" y="6825472"/>
            <a:ext cx="259200" cy="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>
            <a:off x="4464000" y="6717472"/>
            <a:ext cx="0" cy="6120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4464000" y="6872272"/>
            <a:ext cx="0" cy="6120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sp>
        <p:nvSpPr>
          <p:cNvPr id="72" name="TextBox 71"/>
          <p:cNvSpPr txBox="1"/>
          <p:nvPr/>
        </p:nvSpPr>
        <p:spPr>
          <a:xfrm>
            <a:off x="4644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Line Crossing</a:t>
            </a:r>
          </a:p>
        </p:txBody>
      </p:sp>
      <p:sp>
        <p:nvSpPr>
          <p:cNvPr id="73" name="Freeform 72"/>
          <p:cNvSpPr/>
          <p:nvPr/>
        </p:nvSpPr>
        <p:spPr>
          <a:xfrm>
            <a:off x="5680800" y="6749872"/>
            <a:ext cx="230400" cy="151200"/>
          </a:xfrm>
          <a:custGeom>
            <a:avLst/>
            <a:gdLst/>
            <a:ahLst/>
            <a:cxnLst/>
            <a:rect l="l" t="t" r="r" b="b"/>
            <a:pathLst>
              <a:path w="230400" h="151200">
                <a:moveTo>
                  <a:pt x="0" y="18144"/>
                </a:moveTo>
                <a:lnTo>
                  <a:pt x="115200" y="0"/>
                </a:lnTo>
                <a:lnTo>
                  <a:pt x="230400" y="18144"/>
                </a:lnTo>
                <a:lnTo>
                  <a:pt x="230400" y="151200"/>
                </a:lnTo>
                <a:lnTo>
                  <a:pt x="0" y="1512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76000" y="67784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Storage Tank</a:t>
            </a:r>
          </a:p>
        </p:txBody>
      </p:sp>
      <p:sp>
        <p:nvSpPr>
          <p:cNvPr id="75" name="Oval 74"/>
          <p:cNvSpPr/>
          <p:nvPr/>
        </p:nvSpPr>
        <p:spPr>
          <a:xfrm>
            <a:off x="408384" y="7010728"/>
            <a:ext cx="119232" cy="119232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408384" y="7070344"/>
            <a:ext cx="59616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 flipH="1">
            <a:off x="399442" y="7116844"/>
            <a:ext cx="31596" cy="45905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>
            <a:off x="504962" y="7116844"/>
            <a:ext cx="31596" cy="45905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>
            <a:off x="393480" y="7162749"/>
            <a:ext cx="14904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80" name="TextBox 79"/>
          <p:cNvSpPr txBox="1"/>
          <p:nvPr/>
        </p:nvSpPr>
        <p:spPr>
          <a:xfrm>
            <a:off x="648000" y="70448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Centrifugal Pump</a:t>
            </a:r>
          </a:p>
        </p:txBody>
      </p:sp>
      <p:sp>
        <p:nvSpPr>
          <p:cNvPr id="81" name="Oval 80"/>
          <p:cNvSpPr/>
          <p:nvPr/>
        </p:nvSpPr>
        <p:spPr>
          <a:xfrm>
            <a:off x="1710000" y="7001872"/>
            <a:ext cx="180000" cy="180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1758600" y="7045072"/>
            <a:ext cx="82800" cy="93600"/>
          </a:xfrm>
          <a:custGeom>
            <a:avLst/>
            <a:gdLst/>
            <a:ahLst/>
            <a:cxnLst/>
            <a:rect l="l" t="t" r="r" b="b"/>
            <a:pathLst>
              <a:path w="82800" h="93600">
                <a:moveTo>
                  <a:pt x="41400" y="0"/>
                </a:moveTo>
                <a:lnTo>
                  <a:pt x="82800" y="18720"/>
                </a:lnTo>
                <a:lnTo>
                  <a:pt x="0" y="46800"/>
                </a:lnTo>
                <a:lnTo>
                  <a:pt x="82800" y="74880"/>
                </a:lnTo>
                <a:lnTo>
                  <a:pt x="41400" y="9360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980000" y="7044882"/>
            <a:ext cx="515873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Heat Exchanger</a:t>
            </a:r>
          </a:p>
        </p:txBody>
      </p:sp>
      <p:sp>
        <p:nvSpPr>
          <p:cNvPr id="84" name="Freeform 83"/>
          <p:cNvSpPr/>
          <p:nvPr/>
        </p:nvSpPr>
        <p:spPr>
          <a:xfrm>
            <a:off x="3031200" y="6980272"/>
            <a:ext cx="201600" cy="223200"/>
          </a:xfrm>
          <a:custGeom>
            <a:avLst/>
            <a:gdLst/>
            <a:ahLst/>
            <a:cxnLst/>
            <a:rect l="l" t="t" r="r" b="b"/>
            <a:pathLst>
              <a:path w="201600" h="223200">
                <a:moveTo>
                  <a:pt x="0" y="223200"/>
                </a:moveTo>
                <a:lnTo>
                  <a:pt x="201600" y="223200"/>
                </a:lnTo>
                <a:lnTo>
                  <a:pt x="201600" y="116064"/>
                </a:lnTo>
                <a:lnTo>
                  <a:pt x="129024" y="73656"/>
                </a:lnTo>
                <a:lnTo>
                  <a:pt x="129024" y="0"/>
                </a:lnTo>
                <a:lnTo>
                  <a:pt x="72576" y="0"/>
                </a:lnTo>
                <a:lnTo>
                  <a:pt x="72576" y="73656"/>
                </a:lnTo>
                <a:lnTo>
                  <a:pt x="0" y="116064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3031200" y="7118656"/>
            <a:ext cx="201600" cy="53568"/>
          </a:xfrm>
          <a:custGeom>
            <a:avLst/>
            <a:gdLst/>
            <a:ahLst/>
            <a:cxnLst/>
            <a:rect l="l" t="t" r="r" b="b"/>
            <a:pathLst>
              <a:path w="201600" h="53568">
                <a:moveTo>
                  <a:pt x="0" y="53568"/>
                </a:moveTo>
                <a:lnTo>
                  <a:pt x="173376" y="53568"/>
                </a:lnTo>
                <a:lnTo>
                  <a:pt x="28224" y="0"/>
                </a:lnTo>
                <a:lnTo>
                  <a:pt x="201600" y="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312000" y="70448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Fired Heater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366800" y="7016272"/>
            <a:ext cx="194400" cy="1512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 flipV="1">
            <a:off x="4366800" y="7016272"/>
            <a:ext cx="194400" cy="1512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89" name="TextBox 88"/>
          <p:cNvSpPr txBox="1"/>
          <p:nvPr/>
        </p:nvSpPr>
        <p:spPr>
          <a:xfrm>
            <a:off x="4644000" y="7044882"/>
            <a:ext cx="282803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Filter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52000" y="5580000"/>
            <a:ext cx="3348000" cy="6768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4000" y="5637395"/>
            <a:ext cx="470204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COMBUSTION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24000" y="5733089"/>
            <a:ext cx="998549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Fuel oil ~CH1.8, LHV 42 MJ/kg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4000" y="5825384"/>
            <a:ext cx="1244218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Air ratio 1.11 (11 % excess), O2 ~2 %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24000" y="5917679"/>
            <a:ext cx="1029258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Fired 2.84 MW; stack loss 17 %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636000" y="5580000"/>
            <a:ext cx="3348000" cy="6768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708000" y="5637395"/>
            <a:ext cx="289102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708000" y="5733089"/>
            <a:ext cx="1981225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1. Flows in kg/h; temperatures in °C; pressures in kPa gauge.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708000" y="5825384"/>
            <a:ext cx="2841065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2. Design case: feed 6.8 L/s (0.80 kg/L), duty 2.31 MW absorbed, efficiency 81.5 % (LHV).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708000" y="5917679"/>
            <a:ext cx="2626105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3. Natural draft: no fan. Air drawn in through intake screen F-100 by stack draft.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708000" y="6009974"/>
            <a:ext cx="2933191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4. Only the control valves that define the process are shown; see the P&amp;ID tab for the rest.</a:t>
            </a:r>
          </a:p>
        </p:txBody>
      </p:sp>
      <p:sp>
        <p:nvSpPr>
          <p:cNvPr id="101" name="Freeform 100"/>
          <p:cNvSpPr/>
          <p:nvPr/>
        </p:nvSpPr>
        <p:spPr>
          <a:xfrm>
            <a:off x="1044000" y="2558585"/>
            <a:ext cx="936000" cy="498830"/>
          </a:xfrm>
          <a:custGeom>
            <a:avLst/>
            <a:gdLst/>
            <a:ahLst/>
            <a:cxnLst/>
            <a:rect l="l" t="t" r="r" b="b"/>
            <a:pathLst>
              <a:path w="936000" h="498830">
                <a:moveTo>
                  <a:pt x="0" y="59859"/>
                </a:moveTo>
                <a:lnTo>
                  <a:pt x="468000" y="0"/>
                </a:lnTo>
                <a:lnTo>
                  <a:pt x="936000" y="59859"/>
                </a:lnTo>
                <a:lnTo>
                  <a:pt x="936000" y="498830"/>
                </a:lnTo>
                <a:lnTo>
                  <a:pt x="0" y="49883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2534400" y="3855600"/>
            <a:ext cx="259200" cy="2592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2534400" y="398520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04" name="Connector 103"/>
          <p:cNvCxnSpPr/>
          <p:nvPr/>
        </p:nvCxnSpPr>
        <p:spPr>
          <a:xfrm flipH="1">
            <a:off x="2514960" y="4086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05" name="Connector 104"/>
          <p:cNvCxnSpPr/>
          <p:nvPr/>
        </p:nvCxnSpPr>
        <p:spPr>
          <a:xfrm>
            <a:off x="2744352" y="4086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06" name="Connector 105"/>
          <p:cNvCxnSpPr/>
          <p:nvPr/>
        </p:nvCxnSpPr>
        <p:spPr>
          <a:xfrm>
            <a:off x="2502000" y="4186080"/>
            <a:ext cx="32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07" name="Oval 106"/>
          <p:cNvSpPr/>
          <p:nvPr/>
        </p:nvSpPr>
        <p:spPr>
          <a:xfrm>
            <a:off x="4086000" y="3870000"/>
            <a:ext cx="324000" cy="324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4173480" y="3947760"/>
            <a:ext cx="149040" cy="168480"/>
          </a:xfrm>
          <a:custGeom>
            <a:avLst/>
            <a:gdLst/>
            <a:ahLst/>
            <a:cxnLst/>
            <a:rect l="l" t="t" r="r" b="b"/>
            <a:pathLst>
              <a:path w="149040" h="168480">
                <a:moveTo>
                  <a:pt x="74520" y="0"/>
                </a:moveTo>
                <a:lnTo>
                  <a:pt x="149040" y="33696"/>
                </a:lnTo>
                <a:lnTo>
                  <a:pt x="0" y="84240"/>
                </a:lnTo>
                <a:lnTo>
                  <a:pt x="149040" y="134784"/>
                </a:lnTo>
                <a:lnTo>
                  <a:pt x="74520" y="16848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4248000" y="387000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 flipV="1">
            <a:off x="4248000" y="411624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11" name="Freeform 110"/>
          <p:cNvSpPr/>
          <p:nvPr/>
        </p:nvSpPr>
        <p:spPr>
          <a:xfrm>
            <a:off x="6823807" y="2419754"/>
            <a:ext cx="464386" cy="1496492"/>
          </a:xfrm>
          <a:custGeom>
            <a:avLst/>
            <a:gdLst/>
            <a:ahLst/>
            <a:cxnLst/>
            <a:rect l="l" t="t" r="r" b="b"/>
            <a:pathLst>
              <a:path w="464386" h="1496492">
                <a:moveTo>
                  <a:pt x="0" y="1496492"/>
                </a:moveTo>
                <a:lnTo>
                  <a:pt x="464386" y="1496492"/>
                </a:lnTo>
                <a:lnTo>
                  <a:pt x="464386" y="778176"/>
                </a:lnTo>
                <a:lnTo>
                  <a:pt x="297207" y="493842"/>
                </a:lnTo>
                <a:lnTo>
                  <a:pt x="297207" y="0"/>
                </a:lnTo>
                <a:lnTo>
                  <a:pt x="167179" y="0"/>
                </a:lnTo>
                <a:lnTo>
                  <a:pt x="167179" y="493842"/>
                </a:lnTo>
                <a:lnTo>
                  <a:pt x="0" y="778176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6823807" y="3347579"/>
            <a:ext cx="464386" cy="359158"/>
          </a:xfrm>
          <a:custGeom>
            <a:avLst/>
            <a:gdLst/>
            <a:ahLst/>
            <a:cxnLst/>
            <a:rect l="l" t="t" r="r" b="b"/>
            <a:pathLst>
              <a:path w="464386" h="359158">
                <a:moveTo>
                  <a:pt x="0" y="359158"/>
                </a:moveTo>
                <a:lnTo>
                  <a:pt x="399372" y="359158"/>
                </a:lnTo>
                <a:lnTo>
                  <a:pt x="65014" y="0"/>
                </a:lnTo>
                <a:lnTo>
                  <a:pt x="464386" y="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198400" y="5097600"/>
            <a:ext cx="403200" cy="3168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4" name="Connector 113"/>
          <p:cNvCxnSpPr/>
          <p:nvPr/>
        </p:nvCxnSpPr>
        <p:spPr>
          <a:xfrm flipV="1">
            <a:off x="5198400" y="5097600"/>
            <a:ext cx="403200" cy="3168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15" name="Oval 114"/>
          <p:cNvSpPr/>
          <p:nvPr/>
        </p:nvSpPr>
        <p:spPr>
          <a:xfrm>
            <a:off x="4165200" y="3085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165200" y="3085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165200" y="4885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4165200" y="4885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9694800" y="3254400"/>
            <a:ext cx="540000" cy="187200"/>
          </a:xfrm>
          <a:custGeom>
            <a:avLst/>
            <a:gdLst/>
            <a:ahLst/>
            <a:cxnLst/>
            <a:rect l="l" t="t" r="r" b="b"/>
            <a:pathLst>
              <a:path w="540000" h="187200">
                <a:moveTo>
                  <a:pt x="0" y="0"/>
                </a:moveTo>
                <a:lnTo>
                  <a:pt x="437040" y="0"/>
                </a:lnTo>
                <a:lnTo>
                  <a:pt x="540000" y="93600"/>
                </a:lnTo>
                <a:lnTo>
                  <a:pt x="437040" y="187200"/>
                </a:lnTo>
                <a:lnTo>
                  <a:pt x="0" y="1872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824186" y="329212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V-200</a:t>
            </a:r>
          </a:p>
        </p:txBody>
      </p:sp>
      <p:sp>
        <p:nvSpPr>
          <p:cNvPr id="121" name="Oval 120"/>
          <p:cNvSpPr/>
          <p:nvPr/>
        </p:nvSpPr>
        <p:spPr>
          <a:xfrm>
            <a:off x="10069200" y="5173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10069200" y="5173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57200" y="5173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457200" y="5173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0069200" y="997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10069200" y="997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57200" y="2797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457200" y="2797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622800" y="2857883"/>
            <a:ext cx="421200" cy="22117"/>
          </a:xfrm>
          <a:custGeom>
            <a:avLst/>
            <a:gdLst/>
            <a:ahLst/>
            <a:cxnLst/>
            <a:rect l="l" t="t" r="r" b="b"/>
            <a:pathLst>
              <a:path w="421200" h="22117">
                <a:moveTo>
                  <a:pt x="0" y="22117"/>
                </a:moveTo>
                <a:lnTo>
                  <a:pt x="241200" y="22117"/>
                </a:lnTo>
                <a:lnTo>
                  <a:pt x="241200" y="0"/>
                </a:lnTo>
                <a:lnTo>
                  <a:pt x="4212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950400" y="2824763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743658" y="2779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36458" y="2811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33" name="Freeform 132"/>
          <p:cNvSpPr/>
          <p:nvPr/>
        </p:nvSpPr>
        <p:spPr>
          <a:xfrm>
            <a:off x="1512000" y="3057415"/>
            <a:ext cx="1022400" cy="927785"/>
          </a:xfrm>
          <a:custGeom>
            <a:avLst/>
            <a:gdLst/>
            <a:ahLst/>
            <a:cxnLst/>
            <a:rect l="l" t="t" r="r" b="b"/>
            <a:pathLst>
              <a:path w="1022400" h="927785">
                <a:moveTo>
                  <a:pt x="0" y="0"/>
                </a:moveTo>
                <a:lnTo>
                  <a:pt x="0" y="927785"/>
                </a:lnTo>
                <a:lnTo>
                  <a:pt x="1022400" y="927785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2440800" y="39520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1458508" y="38844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451308" y="39166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137" name="Connector 136"/>
          <p:cNvCxnSpPr/>
          <p:nvPr/>
        </p:nvCxnSpPr>
        <p:spPr>
          <a:xfrm flipH="1">
            <a:off x="1382400" y="373998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38" name="Freeform 137"/>
          <p:cNvSpPr/>
          <p:nvPr/>
        </p:nvSpPr>
        <p:spPr>
          <a:xfrm>
            <a:off x="1054800" y="352938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86986" y="354370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19584</a:t>
            </a:r>
          </a:p>
        </p:txBody>
      </p:sp>
      <p:sp>
        <p:nvSpPr>
          <p:cNvPr id="140" name="Freeform 139"/>
          <p:cNvSpPr/>
          <p:nvPr/>
        </p:nvSpPr>
        <p:spPr>
          <a:xfrm>
            <a:off x="1072800" y="366978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119600" y="368410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142" name="Freeform 141"/>
          <p:cNvSpPr/>
          <p:nvPr/>
        </p:nvSpPr>
        <p:spPr>
          <a:xfrm>
            <a:off x="1072800" y="381018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119600" y="382450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144" name="Freeform 143"/>
          <p:cNvSpPr/>
          <p:nvPr/>
        </p:nvSpPr>
        <p:spPr>
          <a:xfrm>
            <a:off x="2793600" y="3985200"/>
            <a:ext cx="1292400" cy="46800"/>
          </a:xfrm>
          <a:custGeom>
            <a:avLst/>
            <a:gdLst/>
            <a:ahLst/>
            <a:cxnLst/>
            <a:rect l="l" t="t" r="r" b="b"/>
            <a:pathLst>
              <a:path w="1292400" h="46800">
                <a:moveTo>
                  <a:pt x="0" y="0"/>
                </a:moveTo>
                <a:lnTo>
                  <a:pt x="662400" y="0"/>
                </a:lnTo>
                <a:lnTo>
                  <a:pt x="662400" y="46800"/>
                </a:lnTo>
                <a:lnTo>
                  <a:pt x="1292400" y="468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3992400" y="3998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3355200" y="38916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348000" y="39238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cxnSp>
        <p:nvCxnSpPr>
          <p:cNvPr id="148" name="Connector 147"/>
          <p:cNvCxnSpPr/>
          <p:nvPr/>
        </p:nvCxnSpPr>
        <p:spPr>
          <a:xfrm flipV="1">
            <a:off x="3262320" y="38556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49" name="Freeform 148"/>
          <p:cNvSpPr/>
          <p:nvPr/>
        </p:nvSpPr>
        <p:spPr>
          <a:xfrm>
            <a:off x="3107520" y="37152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139029" y="37295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1030</a:t>
            </a:r>
          </a:p>
        </p:txBody>
      </p:sp>
      <p:sp>
        <p:nvSpPr>
          <p:cNvPr id="151" name="Freeform 150"/>
          <p:cNvSpPr/>
          <p:nvPr/>
        </p:nvSpPr>
        <p:spPr>
          <a:xfrm>
            <a:off x="4410000" y="3706737"/>
            <a:ext cx="2413807" cy="325263"/>
          </a:xfrm>
          <a:custGeom>
            <a:avLst/>
            <a:gdLst/>
            <a:ahLst/>
            <a:cxnLst/>
            <a:rect l="l" t="t" r="r" b="b"/>
            <a:pathLst>
              <a:path w="2413807" h="325263">
                <a:moveTo>
                  <a:pt x="0" y="325263"/>
                </a:moveTo>
                <a:lnTo>
                  <a:pt x="1206000" y="325263"/>
                </a:lnTo>
                <a:lnTo>
                  <a:pt x="1206000" y="0"/>
                </a:lnTo>
                <a:lnTo>
                  <a:pt x="2413807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6730207" y="3673617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5285874" y="3967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5368674" y="3967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5" name="Connector 154"/>
          <p:cNvCxnSpPr/>
          <p:nvPr/>
        </p:nvCxnSpPr>
        <p:spPr>
          <a:xfrm flipV="1">
            <a:off x="5368674" y="3874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56" name="Freeform 155"/>
          <p:cNvSpPr/>
          <p:nvPr/>
        </p:nvSpPr>
        <p:spPr>
          <a:xfrm>
            <a:off x="5329794" y="3820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5846505" y="3605937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839305" y="3638157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159" name="Connector 158"/>
          <p:cNvCxnSpPr/>
          <p:nvPr/>
        </p:nvCxnSpPr>
        <p:spPr>
          <a:xfrm flipV="1">
            <a:off x="5368674" y="3902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60" name="Freeform 159"/>
          <p:cNvSpPr/>
          <p:nvPr/>
        </p:nvSpPr>
        <p:spPr>
          <a:xfrm>
            <a:off x="5195874" y="36216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228060" y="363592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19584</a:t>
            </a:r>
          </a:p>
        </p:txBody>
      </p:sp>
      <p:sp>
        <p:nvSpPr>
          <p:cNvPr id="162" name="Freeform 161"/>
          <p:cNvSpPr/>
          <p:nvPr/>
        </p:nvSpPr>
        <p:spPr>
          <a:xfrm>
            <a:off x="5213874" y="3762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260674" y="3776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  <p:sp>
        <p:nvSpPr>
          <p:cNvPr id="164" name="Freeform 163"/>
          <p:cNvSpPr/>
          <p:nvPr/>
        </p:nvSpPr>
        <p:spPr>
          <a:xfrm>
            <a:off x="7288193" y="3347579"/>
            <a:ext cx="2406607" cy="421"/>
          </a:xfrm>
          <a:custGeom>
            <a:avLst/>
            <a:gdLst/>
            <a:ahLst/>
            <a:cxnLst/>
            <a:rect l="l" t="t" r="r" b="b"/>
            <a:pathLst>
              <a:path w="2406607" h="421">
                <a:moveTo>
                  <a:pt x="0" y="0"/>
                </a:moveTo>
                <a:lnTo>
                  <a:pt x="2406607" y="421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9601194" y="3314864"/>
            <a:ext cx="93606" cy="66240"/>
          </a:xfrm>
          <a:custGeom>
            <a:avLst/>
            <a:gdLst/>
            <a:ahLst/>
            <a:cxnLst/>
            <a:rect l="l" t="t" r="r" b="b"/>
            <a:pathLst>
              <a:path w="93606" h="66240">
                <a:moveTo>
                  <a:pt x="93606" y="33136"/>
                </a:moveTo>
                <a:lnTo>
                  <a:pt x="0" y="66240"/>
                </a:lnTo>
                <a:lnTo>
                  <a:pt x="12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8390697" y="324699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8383497" y="327921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cxnSp>
        <p:nvCxnSpPr>
          <p:cNvPr id="168" name="Connector 167"/>
          <p:cNvCxnSpPr/>
          <p:nvPr/>
        </p:nvCxnSpPr>
        <p:spPr>
          <a:xfrm flipV="1">
            <a:off x="8130505" y="3218126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69" name="Freeform 168"/>
          <p:cNvSpPr/>
          <p:nvPr/>
        </p:nvSpPr>
        <p:spPr>
          <a:xfrm>
            <a:off x="7975705" y="2937326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8022505" y="2951646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350</a:t>
            </a:r>
          </a:p>
        </p:txBody>
      </p:sp>
      <p:sp>
        <p:nvSpPr>
          <p:cNvPr id="171" name="Freeform 170"/>
          <p:cNvSpPr/>
          <p:nvPr/>
        </p:nvSpPr>
        <p:spPr>
          <a:xfrm>
            <a:off x="7975705" y="3077726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022505" y="3092046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545</a:t>
            </a:r>
          </a:p>
        </p:txBody>
      </p:sp>
      <p:sp>
        <p:nvSpPr>
          <p:cNvPr id="173" name="Freeform 172"/>
          <p:cNvSpPr/>
          <p:nvPr/>
        </p:nvSpPr>
        <p:spPr>
          <a:xfrm>
            <a:off x="7158165" y="3916246"/>
            <a:ext cx="2911035" cy="1339754"/>
          </a:xfrm>
          <a:custGeom>
            <a:avLst/>
            <a:gdLst/>
            <a:ahLst/>
            <a:cxnLst/>
            <a:rect l="l" t="t" r="r" b="b"/>
            <a:pathLst>
              <a:path w="2911035" h="1339754">
                <a:moveTo>
                  <a:pt x="2911035" y="1339754"/>
                </a:moveTo>
                <a:lnTo>
                  <a:pt x="0" y="1339754"/>
                </a:ln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7125045" y="3916246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0"/>
                </a:moveTo>
                <a:lnTo>
                  <a:pt x="66240" y="93600"/>
                </a:lnTo>
                <a:lnTo>
                  <a:pt x="0" y="9360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8711163" y="5191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8793963" y="5191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7" name="Connector 176"/>
          <p:cNvCxnSpPr/>
          <p:nvPr/>
        </p:nvCxnSpPr>
        <p:spPr>
          <a:xfrm flipV="1">
            <a:off x="8793963" y="5098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78" name="Freeform 177"/>
          <p:cNvSpPr/>
          <p:nvPr/>
        </p:nvSpPr>
        <p:spPr>
          <a:xfrm>
            <a:off x="8755083" y="5044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7843005" y="5155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835805" y="5187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cxnSp>
        <p:nvCxnSpPr>
          <p:cNvPr id="181" name="Connector 180"/>
          <p:cNvCxnSpPr/>
          <p:nvPr/>
        </p:nvCxnSpPr>
        <p:spPr>
          <a:xfrm flipV="1">
            <a:off x="8581424" y="5126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82" name="Freeform 181"/>
          <p:cNvSpPr/>
          <p:nvPr/>
        </p:nvSpPr>
        <p:spPr>
          <a:xfrm>
            <a:off x="8408624" y="49860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473424" y="5000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243</a:t>
            </a:r>
          </a:p>
        </p:txBody>
      </p:sp>
      <p:sp>
        <p:nvSpPr>
          <p:cNvPr id="184" name="Freeform 183"/>
          <p:cNvSpPr/>
          <p:nvPr/>
        </p:nvSpPr>
        <p:spPr>
          <a:xfrm>
            <a:off x="622800" y="5256000"/>
            <a:ext cx="4575600" cy="0"/>
          </a:xfrm>
          <a:custGeom>
            <a:avLst/>
            <a:gdLst/>
            <a:ahLst/>
            <a:cxnLst/>
            <a:rect l="l" t="t" r="r" b="b"/>
            <a:pathLst>
              <a:path w="4575600" h="0">
                <a:moveTo>
                  <a:pt x="0" y="0"/>
                </a:moveTo>
                <a:lnTo>
                  <a:pt x="45756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5104800" y="5222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2809800" y="5155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2802600" y="5187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188" name="Freeform 187"/>
          <p:cNvSpPr/>
          <p:nvPr/>
        </p:nvSpPr>
        <p:spPr>
          <a:xfrm>
            <a:off x="5601600" y="3916246"/>
            <a:ext cx="1352235" cy="1339754"/>
          </a:xfrm>
          <a:custGeom>
            <a:avLst/>
            <a:gdLst/>
            <a:ahLst/>
            <a:cxnLst/>
            <a:rect l="l" t="t" r="r" b="b"/>
            <a:pathLst>
              <a:path w="1352235" h="1339754">
                <a:moveTo>
                  <a:pt x="0" y="1339754"/>
                </a:moveTo>
                <a:lnTo>
                  <a:pt x="1352235" y="1339754"/>
                </a:lnTo>
                <a:lnTo>
                  <a:pt x="1352235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6920715" y="3916246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0"/>
                </a:moveTo>
                <a:lnTo>
                  <a:pt x="66240" y="93600"/>
                </a:lnTo>
                <a:lnTo>
                  <a:pt x="0" y="9360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6595596" y="5191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6678396" y="5191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 flipV="1">
            <a:off x="6678396" y="5098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93" name="Freeform 192"/>
          <p:cNvSpPr/>
          <p:nvPr/>
        </p:nvSpPr>
        <p:spPr>
          <a:xfrm>
            <a:off x="6639516" y="5044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6853035" y="4676882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6845835" y="4709102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cxnSp>
        <p:nvCxnSpPr>
          <p:cNvPr id="196" name="Connector 195"/>
          <p:cNvCxnSpPr/>
          <p:nvPr/>
        </p:nvCxnSpPr>
        <p:spPr>
          <a:xfrm flipV="1">
            <a:off x="6543796" y="5126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97" name="Freeform 196"/>
          <p:cNvSpPr/>
          <p:nvPr/>
        </p:nvSpPr>
        <p:spPr>
          <a:xfrm>
            <a:off x="6370996" y="48456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420505" y="48599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3892</a:t>
            </a:r>
          </a:p>
        </p:txBody>
      </p:sp>
      <p:sp>
        <p:nvSpPr>
          <p:cNvPr id="199" name="Freeform 198"/>
          <p:cNvSpPr/>
          <p:nvPr/>
        </p:nvSpPr>
        <p:spPr>
          <a:xfrm>
            <a:off x="6388996" y="4986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6435796" y="5000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201" name="Freeform 200"/>
          <p:cNvSpPr/>
          <p:nvPr/>
        </p:nvSpPr>
        <p:spPr>
          <a:xfrm>
            <a:off x="7056000" y="1080000"/>
            <a:ext cx="3013200" cy="1339754"/>
          </a:xfrm>
          <a:custGeom>
            <a:avLst/>
            <a:gdLst/>
            <a:ahLst/>
            <a:cxnLst/>
            <a:rect l="l" t="t" r="r" b="b"/>
            <a:pathLst>
              <a:path w="3013200" h="1339754">
                <a:moveTo>
                  <a:pt x="0" y="1339754"/>
                </a:moveTo>
                <a:lnTo>
                  <a:pt x="0" y="0"/>
                </a:lnTo>
                <a:lnTo>
                  <a:pt x="30132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9975600" y="1046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7791923" y="979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7784723" y="1011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cxnSp>
        <p:nvCxnSpPr>
          <p:cNvPr id="205" name="Connector 204"/>
          <p:cNvCxnSpPr/>
          <p:nvPr/>
        </p:nvCxnSpPr>
        <p:spPr>
          <a:xfrm flipV="1">
            <a:off x="7239780" y="950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06" name="Freeform 205"/>
          <p:cNvSpPr/>
          <p:nvPr/>
        </p:nvSpPr>
        <p:spPr>
          <a:xfrm>
            <a:off x="7066980" y="6696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7116489" y="6839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4380</a:t>
            </a:r>
          </a:p>
        </p:txBody>
      </p:sp>
      <p:sp>
        <p:nvSpPr>
          <p:cNvPr id="208" name="Freeform 207"/>
          <p:cNvSpPr/>
          <p:nvPr/>
        </p:nvSpPr>
        <p:spPr>
          <a:xfrm>
            <a:off x="7084980" y="810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7131780" y="824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210" name="Freeform 209"/>
          <p:cNvSpPr/>
          <p:nvPr/>
        </p:nvSpPr>
        <p:spPr>
          <a:xfrm>
            <a:off x="4248000" y="3250800"/>
            <a:ext cx="0" cy="619200"/>
          </a:xfrm>
          <a:custGeom>
            <a:avLst/>
            <a:gdLst/>
            <a:ahLst/>
            <a:cxnLst/>
            <a:rect l="l" t="t" r="r" b="b"/>
            <a:pathLst>
              <a:path w="0" h="619200">
                <a:moveTo>
                  <a:pt x="0" y="0"/>
                </a:moveTo>
                <a:lnTo>
                  <a:pt x="0" y="61920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4214880" y="37764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4248000" y="4194000"/>
            <a:ext cx="0" cy="691200"/>
          </a:xfrm>
          <a:custGeom>
            <a:avLst/>
            <a:gdLst/>
            <a:ahLst/>
            <a:cxnLst/>
            <a:rect l="l" t="t" r="r" b="b"/>
            <a:pathLst>
              <a:path w="0" h="691200">
                <a:moveTo>
                  <a:pt x="0" y="0"/>
                </a:moveTo>
                <a:lnTo>
                  <a:pt x="0" y="69120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4214880" y="47916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662882" y="3090670"/>
            <a:ext cx="36311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TK-101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2418662" y="4228407"/>
            <a:ext cx="490676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P-100 A/B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3747402" y="4227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E-100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4428000" y="4231065"/>
            <a:ext cx="405637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hot fluid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485209" y="3949501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H-100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239701" y="54476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F-100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3139759" y="3101960"/>
            <a:ext cx="967841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20" b="0" i="0">
                <a:solidFill>
                  <a:srgbClr val="000000"/>
                </a:solidFill>
                <a:latin typeface="Arial"/>
              </a:rPr>
              <a:t>Hot Fluid from Unit A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3631097" y="4901960"/>
            <a:ext cx="47650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20" b="0" i="0">
                <a:solidFill>
                  <a:srgbClr val="000000"/>
                </a:solidFill>
                <a:latin typeface="Arial"/>
              </a:rPr>
              <a:t>to Unit A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9583242" y="3108902"/>
            <a:ext cx="763117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to Reactor V-200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9934221" y="5027702"/>
            <a:ext cx="435558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Fuel Oil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424583" y="5027702"/>
            <a:ext cx="230834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Air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9510801" y="851702"/>
            <a:ext cx="1008786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Flue Gas to Atmosphere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84301" y="2651702"/>
            <a:ext cx="763117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Hydrocarbon Feed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