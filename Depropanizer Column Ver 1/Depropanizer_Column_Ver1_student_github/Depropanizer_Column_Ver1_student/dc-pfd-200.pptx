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52000"/>
            <a:ext cx="10188000" cy="7056000"/>
          </a:xfrm>
          <a:prstGeom prst="rect">
            <a:avLst/>
          </a:prstGeom>
          <a:noFill/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113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V-201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7908" y="393968"/>
            <a:ext cx="62768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Feed Surge Drum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7345" y="328030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P-201 A/B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22" y="393968"/>
            <a:ext cx="45445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Feed Pumps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213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E-201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6231" y="393968"/>
            <a:ext cx="59303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Feed Preheater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763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C-201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5826" y="393968"/>
            <a:ext cx="904849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Depropanizer (27 trays)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13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E-202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7940" y="393968"/>
            <a:ext cx="731621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Overhead Condenser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863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V-202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4699" y="393968"/>
            <a:ext cx="48910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Reflux Drum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4845" y="328030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P-202 A/B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9648" y="393968"/>
            <a:ext cx="870203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Reflux / Product Pumps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9963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E-203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2471" y="393968"/>
            <a:ext cx="83555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Thermosyphon Reboiler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2000" y="509877"/>
            <a:ext cx="10188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0" name="Rectangle 19"/>
          <p:cNvSpPr/>
          <p:nvPr/>
        </p:nvSpPr>
        <p:spPr>
          <a:xfrm>
            <a:off x="7056000" y="6192000"/>
            <a:ext cx="3384000" cy="11160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056000" y="6357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7056000" y="6753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7056000" y="7005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7128000" y="6222817"/>
            <a:ext cx="1796973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DEPROPANIZER COLUMN VER 1 - OPERATOR TRAINING SIMULATOR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316" y="6432180"/>
            <a:ext cx="1147368" cy="167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000000"/>
                </a:solidFill>
                <a:latin typeface="Arial"/>
              </a:rPr>
              <a:t>PROCESS FLOW DIAGRAM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7624" y="6616400"/>
            <a:ext cx="206075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000000"/>
                </a:solidFill>
                <a:latin typeface="Arial"/>
              </a:rPr>
              <a:t>DEPROPANIZER C-201 · FEED DRUM, COLUMN, CONDENSER AND REBOILER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6400" y="6779122"/>
            <a:ext cx="393826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DRAWING No.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6400" y="6878390"/>
            <a:ext cx="438708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DC-PFD-200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7728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852768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REV.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768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08640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913680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680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2784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9678240" y="6779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SHEET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8240" y="687839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064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6400" y="7130390"/>
            <a:ext cx="802487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47728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8527680" y="7031122"/>
            <a:ext cx="289889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CHECKED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768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08640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91368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680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NTS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2784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9678240" y="7031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78240" y="7130390"/>
            <a:ext cx="438708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2026-09-29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2000" y="6292800"/>
            <a:ext cx="6768000" cy="1015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4000" y="6350195"/>
            <a:ext cx="32532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sp>
        <p:nvSpPr>
          <p:cNvPr id="51" name="Freeform 50"/>
          <p:cNvSpPr/>
          <p:nvPr/>
        </p:nvSpPr>
        <p:spPr>
          <a:xfrm>
            <a:off x="34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198000" y="57600"/>
                </a:lnTo>
                <a:lnTo>
                  <a:pt x="252000" y="115200"/>
                </a:lnTo>
                <a:lnTo>
                  <a:pt x="0" y="115200"/>
                </a:lnTo>
                <a:lnTo>
                  <a:pt x="54000" y="576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8000" y="6512082"/>
            <a:ext cx="632408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Liquid Flow (m3/h)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52000" y="6501472"/>
            <a:ext cx="252000" cy="11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7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58000" y="6512082"/>
            <a:ext cx="661542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Molar Flow (kmol/h)</a:t>
            </a:r>
          </a:p>
        </p:txBody>
      </p:sp>
      <p:sp>
        <p:nvSpPr>
          <p:cNvPr id="57" name="Freeform 56"/>
          <p:cNvSpPr/>
          <p:nvPr/>
        </p:nvSpPr>
        <p:spPr>
          <a:xfrm>
            <a:off x="256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52200" y="0"/>
                </a:moveTo>
                <a:lnTo>
                  <a:pt x="199800" y="0"/>
                </a:lnTo>
                <a:lnTo>
                  <a:pt x="252000" y="57600"/>
                </a:lnTo>
                <a:lnTo>
                  <a:pt x="199800" y="115200"/>
                </a:lnTo>
                <a:lnTo>
                  <a:pt x="52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8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6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Gas Flow (Nm3/h)</a:t>
            </a:r>
          </a:p>
        </p:txBody>
      </p:sp>
      <p:sp>
        <p:nvSpPr>
          <p:cNvPr id="60" name="Freeform 59"/>
          <p:cNvSpPr/>
          <p:nvPr/>
        </p:nvSpPr>
        <p:spPr>
          <a:xfrm>
            <a:off x="3654000" y="6501472"/>
            <a:ext cx="288000" cy="115200"/>
          </a:xfrm>
          <a:custGeom>
            <a:avLst/>
            <a:gdLst/>
            <a:ahLst/>
            <a:cxnLst/>
            <a:rect l="l" t="t" r="r" b="b"/>
            <a:pathLst>
              <a:path w="288000" h="115200">
                <a:moveTo>
                  <a:pt x="68400" y="0"/>
                </a:moveTo>
                <a:lnTo>
                  <a:pt x="288000" y="0"/>
                </a:lnTo>
                <a:lnTo>
                  <a:pt x="2196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9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7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Steam Flow (t/h)</a:t>
            </a:r>
          </a:p>
        </p:txBody>
      </p:sp>
      <p:sp>
        <p:nvSpPr>
          <p:cNvPr id="63" name="Freeform 62"/>
          <p:cNvSpPr/>
          <p:nvPr/>
        </p:nvSpPr>
        <p:spPr>
          <a:xfrm>
            <a:off x="478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0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8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Temperature (°C)</a:t>
            </a:r>
          </a:p>
        </p:txBody>
      </p:sp>
      <p:sp>
        <p:nvSpPr>
          <p:cNvPr id="66" name="Freeform 65"/>
          <p:cNvSpPr/>
          <p:nvPr/>
        </p:nvSpPr>
        <p:spPr>
          <a:xfrm>
            <a:off x="589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50400" y="0"/>
                </a:moveTo>
                <a:lnTo>
                  <a:pt x="2016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1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9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Pressure (kPa g)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338400" y="68254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70" name="TextBox 69"/>
          <p:cNvSpPr txBox="1"/>
          <p:nvPr/>
        </p:nvSpPr>
        <p:spPr>
          <a:xfrm>
            <a:off x="648000" y="67784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448400" y="6825472"/>
            <a:ext cx="259200" cy="0"/>
          </a:xfrm>
          <a:prstGeom prst="line">
            <a:avLst/>
          </a:prstGeom>
          <a:ln w="6480">
            <a:solidFill>
              <a:srgbClr val="000000"/>
            </a:solidFill>
          </a:ln>
          <a:effectLst/>
        </p:spPr>
      </p:cxnSp>
      <p:sp>
        <p:nvSpPr>
          <p:cNvPr id="72" name="TextBox 71"/>
          <p:cNvSpPr txBox="1"/>
          <p:nvPr/>
        </p:nvSpPr>
        <p:spPr>
          <a:xfrm>
            <a:off x="1758000" y="67784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Utility Line</a:t>
            </a:r>
          </a:p>
        </p:txBody>
      </p:sp>
      <p:sp>
        <p:nvSpPr>
          <p:cNvPr id="73" name="Freeform 72"/>
          <p:cNvSpPr/>
          <p:nvPr/>
        </p:nvSpPr>
        <p:spPr>
          <a:xfrm>
            <a:off x="2605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688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V="1">
            <a:off x="2688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2633568" y="6668152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77" name="TextBox 76"/>
          <p:cNvSpPr txBox="1"/>
          <p:nvPr/>
        </p:nvSpPr>
        <p:spPr>
          <a:xfrm>
            <a:off x="2868000" y="6778482"/>
            <a:ext cx="428472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Block Valve</a:t>
            </a:r>
          </a:p>
        </p:txBody>
      </p:sp>
      <p:sp>
        <p:nvSpPr>
          <p:cNvPr id="78" name="Freeform 77"/>
          <p:cNvSpPr/>
          <p:nvPr/>
        </p:nvSpPr>
        <p:spPr>
          <a:xfrm>
            <a:off x="3715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3798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 flipV="1">
            <a:off x="3798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81" name="Freeform 80"/>
          <p:cNvSpPr/>
          <p:nvPr/>
        </p:nvSpPr>
        <p:spPr>
          <a:xfrm>
            <a:off x="3759120" y="6613720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7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Control Valve</a:t>
            </a:r>
          </a:p>
        </p:txBody>
      </p:sp>
      <p:sp>
        <p:nvSpPr>
          <p:cNvPr id="83" name="Oval 82"/>
          <p:cNvSpPr/>
          <p:nvPr/>
        </p:nvSpPr>
        <p:spPr>
          <a:xfrm>
            <a:off x="4843200" y="6760672"/>
            <a:ext cx="129600" cy="129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4843200" y="6760672"/>
            <a:ext cx="64800" cy="129600"/>
          </a:xfrm>
          <a:custGeom>
            <a:avLst/>
            <a:gdLst/>
            <a:ahLst/>
            <a:cxnLst/>
            <a:rect l="l" t="t" r="r" b="b"/>
            <a:pathLst>
              <a:path w="64800" h="129600">
                <a:moveTo>
                  <a:pt x="64800" y="64800"/>
                </a:moveTo>
                <a:lnTo>
                  <a:pt x="64800" y="129600"/>
                </a:lnTo>
                <a:lnTo>
                  <a:pt x="56342" y="129046"/>
                </a:lnTo>
                <a:lnTo>
                  <a:pt x="48029" y="127392"/>
                </a:lnTo>
                <a:lnTo>
                  <a:pt x="40002" y="124667"/>
                </a:lnTo>
                <a:lnTo>
                  <a:pt x="32400" y="120918"/>
                </a:lnTo>
                <a:lnTo>
                  <a:pt x="25352" y="116209"/>
                </a:lnTo>
                <a:lnTo>
                  <a:pt x="18979" y="110621"/>
                </a:lnTo>
                <a:lnTo>
                  <a:pt x="13391" y="104248"/>
                </a:lnTo>
                <a:lnTo>
                  <a:pt x="8682" y="97200"/>
                </a:lnTo>
                <a:lnTo>
                  <a:pt x="4933" y="89598"/>
                </a:lnTo>
                <a:lnTo>
                  <a:pt x="2208" y="81571"/>
                </a:lnTo>
                <a:lnTo>
                  <a:pt x="554" y="73258"/>
                </a:lnTo>
                <a:lnTo>
                  <a:pt x="0" y="64800"/>
                </a:lnTo>
                <a:lnTo>
                  <a:pt x="554" y="56342"/>
                </a:lnTo>
                <a:lnTo>
                  <a:pt x="2208" y="48029"/>
                </a:lnTo>
                <a:lnTo>
                  <a:pt x="4933" y="40002"/>
                </a:lnTo>
                <a:lnTo>
                  <a:pt x="8682" y="32400"/>
                </a:lnTo>
                <a:lnTo>
                  <a:pt x="13391" y="25352"/>
                </a:lnTo>
                <a:lnTo>
                  <a:pt x="18979" y="18979"/>
                </a:lnTo>
                <a:lnTo>
                  <a:pt x="25352" y="13391"/>
                </a:lnTo>
                <a:lnTo>
                  <a:pt x="32400" y="8682"/>
                </a:lnTo>
                <a:lnTo>
                  <a:pt x="40002" y="4933"/>
                </a:lnTo>
                <a:lnTo>
                  <a:pt x="48029" y="2208"/>
                </a:lnTo>
                <a:lnTo>
                  <a:pt x="56342" y="554"/>
                </a:lnTo>
                <a:lnTo>
                  <a:pt x="64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88000" y="6778482"/>
            <a:ext cx="74894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Input / Output</a:t>
            </a:r>
          </a:p>
        </p:txBody>
      </p:sp>
      <p:sp>
        <p:nvSpPr>
          <p:cNvPr id="86" name="Freeform 85"/>
          <p:cNvSpPr/>
          <p:nvPr/>
        </p:nvSpPr>
        <p:spPr>
          <a:xfrm>
            <a:off x="5931600" y="6739072"/>
            <a:ext cx="172800" cy="172800"/>
          </a:xfrm>
          <a:custGeom>
            <a:avLst/>
            <a:gdLst/>
            <a:ahLst/>
            <a:cxnLst/>
            <a:rect l="l" t="t" r="r" b="b"/>
            <a:pathLst>
              <a:path w="172800" h="172800">
                <a:moveTo>
                  <a:pt x="86400" y="0"/>
                </a:moveTo>
                <a:lnTo>
                  <a:pt x="172800" y="86400"/>
                </a:lnTo>
                <a:lnTo>
                  <a:pt x="86400" y="172800"/>
                </a:lnTo>
                <a:lnTo>
                  <a:pt x="0" y="864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910000" y="675689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Stream Number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338400" y="70918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>
            <a:off x="468000" y="69838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468000" y="71386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92" name="TextBox 91"/>
          <p:cNvSpPr txBox="1"/>
          <p:nvPr/>
        </p:nvSpPr>
        <p:spPr>
          <a:xfrm>
            <a:off x="648000" y="70448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Line Crossing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452000" y="7030672"/>
            <a:ext cx="252000" cy="12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758000" y="70448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Vessel / Drum</a:t>
            </a:r>
          </a:p>
        </p:txBody>
      </p:sp>
      <p:sp>
        <p:nvSpPr>
          <p:cNvPr id="95" name="Oval 94"/>
          <p:cNvSpPr/>
          <p:nvPr/>
        </p:nvSpPr>
        <p:spPr>
          <a:xfrm>
            <a:off x="2628384" y="7010728"/>
            <a:ext cx="119232" cy="119232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2628384" y="7070344"/>
            <a:ext cx="59616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 flipH="1">
            <a:off x="261944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>
            <a:off x="272496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2613480" y="7162749"/>
            <a:ext cx="14904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00" name="TextBox 99"/>
          <p:cNvSpPr txBox="1"/>
          <p:nvPr/>
        </p:nvSpPr>
        <p:spPr>
          <a:xfrm>
            <a:off x="2868000" y="70448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Centrifugal Pump</a:t>
            </a:r>
          </a:p>
        </p:txBody>
      </p:sp>
      <p:sp>
        <p:nvSpPr>
          <p:cNvPr id="101" name="Oval 100"/>
          <p:cNvSpPr/>
          <p:nvPr/>
        </p:nvSpPr>
        <p:spPr>
          <a:xfrm>
            <a:off x="3708000" y="7001872"/>
            <a:ext cx="180000" cy="180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3756600" y="7045072"/>
            <a:ext cx="82800" cy="93600"/>
          </a:xfrm>
          <a:custGeom>
            <a:avLst/>
            <a:gdLst/>
            <a:ahLst/>
            <a:cxnLst/>
            <a:rect l="l" t="t" r="r" b="b"/>
            <a:pathLst>
              <a:path w="82800" h="93600">
                <a:moveTo>
                  <a:pt x="41400" y="0"/>
                </a:moveTo>
                <a:lnTo>
                  <a:pt x="82800" y="18720"/>
                </a:lnTo>
                <a:lnTo>
                  <a:pt x="0" y="46800"/>
                </a:lnTo>
                <a:lnTo>
                  <a:pt x="82800" y="74880"/>
                </a:lnTo>
                <a:lnTo>
                  <a:pt x="41400" y="9360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78000" y="7044882"/>
            <a:ext cx="51587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Heat Exchanger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832400" y="6973072"/>
            <a:ext cx="151200" cy="237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4864800" y="7074052"/>
            <a:ext cx="8640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106" name="Connector 105"/>
          <p:cNvCxnSpPr/>
          <p:nvPr/>
        </p:nvCxnSpPr>
        <p:spPr>
          <a:xfrm>
            <a:off x="4864800" y="7091872"/>
            <a:ext cx="8640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4864800" y="7109692"/>
            <a:ext cx="8640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sp>
        <p:nvSpPr>
          <p:cNvPr id="108" name="TextBox 107"/>
          <p:cNvSpPr txBox="1"/>
          <p:nvPr/>
        </p:nvSpPr>
        <p:spPr>
          <a:xfrm>
            <a:off x="5088000" y="7044882"/>
            <a:ext cx="661542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Distillation Column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52000" y="5634000"/>
            <a:ext cx="6732000" cy="622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24000" y="5691395"/>
            <a:ext cx="28910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24000" y="5787089"/>
            <a:ext cx="3393820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1. Liquid flows m3/h; vapour kmol/h; vent Nm3/h; steam t/h; °C; kPa g. Design point of the simulator model.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4000" y="5879384"/>
            <a:ext cx="3301694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2. Pseudo-binary feed: C3 and lighter / C4 and heavier. Trays numbered from the bottom; feed on tray 18.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24000" y="5971679"/>
            <a:ext cx="3424529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3. XV-201/202/209: SIS shut-off valves. PSV-201 set 1.80 MPa g to flare. Steam condensate returns not shown.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406988" y="3834000"/>
            <a:ext cx="1074023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678400" y="4935600"/>
            <a:ext cx="259200" cy="259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2678400" y="506520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 flipH="1">
            <a:off x="2658960" y="5166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>
            <a:off x="2888352" y="5166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2646000" y="526608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20" name="Oval 119"/>
          <p:cNvSpPr/>
          <p:nvPr/>
        </p:nvSpPr>
        <p:spPr>
          <a:xfrm>
            <a:off x="3942000" y="2898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029480" y="2975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104000" y="2898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4104000" y="3144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24" name="Rounded Rectangle 123"/>
          <p:cNvSpPr/>
          <p:nvPr/>
        </p:nvSpPr>
        <p:spPr>
          <a:xfrm>
            <a:off x="5166000" y="1764000"/>
            <a:ext cx="468000" cy="345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5198400" y="2315520"/>
            <a:ext cx="40320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126" name="Connector 125"/>
          <p:cNvCxnSpPr/>
          <p:nvPr/>
        </p:nvCxnSpPr>
        <p:spPr>
          <a:xfrm>
            <a:off x="5198400" y="2609640"/>
            <a:ext cx="40320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5198400" y="2903760"/>
            <a:ext cx="40320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5198400" y="3197880"/>
            <a:ext cx="40320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5198400" y="3492000"/>
            <a:ext cx="40320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130" name="Connector 129"/>
          <p:cNvCxnSpPr/>
          <p:nvPr/>
        </p:nvCxnSpPr>
        <p:spPr>
          <a:xfrm>
            <a:off x="5198400" y="3786120"/>
            <a:ext cx="40320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5198400" y="4080240"/>
            <a:ext cx="40320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132" name="Connector 131"/>
          <p:cNvCxnSpPr/>
          <p:nvPr/>
        </p:nvCxnSpPr>
        <p:spPr>
          <a:xfrm>
            <a:off x="5198400" y="4374360"/>
            <a:ext cx="40320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5198400" y="4668480"/>
            <a:ext cx="40320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sp>
        <p:nvSpPr>
          <p:cNvPr id="134" name="Oval 133"/>
          <p:cNvSpPr/>
          <p:nvPr/>
        </p:nvSpPr>
        <p:spPr>
          <a:xfrm>
            <a:off x="6894000" y="1386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6981480" y="1463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>
            <a:off x="7056000" y="1386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 flipV="1">
            <a:off x="7056000" y="1632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38" name="Rounded Rectangle 137"/>
          <p:cNvSpPr/>
          <p:nvPr/>
        </p:nvSpPr>
        <p:spPr>
          <a:xfrm>
            <a:off x="7236000" y="2548161"/>
            <a:ext cx="936000" cy="37567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294400" y="3351600"/>
            <a:ext cx="259200" cy="259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8294400" y="348120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 flipH="1">
            <a:off x="8274960" y="3582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8504352" y="3582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8262000" y="368208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4" name="Oval 143"/>
          <p:cNvSpPr/>
          <p:nvPr/>
        </p:nvSpPr>
        <p:spPr>
          <a:xfrm>
            <a:off x="6462000" y="4842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6549480" y="4919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6624000" y="4842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 flipV="1">
            <a:off x="6624000" y="5088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8" name="Oval 147"/>
          <p:cNvSpPr/>
          <p:nvPr/>
        </p:nvSpPr>
        <p:spPr>
          <a:xfrm>
            <a:off x="457200" y="3949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457200" y="3949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949200" y="751077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3949200" y="751077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1"/>
                </a:lnTo>
                <a:lnTo>
                  <a:pt x="61370" y="162778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89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7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4"/>
                </a:lnTo>
                <a:lnTo>
                  <a:pt x="24252" y="24251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5173200" y="751077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5173200" y="751077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1"/>
                </a:lnTo>
                <a:lnTo>
                  <a:pt x="61370" y="162778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89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7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4"/>
                </a:lnTo>
                <a:lnTo>
                  <a:pt x="24252" y="24251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973200" y="751077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6973200" y="751077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1"/>
                </a:lnTo>
                <a:lnTo>
                  <a:pt x="61370" y="162778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89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7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4"/>
                </a:lnTo>
                <a:lnTo>
                  <a:pt x="24252" y="24251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069200" y="1789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0069200" y="1789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069200" y="99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0069200" y="99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069200" y="33984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0069200" y="33984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0069200" y="423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0069200" y="423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0069200" y="531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0069200" y="531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8973000" y="34542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622800" y="4032000"/>
            <a:ext cx="789153" cy="0"/>
          </a:xfrm>
          <a:custGeom>
            <a:avLst/>
            <a:gdLst/>
            <a:ahLst/>
            <a:cxnLst/>
            <a:rect l="l" t="t" r="r" b="b"/>
            <a:pathLst>
              <a:path w="789153" h="0">
                <a:moveTo>
                  <a:pt x="0" y="0"/>
                </a:moveTo>
                <a:lnTo>
                  <a:pt x="789153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1318353" y="3998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916576" y="3931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09376" y="3963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71" name="Connector 170"/>
          <p:cNvCxnSpPr/>
          <p:nvPr/>
        </p:nvCxnSpPr>
        <p:spPr>
          <a:xfrm flipV="1">
            <a:off x="899003" y="3902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2" name="Freeform 171"/>
          <p:cNvSpPr/>
          <p:nvPr/>
        </p:nvSpPr>
        <p:spPr>
          <a:xfrm>
            <a:off x="744203" y="34812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91003" y="34955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174" name="Freeform 173"/>
          <p:cNvSpPr/>
          <p:nvPr/>
        </p:nvSpPr>
        <p:spPr>
          <a:xfrm>
            <a:off x="744203" y="3621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91003" y="3635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176" name="Freeform 175"/>
          <p:cNvSpPr/>
          <p:nvPr/>
        </p:nvSpPr>
        <p:spPr>
          <a:xfrm>
            <a:off x="744203" y="3762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791003" y="3776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178" name="Freeform 177"/>
          <p:cNvSpPr/>
          <p:nvPr/>
        </p:nvSpPr>
        <p:spPr>
          <a:xfrm>
            <a:off x="2156819" y="4230000"/>
            <a:ext cx="521581" cy="835200"/>
          </a:xfrm>
          <a:custGeom>
            <a:avLst/>
            <a:gdLst/>
            <a:ahLst/>
            <a:cxnLst/>
            <a:rect l="l" t="t" r="r" b="b"/>
            <a:pathLst>
              <a:path w="521581" h="835200">
                <a:moveTo>
                  <a:pt x="0" y="0"/>
                </a:moveTo>
                <a:lnTo>
                  <a:pt x="0" y="835200"/>
                </a:lnTo>
                <a:lnTo>
                  <a:pt x="521581" y="8352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2584800" y="50320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2937600" y="3060000"/>
            <a:ext cx="1004400" cy="2005200"/>
          </a:xfrm>
          <a:custGeom>
            <a:avLst/>
            <a:gdLst/>
            <a:ahLst/>
            <a:cxnLst/>
            <a:rect l="l" t="t" r="r" b="b"/>
            <a:pathLst>
              <a:path w="1004400" h="2005200">
                <a:moveTo>
                  <a:pt x="0" y="2005200"/>
                </a:moveTo>
                <a:lnTo>
                  <a:pt x="518400" y="2005200"/>
                </a:lnTo>
                <a:lnTo>
                  <a:pt x="518400" y="0"/>
                </a:lnTo>
                <a:lnTo>
                  <a:pt x="10044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3848400" y="302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3391200" y="444744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3391200" y="453024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>
            <a:off x="3456000" y="4530240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3613320" y="4475808"/>
            <a:ext cx="0" cy="1088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86" name="Freeform 185"/>
          <p:cNvSpPr/>
          <p:nvPr/>
        </p:nvSpPr>
        <p:spPr>
          <a:xfrm>
            <a:off x="3391200" y="309312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3391200" y="317592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8" name="Connector 187"/>
          <p:cNvCxnSpPr/>
          <p:nvPr/>
        </p:nvCxnSpPr>
        <p:spPr>
          <a:xfrm>
            <a:off x="3456000" y="3175920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89" name="Freeform 188"/>
          <p:cNvSpPr/>
          <p:nvPr/>
        </p:nvSpPr>
        <p:spPr>
          <a:xfrm>
            <a:off x="3613320" y="3137040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3355200" y="3737232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348000" y="376945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3456000" y="453024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93" name="Freeform 192"/>
          <p:cNvSpPr/>
          <p:nvPr/>
        </p:nvSpPr>
        <p:spPr>
          <a:xfrm>
            <a:off x="3585600" y="43196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3632400" y="433396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195" name="Freeform 194"/>
          <p:cNvSpPr/>
          <p:nvPr/>
        </p:nvSpPr>
        <p:spPr>
          <a:xfrm>
            <a:off x="3585600" y="44600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3632400" y="447436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197" name="Freeform 196"/>
          <p:cNvSpPr/>
          <p:nvPr/>
        </p:nvSpPr>
        <p:spPr>
          <a:xfrm>
            <a:off x="3585600" y="46004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3617109" y="461476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2363</a:t>
            </a:r>
          </a:p>
        </p:txBody>
      </p:sp>
      <p:sp>
        <p:nvSpPr>
          <p:cNvPr id="199" name="Freeform 198"/>
          <p:cNvSpPr/>
          <p:nvPr/>
        </p:nvSpPr>
        <p:spPr>
          <a:xfrm>
            <a:off x="4266000" y="3058022"/>
            <a:ext cx="900000" cy="1978"/>
          </a:xfrm>
          <a:custGeom>
            <a:avLst/>
            <a:gdLst/>
            <a:ahLst/>
            <a:cxnLst/>
            <a:rect l="l" t="t" r="r" b="b"/>
            <a:pathLst>
              <a:path w="900000" h="1978">
                <a:moveTo>
                  <a:pt x="0" y="1978"/>
                </a:moveTo>
                <a:lnTo>
                  <a:pt x="900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5072327" y="3025108"/>
            <a:ext cx="93673" cy="66240"/>
          </a:xfrm>
          <a:custGeom>
            <a:avLst/>
            <a:gdLst/>
            <a:ahLst/>
            <a:cxnLst/>
            <a:rect l="l" t="t" r="r" b="b"/>
            <a:pathLst>
              <a:path w="93673" h="66240">
                <a:moveTo>
                  <a:pt x="93673" y="32914"/>
                </a:moveTo>
                <a:lnTo>
                  <a:pt x="146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4615200" y="2958211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608000" y="2990431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203" name="Connector 202"/>
          <p:cNvCxnSpPr/>
          <p:nvPr/>
        </p:nvCxnSpPr>
        <p:spPr>
          <a:xfrm flipV="1">
            <a:off x="4581000" y="2929708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04" name="Freeform 203"/>
          <p:cNvSpPr/>
          <p:nvPr/>
        </p:nvSpPr>
        <p:spPr>
          <a:xfrm>
            <a:off x="4426200" y="2508508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4473000" y="2522828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206" name="Freeform 205"/>
          <p:cNvSpPr/>
          <p:nvPr/>
        </p:nvSpPr>
        <p:spPr>
          <a:xfrm>
            <a:off x="4426200" y="2648908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473000" y="2663228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208" name="Freeform 207"/>
          <p:cNvSpPr/>
          <p:nvPr/>
        </p:nvSpPr>
        <p:spPr>
          <a:xfrm>
            <a:off x="4426200" y="2789308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457709" y="2803628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1706</a:t>
            </a:r>
          </a:p>
        </p:txBody>
      </p:sp>
      <p:sp>
        <p:nvSpPr>
          <p:cNvPr id="210" name="Freeform 209"/>
          <p:cNvSpPr/>
          <p:nvPr/>
        </p:nvSpPr>
        <p:spPr>
          <a:xfrm>
            <a:off x="5400000" y="1548000"/>
            <a:ext cx="1494000" cy="221867"/>
          </a:xfrm>
          <a:custGeom>
            <a:avLst/>
            <a:gdLst/>
            <a:ahLst/>
            <a:cxnLst/>
            <a:rect l="l" t="t" r="r" b="b"/>
            <a:pathLst>
              <a:path w="1494000" h="221867">
                <a:moveTo>
                  <a:pt x="0" y="221867"/>
                </a:moveTo>
                <a:lnTo>
                  <a:pt x="0" y="0"/>
                </a:lnTo>
                <a:lnTo>
                  <a:pt x="1494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6800400" y="151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5935267" y="144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5928067" y="147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214" name="Connector 213"/>
          <p:cNvCxnSpPr/>
          <p:nvPr/>
        </p:nvCxnSpPr>
        <p:spPr>
          <a:xfrm flipV="1">
            <a:off x="5778687" y="1418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15" name="Rounded Rectangle 214"/>
          <p:cNvSpPr/>
          <p:nvPr/>
        </p:nvSpPr>
        <p:spPr>
          <a:xfrm>
            <a:off x="5623887" y="997200"/>
            <a:ext cx="309600" cy="140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5670687" y="10115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920</a:t>
            </a:r>
          </a:p>
        </p:txBody>
      </p:sp>
      <p:sp>
        <p:nvSpPr>
          <p:cNvPr id="217" name="Freeform 216"/>
          <p:cNvSpPr/>
          <p:nvPr/>
        </p:nvSpPr>
        <p:spPr>
          <a:xfrm>
            <a:off x="5623887" y="1137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5670687" y="1151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  <p:sp>
        <p:nvSpPr>
          <p:cNvPr id="219" name="Freeform 218"/>
          <p:cNvSpPr/>
          <p:nvPr/>
        </p:nvSpPr>
        <p:spPr>
          <a:xfrm>
            <a:off x="5623887" y="1278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5655395" y="1292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1700</a:t>
            </a:r>
          </a:p>
        </p:txBody>
      </p:sp>
      <p:sp>
        <p:nvSpPr>
          <p:cNvPr id="221" name="Freeform 220"/>
          <p:cNvSpPr/>
          <p:nvPr/>
        </p:nvSpPr>
        <p:spPr>
          <a:xfrm>
            <a:off x="5256000" y="916677"/>
            <a:ext cx="3600" cy="895727"/>
          </a:xfrm>
          <a:custGeom>
            <a:avLst/>
            <a:gdLst/>
            <a:ahLst/>
            <a:cxnLst/>
            <a:rect l="l" t="t" r="r" b="b"/>
            <a:pathLst>
              <a:path w="3600" h="895727">
                <a:moveTo>
                  <a:pt x="3600" y="895727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5223256" y="916677"/>
            <a:ext cx="66240" cy="93732"/>
          </a:xfrm>
          <a:custGeom>
            <a:avLst/>
            <a:gdLst/>
            <a:ahLst/>
            <a:cxnLst/>
            <a:rect l="l" t="t" r="r" b="b"/>
            <a:pathLst>
              <a:path w="66240" h="93732">
                <a:moveTo>
                  <a:pt x="32744" y="0"/>
                </a:moveTo>
                <a:lnTo>
                  <a:pt x="66240" y="93466"/>
                </a:lnTo>
                <a:lnTo>
                  <a:pt x="0" y="93732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5193000" y="1281741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5193000" y="1364541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5" name="Connector 224"/>
          <p:cNvCxnSpPr/>
          <p:nvPr/>
        </p:nvCxnSpPr>
        <p:spPr>
          <a:xfrm>
            <a:off x="5257800" y="1364541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>
            <a:off x="5415120" y="1310109"/>
            <a:ext cx="0" cy="1088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27" name="Freeform 226"/>
          <p:cNvSpPr/>
          <p:nvPr/>
        </p:nvSpPr>
        <p:spPr>
          <a:xfrm>
            <a:off x="7218000" y="1548000"/>
            <a:ext cx="300684" cy="275400"/>
          </a:xfrm>
          <a:custGeom>
            <a:avLst/>
            <a:gdLst/>
            <a:ahLst/>
            <a:cxnLst/>
            <a:rect l="l" t="t" r="r" b="b"/>
            <a:pathLst>
              <a:path w="300684" h="275400">
                <a:moveTo>
                  <a:pt x="0" y="0"/>
                </a:moveTo>
                <a:lnTo>
                  <a:pt x="300684" y="0"/>
                </a:lnTo>
                <a:lnTo>
                  <a:pt x="300684" y="2754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7518684" y="1920600"/>
            <a:ext cx="0" cy="110651"/>
          </a:xfrm>
          <a:custGeom>
            <a:avLst/>
            <a:gdLst/>
            <a:ahLst/>
            <a:cxnLst/>
            <a:rect l="l" t="t" r="r" b="b"/>
            <a:pathLst>
              <a:path w="0" h="110651">
                <a:moveTo>
                  <a:pt x="0" y="0"/>
                </a:moveTo>
                <a:lnTo>
                  <a:pt x="0" y="110651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7518684" y="2128451"/>
            <a:ext cx="0" cy="419710"/>
          </a:xfrm>
          <a:custGeom>
            <a:avLst/>
            <a:gdLst/>
            <a:ahLst/>
            <a:cxnLst/>
            <a:rect l="l" t="t" r="r" b="b"/>
            <a:pathLst>
              <a:path w="0" h="419710">
                <a:moveTo>
                  <a:pt x="0" y="0"/>
                </a:moveTo>
                <a:lnTo>
                  <a:pt x="0" y="41971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7485564" y="2454561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7981974" y="2128451"/>
            <a:ext cx="0" cy="419710"/>
          </a:xfrm>
          <a:custGeom>
            <a:avLst/>
            <a:gdLst/>
            <a:ahLst/>
            <a:cxnLst/>
            <a:rect l="l" t="t" r="r" b="b"/>
            <a:pathLst>
              <a:path w="0" h="419710">
                <a:moveTo>
                  <a:pt x="0" y="419710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7981974" y="1920600"/>
            <a:ext cx="0" cy="110651"/>
          </a:xfrm>
          <a:custGeom>
            <a:avLst/>
            <a:gdLst/>
            <a:ahLst/>
            <a:cxnLst/>
            <a:rect l="l" t="t" r="r" b="b"/>
            <a:pathLst>
              <a:path w="0" h="110651">
                <a:moveTo>
                  <a:pt x="0" y="110651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7981974" y="1080000"/>
            <a:ext cx="2087226" cy="743400"/>
          </a:xfrm>
          <a:custGeom>
            <a:avLst/>
            <a:gdLst/>
            <a:ahLst/>
            <a:cxnLst/>
            <a:rect l="l" t="t" r="r" b="b"/>
            <a:pathLst>
              <a:path w="2087226" h="743400">
                <a:moveTo>
                  <a:pt x="0" y="743400"/>
                </a:moveTo>
                <a:lnTo>
                  <a:pt x="0" y="0"/>
                </a:lnTo>
                <a:lnTo>
                  <a:pt x="2087226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9975600" y="104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8386476" y="101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8469276" y="101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7" name="Connector 236"/>
          <p:cNvCxnSpPr/>
          <p:nvPr/>
        </p:nvCxnSpPr>
        <p:spPr>
          <a:xfrm flipV="1">
            <a:off x="8469276" y="922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38" name="Freeform 237"/>
          <p:cNvSpPr/>
          <p:nvPr/>
        </p:nvSpPr>
        <p:spPr>
          <a:xfrm>
            <a:off x="8430396" y="868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7881174" y="1309637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873974" y="1341857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cxnSp>
        <p:nvCxnSpPr>
          <p:cNvPr id="241" name="Connector 240"/>
          <p:cNvCxnSpPr/>
          <p:nvPr/>
        </p:nvCxnSpPr>
        <p:spPr>
          <a:xfrm flipH="1">
            <a:off x="7852374" y="1303775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42" name="Freeform 241"/>
          <p:cNvSpPr/>
          <p:nvPr/>
        </p:nvSpPr>
        <p:spPr>
          <a:xfrm>
            <a:off x="7542774" y="1163375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2200" y="0"/>
                </a:moveTo>
                <a:lnTo>
                  <a:pt x="257400" y="0"/>
                </a:lnTo>
                <a:lnTo>
                  <a:pt x="309600" y="70200"/>
                </a:lnTo>
                <a:lnTo>
                  <a:pt x="257400" y="140400"/>
                </a:lnTo>
                <a:lnTo>
                  <a:pt x="52200" y="140400"/>
                </a:lnTo>
                <a:lnTo>
                  <a:pt x="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574283" y="1177695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72.5</a:t>
            </a:r>
          </a:p>
        </p:txBody>
      </p:sp>
      <p:sp>
        <p:nvSpPr>
          <p:cNvPr id="244" name="Freeform 243"/>
          <p:cNvSpPr/>
          <p:nvPr/>
        </p:nvSpPr>
        <p:spPr>
          <a:xfrm>
            <a:off x="7542774" y="1303775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589574" y="1318095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246" name="Freeform 245"/>
          <p:cNvSpPr/>
          <p:nvPr/>
        </p:nvSpPr>
        <p:spPr>
          <a:xfrm>
            <a:off x="7704000" y="2923839"/>
            <a:ext cx="590400" cy="557361"/>
          </a:xfrm>
          <a:custGeom>
            <a:avLst/>
            <a:gdLst/>
            <a:ahLst/>
            <a:cxnLst/>
            <a:rect l="l" t="t" r="r" b="b"/>
            <a:pathLst>
              <a:path w="590400" h="557361">
                <a:moveTo>
                  <a:pt x="0" y="0"/>
                </a:moveTo>
                <a:lnTo>
                  <a:pt x="0" y="557361"/>
                </a:lnTo>
                <a:lnTo>
                  <a:pt x="590400" y="557361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8200800" y="34480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8553600" y="3481200"/>
            <a:ext cx="446400" cy="0"/>
          </a:xfrm>
          <a:custGeom>
            <a:avLst/>
            <a:gdLst/>
            <a:ahLst/>
            <a:cxnLst/>
            <a:rect l="l" t="t" r="r" b="b"/>
            <a:pathLst>
              <a:path w="446400" h="0">
                <a:moveTo>
                  <a:pt x="0" y="0"/>
                </a:moveTo>
                <a:lnTo>
                  <a:pt x="4464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5634000" y="2079851"/>
            <a:ext cx="3366000" cy="1401349"/>
          </a:xfrm>
          <a:custGeom>
            <a:avLst/>
            <a:gdLst/>
            <a:ahLst/>
            <a:cxnLst/>
            <a:rect l="l" t="t" r="r" b="b"/>
            <a:pathLst>
              <a:path w="3366000" h="1401349">
                <a:moveTo>
                  <a:pt x="3366000" y="1401349"/>
                </a:moveTo>
                <a:lnTo>
                  <a:pt x="3366000" y="0"/>
                </a:ln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5634000" y="2046731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6743037" y="2015051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6825837" y="2015051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3" name="Connector 252"/>
          <p:cNvCxnSpPr/>
          <p:nvPr/>
        </p:nvCxnSpPr>
        <p:spPr>
          <a:xfrm flipV="1">
            <a:off x="6825837" y="1922531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54" name="Freeform 253"/>
          <p:cNvSpPr/>
          <p:nvPr/>
        </p:nvSpPr>
        <p:spPr>
          <a:xfrm>
            <a:off x="6786957" y="1868099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8774997" y="1979051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767797" y="2011271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257" name="Connector 256"/>
          <p:cNvCxnSpPr/>
          <p:nvPr/>
        </p:nvCxnSpPr>
        <p:spPr>
          <a:xfrm>
            <a:off x="8732777" y="2079851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58" name="Freeform 257"/>
          <p:cNvSpPr/>
          <p:nvPr/>
        </p:nvSpPr>
        <p:spPr>
          <a:xfrm>
            <a:off x="8577977" y="2209451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8624777" y="2223771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49</a:t>
            </a:r>
          </a:p>
        </p:txBody>
      </p:sp>
      <p:sp>
        <p:nvSpPr>
          <p:cNvPr id="260" name="Freeform 259"/>
          <p:cNvSpPr/>
          <p:nvPr/>
        </p:nvSpPr>
        <p:spPr>
          <a:xfrm>
            <a:off x="8577977" y="2349851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8624777" y="2364171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39</a:t>
            </a:r>
          </a:p>
        </p:txBody>
      </p:sp>
      <p:sp>
        <p:nvSpPr>
          <p:cNvPr id="262" name="Freeform 261"/>
          <p:cNvSpPr/>
          <p:nvPr/>
        </p:nvSpPr>
        <p:spPr>
          <a:xfrm>
            <a:off x="8577977" y="2490251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8609486" y="2504571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2262</a:t>
            </a:r>
          </a:p>
        </p:txBody>
      </p:sp>
      <p:sp>
        <p:nvSpPr>
          <p:cNvPr id="264" name="Freeform 263"/>
          <p:cNvSpPr/>
          <p:nvPr/>
        </p:nvSpPr>
        <p:spPr>
          <a:xfrm>
            <a:off x="9000000" y="3481200"/>
            <a:ext cx="1069200" cy="0"/>
          </a:xfrm>
          <a:custGeom>
            <a:avLst/>
            <a:gdLst/>
            <a:ahLst/>
            <a:cxnLst/>
            <a:rect l="l" t="t" r="r" b="b"/>
            <a:pathLst>
              <a:path w="1069200" h="0">
                <a:moveTo>
                  <a:pt x="0" y="0"/>
                </a:moveTo>
                <a:lnTo>
                  <a:pt x="1069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9975600" y="34480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9237960" y="34164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9320760" y="34164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8" name="Connector 267"/>
          <p:cNvCxnSpPr/>
          <p:nvPr/>
        </p:nvCxnSpPr>
        <p:spPr>
          <a:xfrm flipV="1">
            <a:off x="9320760" y="33238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69" name="Freeform 268"/>
          <p:cNvSpPr/>
          <p:nvPr/>
        </p:nvSpPr>
        <p:spPr>
          <a:xfrm>
            <a:off x="9281880" y="32694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9669024" y="33804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9661824" y="34126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272" name="Connector 271"/>
          <p:cNvCxnSpPr/>
          <p:nvPr/>
        </p:nvCxnSpPr>
        <p:spPr>
          <a:xfrm flipV="1">
            <a:off x="9588060" y="33516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73" name="Freeform 272"/>
          <p:cNvSpPr/>
          <p:nvPr/>
        </p:nvSpPr>
        <p:spPr>
          <a:xfrm>
            <a:off x="9433260" y="29304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9464769" y="29447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32.1</a:t>
            </a:r>
          </a:p>
        </p:txBody>
      </p:sp>
      <p:sp>
        <p:nvSpPr>
          <p:cNvPr id="275" name="Freeform 274"/>
          <p:cNvSpPr/>
          <p:nvPr/>
        </p:nvSpPr>
        <p:spPr>
          <a:xfrm>
            <a:off x="9433260" y="30708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9480060" y="30851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39</a:t>
            </a:r>
          </a:p>
        </p:txBody>
      </p:sp>
      <p:sp>
        <p:nvSpPr>
          <p:cNvPr id="277" name="Freeform 276"/>
          <p:cNvSpPr/>
          <p:nvPr/>
        </p:nvSpPr>
        <p:spPr>
          <a:xfrm>
            <a:off x="9433260" y="32112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9464769" y="3225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2262</a:t>
            </a:r>
          </a:p>
        </p:txBody>
      </p:sp>
      <p:sp>
        <p:nvSpPr>
          <p:cNvPr id="279" name="Freeform 278"/>
          <p:cNvSpPr/>
          <p:nvPr/>
        </p:nvSpPr>
        <p:spPr>
          <a:xfrm>
            <a:off x="5621237" y="5004000"/>
            <a:ext cx="840763" cy="37920"/>
          </a:xfrm>
          <a:custGeom>
            <a:avLst/>
            <a:gdLst/>
            <a:ahLst/>
            <a:cxnLst/>
            <a:rect l="l" t="t" r="r" b="b"/>
            <a:pathLst>
              <a:path w="840763" h="37920">
                <a:moveTo>
                  <a:pt x="0" y="37920"/>
                </a:moveTo>
                <a:lnTo>
                  <a:pt x="426763" y="37920"/>
                </a:lnTo>
                <a:lnTo>
                  <a:pt x="426763" y="0"/>
                </a:lnTo>
                <a:lnTo>
                  <a:pt x="840763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6368400" y="4970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5634000" y="4594165"/>
            <a:ext cx="1422000" cy="409835"/>
          </a:xfrm>
          <a:custGeom>
            <a:avLst/>
            <a:gdLst/>
            <a:ahLst/>
            <a:cxnLst/>
            <a:rect l="l" t="t" r="r" b="b"/>
            <a:pathLst>
              <a:path w="1422000" h="409835">
                <a:moveTo>
                  <a:pt x="1152000" y="409835"/>
                </a:moveTo>
                <a:lnTo>
                  <a:pt x="1422000" y="409835"/>
                </a:lnTo>
                <a:lnTo>
                  <a:pt x="1422000" y="0"/>
                </a:ln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5634000" y="4561045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5400000" y="5214133"/>
            <a:ext cx="4669200" cy="185867"/>
          </a:xfrm>
          <a:custGeom>
            <a:avLst/>
            <a:gdLst/>
            <a:ahLst/>
            <a:cxnLst/>
            <a:rect l="l" t="t" r="r" b="b"/>
            <a:pathLst>
              <a:path w="4669200" h="185867">
                <a:moveTo>
                  <a:pt x="0" y="0"/>
                </a:moveTo>
                <a:lnTo>
                  <a:pt x="0" y="185867"/>
                </a:lnTo>
                <a:lnTo>
                  <a:pt x="4669200" y="185867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9975600" y="536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8772633" y="533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8855433" y="533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7" name="Connector 286"/>
          <p:cNvCxnSpPr/>
          <p:nvPr/>
        </p:nvCxnSpPr>
        <p:spPr>
          <a:xfrm flipV="1">
            <a:off x="8855433" y="5242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88" name="Freeform 287"/>
          <p:cNvSpPr/>
          <p:nvPr/>
        </p:nvSpPr>
        <p:spPr>
          <a:xfrm>
            <a:off x="8816553" y="5188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7298113" y="529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7290913" y="533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cxnSp>
        <p:nvCxnSpPr>
          <p:cNvPr id="291" name="Connector 290"/>
          <p:cNvCxnSpPr/>
          <p:nvPr/>
        </p:nvCxnSpPr>
        <p:spPr>
          <a:xfrm flipV="1">
            <a:off x="7641667" y="5270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92" name="Freeform 291"/>
          <p:cNvSpPr/>
          <p:nvPr/>
        </p:nvSpPr>
        <p:spPr>
          <a:xfrm>
            <a:off x="7486867" y="48492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7518375" y="4863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27.8</a:t>
            </a:r>
          </a:p>
        </p:txBody>
      </p:sp>
      <p:sp>
        <p:nvSpPr>
          <p:cNvPr id="294" name="Freeform 293"/>
          <p:cNvSpPr/>
          <p:nvPr/>
        </p:nvSpPr>
        <p:spPr>
          <a:xfrm>
            <a:off x="7486867" y="4989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7533667" y="5003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sp>
        <p:nvSpPr>
          <p:cNvPr id="296" name="Freeform 295"/>
          <p:cNvSpPr/>
          <p:nvPr/>
        </p:nvSpPr>
        <p:spPr>
          <a:xfrm>
            <a:off x="7486867" y="5130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7533667" y="5144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480</a:t>
            </a:r>
          </a:p>
        </p:txBody>
      </p:sp>
      <p:sp>
        <p:nvSpPr>
          <p:cNvPr id="298" name="Freeform 297"/>
          <p:cNvSpPr/>
          <p:nvPr/>
        </p:nvSpPr>
        <p:spPr>
          <a:xfrm>
            <a:off x="4032000" y="916677"/>
            <a:ext cx="72000" cy="1981323"/>
          </a:xfrm>
          <a:custGeom>
            <a:avLst/>
            <a:gdLst/>
            <a:ahLst/>
            <a:cxnLst/>
            <a:rect l="l" t="t" r="r" b="b"/>
            <a:pathLst>
              <a:path w="72000" h="1981323">
                <a:moveTo>
                  <a:pt x="0" y="0"/>
                </a:moveTo>
                <a:lnTo>
                  <a:pt x="0" y="955323"/>
                </a:lnTo>
                <a:lnTo>
                  <a:pt x="72000" y="955323"/>
                </a:lnTo>
                <a:lnTo>
                  <a:pt x="72000" y="1981323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4070880" y="28044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3967200" y="1449874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3967200" y="1532674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2" name="Connector 301"/>
          <p:cNvCxnSpPr/>
          <p:nvPr/>
        </p:nvCxnSpPr>
        <p:spPr>
          <a:xfrm>
            <a:off x="4032000" y="1532674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4189320" y="1478242"/>
            <a:ext cx="0" cy="1088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04" name="Freeform 303"/>
          <p:cNvSpPr/>
          <p:nvPr/>
        </p:nvSpPr>
        <p:spPr>
          <a:xfrm>
            <a:off x="4039200" y="2096537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4039200" y="2179337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6" name="Connector 305"/>
          <p:cNvCxnSpPr/>
          <p:nvPr/>
        </p:nvCxnSpPr>
        <p:spPr>
          <a:xfrm>
            <a:off x="4104000" y="2179337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07" name="Freeform 306"/>
          <p:cNvSpPr/>
          <p:nvPr/>
        </p:nvSpPr>
        <p:spPr>
          <a:xfrm>
            <a:off x="4261320" y="2140457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3931200" y="1062276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3924000" y="1094496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cxnSp>
        <p:nvCxnSpPr>
          <p:cNvPr id="310" name="Connector 309"/>
          <p:cNvCxnSpPr/>
          <p:nvPr/>
        </p:nvCxnSpPr>
        <p:spPr>
          <a:xfrm>
            <a:off x="4032000" y="163534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11" name="Freeform 310"/>
          <p:cNvSpPr/>
          <p:nvPr/>
        </p:nvSpPr>
        <p:spPr>
          <a:xfrm>
            <a:off x="4143600" y="149494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4193109" y="150926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5.82</a:t>
            </a:r>
          </a:p>
        </p:txBody>
      </p:sp>
      <p:sp>
        <p:nvSpPr>
          <p:cNvPr id="313" name="Freeform 312"/>
          <p:cNvSpPr/>
          <p:nvPr/>
        </p:nvSpPr>
        <p:spPr>
          <a:xfrm>
            <a:off x="4161600" y="16353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4208400" y="164966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450</a:t>
            </a:r>
          </a:p>
        </p:txBody>
      </p:sp>
      <p:sp>
        <p:nvSpPr>
          <p:cNvPr id="315" name="Freeform 314"/>
          <p:cNvSpPr/>
          <p:nvPr/>
        </p:nvSpPr>
        <p:spPr>
          <a:xfrm>
            <a:off x="6624000" y="4320000"/>
            <a:ext cx="3445200" cy="225565"/>
          </a:xfrm>
          <a:custGeom>
            <a:avLst/>
            <a:gdLst/>
            <a:ahLst/>
            <a:cxnLst/>
            <a:rect l="l" t="t" r="r" b="b"/>
            <a:pathLst>
              <a:path w="3445200" h="225565">
                <a:moveTo>
                  <a:pt x="3445200" y="0"/>
                </a:moveTo>
                <a:lnTo>
                  <a:pt x="0" y="0"/>
                </a:lnTo>
                <a:lnTo>
                  <a:pt x="0" y="225565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6624000" y="4642765"/>
            <a:ext cx="0" cy="199235"/>
          </a:xfrm>
          <a:custGeom>
            <a:avLst/>
            <a:gdLst/>
            <a:ahLst/>
            <a:cxnLst/>
            <a:rect l="l" t="t" r="r" b="b"/>
            <a:pathLst>
              <a:path w="0" h="199235">
                <a:moveTo>
                  <a:pt x="0" y="0"/>
                </a:moveTo>
                <a:lnTo>
                  <a:pt x="0" y="199235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6590880" y="47484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9192960" y="425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9275760" y="425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 flipV="1">
            <a:off x="9275760" y="4162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321" name="Connector 320"/>
          <p:cNvCxnSpPr/>
          <p:nvPr/>
        </p:nvCxnSpPr>
        <p:spPr>
          <a:xfrm>
            <a:off x="9221328" y="4162680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22" name="Freeform 321"/>
          <p:cNvSpPr/>
          <p:nvPr/>
        </p:nvSpPr>
        <p:spPr>
          <a:xfrm>
            <a:off x="8002800" y="425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8085600" y="425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 flipV="1">
            <a:off x="8085600" y="4162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25" name="Freeform 324"/>
          <p:cNvSpPr/>
          <p:nvPr/>
        </p:nvSpPr>
        <p:spPr>
          <a:xfrm>
            <a:off x="8046720" y="4108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8698896" y="421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8691696" y="425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328" name="Connector 327"/>
          <p:cNvCxnSpPr/>
          <p:nvPr/>
        </p:nvCxnSpPr>
        <p:spPr>
          <a:xfrm flipV="1">
            <a:off x="8680680" y="4190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29" name="Freeform 328"/>
          <p:cNvSpPr/>
          <p:nvPr/>
        </p:nvSpPr>
        <p:spPr>
          <a:xfrm>
            <a:off x="8507880" y="39096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8557389" y="3923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3.79</a:t>
            </a:r>
          </a:p>
        </p:txBody>
      </p:sp>
      <p:sp>
        <p:nvSpPr>
          <p:cNvPr id="331" name="Freeform 330"/>
          <p:cNvSpPr/>
          <p:nvPr/>
        </p:nvSpPr>
        <p:spPr>
          <a:xfrm>
            <a:off x="8525880" y="4050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8572680" y="4064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450</a:t>
            </a:r>
          </a:p>
        </p:txBody>
      </p:sp>
      <p:sp>
        <p:nvSpPr>
          <p:cNvPr id="333" name="Freeform 332"/>
          <p:cNvSpPr/>
          <p:nvPr/>
        </p:nvSpPr>
        <p:spPr>
          <a:xfrm>
            <a:off x="7056000" y="916677"/>
            <a:ext cx="0" cy="469323"/>
          </a:xfrm>
          <a:custGeom>
            <a:avLst/>
            <a:gdLst/>
            <a:ahLst/>
            <a:cxnLst/>
            <a:rect l="l" t="t" r="r" b="b"/>
            <a:pathLst>
              <a:path w="0" h="469323">
                <a:moveTo>
                  <a:pt x="0" y="0"/>
                </a:moveTo>
                <a:lnTo>
                  <a:pt x="0" y="469323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7022880" y="12924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6955200" y="1050538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6948000" y="1082758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cxnSp>
        <p:nvCxnSpPr>
          <p:cNvPr id="337" name="Connector 336"/>
          <p:cNvCxnSpPr/>
          <p:nvPr/>
        </p:nvCxnSpPr>
        <p:spPr>
          <a:xfrm>
            <a:off x="7056000" y="108094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38" name="Freeform 337"/>
          <p:cNvSpPr/>
          <p:nvPr/>
        </p:nvSpPr>
        <p:spPr>
          <a:xfrm>
            <a:off x="7185600" y="9405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7232400" y="95486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330</a:t>
            </a:r>
          </a:p>
        </p:txBody>
      </p:sp>
      <p:sp>
        <p:nvSpPr>
          <p:cNvPr id="340" name="Freeform 339"/>
          <p:cNvSpPr/>
          <p:nvPr/>
        </p:nvSpPr>
        <p:spPr>
          <a:xfrm>
            <a:off x="7185600" y="10809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7232400" y="109526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342" name="Freeform 341"/>
          <p:cNvSpPr/>
          <p:nvPr/>
        </p:nvSpPr>
        <p:spPr>
          <a:xfrm>
            <a:off x="7056000" y="1710000"/>
            <a:ext cx="3013200" cy="162000"/>
          </a:xfrm>
          <a:custGeom>
            <a:avLst/>
            <a:gdLst/>
            <a:ahLst/>
            <a:cxnLst/>
            <a:rect l="l" t="t" r="r" b="b"/>
            <a:pathLst>
              <a:path w="3013200" h="162000">
                <a:moveTo>
                  <a:pt x="0" y="0"/>
                </a:moveTo>
                <a:lnTo>
                  <a:pt x="0" y="162000"/>
                </a:lnTo>
                <a:lnTo>
                  <a:pt x="3013200" y="16200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9975600" y="1838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4" name="Connector 343"/>
          <p:cNvCxnSpPr/>
          <p:nvPr/>
        </p:nvCxnSpPr>
        <p:spPr>
          <a:xfrm flipV="1">
            <a:off x="8481600" y="1742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45" name="Freeform 344"/>
          <p:cNvSpPr/>
          <p:nvPr/>
        </p:nvSpPr>
        <p:spPr>
          <a:xfrm>
            <a:off x="8326800" y="1602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8373600" y="1616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783701" y="4263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V-201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2562662" y="5308407"/>
            <a:ext cx="490676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P-201 A/B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3943701" y="3255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E-201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3996000" y="3403065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lps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4827402" y="5247388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C-201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6555402" y="1743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E-202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6620400" y="12875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20" b="0" i="0">
                <a:solidFill>
                  <a:srgbClr val="000000"/>
                </a:solidFill>
                <a:latin typeface="Arial"/>
              </a:rPr>
              <a:t>cw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6902112" y="2957094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V-202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8178662" y="3724407"/>
            <a:ext cx="490676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P-202 A/B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6463701" y="5199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E-203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6843600" y="5217465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lps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170432" y="4148690"/>
            <a:ext cx="104973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Feed from Upstream Unit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4172400" y="767837"/>
            <a:ext cx="43555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LP Steam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5396400" y="767837"/>
            <a:ext cx="31272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Flare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7196400" y="767837"/>
            <a:ext cx="47650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CW Supply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9913748" y="1643702"/>
            <a:ext cx="47650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CW Return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9934221" y="851702"/>
            <a:ext cx="43555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Fuel Gas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9354946" y="3597890"/>
            <a:ext cx="1172565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Propane Product to Storage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9934221" y="4091702"/>
            <a:ext cx="43555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LP Steam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9510801" y="5171702"/>
            <a:ext cx="1008786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Bottoms to Debutanizer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9108000" y="2223323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Reflux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4783528" y="2073200"/>
            <a:ext cx="3284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000000"/>
                </a:solidFill>
                <a:latin typeface="Arial"/>
              </a:rPr>
              <a:t>tray 27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4783528" y="2901200"/>
            <a:ext cx="3284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000000"/>
                </a:solidFill>
                <a:latin typeface="Arial"/>
              </a:rPr>
              <a:t>tray 18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4815024" y="4917200"/>
            <a:ext cx="29697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000000"/>
                </a:solidFill>
                <a:latin typeface="Arial"/>
              </a:rPr>
              <a:t>tray 1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2843150" y="4525860"/>
            <a:ext cx="50485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20" b="0" i="0">
                <a:solidFill>
                  <a:srgbClr val="000000"/>
                </a:solidFill>
                <a:latin typeface="Arial"/>
              </a:rPr>
              <a:t>XV-201 (SIS)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3041575" y="317226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20" b="0" i="0">
                <a:solidFill>
                  <a:srgbClr val="000000"/>
                </a:solidFill>
                <a:latin typeface="Arial"/>
              </a:rPr>
              <a:t>FV-201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3419150" y="1530660"/>
            <a:ext cx="50485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20" b="0" i="0">
                <a:solidFill>
                  <a:srgbClr val="000000"/>
                </a:solidFill>
                <a:latin typeface="Arial"/>
              </a:rPr>
              <a:t>XV-202 (SIS)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3689575" y="217506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20" b="0" i="0">
                <a:solidFill>
                  <a:srgbClr val="000000"/>
                </a:solidFill>
                <a:latin typeface="Arial"/>
              </a:rPr>
              <a:t>TV-202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4808504" y="1361460"/>
            <a:ext cx="339496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20" b="0" i="0">
                <a:solidFill>
                  <a:srgbClr val="000000"/>
                </a:solidFill>
                <a:latin typeface="Arial"/>
              </a:rPr>
              <a:t>PSV-201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6672388" y="221466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FV-204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8317588" y="121386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PV-210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7932388" y="445386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TV-208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9024775" y="4453860"/>
            <a:ext cx="50485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XV-209 (SIS)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8387575" y="526026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20" b="0" i="0">
                <a:solidFill>
                  <a:srgbClr val="000000"/>
                </a:solidFill>
                <a:latin typeface="Arial"/>
              </a:rPr>
              <a:t>LV-202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9167188" y="361506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LV-203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