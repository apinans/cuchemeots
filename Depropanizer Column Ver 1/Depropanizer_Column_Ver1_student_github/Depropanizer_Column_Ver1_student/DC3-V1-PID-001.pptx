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4176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4758416" cy="10323576"/>
          </a:xfrm>
          <a:prstGeom prst="rect">
            <a:avLst/>
          </a:prstGeom>
          <a:noFill/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4484096" cy="10049256"/>
          </a:xfrm>
          <a:prstGeom prst="rect">
            <a:avLst/>
          </a:prstGeom>
          <a:noFill/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94960" y="2148840"/>
            <a:ext cx="566927" cy="55778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394960" y="6858000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522976" y="6693408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394960" y="6528816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522976" y="6364224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94960" y="6199632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522976" y="6035040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0" y="5870448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522976" y="5705856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394960" y="5541264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22976" y="5376672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94960" y="5212080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522976" y="5047488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394960" y="4882896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522976" y="4718304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94960" y="4553712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522976" y="4389120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94960" y="4224528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522976" y="4059935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394960" y="3895344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22976" y="3730752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94960" y="3566160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522976" y="3401568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394960" y="3236976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522976" y="3072384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394960" y="2907791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522976" y="2743200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394960" y="2578608"/>
            <a:ext cx="43891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37124" y="2194560"/>
            <a:ext cx="4826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C-201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03443" y="2436876"/>
            <a:ext cx="18653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3443" y="3918203"/>
            <a:ext cx="18653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7217" y="5564124"/>
            <a:ext cx="13898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7217" y="6716268"/>
            <a:ext cx="13898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7606" y="7333488"/>
            <a:ext cx="281635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SUMP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5486400"/>
            <a:ext cx="963168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000000"/>
                </a:solidFill>
                <a:latin typeface="Arial"/>
              </a:rPr>
              <a:t>FEED FROM</a:t>
            </a:r>
          </a:p>
          <a:p>
            <a:pPr algn="l"/>
            <a:r>
              <a:rPr sz="600" b="1">
                <a:solidFill>
                  <a:srgbClr val="000000"/>
                </a:solidFill>
                <a:latin typeface="Arial"/>
              </a:rPr>
              <a:t>UPSTREAM UNIT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11480" y="5897880"/>
            <a:ext cx="5029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14400" y="5897880"/>
            <a:ext cx="0" cy="50292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11480" y="5934456"/>
            <a:ext cx="51409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6"-P-200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640080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35710" y="6492240"/>
            <a:ext cx="45466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Arial"/>
              </a:rPr>
              <a:t>V-201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1080" y="6611112"/>
            <a:ext cx="88392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FEED SURGE DRUM</a:t>
            </a:r>
          </a:p>
        </p:txBody>
      </p:sp>
      <p:sp>
        <p:nvSpPr>
          <p:cNvPr id="45" name="Oval 44"/>
          <p:cNvSpPr/>
          <p:nvPr/>
        </p:nvSpPr>
        <p:spPr>
          <a:xfrm>
            <a:off x="1661922" y="63710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 flipV="1">
            <a:off x="1691640" y="6062472"/>
            <a:ext cx="0" cy="33832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1527048" y="57332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201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527048" y="58978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234440" y="6062472"/>
            <a:ext cx="0" cy="34747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069848" y="57332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201</a:t>
            </a:r>
          </a:p>
        </p:txBody>
      </p:sp>
      <p:sp>
        <p:nvSpPr>
          <p:cNvPr id="51" name="Oval 50"/>
          <p:cNvSpPr/>
          <p:nvPr/>
        </p:nvSpPr>
        <p:spPr>
          <a:xfrm>
            <a:off x="1069848" y="46817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201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69848" y="48463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234440" y="5010912"/>
            <a:ext cx="0" cy="72237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28320" y="4462272"/>
            <a:ext cx="141224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REV B: LI-201 LAL/LAH-201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0575" y="4572000"/>
            <a:ext cx="18877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REV C: LIC-201 → FIC-201 (NOTE 16)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399032" y="4846320"/>
            <a:ext cx="2350007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749039" y="4846320"/>
            <a:ext cx="0" cy="566928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803904" y="5029200"/>
            <a:ext cx="249935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RSP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176272" y="6473952"/>
            <a:ext cx="201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176272" y="6784848"/>
            <a:ext cx="201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2377440" y="6419088"/>
            <a:ext cx="64008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79320" y="6867144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LG-201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2011680" y="6252667"/>
            <a:ext cx="0" cy="14813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1961388" y="6130137"/>
            <a:ext cx="100584" cy="146304"/>
          </a:xfrm>
          <a:custGeom>
            <a:avLst/>
            <a:gdLst/>
            <a:ahLst/>
            <a:cxnLst/>
            <a:rect l="l" t="t" r="r" b="b"/>
            <a:pathLst>
              <a:path w="100584" h="146304">
                <a:moveTo>
                  <a:pt x="0" y="0"/>
                </a:moveTo>
                <a:lnTo>
                  <a:pt x="100584" y="146304"/>
                </a:lnTo>
                <a:lnTo>
                  <a:pt x="0" y="146304"/>
                </a:lnTo>
                <a:lnTo>
                  <a:pt x="100584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2011680" y="6071616"/>
            <a:ext cx="0" cy="72420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075688" y="6071616"/>
            <a:ext cx="30276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VENT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68680" y="6858000"/>
            <a:ext cx="0" cy="15636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Freeform 67"/>
          <p:cNvSpPr/>
          <p:nvPr/>
        </p:nvSpPr>
        <p:spPr>
          <a:xfrm>
            <a:off x="818387" y="6993331"/>
            <a:ext cx="100584" cy="146304"/>
          </a:xfrm>
          <a:custGeom>
            <a:avLst/>
            <a:gdLst/>
            <a:ahLst/>
            <a:cxnLst/>
            <a:rect l="l" t="t" r="r" b="b"/>
            <a:pathLst>
              <a:path w="100584" h="146304">
                <a:moveTo>
                  <a:pt x="0" y="0"/>
                </a:moveTo>
                <a:lnTo>
                  <a:pt x="100584" y="146304"/>
                </a:lnTo>
                <a:lnTo>
                  <a:pt x="0" y="146304"/>
                </a:lnTo>
                <a:lnTo>
                  <a:pt x="100584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868680" y="7129028"/>
            <a:ext cx="0" cy="76444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932688" y="7086600"/>
            <a:ext cx="19710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DR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188720" y="6858000"/>
            <a:ext cx="0" cy="132587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188720" y="763524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011680" y="7635240"/>
            <a:ext cx="8686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Freeform 73"/>
          <p:cNvSpPr/>
          <p:nvPr/>
        </p:nvSpPr>
        <p:spPr>
          <a:xfrm>
            <a:off x="1316736" y="7566660"/>
            <a:ext cx="201168" cy="137159"/>
          </a:xfrm>
          <a:custGeom>
            <a:avLst/>
            <a:gdLst/>
            <a:ahLst/>
            <a:cxnLst/>
            <a:rect l="l" t="t" r="r" b="b"/>
            <a:pathLst>
              <a:path w="201168" h="137159">
                <a:moveTo>
                  <a:pt x="0" y="0"/>
                </a:moveTo>
                <a:lnTo>
                  <a:pt x="201168" y="137159"/>
                </a:lnTo>
                <a:lnTo>
                  <a:pt x="201168" y="0"/>
                </a:lnTo>
                <a:lnTo>
                  <a:pt x="0" y="13715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87196" y="7726679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MV-201</a:t>
            </a:r>
          </a:p>
        </p:txBody>
      </p:sp>
      <p:sp>
        <p:nvSpPr>
          <p:cNvPr id="76" name="Freeform 75"/>
          <p:cNvSpPr/>
          <p:nvPr/>
        </p:nvSpPr>
        <p:spPr>
          <a:xfrm>
            <a:off x="1673352" y="7744967"/>
            <a:ext cx="310896" cy="164593"/>
          </a:xfrm>
          <a:custGeom>
            <a:avLst/>
            <a:gdLst/>
            <a:ahLst/>
            <a:cxnLst/>
            <a:rect l="l" t="t" r="r" b="b"/>
            <a:pathLst>
              <a:path w="310896" h="164593">
                <a:moveTo>
                  <a:pt x="0" y="164593"/>
                </a:moveTo>
                <a:lnTo>
                  <a:pt x="310896" y="164593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645920" y="7452360"/>
            <a:ext cx="365760" cy="36576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746504" y="7525512"/>
            <a:ext cx="219456" cy="219455"/>
          </a:xfrm>
          <a:custGeom>
            <a:avLst/>
            <a:gdLst/>
            <a:ahLst/>
            <a:cxnLst/>
            <a:rect l="l" t="t" r="r" b="b"/>
            <a:pathLst>
              <a:path w="219456" h="219455">
                <a:moveTo>
                  <a:pt x="0" y="0"/>
                </a:moveTo>
                <a:lnTo>
                  <a:pt x="219456" y="109728"/>
                </a:lnTo>
                <a:lnTo>
                  <a:pt x="0" y="219455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65148" y="7251192"/>
            <a:ext cx="52730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Arial"/>
              </a:rPr>
              <a:t>P-201A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651000" y="7360919"/>
            <a:ext cx="3556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MOTOR</a:t>
            </a:r>
          </a:p>
        </p:txBody>
      </p:sp>
      <p:sp>
        <p:nvSpPr>
          <p:cNvPr id="81" name="Freeform 80"/>
          <p:cNvSpPr/>
          <p:nvPr/>
        </p:nvSpPr>
        <p:spPr>
          <a:xfrm>
            <a:off x="2148840" y="7552029"/>
            <a:ext cx="184251" cy="166421"/>
          </a:xfrm>
          <a:custGeom>
            <a:avLst/>
            <a:gdLst/>
            <a:ahLst/>
            <a:cxnLst/>
            <a:rect l="l" t="t" r="r" b="b"/>
            <a:pathLst>
              <a:path w="184251" h="166421">
                <a:moveTo>
                  <a:pt x="0" y="0"/>
                </a:moveTo>
                <a:lnTo>
                  <a:pt x="184251" y="83211"/>
                </a:lnTo>
                <a:lnTo>
                  <a:pt x="0" y="16642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2333091" y="7552029"/>
            <a:ext cx="0" cy="166421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2006853" y="7726679"/>
            <a:ext cx="52171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NRV-201</a:t>
            </a:r>
          </a:p>
        </p:txBody>
      </p:sp>
      <p:sp>
        <p:nvSpPr>
          <p:cNvPr id="84" name="Freeform 83"/>
          <p:cNvSpPr/>
          <p:nvPr/>
        </p:nvSpPr>
        <p:spPr>
          <a:xfrm>
            <a:off x="2505456" y="7566660"/>
            <a:ext cx="201168" cy="137159"/>
          </a:xfrm>
          <a:custGeom>
            <a:avLst/>
            <a:gdLst/>
            <a:ahLst/>
            <a:cxnLst/>
            <a:rect l="l" t="t" r="r" b="b"/>
            <a:pathLst>
              <a:path w="201168" h="137159">
                <a:moveTo>
                  <a:pt x="0" y="0"/>
                </a:moveTo>
                <a:lnTo>
                  <a:pt x="201168" y="137159"/>
                </a:lnTo>
                <a:lnTo>
                  <a:pt x="201168" y="0"/>
                </a:lnTo>
                <a:lnTo>
                  <a:pt x="0" y="13715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375916" y="7726679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MV-203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1188720" y="8183879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11680" y="8183879"/>
            <a:ext cx="8686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1316736" y="8115300"/>
            <a:ext cx="201168" cy="137159"/>
          </a:xfrm>
          <a:custGeom>
            <a:avLst/>
            <a:gdLst/>
            <a:ahLst/>
            <a:cxnLst/>
            <a:rect l="l" t="t" r="r" b="b"/>
            <a:pathLst>
              <a:path w="201168" h="137159">
                <a:moveTo>
                  <a:pt x="0" y="0"/>
                </a:moveTo>
                <a:lnTo>
                  <a:pt x="201168" y="137159"/>
                </a:lnTo>
                <a:lnTo>
                  <a:pt x="201168" y="0"/>
                </a:lnTo>
                <a:lnTo>
                  <a:pt x="0" y="13715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87196" y="8275319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MV-202</a:t>
            </a:r>
          </a:p>
        </p:txBody>
      </p:sp>
      <p:sp>
        <p:nvSpPr>
          <p:cNvPr id="90" name="Freeform 89"/>
          <p:cNvSpPr/>
          <p:nvPr/>
        </p:nvSpPr>
        <p:spPr>
          <a:xfrm>
            <a:off x="1673352" y="8293607"/>
            <a:ext cx="310896" cy="164593"/>
          </a:xfrm>
          <a:custGeom>
            <a:avLst/>
            <a:gdLst/>
            <a:ahLst/>
            <a:cxnLst/>
            <a:rect l="l" t="t" r="r" b="b"/>
            <a:pathLst>
              <a:path w="310896" h="164593">
                <a:moveTo>
                  <a:pt x="0" y="164593"/>
                </a:moveTo>
                <a:lnTo>
                  <a:pt x="310896" y="164593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645920" y="8001000"/>
            <a:ext cx="365760" cy="36576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1746504" y="8074152"/>
            <a:ext cx="219456" cy="219455"/>
          </a:xfrm>
          <a:custGeom>
            <a:avLst/>
            <a:gdLst/>
            <a:ahLst/>
            <a:cxnLst/>
            <a:rect l="l" t="t" r="r" b="b"/>
            <a:pathLst>
              <a:path w="219456" h="219455">
                <a:moveTo>
                  <a:pt x="0" y="0"/>
                </a:moveTo>
                <a:lnTo>
                  <a:pt x="219456" y="109727"/>
                </a:lnTo>
                <a:lnTo>
                  <a:pt x="0" y="219455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565148" y="8476488"/>
            <a:ext cx="52730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Arial"/>
              </a:rPr>
              <a:t>P-201B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01927" y="8586215"/>
            <a:ext cx="125374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STEAM TURBINE (NOTE 7)</a:t>
            </a:r>
          </a:p>
        </p:txBody>
      </p:sp>
      <p:sp>
        <p:nvSpPr>
          <p:cNvPr id="95" name="Freeform 94"/>
          <p:cNvSpPr/>
          <p:nvPr/>
        </p:nvSpPr>
        <p:spPr>
          <a:xfrm>
            <a:off x="2148840" y="8100669"/>
            <a:ext cx="184251" cy="166421"/>
          </a:xfrm>
          <a:custGeom>
            <a:avLst/>
            <a:gdLst/>
            <a:ahLst/>
            <a:cxnLst/>
            <a:rect l="l" t="t" r="r" b="b"/>
            <a:pathLst>
              <a:path w="184251" h="166421">
                <a:moveTo>
                  <a:pt x="0" y="0"/>
                </a:moveTo>
                <a:lnTo>
                  <a:pt x="184251" y="83210"/>
                </a:lnTo>
                <a:lnTo>
                  <a:pt x="0" y="16642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>
            <a:off x="2333091" y="8100669"/>
            <a:ext cx="0" cy="166421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2006853" y="8275319"/>
            <a:ext cx="52171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NRV-202</a:t>
            </a:r>
          </a:p>
        </p:txBody>
      </p:sp>
      <p:sp>
        <p:nvSpPr>
          <p:cNvPr id="98" name="Freeform 97"/>
          <p:cNvSpPr/>
          <p:nvPr/>
        </p:nvSpPr>
        <p:spPr>
          <a:xfrm>
            <a:off x="2505456" y="8115300"/>
            <a:ext cx="201168" cy="137159"/>
          </a:xfrm>
          <a:custGeom>
            <a:avLst/>
            <a:gdLst/>
            <a:ahLst/>
            <a:cxnLst/>
            <a:rect l="l" t="t" r="r" b="b"/>
            <a:pathLst>
              <a:path w="201168" h="137159">
                <a:moveTo>
                  <a:pt x="0" y="0"/>
                </a:moveTo>
                <a:lnTo>
                  <a:pt x="201168" y="137159"/>
                </a:lnTo>
                <a:lnTo>
                  <a:pt x="201168" y="0"/>
                </a:lnTo>
                <a:lnTo>
                  <a:pt x="0" y="13715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375916" y="8275319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MV-204</a:t>
            </a:r>
          </a:p>
        </p:txBody>
      </p:sp>
      <p:sp>
        <p:nvSpPr>
          <p:cNvPr id="100" name="Oval 99"/>
          <p:cNvSpPr/>
          <p:nvPr/>
        </p:nvSpPr>
        <p:spPr>
          <a:xfrm>
            <a:off x="1159002" y="760552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2880360" y="7635240"/>
            <a:ext cx="0" cy="54863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Oval 101"/>
          <p:cNvSpPr/>
          <p:nvPr/>
        </p:nvSpPr>
        <p:spPr>
          <a:xfrm>
            <a:off x="2850641" y="760552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234440" y="6967728"/>
            <a:ext cx="51409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6"-P-201</a:t>
            </a:r>
          </a:p>
        </p:txBody>
      </p:sp>
      <p:cxnSp>
        <p:nvCxnSpPr>
          <p:cNvPr id="104" name="Connector 103"/>
          <p:cNvCxnSpPr/>
          <p:nvPr/>
        </p:nvCxnSpPr>
        <p:spPr>
          <a:xfrm flipV="1">
            <a:off x="2880360" y="4059935"/>
            <a:ext cx="0" cy="3575305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2935224" y="7370064"/>
            <a:ext cx="51409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4"-P-202</a:t>
            </a:r>
          </a:p>
        </p:txBody>
      </p:sp>
      <p:sp>
        <p:nvSpPr>
          <p:cNvPr id="106" name="Freeform 105"/>
          <p:cNvSpPr/>
          <p:nvPr/>
        </p:nvSpPr>
        <p:spPr>
          <a:xfrm>
            <a:off x="2802636" y="7013448"/>
            <a:ext cx="155448" cy="237744"/>
          </a:xfrm>
          <a:custGeom>
            <a:avLst/>
            <a:gdLst/>
            <a:ahLst/>
            <a:cxnLst/>
            <a:rect l="l" t="t" r="r" b="b"/>
            <a:pathLst>
              <a:path w="155448" h="237744">
                <a:moveTo>
                  <a:pt x="0" y="0"/>
                </a:moveTo>
                <a:lnTo>
                  <a:pt x="155448" y="237744"/>
                </a:lnTo>
                <a:lnTo>
                  <a:pt x="0" y="237744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 flipH="1">
            <a:off x="2660904" y="7132320"/>
            <a:ext cx="14173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ctangle 107"/>
          <p:cNvSpPr/>
          <p:nvPr/>
        </p:nvSpPr>
        <p:spPr>
          <a:xfrm>
            <a:off x="2523744" y="7077456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980944" y="7068312"/>
            <a:ext cx="5029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XV-201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523744" y="7077456"/>
            <a:ext cx="13716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2761488" y="6624828"/>
            <a:ext cx="237744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2761488" y="6688836"/>
            <a:ext cx="237744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273807" y="6601968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FE-201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2999232" y="6656832"/>
            <a:ext cx="21945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3218688" y="649224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822192" y="6455664"/>
            <a:ext cx="402336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3858768" y="649224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FSLL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201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3858768" y="665683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547872" y="6656832"/>
            <a:ext cx="274319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3528568" y="6885432"/>
            <a:ext cx="98958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AUTO-START P-201B</a:t>
            </a:r>
          </a:p>
        </p:txBody>
      </p:sp>
      <p:sp>
        <p:nvSpPr>
          <p:cNvPr id="121" name="Freeform 120"/>
          <p:cNvSpPr/>
          <p:nvPr/>
        </p:nvSpPr>
        <p:spPr>
          <a:xfrm>
            <a:off x="2811779" y="5888736"/>
            <a:ext cx="137161" cy="201168"/>
          </a:xfrm>
          <a:custGeom>
            <a:avLst/>
            <a:gdLst/>
            <a:ahLst/>
            <a:cxnLst/>
            <a:rect l="l" t="t" r="r" b="b"/>
            <a:pathLst>
              <a:path w="137161" h="201168">
                <a:moveTo>
                  <a:pt x="0" y="0"/>
                </a:moveTo>
                <a:lnTo>
                  <a:pt x="137161" y="201168"/>
                </a:lnTo>
                <a:lnTo>
                  <a:pt x="0" y="201168"/>
                </a:lnTo>
                <a:lnTo>
                  <a:pt x="137161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980944" y="5934456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MV-205</a:t>
            </a:r>
          </a:p>
        </p:txBody>
      </p:sp>
      <p:sp>
        <p:nvSpPr>
          <p:cNvPr id="123" name="Freeform 122"/>
          <p:cNvSpPr/>
          <p:nvPr/>
        </p:nvSpPr>
        <p:spPr>
          <a:xfrm>
            <a:off x="2811779" y="5065776"/>
            <a:ext cx="137161" cy="201168"/>
          </a:xfrm>
          <a:custGeom>
            <a:avLst/>
            <a:gdLst/>
            <a:ahLst/>
            <a:cxnLst/>
            <a:rect l="l" t="t" r="r" b="b"/>
            <a:pathLst>
              <a:path w="137161" h="201168">
                <a:moveTo>
                  <a:pt x="0" y="0"/>
                </a:moveTo>
                <a:lnTo>
                  <a:pt x="137161" y="201168"/>
                </a:lnTo>
                <a:lnTo>
                  <a:pt x="0" y="201168"/>
                </a:lnTo>
                <a:lnTo>
                  <a:pt x="137161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980944" y="5111496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MV-206</a:t>
            </a:r>
          </a:p>
        </p:txBody>
      </p:sp>
      <p:sp>
        <p:nvSpPr>
          <p:cNvPr id="125" name="Freeform 124"/>
          <p:cNvSpPr/>
          <p:nvPr/>
        </p:nvSpPr>
        <p:spPr>
          <a:xfrm>
            <a:off x="2802636" y="5458968"/>
            <a:ext cx="155448" cy="237744"/>
          </a:xfrm>
          <a:custGeom>
            <a:avLst/>
            <a:gdLst/>
            <a:ahLst/>
            <a:cxnLst/>
            <a:rect l="l" t="t" r="r" b="b"/>
            <a:pathLst>
              <a:path w="155448" h="237744">
                <a:moveTo>
                  <a:pt x="0" y="0"/>
                </a:moveTo>
                <a:lnTo>
                  <a:pt x="155448" y="237744"/>
                </a:lnTo>
                <a:lnTo>
                  <a:pt x="0" y="237744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6" name="Connector 125"/>
          <p:cNvCxnSpPr/>
          <p:nvPr/>
        </p:nvCxnSpPr>
        <p:spPr>
          <a:xfrm>
            <a:off x="2958084" y="5577840"/>
            <a:ext cx="15087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Freeform 126"/>
          <p:cNvSpPr/>
          <p:nvPr/>
        </p:nvSpPr>
        <p:spPr>
          <a:xfrm>
            <a:off x="3108960" y="5458968"/>
            <a:ext cx="100584" cy="237744"/>
          </a:xfrm>
          <a:custGeom>
            <a:avLst/>
            <a:gdLst/>
            <a:ahLst/>
            <a:cxnLst/>
            <a:rect l="l" t="t" r="r" b="b"/>
            <a:pathLst>
              <a:path w="100584" h="237744">
                <a:moveTo>
                  <a:pt x="0" y="0"/>
                </a:moveTo>
                <a:lnTo>
                  <a:pt x="0" y="0"/>
                </a:lnTo>
                <a:lnTo>
                  <a:pt x="38491" y="9048"/>
                </a:lnTo>
                <a:lnTo>
                  <a:pt x="71123" y="34816"/>
                </a:lnTo>
                <a:lnTo>
                  <a:pt x="92927" y="73381"/>
                </a:lnTo>
                <a:lnTo>
                  <a:pt x="100584" y="118872"/>
                </a:lnTo>
                <a:lnTo>
                  <a:pt x="92927" y="164362"/>
                </a:lnTo>
                <a:lnTo>
                  <a:pt x="71123" y="202927"/>
                </a:lnTo>
                <a:lnTo>
                  <a:pt x="38491" y="228695"/>
                </a:lnTo>
                <a:lnTo>
                  <a:pt x="0" y="237744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990088" y="5303520"/>
            <a:ext cx="64465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FV-201 FC</a:t>
            </a:r>
          </a:p>
        </p:txBody>
      </p:sp>
      <p:sp>
        <p:nvSpPr>
          <p:cNvPr id="129" name="Oval 128"/>
          <p:cNvSpPr/>
          <p:nvPr/>
        </p:nvSpPr>
        <p:spPr>
          <a:xfrm>
            <a:off x="2850641" y="61424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2850641" y="49537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 flipH="1">
            <a:off x="2487168" y="6172200"/>
            <a:ext cx="39319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2487168" y="4983480"/>
            <a:ext cx="0" cy="11887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487168" y="4983480"/>
            <a:ext cx="39319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Freeform 133"/>
          <p:cNvSpPr/>
          <p:nvPr/>
        </p:nvSpPr>
        <p:spPr>
          <a:xfrm>
            <a:off x="2418588" y="5495543"/>
            <a:ext cx="137160" cy="201169"/>
          </a:xfrm>
          <a:custGeom>
            <a:avLst/>
            <a:gdLst/>
            <a:ahLst/>
            <a:cxnLst/>
            <a:rect l="l" t="t" r="r" b="b"/>
            <a:pathLst>
              <a:path w="137160" h="201169">
                <a:moveTo>
                  <a:pt x="0" y="0"/>
                </a:moveTo>
                <a:lnTo>
                  <a:pt x="137160" y="201169"/>
                </a:lnTo>
                <a:lnTo>
                  <a:pt x="0" y="201169"/>
                </a:lnTo>
                <a:lnTo>
                  <a:pt x="137160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917192" y="5724144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MV-207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969008" y="5833872"/>
            <a:ext cx="40843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000000"/>
                </a:solidFill>
                <a:latin typeface="Arial"/>
              </a:rPr>
              <a:t>BYPASS</a:t>
            </a:r>
          </a:p>
        </p:txBody>
      </p:sp>
      <p:sp>
        <p:nvSpPr>
          <p:cNvPr id="137" name="Oval 136"/>
          <p:cNvSpPr/>
          <p:nvPr/>
        </p:nvSpPr>
        <p:spPr>
          <a:xfrm>
            <a:off x="3584447" y="54132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201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3584447" y="557784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3209544" y="5577840"/>
            <a:ext cx="374904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83280" y="6144768"/>
            <a:ext cx="0" cy="347472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3383280" y="6144768"/>
            <a:ext cx="365759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749039" y="5742432"/>
            <a:ext cx="0" cy="40233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880360" y="4059935"/>
            <a:ext cx="4114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ectangle 143"/>
          <p:cNvSpPr/>
          <p:nvPr/>
        </p:nvSpPr>
        <p:spPr>
          <a:xfrm>
            <a:off x="3291840" y="3867911"/>
            <a:ext cx="1097279" cy="384047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5" name="Connector 144"/>
          <p:cNvCxnSpPr/>
          <p:nvPr/>
        </p:nvCxnSpPr>
        <p:spPr>
          <a:xfrm>
            <a:off x="3419856" y="3867911"/>
            <a:ext cx="0" cy="38404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4261104" y="3867911"/>
            <a:ext cx="0" cy="38404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419856" y="4059935"/>
            <a:ext cx="84124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3357118" y="4279392"/>
            <a:ext cx="45466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Arial"/>
              </a:rPr>
              <a:t>E-201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168904" y="4389120"/>
            <a:ext cx="83108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FEED PREHEATER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4389120" y="4059935"/>
            <a:ext cx="10058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4434840" y="4096511"/>
            <a:ext cx="51409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6"-P-203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924958" y="4105655"/>
            <a:ext cx="424281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0" b="0">
                <a:solidFill>
                  <a:srgbClr val="000000"/>
                </a:solidFill>
                <a:latin typeface="Arial"/>
              </a:rPr>
              <a:t>TRAY 18</a:t>
            </a:r>
          </a:p>
        </p:txBody>
      </p:sp>
      <p:sp>
        <p:nvSpPr>
          <p:cNvPr id="153" name="Oval 152"/>
          <p:cNvSpPr/>
          <p:nvPr/>
        </p:nvSpPr>
        <p:spPr>
          <a:xfrm>
            <a:off x="4953762" y="4030218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Connector 153"/>
          <p:cNvCxnSpPr/>
          <p:nvPr/>
        </p:nvCxnSpPr>
        <p:spPr>
          <a:xfrm flipV="1">
            <a:off x="4983480" y="3657600"/>
            <a:ext cx="0" cy="402335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Oval 154"/>
          <p:cNvSpPr/>
          <p:nvPr/>
        </p:nvSpPr>
        <p:spPr>
          <a:xfrm>
            <a:off x="4818888" y="3328415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202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4818888" y="349300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2788920" y="1810512"/>
            <a:ext cx="1259332" cy="908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LP STEAM 0.45 MPa g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2788920" y="2057400"/>
            <a:ext cx="12801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069080" y="2057400"/>
            <a:ext cx="0" cy="1810511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2788920" y="2093976"/>
            <a:ext cx="5669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6"-LS-301</a:t>
            </a:r>
          </a:p>
        </p:txBody>
      </p:sp>
      <p:sp>
        <p:nvSpPr>
          <p:cNvPr id="161" name="Freeform 160"/>
          <p:cNvSpPr/>
          <p:nvPr/>
        </p:nvSpPr>
        <p:spPr>
          <a:xfrm>
            <a:off x="4000500" y="2231136"/>
            <a:ext cx="137160" cy="201167"/>
          </a:xfrm>
          <a:custGeom>
            <a:avLst/>
            <a:gdLst/>
            <a:ahLst/>
            <a:cxnLst/>
            <a:rect l="l" t="t" r="r" b="b"/>
            <a:pathLst>
              <a:path w="137160" h="201167">
                <a:moveTo>
                  <a:pt x="0" y="0"/>
                </a:moveTo>
                <a:lnTo>
                  <a:pt x="137160" y="201167"/>
                </a:lnTo>
                <a:lnTo>
                  <a:pt x="0" y="201167"/>
                </a:lnTo>
                <a:lnTo>
                  <a:pt x="137160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3508248" y="2276856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HV-202</a:t>
            </a:r>
          </a:p>
        </p:txBody>
      </p:sp>
      <p:sp>
        <p:nvSpPr>
          <p:cNvPr id="163" name="Freeform 162"/>
          <p:cNvSpPr/>
          <p:nvPr/>
        </p:nvSpPr>
        <p:spPr>
          <a:xfrm>
            <a:off x="3991356" y="2578608"/>
            <a:ext cx="155448" cy="237744"/>
          </a:xfrm>
          <a:custGeom>
            <a:avLst/>
            <a:gdLst/>
            <a:ahLst/>
            <a:cxnLst/>
            <a:rect l="l" t="t" r="r" b="b"/>
            <a:pathLst>
              <a:path w="155448" h="237744">
                <a:moveTo>
                  <a:pt x="0" y="0"/>
                </a:moveTo>
                <a:lnTo>
                  <a:pt x="155448" y="237744"/>
                </a:lnTo>
                <a:lnTo>
                  <a:pt x="0" y="237744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4" name="Connector 163"/>
          <p:cNvCxnSpPr/>
          <p:nvPr/>
        </p:nvCxnSpPr>
        <p:spPr>
          <a:xfrm flipH="1">
            <a:off x="3849624" y="2697480"/>
            <a:ext cx="14173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Rectangle 164"/>
          <p:cNvSpPr/>
          <p:nvPr/>
        </p:nvSpPr>
        <p:spPr>
          <a:xfrm>
            <a:off x="3712463" y="2642616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169664" y="2633472"/>
            <a:ext cx="5029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XV-202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712464" y="2642616"/>
            <a:ext cx="13716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3950208" y="3031236"/>
            <a:ext cx="237744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3950208" y="3095244"/>
            <a:ext cx="237744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4215384" y="3008376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FE-206</a:t>
            </a:r>
          </a:p>
        </p:txBody>
      </p:sp>
      <p:cxnSp>
        <p:nvCxnSpPr>
          <p:cNvPr id="171" name="Connector 170"/>
          <p:cNvCxnSpPr/>
          <p:nvPr/>
        </p:nvCxnSpPr>
        <p:spPr>
          <a:xfrm flipH="1">
            <a:off x="3593592" y="3063240"/>
            <a:ext cx="35661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Oval 171"/>
          <p:cNvSpPr/>
          <p:nvPr/>
        </p:nvSpPr>
        <p:spPr>
          <a:xfrm>
            <a:off x="3264408" y="28986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206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3264408" y="306324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Freeform 173"/>
          <p:cNvSpPr/>
          <p:nvPr/>
        </p:nvSpPr>
        <p:spPr>
          <a:xfrm>
            <a:off x="3991356" y="3374136"/>
            <a:ext cx="155448" cy="237743"/>
          </a:xfrm>
          <a:custGeom>
            <a:avLst/>
            <a:gdLst/>
            <a:ahLst/>
            <a:cxnLst/>
            <a:rect l="l" t="t" r="r" b="b"/>
            <a:pathLst>
              <a:path w="155448" h="237743">
                <a:moveTo>
                  <a:pt x="0" y="0"/>
                </a:moveTo>
                <a:lnTo>
                  <a:pt x="155448" y="237743"/>
                </a:lnTo>
                <a:lnTo>
                  <a:pt x="0" y="237743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>
            <a:off x="4146804" y="3493008"/>
            <a:ext cx="15087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Freeform 175"/>
          <p:cNvSpPr/>
          <p:nvPr/>
        </p:nvSpPr>
        <p:spPr>
          <a:xfrm>
            <a:off x="4297680" y="3374136"/>
            <a:ext cx="100584" cy="237743"/>
          </a:xfrm>
          <a:custGeom>
            <a:avLst/>
            <a:gdLst/>
            <a:ahLst/>
            <a:cxnLst/>
            <a:rect l="l" t="t" r="r" b="b"/>
            <a:pathLst>
              <a:path w="100584" h="237743">
                <a:moveTo>
                  <a:pt x="0" y="0"/>
                </a:moveTo>
                <a:lnTo>
                  <a:pt x="0" y="0"/>
                </a:lnTo>
                <a:lnTo>
                  <a:pt x="38491" y="9048"/>
                </a:lnTo>
                <a:lnTo>
                  <a:pt x="71123" y="34816"/>
                </a:lnTo>
                <a:lnTo>
                  <a:pt x="92927" y="73381"/>
                </a:lnTo>
                <a:lnTo>
                  <a:pt x="100584" y="118872"/>
                </a:lnTo>
                <a:lnTo>
                  <a:pt x="92927" y="164362"/>
                </a:lnTo>
                <a:lnTo>
                  <a:pt x="71123" y="202927"/>
                </a:lnTo>
                <a:lnTo>
                  <a:pt x="38491" y="228695"/>
                </a:lnTo>
                <a:lnTo>
                  <a:pt x="0" y="237743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3305556" y="3438144"/>
            <a:ext cx="64465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TV-202 FC</a:t>
            </a:r>
          </a:p>
        </p:txBody>
      </p:sp>
      <p:cxnSp>
        <p:nvCxnSpPr>
          <p:cNvPr id="178" name="Connector 177"/>
          <p:cNvCxnSpPr/>
          <p:nvPr/>
        </p:nvCxnSpPr>
        <p:spPr>
          <a:xfrm flipH="1">
            <a:off x="4407408" y="3493008"/>
            <a:ext cx="41148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4224528" y="4251959"/>
            <a:ext cx="0" cy="32004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4224528" y="4572000"/>
            <a:ext cx="54864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Rectangle 180"/>
          <p:cNvSpPr/>
          <p:nvPr/>
        </p:nvSpPr>
        <p:spPr>
          <a:xfrm>
            <a:off x="4379976" y="4489704"/>
            <a:ext cx="164592" cy="164592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4379976" y="4507992"/>
            <a:ext cx="16459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232148" y="4672584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ST-201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800600" y="4517136"/>
            <a:ext cx="3556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COND.</a:t>
            </a:r>
          </a:p>
        </p:txBody>
      </p:sp>
      <p:cxnSp>
        <p:nvCxnSpPr>
          <p:cNvPr id="185" name="Connector 184"/>
          <p:cNvCxnSpPr/>
          <p:nvPr/>
        </p:nvCxnSpPr>
        <p:spPr>
          <a:xfrm flipH="1">
            <a:off x="5148072" y="2578608"/>
            <a:ext cx="2468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4818888" y="241401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227</a:t>
            </a:r>
          </a:p>
        </p:txBody>
      </p:sp>
      <p:cxnSp>
        <p:nvCxnSpPr>
          <p:cNvPr id="187" name="Connector 186"/>
          <p:cNvCxnSpPr/>
          <p:nvPr/>
        </p:nvCxnSpPr>
        <p:spPr>
          <a:xfrm>
            <a:off x="4818888" y="257860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TextBox 187"/>
          <p:cNvSpPr txBox="1"/>
          <p:nvPr/>
        </p:nvSpPr>
        <p:spPr>
          <a:xfrm>
            <a:off x="4376318" y="2304288"/>
            <a:ext cx="424281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0" b="0">
                <a:solidFill>
                  <a:srgbClr val="000000"/>
                </a:solidFill>
                <a:latin typeface="Arial"/>
              </a:rPr>
              <a:t>TRAY 27</a:t>
            </a:r>
          </a:p>
        </p:txBody>
      </p:sp>
      <p:cxnSp>
        <p:nvCxnSpPr>
          <p:cNvPr id="189" name="Connector 188"/>
          <p:cNvCxnSpPr/>
          <p:nvPr/>
        </p:nvCxnSpPr>
        <p:spPr>
          <a:xfrm flipH="1">
            <a:off x="5148072" y="2971800"/>
            <a:ext cx="2468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4818888" y="28072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PDI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212</a:t>
            </a:r>
          </a:p>
        </p:txBody>
      </p:sp>
      <p:cxnSp>
        <p:nvCxnSpPr>
          <p:cNvPr id="191" name="Connector 190"/>
          <p:cNvCxnSpPr/>
          <p:nvPr/>
        </p:nvCxnSpPr>
        <p:spPr>
          <a:xfrm>
            <a:off x="4818888" y="297180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4423867" y="2807208"/>
            <a:ext cx="37673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450" b="0">
                <a:solidFill>
                  <a:srgbClr val="000000"/>
                </a:solidFill>
                <a:latin typeface="Arial"/>
              </a:rPr>
              <a:t>NOTE 9</a:t>
            </a:r>
          </a:p>
        </p:txBody>
      </p:sp>
      <p:cxnSp>
        <p:nvCxnSpPr>
          <p:cNvPr id="193" name="Connector 192"/>
          <p:cNvCxnSpPr/>
          <p:nvPr/>
        </p:nvCxnSpPr>
        <p:spPr>
          <a:xfrm flipH="1">
            <a:off x="5148072" y="6364224"/>
            <a:ext cx="2468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4818888" y="6199632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242</a:t>
            </a:r>
          </a:p>
        </p:txBody>
      </p:sp>
      <p:cxnSp>
        <p:nvCxnSpPr>
          <p:cNvPr id="195" name="Connector 194"/>
          <p:cNvCxnSpPr/>
          <p:nvPr/>
        </p:nvCxnSpPr>
        <p:spPr>
          <a:xfrm>
            <a:off x="4818888" y="6364224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H="1">
            <a:off x="5148072" y="6858000"/>
            <a:ext cx="2468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Oval 196"/>
          <p:cNvSpPr/>
          <p:nvPr/>
        </p:nvSpPr>
        <p:spPr>
          <a:xfrm>
            <a:off x="4818888" y="66934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241</a:t>
            </a:r>
          </a:p>
        </p:txBody>
      </p:sp>
      <p:cxnSp>
        <p:nvCxnSpPr>
          <p:cNvPr id="198" name="Connector 197"/>
          <p:cNvCxnSpPr/>
          <p:nvPr/>
        </p:nvCxnSpPr>
        <p:spPr>
          <a:xfrm>
            <a:off x="4818888" y="685800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5961888" y="3401568"/>
            <a:ext cx="22860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6190488" y="323697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246</a:t>
            </a:r>
          </a:p>
        </p:txBody>
      </p:sp>
      <p:cxnSp>
        <p:nvCxnSpPr>
          <p:cNvPr id="201" name="Connector 200"/>
          <p:cNvCxnSpPr/>
          <p:nvPr/>
        </p:nvCxnSpPr>
        <p:spPr>
          <a:xfrm>
            <a:off x="6190488" y="340156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5961888" y="4059935"/>
            <a:ext cx="22860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Oval 202"/>
          <p:cNvSpPr/>
          <p:nvPr/>
        </p:nvSpPr>
        <p:spPr>
          <a:xfrm>
            <a:off x="6190488" y="3895344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245</a:t>
            </a:r>
          </a:p>
        </p:txBody>
      </p:sp>
      <p:cxnSp>
        <p:nvCxnSpPr>
          <p:cNvPr id="204" name="Connector 203"/>
          <p:cNvCxnSpPr/>
          <p:nvPr/>
        </p:nvCxnSpPr>
        <p:spPr>
          <a:xfrm>
            <a:off x="6190488" y="4059935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5961888" y="5047488"/>
            <a:ext cx="22860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Oval 205"/>
          <p:cNvSpPr/>
          <p:nvPr/>
        </p:nvSpPr>
        <p:spPr>
          <a:xfrm>
            <a:off x="6190488" y="488289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243</a:t>
            </a:r>
          </a:p>
        </p:txBody>
      </p:sp>
      <p:cxnSp>
        <p:nvCxnSpPr>
          <p:cNvPr id="207" name="Connector 206"/>
          <p:cNvCxnSpPr/>
          <p:nvPr/>
        </p:nvCxnSpPr>
        <p:spPr>
          <a:xfrm>
            <a:off x="6190488" y="504748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5961888" y="5705856"/>
            <a:ext cx="22860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Oval 208"/>
          <p:cNvSpPr/>
          <p:nvPr/>
        </p:nvSpPr>
        <p:spPr>
          <a:xfrm>
            <a:off x="6190488" y="5541264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208</a:t>
            </a:r>
          </a:p>
        </p:txBody>
      </p:sp>
      <p:sp>
        <p:nvSpPr>
          <p:cNvPr id="210" name="Oval 209"/>
          <p:cNvSpPr/>
          <p:nvPr/>
        </p:nvSpPr>
        <p:spPr>
          <a:xfrm>
            <a:off x="6675120" y="5541264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208</a:t>
            </a:r>
          </a:p>
        </p:txBody>
      </p:sp>
      <p:cxnSp>
        <p:nvCxnSpPr>
          <p:cNvPr id="211" name="Connector 210"/>
          <p:cNvCxnSpPr/>
          <p:nvPr/>
        </p:nvCxnSpPr>
        <p:spPr>
          <a:xfrm>
            <a:off x="6675120" y="5705856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6519672" y="5705856"/>
            <a:ext cx="15544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TextBox 212"/>
          <p:cNvSpPr txBox="1"/>
          <p:nvPr/>
        </p:nvSpPr>
        <p:spPr>
          <a:xfrm>
            <a:off x="6166713" y="5431536"/>
            <a:ext cx="37673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TRAY 8</a:t>
            </a:r>
          </a:p>
        </p:txBody>
      </p:sp>
      <p:cxnSp>
        <p:nvCxnSpPr>
          <p:cNvPr id="214" name="Connector 213"/>
          <p:cNvCxnSpPr/>
          <p:nvPr/>
        </p:nvCxnSpPr>
        <p:spPr>
          <a:xfrm flipH="1">
            <a:off x="5148072" y="7315200"/>
            <a:ext cx="2468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Oval 214"/>
          <p:cNvSpPr/>
          <p:nvPr/>
        </p:nvSpPr>
        <p:spPr>
          <a:xfrm>
            <a:off x="4818888" y="71506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202</a:t>
            </a:r>
          </a:p>
        </p:txBody>
      </p:sp>
      <p:sp>
        <p:nvSpPr>
          <p:cNvPr id="216" name="Oval 215"/>
          <p:cNvSpPr/>
          <p:nvPr/>
        </p:nvSpPr>
        <p:spPr>
          <a:xfrm>
            <a:off x="4270248" y="71506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202</a:t>
            </a:r>
          </a:p>
        </p:txBody>
      </p:sp>
      <p:cxnSp>
        <p:nvCxnSpPr>
          <p:cNvPr id="217" name="Connector 216"/>
          <p:cNvCxnSpPr/>
          <p:nvPr/>
        </p:nvCxnSpPr>
        <p:spPr>
          <a:xfrm>
            <a:off x="4270248" y="731520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 flipH="1">
            <a:off x="4599431" y="7315200"/>
            <a:ext cx="219457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H="1">
            <a:off x="4828032" y="7699248"/>
            <a:ext cx="731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Oval 219"/>
          <p:cNvSpPr/>
          <p:nvPr/>
        </p:nvSpPr>
        <p:spPr>
          <a:xfrm>
            <a:off x="4498848" y="753465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LS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202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3822192" y="7498079"/>
            <a:ext cx="402336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3858768" y="753465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LSLL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202</a:t>
            </a:r>
          </a:p>
        </p:txBody>
      </p:sp>
      <p:cxnSp>
        <p:nvCxnSpPr>
          <p:cNvPr id="223" name="Connector 222"/>
          <p:cNvCxnSpPr/>
          <p:nvPr/>
        </p:nvCxnSpPr>
        <p:spPr>
          <a:xfrm>
            <a:off x="3858768" y="769924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 flipH="1">
            <a:off x="4224528" y="7699248"/>
            <a:ext cx="27432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5833872" y="7680960"/>
            <a:ext cx="35661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Oval 225"/>
          <p:cNvSpPr/>
          <p:nvPr/>
        </p:nvSpPr>
        <p:spPr>
          <a:xfrm>
            <a:off x="6190488" y="75163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209</a:t>
            </a:r>
          </a:p>
        </p:txBody>
      </p:sp>
      <p:cxnSp>
        <p:nvCxnSpPr>
          <p:cNvPr id="227" name="Connector 226"/>
          <p:cNvCxnSpPr/>
          <p:nvPr/>
        </p:nvCxnSpPr>
        <p:spPr>
          <a:xfrm>
            <a:off x="6190488" y="76809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V="1">
            <a:off x="5678424" y="777240"/>
            <a:ext cx="0" cy="13716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5678424" y="777240"/>
            <a:ext cx="1682496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TextBox 229"/>
          <p:cNvSpPr txBox="1"/>
          <p:nvPr/>
        </p:nvSpPr>
        <p:spPr>
          <a:xfrm>
            <a:off x="5760720" y="640080"/>
            <a:ext cx="51409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8"-P-204</a:t>
            </a:r>
          </a:p>
        </p:txBody>
      </p:sp>
      <p:sp>
        <p:nvSpPr>
          <p:cNvPr id="231" name="Oval 230"/>
          <p:cNvSpPr/>
          <p:nvPr/>
        </p:nvSpPr>
        <p:spPr>
          <a:xfrm>
            <a:off x="5648706" y="14333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2" name="Connector 231"/>
          <p:cNvCxnSpPr/>
          <p:nvPr/>
        </p:nvCxnSpPr>
        <p:spPr>
          <a:xfrm flipH="1">
            <a:off x="5138928" y="1463040"/>
            <a:ext cx="539496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5138928" y="1316736"/>
            <a:ext cx="0" cy="146304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Freeform 233"/>
          <p:cNvSpPr/>
          <p:nvPr/>
        </p:nvSpPr>
        <p:spPr>
          <a:xfrm>
            <a:off x="5079492" y="1152144"/>
            <a:ext cx="118872" cy="164592"/>
          </a:xfrm>
          <a:custGeom>
            <a:avLst/>
            <a:gdLst/>
            <a:ahLst/>
            <a:cxnLst/>
            <a:rect l="l" t="t" r="r" b="b"/>
            <a:pathLst>
              <a:path w="118872" h="164592">
                <a:moveTo>
                  <a:pt x="0" y="0"/>
                </a:moveTo>
                <a:lnTo>
                  <a:pt x="118872" y="164592"/>
                </a:lnTo>
                <a:lnTo>
                  <a:pt x="0" y="164592"/>
                </a:lnTo>
                <a:lnTo>
                  <a:pt x="11887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5" name="Connector 234"/>
          <p:cNvCxnSpPr/>
          <p:nvPr/>
        </p:nvCxnSpPr>
        <p:spPr>
          <a:xfrm flipV="1">
            <a:off x="5138928" y="566928"/>
            <a:ext cx="0" cy="585216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TextBox 235"/>
          <p:cNvSpPr txBox="1"/>
          <p:nvPr/>
        </p:nvSpPr>
        <p:spPr>
          <a:xfrm>
            <a:off x="4507484" y="1179576"/>
            <a:ext cx="52171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PSV-201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198112" y="1289304"/>
            <a:ext cx="83108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000000"/>
                </a:solidFill>
                <a:latin typeface="Arial"/>
              </a:rPr>
              <a:t>SET 1.80 MPa g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4446016" y="512064"/>
            <a:ext cx="58318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TO FLARE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193792" y="877824"/>
            <a:ext cx="3556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4"x6"</a:t>
            </a:r>
          </a:p>
        </p:txBody>
      </p:sp>
      <p:sp>
        <p:nvSpPr>
          <p:cNvPr id="240" name="Oval 239"/>
          <p:cNvSpPr/>
          <p:nvPr/>
        </p:nvSpPr>
        <p:spPr>
          <a:xfrm>
            <a:off x="5648706" y="1817370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1" name="Connector 240"/>
          <p:cNvCxnSpPr/>
          <p:nvPr/>
        </p:nvCxnSpPr>
        <p:spPr>
          <a:xfrm>
            <a:off x="5678424" y="1847088"/>
            <a:ext cx="51206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Oval 241"/>
          <p:cNvSpPr/>
          <p:nvPr/>
        </p:nvSpPr>
        <p:spPr>
          <a:xfrm>
            <a:off x="6190488" y="168249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211</a:t>
            </a:r>
          </a:p>
        </p:txBody>
      </p:sp>
      <p:sp>
        <p:nvSpPr>
          <p:cNvPr id="243" name="Oval 242"/>
          <p:cNvSpPr/>
          <p:nvPr/>
        </p:nvSpPr>
        <p:spPr>
          <a:xfrm>
            <a:off x="6675120" y="168249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211</a:t>
            </a:r>
          </a:p>
        </p:txBody>
      </p:sp>
      <p:cxnSp>
        <p:nvCxnSpPr>
          <p:cNvPr id="244" name="Connector 243"/>
          <p:cNvCxnSpPr/>
          <p:nvPr/>
        </p:nvCxnSpPr>
        <p:spPr>
          <a:xfrm>
            <a:off x="6675120" y="184708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6519672" y="1847088"/>
            <a:ext cx="15544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Oval 245"/>
          <p:cNvSpPr/>
          <p:nvPr/>
        </p:nvSpPr>
        <p:spPr>
          <a:xfrm>
            <a:off x="6389370" y="7475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7" name="Connector 246"/>
          <p:cNvCxnSpPr/>
          <p:nvPr/>
        </p:nvCxnSpPr>
        <p:spPr>
          <a:xfrm>
            <a:off x="6419088" y="777240"/>
            <a:ext cx="0" cy="2468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Oval 247"/>
          <p:cNvSpPr/>
          <p:nvPr/>
        </p:nvSpPr>
        <p:spPr>
          <a:xfrm>
            <a:off x="6254496" y="10241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210</a:t>
            </a:r>
          </a:p>
        </p:txBody>
      </p:sp>
      <p:sp>
        <p:nvSpPr>
          <p:cNvPr id="249" name="Oval 248"/>
          <p:cNvSpPr/>
          <p:nvPr/>
        </p:nvSpPr>
        <p:spPr>
          <a:xfrm>
            <a:off x="6739128" y="10241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210</a:t>
            </a:r>
          </a:p>
        </p:txBody>
      </p:sp>
      <p:cxnSp>
        <p:nvCxnSpPr>
          <p:cNvPr id="250" name="Connector 249"/>
          <p:cNvCxnSpPr/>
          <p:nvPr/>
        </p:nvCxnSpPr>
        <p:spPr>
          <a:xfrm>
            <a:off x="6739128" y="11887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6583680" y="1188720"/>
            <a:ext cx="15544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Rectangle 251"/>
          <p:cNvSpPr/>
          <p:nvPr/>
        </p:nvSpPr>
        <p:spPr>
          <a:xfrm>
            <a:off x="7360920" y="548640"/>
            <a:ext cx="1554479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3" name="Connector 252"/>
          <p:cNvCxnSpPr/>
          <p:nvPr/>
        </p:nvCxnSpPr>
        <p:spPr>
          <a:xfrm>
            <a:off x="8787384" y="548640"/>
            <a:ext cx="0" cy="45720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7635240" y="640080"/>
            <a:ext cx="1152144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7635240" y="914400"/>
            <a:ext cx="1152144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TextBox 255"/>
          <p:cNvSpPr txBox="1"/>
          <p:nvPr/>
        </p:nvSpPr>
        <p:spPr>
          <a:xfrm>
            <a:off x="7555992" y="694944"/>
            <a:ext cx="116433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000000"/>
                </a:solidFill>
                <a:latin typeface="Arial"/>
              </a:rPr>
              <a:t>E-202  CONDENSER</a:t>
            </a:r>
          </a:p>
        </p:txBody>
      </p:sp>
      <p:cxnSp>
        <p:nvCxnSpPr>
          <p:cNvPr id="257" name="Connector 256"/>
          <p:cNvCxnSpPr/>
          <p:nvPr/>
        </p:nvCxnSpPr>
        <p:spPr>
          <a:xfrm flipH="1">
            <a:off x="9281160" y="1143000"/>
            <a:ext cx="20116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 flipV="1">
            <a:off x="9281160" y="914400"/>
            <a:ext cx="0" cy="2286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 flipH="1">
            <a:off x="8915400" y="914400"/>
            <a:ext cx="36576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8915400" y="640080"/>
            <a:ext cx="237744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TextBox 260"/>
          <p:cNvSpPr txBox="1"/>
          <p:nvPr/>
        </p:nvSpPr>
        <p:spPr>
          <a:xfrm>
            <a:off x="10195560" y="1179576"/>
            <a:ext cx="61976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10"-CW-401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9372600" y="502919"/>
            <a:ext cx="61976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10"-CW-402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10648188" y="484631"/>
            <a:ext cx="64465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CW RETURN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0279379" y="1179576"/>
            <a:ext cx="101346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CW SUPPLY 15 °C</a:t>
            </a:r>
          </a:p>
        </p:txBody>
      </p:sp>
      <p:sp>
        <p:nvSpPr>
          <p:cNvPr id="265" name="Freeform 264"/>
          <p:cNvSpPr/>
          <p:nvPr/>
        </p:nvSpPr>
        <p:spPr>
          <a:xfrm>
            <a:off x="9957816" y="1074420"/>
            <a:ext cx="201168" cy="137160"/>
          </a:xfrm>
          <a:custGeom>
            <a:avLst/>
            <a:gdLst/>
            <a:ahLst/>
            <a:cxnLst/>
            <a:rect l="l" t="t" r="r" b="b"/>
            <a:pathLst>
              <a:path w="201168" h="137160">
                <a:moveTo>
                  <a:pt x="0" y="0"/>
                </a:moveTo>
                <a:lnTo>
                  <a:pt x="201168" y="137160"/>
                </a:lnTo>
                <a:lnTo>
                  <a:pt x="201168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9828276" y="941832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HV-216</a:t>
            </a:r>
          </a:p>
        </p:txBody>
      </p:sp>
      <p:cxnSp>
        <p:nvCxnSpPr>
          <p:cNvPr id="267" name="Connector 266"/>
          <p:cNvCxnSpPr/>
          <p:nvPr/>
        </p:nvCxnSpPr>
        <p:spPr>
          <a:xfrm>
            <a:off x="9523476" y="1024128"/>
            <a:ext cx="0" cy="237744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9587484" y="1024128"/>
            <a:ext cx="0" cy="237744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TextBox 268"/>
          <p:cNvSpPr txBox="1"/>
          <p:nvPr/>
        </p:nvSpPr>
        <p:spPr>
          <a:xfrm>
            <a:off x="9325356" y="1280160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FE-216</a:t>
            </a:r>
          </a:p>
        </p:txBody>
      </p:sp>
      <p:cxnSp>
        <p:nvCxnSpPr>
          <p:cNvPr id="270" name="Connector 269"/>
          <p:cNvCxnSpPr/>
          <p:nvPr/>
        </p:nvCxnSpPr>
        <p:spPr>
          <a:xfrm flipV="1">
            <a:off x="9555480" y="1005840"/>
            <a:ext cx="0" cy="182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1" name="Oval 270"/>
          <p:cNvSpPr/>
          <p:nvPr/>
        </p:nvSpPr>
        <p:spPr>
          <a:xfrm>
            <a:off x="9390888" y="67665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216</a:t>
            </a:r>
          </a:p>
        </p:txBody>
      </p:sp>
      <p:cxnSp>
        <p:nvCxnSpPr>
          <p:cNvPr id="272" name="Connector 271"/>
          <p:cNvCxnSpPr/>
          <p:nvPr/>
        </p:nvCxnSpPr>
        <p:spPr>
          <a:xfrm>
            <a:off x="9390888" y="84124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Oval 272"/>
          <p:cNvSpPr/>
          <p:nvPr/>
        </p:nvSpPr>
        <p:spPr>
          <a:xfrm>
            <a:off x="10531602" y="11132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4" name="Connector 273"/>
          <p:cNvCxnSpPr/>
          <p:nvPr/>
        </p:nvCxnSpPr>
        <p:spPr>
          <a:xfrm flipV="1">
            <a:off x="10561320" y="1005840"/>
            <a:ext cx="0" cy="1371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Oval 274"/>
          <p:cNvSpPr/>
          <p:nvPr/>
        </p:nvSpPr>
        <p:spPr>
          <a:xfrm>
            <a:off x="10396728" y="67665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214</a:t>
            </a:r>
          </a:p>
        </p:txBody>
      </p:sp>
      <p:cxnSp>
        <p:nvCxnSpPr>
          <p:cNvPr id="276" name="Connector 275"/>
          <p:cNvCxnSpPr/>
          <p:nvPr/>
        </p:nvCxnSpPr>
        <p:spPr>
          <a:xfrm>
            <a:off x="10396728" y="84124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Oval 276"/>
          <p:cNvSpPr/>
          <p:nvPr/>
        </p:nvSpPr>
        <p:spPr>
          <a:xfrm>
            <a:off x="10988802" y="6103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8" name="Connector 277"/>
          <p:cNvCxnSpPr/>
          <p:nvPr/>
        </p:nvCxnSpPr>
        <p:spPr>
          <a:xfrm>
            <a:off x="11018520" y="640080"/>
            <a:ext cx="0" cy="3657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Oval 278"/>
          <p:cNvSpPr/>
          <p:nvPr/>
        </p:nvSpPr>
        <p:spPr>
          <a:xfrm>
            <a:off x="10853928" y="67665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215</a:t>
            </a:r>
          </a:p>
        </p:txBody>
      </p:sp>
      <p:cxnSp>
        <p:nvCxnSpPr>
          <p:cNvPr id="280" name="Connector 279"/>
          <p:cNvCxnSpPr/>
          <p:nvPr/>
        </p:nvCxnSpPr>
        <p:spPr>
          <a:xfrm>
            <a:off x="10853928" y="84124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8046720" y="1005840"/>
            <a:ext cx="0" cy="11430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TextBox 281"/>
          <p:cNvSpPr txBox="1"/>
          <p:nvPr/>
        </p:nvSpPr>
        <p:spPr>
          <a:xfrm>
            <a:off x="8101583" y="1481328"/>
            <a:ext cx="51409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6"-P-205</a:t>
            </a:r>
          </a:p>
        </p:txBody>
      </p:sp>
      <p:sp>
        <p:nvSpPr>
          <p:cNvPr id="283" name="Oval 282"/>
          <p:cNvSpPr/>
          <p:nvPr/>
        </p:nvSpPr>
        <p:spPr>
          <a:xfrm>
            <a:off x="8017002" y="17533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4" name="Connector 283"/>
          <p:cNvCxnSpPr/>
          <p:nvPr/>
        </p:nvCxnSpPr>
        <p:spPr>
          <a:xfrm>
            <a:off x="8046720" y="1783080"/>
            <a:ext cx="2468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Oval 284"/>
          <p:cNvSpPr/>
          <p:nvPr/>
        </p:nvSpPr>
        <p:spPr>
          <a:xfrm>
            <a:off x="8293608" y="16184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213</a:t>
            </a:r>
          </a:p>
        </p:txBody>
      </p:sp>
      <p:cxnSp>
        <p:nvCxnSpPr>
          <p:cNvPr id="286" name="Connector 285"/>
          <p:cNvCxnSpPr/>
          <p:nvPr/>
        </p:nvCxnSpPr>
        <p:spPr>
          <a:xfrm>
            <a:off x="8293608" y="17830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Rounded Rectangle 286"/>
          <p:cNvSpPr/>
          <p:nvPr/>
        </p:nvSpPr>
        <p:spPr>
          <a:xfrm>
            <a:off x="7726679" y="214884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8322309" y="2240280"/>
            <a:ext cx="45466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Arial"/>
              </a:rPr>
              <a:t>V-202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8213343" y="2359152"/>
            <a:ext cx="67259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REFLUX DRUM</a:t>
            </a:r>
          </a:p>
        </p:txBody>
      </p:sp>
      <p:cxnSp>
        <p:nvCxnSpPr>
          <p:cNvPr id="290" name="Connector 289"/>
          <p:cNvCxnSpPr/>
          <p:nvPr/>
        </p:nvCxnSpPr>
        <p:spPr>
          <a:xfrm flipV="1">
            <a:off x="9144000" y="1874519"/>
            <a:ext cx="0" cy="274321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9144000" y="1874519"/>
            <a:ext cx="21488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2" name="TextBox 291"/>
          <p:cNvSpPr txBox="1"/>
          <p:nvPr/>
        </p:nvSpPr>
        <p:spPr>
          <a:xfrm>
            <a:off x="9198864" y="1911095"/>
            <a:ext cx="51409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1"-P-206</a:t>
            </a:r>
          </a:p>
        </p:txBody>
      </p:sp>
      <p:sp>
        <p:nvSpPr>
          <p:cNvPr id="293" name="Freeform 292"/>
          <p:cNvSpPr/>
          <p:nvPr/>
        </p:nvSpPr>
        <p:spPr>
          <a:xfrm>
            <a:off x="9528048" y="1796795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4" name="Connector 293"/>
          <p:cNvCxnSpPr/>
          <p:nvPr/>
        </p:nvCxnSpPr>
        <p:spPr>
          <a:xfrm flipV="1">
            <a:off x="9646920" y="1645919"/>
            <a:ext cx="0" cy="15087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Freeform 294"/>
          <p:cNvSpPr/>
          <p:nvPr/>
        </p:nvSpPr>
        <p:spPr>
          <a:xfrm>
            <a:off x="9528048" y="1545335"/>
            <a:ext cx="237744" cy="100584"/>
          </a:xfrm>
          <a:custGeom>
            <a:avLst/>
            <a:gdLst/>
            <a:ahLst/>
            <a:cxnLst/>
            <a:rect l="l" t="t" r="r" b="b"/>
            <a:pathLst>
              <a:path w="237744" h="100584">
                <a:moveTo>
                  <a:pt x="0" y="100584"/>
                </a:moveTo>
                <a:lnTo>
                  <a:pt x="0" y="100584"/>
                </a:lnTo>
                <a:lnTo>
                  <a:pt x="9048" y="62093"/>
                </a:lnTo>
                <a:lnTo>
                  <a:pt x="34816" y="29461"/>
                </a:lnTo>
                <a:lnTo>
                  <a:pt x="73381" y="7657"/>
                </a:lnTo>
                <a:lnTo>
                  <a:pt x="118872" y="0"/>
                </a:lnTo>
                <a:lnTo>
                  <a:pt x="164362" y="7657"/>
                </a:lnTo>
                <a:lnTo>
                  <a:pt x="202927" y="29461"/>
                </a:lnTo>
                <a:lnTo>
                  <a:pt x="228695" y="62093"/>
                </a:lnTo>
                <a:lnTo>
                  <a:pt x="237744" y="100584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9324594" y="1984248"/>
            <a:ext cx="64465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PV-210 FO</a:t>
            </a:r>
          </a:p>
        </p:txBody>
      </p:sp>
      <p:sp>
        <p:nvSpPr>
          <p:cNvPr id="297" name="Freeform 296"/>
          <p:cNvSpPr/>
          <p:nvPr/>
        </p:nvSpPr>
        <p:spPr>
          <a:xfrm>
            <a:off x="10049256" y="1805939"/>
            <a:ext cx="201168" cy="137161"/>
          </a:xfrm>
          <a:custGeom>
            <a:avLst/>
            <a:gdLst/>
            <a:ahLst/>
            <a:cxnLst/>
            <a:rect l="l" t="t" r="r" b="b"/>
            <a:pathLst>
              <a:path w="201168" h="137161">
                <a:moveTo>
                  <a:pt x="0" y="0"/>
                </a:moveTo>
                <a:lnTo>
                  <a:pt x="201168" y="137161"/>
                </a:lnTo>
                <a:lnTo>
                  <a:pt x="201168" y="0"/>
                </a:lnTo>
                <a:lnTo>
                  <a:pt x="0" y="13716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9919716" y="1965960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HV-210</a:t>
            </a:r>
          </a:p>
        </p:txBody>
      </p:sp>
      <p:cxnSp>
        <p:nvCxnSpPr>
          <p:cNvPr id="299" name="Connector 298"/>
          <p:cNvCxnSpPr/>
          <p:nvPr/>
        </p:nvCxnSpPr>
        <p:spPr>
          <a:xfrm>
            <a:off x="10529316" y="1755648"/>
            <a:ext cx="0" cy="237743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10593324" y="1755648"/>
            <a:ext cx="0" cy="237743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TextBox 300"/>
          <p:cNvSpPr txBox="1"/>
          <p:nvPr/>
        </p:nvSpPr>
        <p:spPr>
          <a:xfrm>
            <a:off x="10625328" y="1938527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FE-217</a:t>
            </a:r>
          </a:p>
        </p:txBody>
      </p:sp>
      <p:cxnSp>
        <p:nvCxnSpPr>
          <p:cNvPr id="302" name="Connector 301"/>
          <p:cNvCxnSpPr/>
          <p:nvPr/>
        </p:nvCxnSpPr>
        <p:spPr>
          <a:xfrm flipV="1">
            <a:off x="10561320" y="1737360"/>
            <a:ext cx="0" cy="182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Oval 302"/>
          <p:cNvSpPr/>
          <p:nvPr/>
        </p:nvSpPr>
        <p:spPr>
          <a:xfrm>
            <a:off x="10396728" y="140817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217</a:t>
            </a:r>
          </a:p>
        </p:txBody>
      </p:sp>
      <p:cxnSp>
        <p:nvCxnSpPr>
          <p:cNvPr id="304" name="Connector 303"/>
          <p:cNvCxnSpPr/>
          <p:nvPr/>
        </p:nvCxnSpPr>
        <p:spPr>
          <a:xfrm>
            <a:off x="10396728" y="157276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5" name="TextBox 304"/>
          <p:cNvSpPr txBox="1"/>
          <p:nvPr/>
        </p:nvSpPr>
        <p:spPr>
          <a:xfrm>
            <a:off x="10525252" y="1636775"/>
            <a:ext cx="767588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TO FUEL GAS</a:t>
            </a:r>
          </a:p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0.40 MPa g</a:t>
            </a:r>
          </a:p>
        </p:txBody>
      </p:sp>
      <p:cxnSp>
        <p:nvCxnSpPr>
          <p:cNvPr id="306" name="Connector 305"/>
          <p:cNvCxnSpPr/>
          <p:nvPr/>
        </p:nvCxnSpPr>
        <p:spPr>
          <a:xfrm>
            <a:off x="7068312" y="1188720"/>
            <a:ext cx="15544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7223760" y="1188720"/>
            <a:ext cx="0" cy="256032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7223760" y="1444752"/>
            <a:ext cx="242316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9646920" y="1444752"/>
            <a:ext cx="0" cy="100584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9345168" y="2267712"/>
            <a:ext cx="32004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1" name="Oval 310"/>
          <p:cNvSpPr/>
          <p:nvPr/>
        </p:nvSpPr>
        <p:spPr>
          <a:xfrm>
            <a:off x="9665208" y="210312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LS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203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10177272" y="2066543"/>
            <a:ext cx="402336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0213848" y="210312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203</a:t>
            </a:r>
          </a:p>
        </p:txBody>
      </p:sp>
      <p:cxnSp>
        <p:nvCxnSpPr>
          <p:cNvPr id="314" name="Connector 313"/>
          <p:cNvCxnSpPr/>
          <p:nvPr/>
        </p:nvCxnSpPr>
        <p:spPr>
          <a:xfrm>
            <a:off x="10213848" y="226771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9994392" y="2267712"/>
            <a:ext cx="18288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9326880" y="2514600"/>
            <a:ext cx="18288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9509760" y="2514600"/>
            <a:ext cx="0" cy="2468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9509760" y="2761488"/>
            <a:ext cx="1554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Oval 318"/>
          <p:cNvSpPr/>
          <p:nvPr/>
        </p:nvSpPr>
        <p:spPr>
          <a:xfrm>
            <a:off x="9665208" y="259689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203</a:t>
            </a:r>
          </a:p>
        </p:txBody>
      </p:sp>
      <p:sp>
        <p:nvSpPr>
          <p:cNvPr id="320" name="Oval 319"/>
          <p:cNvSpPr/>
          <p:nvPr/>
        </p:nvSpPr>
        <p:spPr>
          <a:xfrm>
            <a:off x="10213848" y="259689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203</a:t>
            </a:r>
          </a:p>
        </p:txBody>
      </p:sp>
      <p:cxnSp>
        <p:nvCxnSpPr>
          <p:cNvPr id="321" name="Connector 320"/>
          <p:cNvCxnSpPr/>
          <p:nvPr/>
        </p:nvCxnSpPr>
        <p:spPr>
          <a:xfrm>
            <a:off x="10213848" y="276148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9994392" y="2761488"/>
            <a:ext cx="21945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8001000" y="2606040"/>
            <a:ext cx="0" cy="10058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8001000" y="306324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8823960" y="3063240"/>
            <a:ext cx="7315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6" name="Freeform 325"/>
          <p:cNvSpPr/>
          <p:nvPr/>
        </p:nvSpPr>
        <p:spPr>
          <a:xfrm>
            <a:off x="8129016" y="2994660"/>
            <a:ext cx="201167" cy="137160"/>
          </a:xfrm>
          <a:custGeom>
            <a:avLst/>
            <a:gdLst/>
            <a:ahLst/>
            <a:cxnLst/>
            <a:rect l="l" t="t" r="r" b="b"/>
            <a:pathLst>
              <a:path w="201167" h="137160">
                <a:moveTo>
                  <a:pt x="0" y="0"/>
                </a:moveTo>
                <a:lnTo>
                  <a:pt x="201167" y="137160"/>
                </a:lnTo>
                <a:lnTo>
                  <a:pt x="201167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7999476" y="3154680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MV-211</a:t>
            </a:r>
          </a:p>
        </p:txBody>
      </p:sp>
      <p:sp>
        <p:nvSpPr>
          <p:cNvPr id="328" name="Freeform 327"/>
          <p:cNvSpPr/>
          <p:nvPr/>
        </p:nvSpPr>
        <p:spPr>
          <a:xfrm>
            <a:off x="8485632" y="3172968"/>
            <a:ext cx="310896" cy="164592"/>
          </a:xfrm>
          <a:custGeom>
            <a:avLst/>
            <a:gdLst/>
            <a:ahLst/>
            <a:cxnLst/>
            <a:rect l="l" t="t" r="r" b="b"/>
            <a:pathLst>
              <a:path w="310896" h="164592">
                <a:moveTo>
                  <a:pt x="0" y="164592"/>
                </a:moveTo>
                <a:lnTo>
                  <a:pt x="310896" y="164592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8458200" y="2880360"/>
            <a:ext cx="365760" cy="36576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8558784" y="2953512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19456" h="219456">
                <a:moveTo>
                  <a:pt x="0" y="0"/>
                </a:moveTo>
                <a:lnTo>
                  <a:pt x="219456" y="109728"/>
                </a:lnTo>
                <a:lnTo>
                  <a:pt x="0" y="219456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8377427" y="2697480"/>
            <a:ext cx="52730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Arial"/>
              </a:rPr>
              <a:t>P-202A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8463280" y="2807208"/>
            <a:ext cx="3556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MOTOR</a:t>
            </a:r>
          </a:p>
        </p:txBody>
      </p:sp>
      <p:sp>
        <p:nvSpPr>
          <p:cNvPr id="333" name="Freeform 332"/>
          <p:cNvSpPr/>
          <p:nvPr/>
        </p:nvSpPr>
        <p:spPr>
          <a:xfrm>
            <a:off x="8915400" y="2980029"/>
            <a:ext cx="184251" cy="166421"/>
          </a:xfrm>
          <a:custGeom>
            <a:avLst/>
            <a:gdLst/>
            <a:ahLst/>
            <a:cxnLst/>
            <a:rect l="l" t="t" r="r" b="b"/>
            <a:pathLst>
              <a:path w="184251" h="166421">
                <a:moveTo>
                  <a:pt x="0" y="0"/>
                </a:moveTo>
                <a:lnTo>
                  <a:pt x="184251" y="83211"/>
                </a:lnTo>
                <a:lnTo>
                  <a:pt x="0" y="16642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4" name="Connector 333"/>
          <p:cNvCxnSpPr/>
          <p:nvPr/>
        </p:nvCxnSpPr>
        <p:spPr>
          <a:xfrm>
            <a:off x="9099651" y="2980029"/>
            <a:ext cx="0" cy="166421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5" name="TextBox 334"/>
          <p:cNvSpPr txBox="1"/>
          <p:nvPr/>
        </p:nvSpPr>
        <p:spPr>
          <a:xfrm>
            <a:off x="8773414" y="3154680"/>
            <a:ext cx="52171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NRV-211</a:t>
            </a:r>
          </a:p>
        </p:txBody>
      </p:sp>
      <p:sp>
        <p:nvSpPr>
          <p:cNvPr id="336" name="Freeform 335"/>
          <p:cNvSpPr/>
          <p:nvPr/>
        </p:nvSpPr>
        <p:spPr>
          <a:xfrm>
            <a:off x="9208008" y="2994660"/>
            <a:ext cx="201168" cy="137160"/>
          </a:xfrm>
          <a:custGeom>
            <a:avLst/>
            <a:gdLst/>
            <a:ahLst/>
            <a:cxnLst/>
            <a:rect l="l" t="t" r="r" b="b"/>
            <a:pathLst>
              <a:path w="201168" h="137160">
                <a:moveTo>
                  <a:pt x="0" y="0"/>
                </a:moveTo>
                <a:lnTo>
                  <a:pt x="201168" y="137160"/>
                </a:lnTo>
                <a:lnTo>
                  <a:pt x="201168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9078468" y="3154680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MV-213</a:t>
            </a:r>
          </a:p>
        </p:txBody>
      </p:sp>
      <p:cxnSp>
        <p:nvCxnSpPr>
          <p:cNvPr id="338" name="Connector 337"/>
          <p:cNvCxnSpPr/>
          <p:nvPr/>
        </p:nvCxnSpPr>
        <p:spPr>
          <a:xfrm>
            <a:off x="8001000" y="3611880"/>
            <a:ext cx="4572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8823960" y="3611880"/>
            <a:ext cx="7315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Freeform 339"/>
          <p:cNvSpPr/>
          <p:nvPr/>
        </p:nvSpPr>
        <p:spPr>
          <a:xfrm>
            <a:off x="8129016" y="3543300"/>
            <a:ext cx="201167" cy="137160"/>
          </a:xfrm>
          <a:custGeom>
            <a:avLst/>
            <a:gdLst/>
            <a:ahLst/>
            <a:cxnLst/>
            <a:rect l="l" t="t" r="r" b="b"/>
            <a:pathLst>
              <a:path w="201167" h="137160">
                <a:moveTo>
                  <a:pt x="0" y="0"/>
                </a:moveTo>
                <a:lnTo>
                  <a:pt x="201167" y="137160"/>
                </a:lnTo>
                <a:lnTo>
                  <a:pt x="201167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7999476" y="3703320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MV-212</a:t>
            </a:r>
          </a:p>
        </p:txBody>
      </p:sp>
      <p:sp>
        <p:nvSpPr>
          <p:cNvPr id="342" name="Freeform 341"/>
          <p:cNvSpPr/>
          <p:nvPr/>
        </p:nvSpPr>
        <p:spPr>
          <a:xfrm>
            <a:off x="8485632" y="3721608"/>
            <a:ext cx="310896" cy="164592"/>
          </a:xfrm>
          <a:custGeom>
            <a:avLst/>
            <a:gdLst/>
            <a:ahLst/>
            <a:cxnLst/>
            <a:rect l="l" t="t" r="r" b="b"/>
            <a:pathLst>
              <a:path w="310896" h="164592">
                <a:moveTo>
                  <a:pt x="0" y="164592"/>
                </a:moveTo>
                <a:lnTo>
                  <a:pt x="310896" y="164592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8458200" y="3429000"/>
            <a:ext cx="365760" cy="36576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8558784" y="3502152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19456" h="219456">
                <a:moveTo>
                  <a:pt x="0" y="0"/>
                </a:moveTo>
                <a:lnTo>
                  <a:pt x="219456" y="109728"/>
                </a:lnTo>
                <a:lnTo>
                  <a:pt x="0" y="219456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8377427" y="3886200"/>
            <a:ext cx="52730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Arial"/>
              </a:rPr>
              <a:t>P-202B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8463280" y="3995928"/>
            <a:ext cx="3556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MOTOR</a:t>
            </a:r>
          </a:p>
        </p:txBody>
      </p:sp>
      <p:sp>
        <p:nvSpPr>
          <p:cNvPr id="347" name="Freeform 346"/>
          <p:cNvSpPr/>
          <p:nvPr/>
        </p:nvSpPr>
        <p:spPr>
          <a:xfrm>
            <a:off x="8915400" y="3528669"/>
            <a:ext cx="184251" cy="166421"/>
          </a:xfrm>
          <a:custGeom>
            <a:avLst/>
            <a:gdLst/>
            <a:ahLst/>
            <a:cxnLst/>
            <a:rect l="l" t="t" r="r" b="b"/>
            <a:pathLst>
              <a:path w="184251" h="166421">
                <a:moveTo>
                  <a:pt x="0" y="0"/>
                </a:moveTo>
                <a:lnTo>
                  <a:pt x="184251" y="83211"/>
                </a:lnTo>
                <a:lnTo>
                  <a:pt x="0" y="16642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8" name="Connector 347"/>
          <p:cNvCxnSpPr/>
          <p:nvPr/>
        </p:nvCxnSpPr>
        <p:spPr>
          <a:xfrm>
            <a:off x="9099651" y="3528669"/>
            <a:ext cx="0" cy="166421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9" name="TextBox 348"/>
          <p:cNvSpPr txBox="1"/>
          <p:nvPr/>
        </p:nvSpPr>
        <p:spPr>
          <a:xfrm>
            <a:off x="8773414" y="3703320"/>
            <a:ext cx="52171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NRV-212</a:t>
            </a:r>
          </a:p>
        </p:txBody>
      </p:sp>
      <p:sp>
        <p:nvSpPr>
          <p:cNvPr id="350" name="Freeform 349"/>
          <p:cNvSpPr/>
          <p:nvPr/>
        </p:nvSpPr>
        <p:spPr>
          <a:xfrm>
            <a:off x="9208008" y="3543300"/>
            <a:ext cx="201168" cy="137160"/>
          </a:xfrm>
          <a:custGeom>
            <a:avLst/>
            <a:gdLst/>
            <a:ahLst/>
            <a:cxnLst/>
            <a:rect l="l" t="t" r="r" b="b"/>
            <a:pathLst>
              <a:path w="201168" h="137160">
                <a:moveTo>
                  <a:pt x="0" y="0"/>
                </a:moveTo>
                <a:lnTo>
                  <a:pt x="201168" y="137160"/>
                </a:lnTo>
                <a:lnTo>
                  <a:pt x="201168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9078468" y="3703320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MV-214</a:t>
            </a:r>
          </a:p>
        </p:txBody>
      </p:sp>
      <p:sp>
        <p:nvSpPr>
          <p:cNvPr id="352" name="Oval 351"/>
          <p:cNvSpPr/>
          <p:nvPr/>
        </p:nvSpPr>
        <p:spPr>
          <a:xfrm>
            <a:off x="7971281" y="30335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3" name="Connector 352"/>
          <p:cNvCxnSpPr/>
          <p:nvPr/>
        </p:nvCxnSpPr>
        <p:spPr>
          <a:xfrm>
            <a:off x="9555480" y="3063240"/>
            <a:ext cx="0" cy="10972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4" name="Oval 353"/>
          <p:cNvSpPr/>
          <p:nvPr/>
        </p:nvSpPr>
        <p:spPr>
          <a:xfrm>
            <a:off x="9525761" y="35821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7441183" y="2788920"/>
            <a:ext cx="51409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000000"/>
                </a:solidFill>
                <a:latin typeface="Arial"/>
              </a:rPr>
              <a:t>6"-P-207</a:t>
            </a:r>
          </a:p>
        </p:txBody>
      </p:sp>
      <p:sp>
        <p:nvSpPr>
          <p:cNvPr id="356" name="Oval 355"/>
          <p:cNvSpPr/>
          <p:nvPr/>
        </p:nvSpPr>
        <p:spPr>
          <a:xfrm>
            <a:off x="9525761" y="330784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7" name="Connector 356"/>
          <p:cNvCxnSpPr/>
          <p:nvPr/>
        </p:nvCxnSpPr>
        <p:spPr>
          <a:xfrm>
            <a:off x="9555480" y="3337560"/>
            <a:ext cx="2926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" name="Oval 357"/>
          <p:cNvSpPr/>
          <p:nvPr/>
        </p:nvSpPr>
        <p:spPr>
          <a:xfrm>
            <a:off x="9848088" y="31729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PDT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230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10424159" y="3136391"/>
            <a:ext cx="402336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10460736" y="31729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PDSL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230</a:t>
            </a:r>
          </a:p>
        </p:txBody>
      </p:sp>
      <p:cxnSp>
        <p:nvCxnSpPr>
          <p:cNvPr id="361" name="Connector 360"/>
          <p:cNvCxnSpPr/>
          <p:nvPr/>
        </p:nvCxnSpPr>
        <p:spPr>
          <a:xfrm>
            <a:off x="10460736" y="333756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10177272" y="3337560"/>
            <a:ext cx="24688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3" name="TextBox 362"/>
          <p:cNvSpPr txBox="1"/>
          <p:nvPr/>
        </p:nvSpPr>
        <p:spPr>
          <a:xfrm>
            <a:off x="10130536" y="3566160"/>
            <a:ext cx="98958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AUTO-START P-202B</a:t>
            </a:r>
          </a:p>
        </p:txBody>
      </p:sp>
      <p:sp>
        <p:nvSpPr>
          <p:cNvPr id="364" name="Oval 363"/>
          <p:cNvSpPr/>
          <p:nvPr/>
        </p:nvSpPr>
        <p:spPr>
          <a:xfrm>
            <a:off x="9525761" y="41308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8641080" y="4197096"/>
            <a:ext cx="51409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4"-P-208</a:t>
            </a:r>
          </a:p>
        </p:txBody>
      </p:sp>
      <p:cxnSp>
        <p:nvCxnSpPr>
          <p:cNvPr id="366" name="Connector 365"/>
          <p:cNvCxnSpPr/>
          <p:nvPr/>
        </p:nvCxnSpPr>
        <p:spPr>
          <a:xfrm flipH="1">
            <a:off x="6949440" y="4160520"/>
            <a:ext cx="26060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V="1">
            <a:off x="6949440" y="2578608"/>
            <a:ext cx="0" cy="158191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H="1">
            <a:off x="5961888" y="2578608"/>
            <a:ext cx="987552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9" name="TextBox 368"/>
          <p:cNvSpPr txBox="1"/>
          <p:nvPr/>
        </p:nvSpPr>
        <p:spPr>
          <a:xfrm>
            <a:off x="6007607" y="2423160"/>
            <a:ext cx="424281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" b="0">
                <a:solidFill>
                  <a:srgbClr val="000000"/>
                </a:solidFill>
                <a:latin typeface="Arial"/>
              </a:rPr>
              <a:t>TRAY 27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7004303" y="3246120"/>
            <a:ext cx="51409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4"-P-209</a:t>
            </a:r>
          </a:p>
        </p:txBody>
      </p:sp>
      <p:sp>
        <p:nvSpPr>
          <p:cNvPr id="371" name="Freeform 370"/>
          <p:cNvSpPr/>
          <p:nvPr/>
        </p:nvSpPr>
        <p:spPr>
          <a:xfrm>
            <a:off x="7424927" y="4082796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2" name="Connector 371"/>
          <p:cNvCxnSpPr/>
          <p:nvPr/>
        </p:nvCxnSpPr>
        <p:spPr>
          <a:xfrm flipV="1">
            <a:off x="7543800" y="3931920"/>
            <a:ext cx="0" cy="15087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Freeform 372"/>
          <p:cNvSpPr/>
          <p:nvPr/>
        </p:nvSpPr>
        <p:spPr>
          <a:xfrm>
            <a:off x="7424927" y="3831335"/>
            <a:ext cx="237745" cy="100585"/>
          </a:xfrm>
          <a:custGeom>
            <a:avLst/>
            <a:gdLst/>
            <a:ahLst/>
            <a:cxnLst/>
            <a:rect l="l" t="t" r="r" b="b"/>
            <a:pathLst>
              <a:path w="237745" h="100585">
                <a:moveTo>
                  <a:pt x="0" y="100585"/>
                </a:moveTo>
                <a:lnTo>
                  <a:pt x="0" y="100585"/>
                </a:lnTo>
                <a:lnTo>
                  <a:pt x="9049" y="62093"/>
                </a:lnTo>
                <a:lnTo>
                  <a:pt x="34817" y="29461"/>
                </a:lnTo>
                <a:lnTo>
                  <a:pt x="73382" y="7657"/>
                </a:lnTo>
                <a:lnTo>
                  <a:pt x="118873" y="0"/>
                </a:lnTo>
                <a:lnTo>
                  <a:pt x="164363" y="7657"/>
                </a:lnTo>
                <a:lnTo>
                  <a:pt x="202928" y="29461"/>
                </a:lnTo>
                <a:lnTo>
                  <a:pt x="228696" y="62093"/>
                </a:lnTo>
                <a:lnTo>
                  <a:pt x="237745" y="100585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TextBox 373"/>
          <p:cNvSpPr txBox="1"/>
          <p:nvPr/>
        </p:nvSpPr>
        <p:spPr>
          <a:xfrm>
            <a:off x="7221474" y="4270248"/>
            <a:ext cx="64465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FV-204 FO</a:t>
            </a:r>
          </a:p>
        </p:txBody>
      </p:sp>
      <p:cxnSp>
        <p:nvCxnSpPr>
          <p:cNvPr id="375" name="Connector 374"/>
          <p:cNvCxnSpPr/>
          <p:nvPr/>
        </p:nvCxnSpPr>
        <p:spPr>
          <a:xfrm>
            <a:off x="8334756" y="4041648"/>
            <a:ext cx="0" cy="237744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>
            <a:off x="8398764" y="4041648"/>
            <a:ext cx="0" cy="237744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7" name="TextBox 376"/>
          <p:cNvSpPr txBox="1"/>
          <p:nvPr/>
        </p:nvSpPr>
        <p:spPr>
          <a:xfrm>
            <a:off x="8136636" y="3931920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FE-204</a:t>
            </a:r>
          </a:p>
        </p:txBody>
      </p:sp>
      <p:cxnSp>
        <p:nvCxnSpPr>
          <p:cNvPr id="378" name="Connector 377"/>
          <p:cNvCxnSpPr/>
          <p:nvPr/>
        </p:nvCxnSpPr>
        <p:spPr>
          <a:xfrm>
            <a:off x="8366760" y="4279392"/>
            <a:ext cx="0" cy="17373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9" name="Oval 378"/>
          <p:cNvSpPr/>
          <p:nvPr/>
        </p:nvSpPr>
        <p:spPr>
          <a:xfrm>
            <a:off x="8202168" y="44531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204</a:t>
            </a:r>
          </a:p>
        </p:txBody>
      </p:sp>
      <p:sp>
        <p:nvSpPr>
          <p:cNvPr id="380" name="Oval 379"/>
          <p:cNvSpPr/>
          <p:nvPr/>
        </p:nvSpPr>
        <p:spPr>
          <a:xfrm>
            <a:off x="7379208" y="44531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204</a:t>
            </a:r>
          </a:p>
        </p:txBody>
      </p:sp>
      <p:cxnSp>
        <p:nvCxnSpPr>
          <p:cNvPr id="381" name="Connector 380"/>
          <p:cNvCxnSpPr/>
          <p:nvPr/>
        </p:nvCxnSpPr>
        <p:spPr>
          <a:xfrm>
            <a:off x="7379208" y="46177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 flipH="1">
            <a:off x="7708392" y="4617720"/>
            <a:ext cx="49377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 flipH="1">
            <a:off x="7205472" y="4617720"/>
            <a:ext cx="17373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 flipV="1">
            <a:off x="7205472" y="3813048"/>
            <a:ext cx="0" cy="804672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>
            <a:off x="7205472" y="3813048"/>
            <a:ext cx="33832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6" name="TextBox 385"/>
          <p:cNvSpPr txBox="1"/>
          <p:nvPr/>
        </p:nvSpPr>
        <p:spPr>
          <a:xfrm>
            <a:off x="7355433" y="4809744"/>
            <a:ext cx="37673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50" b="0">
                <a:solidFill>
                  <a:srgbClr val="000000"/>
                </a:solidFill>
                <a:latin typeface="Arial"/>
              </a:rPr>
              <a:t>NOTE 8</a:t>
            </a:r>
          </a:p>
        </p:txBody>
      </p:sp>
      <p:cxnSp>
        <p:nvCxnSpPr>
          <p:cNvPr id="387" name="Connector 386"/>
          <p:cNvCxnSpPr/>
          <p:nvPr/>
        </p:nvCxnSpPr>
        <p:spPr>
          <a:xfrm>
            <a:off x="9555480" y="4160520"/>
            <a:ext cx="17373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Freeform 387"/>
          <p:cNvSpPr/>
          <p:nvPr/>
        </p:nvSpPr>
        <p:spPr>
          <a:xfrm>
            <a:off x="9848088" y="408279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9" name="Connector 388"/>
          <p:cNvCxnSpPr/>
          <p:nvPr/>
        </p:nvCxnSpPr>
        <p:spPr>
          <a:xfrm flipV="1">
            <a:off x="9966960" y="3931920"/>
            <a:ext cx="0" cy="15087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Freeform 389"/>
          <p:cNvSpPr/>
          <p:nvPr/>
        </p:nvSpPr>
        <p:spPr>
          <a:xfrm>
            <a:off x="9848088" y="3831335"/>
            <a:ext cx="237744" cy="100585"/>
          </a:xfrm>
          <a:custGeom>
            <a:avLst/>
            <a:gdLst/>
            <a:ahLst/>
            <a:cxnLst/>
            <a:rect l="l" t="t" r="r" b="b"/>
            <a:pathLst>
              <a:path w="237744" h="100585">
                <a:moveTo>
                  <a:pt x="0" y="100585"/>
                </a:moveTo>
                <a:lnTo>
                  <a:pt x="0" y="100585"/>
                </a:lnTo>
                <a:lnTo>
                  <a:pt x="9048" y="62093"/>
                </a:lnTo>
                <a:lnTo>
                  <a:pt x="34816" y="29461"/>
                </a:lnTo>
                <a:lnTo>
                  <a:pt x="73381" y="7657"/>
                </a:lnTo>
                <a:lnTo>
                  <a:pt x="118872" y="0"/>
                </a:lnTo>
                <a:lnTo>
                  <a:pt x="164362" y="7657"/>
                </a:lnTo>
                <a:lnTo>
                  <a:pt x="202927" y="29461"/>
                </a:lnTo>
                <a:lnTo>
                  <a:pt x="228695" y="62093"/>
                </a:lnTo>
                <a:lnTo>
                  <a:pt x="237744" y="100585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TextBox 390"/>
          <p:cNvSpPr txBox="1"/>
          <p:nvPr/>
        </p:nvSpPr>
        <p:spPr>
          <a:xfrm>
            <a:off x="9644634" y="4270248"/>
            <a:ext cx="64465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LV-203 FC</a:t>
            </a:r>
          </a:p>
        </p:txBody>
      </p:sp>
      <p:cxnSp>
        <p:nvCxnSpPr>
          <p:cNvPr id="392" name="Connector 391"/>
          <p:cNvCxnSpPr/>
          <p:nvPr/>
        </p:nvCxnSpPr>
        <p:spPr>
          <a:xfrm>
            <a:off x="10543032" y="2761488"/>
            <a:ext cx="52120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11064240" y="2761488"/>
            <a:ext cx="0" cy="105156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 flipH="1">
            <a:off x="9966960" y="3813048"/>
            <a:ext cx="109728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10437876" y="4041648"/>
            <a:ext cx="0" cy="237744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>
            <a:off x="10501884" y="4041648"/>
            <a:ext cx="0" cy="237744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7" name="TextBox 396"/>
          <p:cNvSpPr txBox="1"/>
          <p:nvPr/>
        </p:nvSpPr>
        <p:spPr>
          <a:xfrm>
            <a:off x="10515600" y="4251959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FE-203</a:t>
            </a:r>
          </a:p>
        </p:txBody>
      </p:sp>
      <p:cxnSp>
        <p:nvCxnSpPr>
          <p:cNvPr id="398" name="Connector 397"/>
          <p:cNvCxnSpPr/>
          <p:nvPr/>
        </p:nvCxnSpPr>
        <p:spPr>
          <a:xfrm>
            <a:off x="10469880" y="4279392"/>
            <a:ext cx="0" cy="17373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9" name="Oval 398"/>
          <p:cNvSpPr/>
          <p:nvPr/>
        </p:nvSpPr>
        <p:spPr>
          <a:xfrm>
            <a:off x="10305288" y="44531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203</a:t>
            </a:r>
          </a:p>
        </p:txBody>
      </p:sp>
      <p:cxnSp>
        <p:nvCxnSpPr>
          <p:cNvPr id="400" name="Connector 399"/>
          <p:cNvCxnSpPr/>
          <p:nvPr/>
        </p:nvCxnSpPr>
        <p:spPr>
          <a:xfrm>
            <a:off x="10305288" y="46177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1" name="Oval 400"/>
          <p:cNvSpPr/>
          <p:nvPr/>
        </p:nvSpPr>
        <p:spPr>
          <a:xfrm>
            <a:off x="10897361" y="41308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2" name="Connector 401"/>
          <p:cNvCxnSpPr/>
          <p:nvPr/>
        </p:nvCxnSpPr>
        <p:spPr>
          <a:xfrm>
            <a:off x="10927080" y="4160520"/>
            <a:ext cx="0" cy="2926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3" name="Oval 402"/>
          <p:cNvSpPr/>
          <p:nvPr/>
        </p:nvSpPr>
        <p:spPr>
          <a:xfrm>
            <a:off x="10762488" y="44531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AI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219</a:t>
            </a:r>
          </a:p>
        </p:txBody>
      </p:sp>
      <p:cxnSp>
        <p:nvCxnSpPr>
          <p:cNvPr id="404" name="Connector 403"/>
          <p:cNvCxnSpPr/>
          <p:nvPr/>
        </p:nvCxnSpPr>
        <p:spPr>
          <a:xfrm>
            <a:off x="10762488" y="46177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5" name="TextBox 404"/>
          <p:cNvSpPr txBox="1"/>
          <p:nvPr/>
        </p:nvSpPr>
        <p:spPr>
          <a:xfrm>
            <a:off x="11119104" y="4507992"/>
            <a:ext cx="249935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C4+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10586720" y="3886200"/>
            <a:ext cx="70612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PROPANE TO</a:t>
            </a:r>
          </a:p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STORAGE</a:t>
            </a:r>
          </a:p>
        </p:txBody>
      </p:sp>
      <p:sp>
        <p:nvSpPr>
          <p:cNvPr id="407" name="Rectangle 406"/>
          <p:cNvSpPr/>
          <p:nvPr/>
        </p:nvSpPr>
        <p:spPr>
          <a:xfrm>
            <a:off x="7223760" y="6309360"/>
            <a:ext cx="365760" cy="128016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8" name="Connector 407"/>
          <p:cNvCxnSpPr/>
          <p:nvPr/>
        </p:nvCxnSpPr>
        <p:spPr>
          <a:xfrm>
            <a:off x="7223760" y="6437376"/>
            <a:ext cx="3657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>
            <a:off x="7223760" y="7461504"/>
            <a:ext cx="3657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>
            <a:off x="7406640" y="6437376"/>
            <a:ext cx="0" cy="1024128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1" name="TextBox 410"/>
          <p:cNvSpPr txBox="1"/>
          <p:nvPr/>
        </p:nvSpPr>
        <p:spPr>
          <a:xfrm>
            <a:off x="7662672" y="6291072"/>
            <a:ext cx="45466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>
                <a:solidFill>
                  <a:srgbClr val="000000"/>
                </a:solidFill>
                <a:latin typeface="Arial"/>
              </a:rPr>
              <a:t>E-203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7662672" y="6400800"/>
            <a:ext cx="51409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REBOILER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7662672" y="6501384"/>
            <a:ext cx="83108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(THERMOSYPHON)</a:t>
            </a:r>
          </a:p>
        </p:txBody>
      </p:sp>
      <p:cxnSp>
        <p:nvCxnSpPr>
          <p:cNvPr id="414" name="Connector 413"/>
          <p:cNvCxnSpPr/>
          <p:nvPr/>
        </p:nvCxnSpPr>
        <p:spPr>
          <a:xfrm>
            <a:off x="5961888" y="7424927"/>
            <a:ext cx="94183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6903720" y="7424927"/>
            <a:ext cx="0" cy="347473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>
            <a:off x="6903720" y="7772400"/>
            <a:ext cx="5029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 flipV="1">
            <a:off x="7406640" y="758952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8" name="TextBox 417"/>
          <p:cNvSpPr txBox="1"/>
          <p:nvPr/>
        </p:nvSpPr>
        <p:spPr>
          <a:xfrm>
            <a:off x="6035040" y="7287767"/>
            <a:ext cx="51409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8"-P-211</a:t>
            </a:r>
          </a:p>
        </p:txBody>
      </p:sp>
      <p:cxnSp>
        <p:nvCxnSpPr>
          <p:cNvPr id="419" name="Connector 418"/>
          <p:cNvCxnSpPr/>
          <p:nvPr/>
        </p:nvCxnSpPr>
        <p:spPr>
          <a:xfrm flipV="1">
            <a:off x="7406640" y="6144768"/>
            <a:ext cx="0" cy="164592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H="1">
            <a:off x="6629400" y="6144768"/>
            <a:ext cx="7772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>
            <a:off x="6629400" y="6144768"/>
            <a:ext cx="0" cy="85953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 flipH="1">
            <a:off x="5961888" y="7004304"/>
            <a:ext cx="667512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3" name="TextBox 422"/>
          <p:cNvSpPr txBox="1"/>
          <p:nvPr/>
        </p:nvSpPr>
        <p:spPr>
          <a:xfrm>
            <a:off x="6684264" y="6181344"/>
            <a:ext cx="5669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10"-P-212</a:t>
            </a:r>
          </a:p>
        </p:txBody>
      </p:sp>
      <p:cxnSp>
        <p:nvCxnSpPr>
          <p:cNvPr id="424" name="Connector 423"/>
          <p:cNvCxnSpPr/>
          <p:nvPr/>
        </p:nvCxnSpPr>
        <p:spPr>
          <a:xfrm flipH="1">
            <a:off x="7589520" y="6675120"/>
            <a:ext cx="370332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TextBox 424"/>
          <p:cNvSpPr txBox="1"/>
          <p:nvPr/>
        </p:nvSpPr>
        <p:spPr>
          <a:xfrm>
            <a:off x="10586720" y="6748272"/>
            <a:ext cx="70612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LP STEAM</a:t>
            </a:r>
          </a:p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0.45 MPa g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8732520" y="6711696"/>
            <a:ext cx="5669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6"-LS-302</a:t>
            </a:r>
          </a:p>
        </p:txBody>
      </p:sp>
      <p:sp>
        <p:nvSpPr>
          <p:cNvPr id="427" name="Freeform 426"/>
          <p:cNvSpPr/>
          <p:nvPr/>
        </p:nvSpPr>
        <p:spPr>
          <a:xfrm>
            <a:off x="10460736" y="6606540"/>
            <a:ext cx="201168" cy="137160"/>
          </a:xfrm>
          <a:custGeom>
            <a:avLst/>
            <a:gdLst/>
            <a:ahLst/>
            <a:cxnLst/>
            <a:rect l="l" t="t" r="r" b="b"/>
            <a:pathLst>
              <a:path w="201168" h="137160">
                <a:moveTo>
                  <a:pt x="0" y="0"/>
                </a:moveTo>
                <a:lnTo>
                  <a:pt x="201168" y="137160"/>
                </a:lnTo>
                <a:lnTo>
                  <a:pt x="201168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TextBox 427"/>
          <p:cNvSpPr txBox="1"/>
          <p:nvPr/>
        </p:nvSpPr>
        <p:spPr>
          <a:xfrm>
            <a:off x="10331196" y="6766559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HV-209</a:t>
            </a:r>
          </a:p>
        </p:txBody>
      </p:sp>
      <p:sp>
        <p:nvSpPr>
          <p:cNvPr id="429" name="Freeform 428"/>
          <p:cNvSpPr/>
          <p:nvPr/>
        </p:nvSpPr>
        <p:spPr>
          <a:xfrm>
            <a:off x="9893807" y="6597396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0" name="Connector 429"/>
          <p:cNvCxnSpPr/>
          <p:nvPr/>
        </p:nvCxnSpPr>
        <p:spPr>
          <a:xfrm flipV="1">
            <a:off x="10012680" y="647395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Rectangle 430"/>
          <p:cNvSpPr/>
          <p:nvPr/>
        </p:nvSpPr>
        <p:spPr>
          <a:xfrm>
            <a:off x="9944100" y="6364224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TextBox 431"/>
          <p:cNvSpPr txBox="1"/>
          <p:nvPr/>
        </p:nvSpPr>
        <p:spPr>
          <a:xfrm>
            <a:off x="9738359" y="6784848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XV-209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9944100" y="6364224"/>
            <a:ext cx="13716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434" name="Freeform 433"/>
          <p:cNvSpPr/>
          <p:nvPr/>
        </p:nvSpPr>
        <p:spPr>
          <a:xfrm>
            <a:off x="9208007" y="6597396"/>
            <a:ext cx="237745" cy="155448"/>
          </a:xfrm>
          <a:custGeom>
            <a:avLst/>
            <a:gdLst/>
            <a:ahLst/>
            <a:cxnLst/>
            <a:rect l="l" t="t" r="r" b="b"/>
            <a:pathLst>
              <a:path w="237745" h="155448">
                <a:moveTo>
                  <a:pt x="0" y="0"/>
                </a:moveTo>
                <a:lnTo>
                  <a:pt x="237745" y="155448"/>
                </a:lnTo>
                <a:lnTo>
                  <a:pt x="237745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5" name="Connector 434"/>
          <p:cNvCxnSpPr/>
          <p:nvPr/>
        </p:nvCxnSpPr>
        <p:spPr>
          <a:xfrm flipV="1">
            <a:off x="9326880" y="6446520"/>
            <a:ext cx="0" cy="15087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6" name="Freeform 435"/>
          <p:cNvSpPr/>
          <p:nvPr/>
        </p:nvSpPr>
        <p:spPr>
          <a:xfrm>
            <a:off x="9208007" y="6345936"/>
            <a:ext cx="237745" cy="100584"/>
          </a:xfrm>
          <a:custGeom>
            <a:avLst/>
            <a:gdLst/>
            <a:ahLst/>
            <a:cxnLst/>
            <a:rect l="l" t="t" r="r" b="b"/>
            <a:pathLst>
              <a:path w="237745" h="100584">
                <a:moveTo>
                  <a:pt x="0" y="100584"/>
                </a:moveTo>
                <a:lnTo>
                  <a:pt x="0" y="100584"/>
                </a:lnTo>
                <a:lnTo>
                  <a:pt x="9049" y="62092"/>
                </a:lnTo>
                <a:lnTo>
                  <a:pt x="34817" y="29460"/>
                </a:lnTo>
                <a:lnTo>
                  <a:pt x="73382" y="7656"/>
                </a:lnTo>
                <a:lnTo>
                  <a:pt x="118873" y="0"/>
                </a:lnTo>
                <a:lnTo>
                  <a:pt x="164363" y="7656"/>
                </a:lnTo>
                <a:lnTo>
                  <a:pt x="202928" y="29460"/>
                </a:lnTo>
                <a:lnTo>
                  <a:pt x="228696" y="62092"/>
                </a:lnTo>
                <a:lnTo>
                  <a:pt x="237745" y="100584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TextBox 436"/>
          <p:cNvSpPr txBox="1"/>
          <p:nvPr/>
        </p:nvSpPr>
        <p:spPr>
          <a:xfrm>
            <a:off x="9004554" y="6784848"/>
            <a:ext cx="64465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TV-208 FC</a:t>
            </a:r>
          </a:p>
        </p:txBody>
      </p:sp>
      <p:cxnSp>
        <p:nvCxnSpPr>
          <p:cNvPr id="438" name="Connector 437"/>
          <p:cNvCxnSpPr/>
          <p:nvPr/>
        </p:nvCxnSpPr>
        <p:spPr>
          <a:xfrm>
            <a:off x="8563356" y="6556248"/>
            <a:ext cx="0" cy="237744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8627364" y="6556248"/>
            <a:ext cx="0" cy="237744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TextBox 439"/>
          <p:cNvSpPr txBox="1"/>
          <p:nvPr/>
        </p:nvSpPr>
        <p:spPr>
          <a:xfrm>
            <a:off x="8365236" y="6812280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FE-205</a:t>
            </a:r>
          </a:p>
        </p:txBody>
      </p:sp>
      <p:cxnSp>
        <p:nvCxnSpPr>
          <p:cNvPr id="441" name="Connector 440"/>
          <p:cNvCxnSpPr/>
          <p:nvPr/>
        </p:nvCxnSpPr>
        <p:spPr>
          <a:xfrm flipV="1">
            <a:off x="8595360" y="6446520"/>
            <a:ext cx="0" cy="10972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2" name="Oval 441"/>
          <p:cNvSpPr/>
          <p:nvPr/>
        </p:nvSpPr>
        <p:spPr>
          <a:xfrm>
            <a:off x="8430768" y="611733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205</a:t>
            </a:r>
          </a:p>
        </p:txBody>
      </p:sp>
      <p:cxnSp>
        <p:nvCxnSpPr>
          <p:cNvPr id="443" name="Connector 442"/>
          <p:cNvCxnSpPr/>
          <p:nvPr/>
        </p:nvCxnSpPr>
        <p:spPr>
          <a:xfrm>
            <a:off x="8430768" y="628192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4" name="Oval 443"/>
          <p:cNvSpPr/>
          <p:nvPr/>
        </p:nvSpPr>
        <p:spPr>
          <a:xfrm>
            <a:off x="10897361" y="66454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5" name="Connector 444"/>
          <p:cNvCxnSpPr/>
          <p:nvPr/>
        </p:nvCxnSpPr>
        <p:spPr>
          <a:xfrm flipV="1">
            <a:off x="10927080" y="6446520"/>
            <a:ext cx="0" cy="22860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Oval 445"/>
          <p:cNvSpPr/>
          <p:nvPr/>
        </p:nvSpPr>
        <p:spPr>
          <a:xfrm>
            <a:off x="10762488" y="611733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207</a:t>
            </a:r>
          </a:p>
        </p:txBody>
      </p:sp>
      <p:cxnSp>
        <p:nvCxnSpPr>
          <p:cNvPr id="447" name="Connector 446"/>
          <p:cNvCxnSpPr/>
          <p:nvPr/>
        </p:nvCxnSpPr>
        <p:spPr>
          <a:xfrm>
            <a:off x="10762488" y="628192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7004304" y="5705856"/>
            <a:ext cx="232257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9326880" y="5705856"/>
            <a:ext cx="0" cy="64008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0" name="Oval 449"/>
          <p:cNvSpPr/>
          <p:nvPr/>
        </p:nvSpPr>
        <p:spPr>
          <a:xfrm>
            <a:off x="7559802" y="6938010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1" name="Connector 450"/>
          <p:cNvCxnSpPr/>
          <p:nvPr/>
        </p:nvCxnSpPr>
        <p:spPr>
          <a:xfrm>
            <a:off x="7589520" y="6967728"/>
            <a:ext cx="2468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Oval 451"/>
          <p:cNvSpPr/>
          <p:nvPr/>
        </p:nvSpPr>
        <p:spPr>
          <a:xfrm>
            <a:off x="7836408" y="680313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205</a:t>
            </a:r>
          </a:p>
        </p:txBody>
      </p:sp>
      <p:cxnSp>
        <p:nvCxnSpPr>
          <p:cNvPr id="453" name="Connector 452"/>
          <p:cNvCxnSpPr/>
          <p:nvPr/>
        </p:nvCxnSpPr>
        <p:spPr>
          <a:xfrm>
            <a:off x="7836408" y="696772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7589520" y="7424927"/>
            <a:ext cx="105156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5" name="Rectangle 454"/>
          <p:cNvSpPr/>
          <p:nvPr/>
        </p:nvSpPr>
        <p:spPr>
          <a:xfrm>
            <a:off x="8010144" y="7342631"/>
            <a:ext cx="164592" cy="164592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8010144" y="7360919"/>
            <a:ext cx="16459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7862315" y="7525511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ST-202</a:t>
            </a:r>
          </a:p>
        </p:txBody>
      </p:sp>
      <p:sp>
        <p:nvSpPr>
          <p:cNvPr id="458" name="TextBox 457"/>
          <p:cNvSpPr txBox="1"/>
          <p:nvPr/>
        </p:nvSpPr>
        <p:spPr>
          <a:xfrm>
            <a:off x="8686800" y="7370064"/>
            <a:ext cx="3556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COND.</a:t>
            </a:r>
          </a:p>
        </p:txBody>
      </p:sp>
      <p:cxnSp>
        <p:nvCxnSpPr>
          <p:cNvPr id="459" name="Connector 458"/>
          <p:cNvCxnSpPr/>
          <p:nvPr/>
        </p:nvCxnSpPr>
        <p:spPr>
          <a:xfrm>
            <a:off x="5678424" y="7726679"/>
            <a:ext cx="0" cy="612648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5678424" y="8339327"/>
            <a:ext cx="5614416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1" name="TextBox 460"/>
          <p:cNvSpPr txBox="1"/>
          <p:nvPr/>
        </p:nvSpPr>
        <p:spPr>
          <a:xfrm>
            <a:off x="5733288" y="8092440"/>
            <a:ext cx="51409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4"-P-210</a:t>
            </a:r>
          </a:p>
        </p:txBody>
      </p:sp>
      <p:sp>
        <p:nvSpPr>
          <p:cNvPr id="462" name="Oval 461"/>
          <p:cNvSpPr/>
          <p:nvPr/>
        </p:nvSpPr>
        <p:spPr>
          <a:xfrm>
            <a:off x="6005322" y="8309609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3" name="Connector 462"/>
          <p:cNvCxnSpPr/>
          <p:nvPr/>
        </p:nvCxnSpPr>
        <p:spPr>
          <a:xfrm>
            <a:off x="6035040" y="8339327"/>
            <a:ext cx="0" cy="148133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4" name="Freeform 463"/>
          <p:cNvSpPr/>
          <p:nvPr/>
        </p:nvSpPr>
        <p:spPr>
          <a:xfrm>
            <a:off x="5984748" y="8463686"/>
            <a:ext cx="100583" cy="146304"/>
          </a:xfrm>
          <a:custGeom>
            <a:avLst/>
            <a:gdLst/>
            <a:ahLst/>
            <a:cxnLst/>
            <a:rect l="l" t="t" r="r" b="b"/>
            <a:pathLst>
              <a:path w="100583" h="146304">
                <a:moveTo>
                  <a:pt x="0" y="0"/>
                </a:moveTo>
                <a:lnTo>
                  <a:pt x="100583" y="146304"/>
                </a:lnTo>
                <a:lnTo>
                  <a:pt x="0" y="146304"/>
                </a:lnTo>
                <a:lnTo>
                  <a:pt x="100583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5" name="Connector 464"/>
          <p:cNvCxnSpPr/>
          <p:nvPr/>
        </p:nvCxnSpPr>
        <p:spPr>
          <a:xfrm>
            <a:off x="6035040" y="8596091"/>
            <a:ext cx="0" cy="72420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6" name="TextBox 465"/>
          <p:cNvSpPr txBox="1"/>
          <p:nvPr/>
        </p:nvSpPr>
        <p:spPr>
          <a:xfrm>
            <a:off x="6099048" y="8549639"/>
            <a:ext cx="19710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DR</a:t>
            </a:r>
          </a:p>
        </p:txBody>
      </p:sp>
      <p:sp>
        <p:nvSpPr>
          <p:cNvPr id="467" name="Freeform 466"/>
          <p:cNvSpPr/>
          <p:nvPr/>
        </p:nvSpPr>
        <p:spPr>
          <a:xfrm>
            <a:off x="8202167" y="8261603"/>
            <a:ext cx="237745" cy="155449"/>
          </a:xfrm>
          <a:custGeom>
            <a:avLst/>
            <a:gdLst/>
            <a:ahLst/>
            <a:cxnLst/>
            <a:rect l="l" t="t" r="r" b="b"/>
            <a:pathLst>
              <a:path w="237745" h="155449">
                <a:moveTo>
                  <a:pt x="0" y="0"/>
                </a:moveTo>
                <a:lnTo>
                  <a:pt x="237745" y="155449"/>
                </a:lnTo>
                <a:lnTo>
                  <a:pt x="237745" y="0"/>
                </a:lnTo>
                <a:lnTo>
                  <a:pt x="0" y="15544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8" name="Connector 467"/>
          <p:cNvCxnSpPr/>
          <p:nvPr/>
        </p:nvCxnSpPr>
        <p:spPr>
          <a:xfrm flipV="1">
            <a:off x="8321040" y="8110727"/>
            <a:ext cx="0" cy="15087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9" name="Freeform 468"/>
          <p:cNvSpPr/>
          <p:nvPr/>
        </p:nvSpPr>
        <p:spPr>
          <a:xfrm>
            <a:off x="8202167" y="8010144"/>
            <a:ext cx="237745" cy="100583"/>
          </a:xfrm>
          <a:custGeom>
            <a:avLst/>
            <a:gdLst/>
            <a:ahLst/>
            <a:cxnLst/>
            <a:rect l="l" t="t" r="r" b="b"/>
            <a:pathLst>
              <a:path w="237745" h="100583">
                <a:moveTo>
                  <a:pt x="0" y="100583"/>
                </a:moveTo>
                <a:lnTo>
                  <a:pt x="0" y="100583"/>
                </a:lnTo>
                <a:lnTo>
                  <a:pt x="9049" y="62092"/>
                </a:lnTo>
                <a:lnTo>
                  <a:pt x="34817" y="29460"/>
                </a:lnTo>
                <a:lnTo>
                  <a:pt x="73382" y="7656"/>
                </a:lnTo>
                <a:lnTo>
                  <a:pt x="118873" y="0"/>
                </a:lnTo>
                <a:lnTo>
                  <a:pt x="164363" y="7656"/>
                </a:lnTo>
                <a:lnTo>
                  <a:pt x="202928" y="29460"/>
                </a:lnTo>
                <a:lnTo>
                  <a:pt x="228696" y="62092"/>
                </a:lnTo>
                <a:lnTo>
                  <a:pt x="237745" y="100583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TextBox 469"/>
          <p:cNvSpPr txBox="1"/>
          <p:nvPr/>
        </p:nvSpPr>
        <p:spPr>
          <a:xfrm>
            <a:off x="7998713" y="8449055"/>
            <a:ext cx="64465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LV-202 FC</a:t>
            </a:r>
          </a:p>
        </p:txBody>
      </p:sp>
      <p:cxnSp>
        <p:nvCxnSpPr>
          <p:cNvPr id="471" name="Connector 470"/>
          <p:cNvCxnSpPr/>
          <p:nvPr/>
        </p:nvCxnSpPr>
        <p:spPr>
          <a:xfrm>
            <a:off x="4434840" y="7479792"/>
            <a:ext cx="0" cy="49377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4434840" y="7973568"/>
            <a:ext cx="388620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9020556" y="8220455"/>
            <a:ext cx="0" cy="237745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>
            <a:off x="9084564" y="8220455"/>
            <a:ext cx="0" cy="237745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5" name="TextBox 474"/>
          <p:cNvSpPr txBox="1"/>
          <p:nvPr/>
        </p:nvSpPr>
        <p:spPr>
          <a:xfrm>
            <a:off x="8822436" y="8476488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FE-202</a:t>
            </a:r>
          </a:p>
        </p:txBody>
      </p:sp>
      <p:cxnSp>
        <p:nvCxnSpPr>
          <p:cNvPr id="476" name="Connector 475"/>
          <p:cNvCxnSpPr/>
          <p:nvPr/>
        </p:nvCxnSpPr>
        <p:spPr>
          <a:xfrm flipV="1">
            <a:off x="9052560" y="8110727"/>
            <a:ext cx="0" cy="10972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7" name="Oval 476"/>
          <p:cNvSpPr/>
          <p:nvPr/>
        </p:nvSpPr>
        <p:spPr>
          <a:xfrm>
            <a:off x="8887968" y="7781544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202</a:t>
            </a:r>
          </a:p>
        </p:txBody>
      </p:sp>
      <p:cxnSp>
        <p:nvCxnSpPr>
          <p:cNvPr id="478" name="Connector 477"/>
          <p:cNvCxnSpPr/>
          <p:nvPr/>
        </p:nvCxnSpPr>
        <p:spPr>
          <a:xfrm>
            <a:off x="8887968" y="7946136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9" name="Oval 478"/>
          <p:cNvSpPr/>
          <p:nvPr/>
        </p:nvSpPr>
        <p:spPr>
          <a:xfrm>
            <a:off x="9571482" y="8309609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0" name="Connector 479"/>
          <p:cNvCxnSpPr/>
          <p:nvPr/>
        </p:nvCxnSpPr>
        <p:spPr>
          <a:xfrm flipV="1">
            <a:off x="9601200" y="8110727"/>
            <a:ext cx="0" cy="22860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1" name="Oval 480"/>
          <p:cNvSpPr/>
          <p:nvPr/>
        </p:nvSpPr>
        <p:spPr>
          <a:xfrm>
            <a:off x="9436608" y="7781544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AI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220</a:t>
            </a:r>
          </a:p>
        </p:txBody>
      </p:sp>
      <p:cxnSp>
        <p:nvCxnSpPr>
          <p:cNvPr id="482" name="Connector 481"/>
          <p:cNvCxnSpPr/>
          <p:nvPr/>
        </p:nvCxnSpPr>
        <p:spPr>
          <a:xfrm>
            <a:off x="9436608" y="7946136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3" name="TextBox 482"/>
          <p:cNvSpPr txBox="1"/>
          <p:nvPr/>
        </p:nvSpPr>
        <p:spPr>
          <a:xfrm>
            <a:off x="9793224" y="7836408"/>
            <a:ext cx="19710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C3</a:t>
            </a:r>
          </a:p>
        </p:txBody>
      </p:sp>
      <p:sp>
        <p:nvSpPr>
          <p:cNvPr id="484" name="TextBox 483"/>
          <p:cNvSpPr txBox="1"/>
          <p:nvPr/>
        </p:nvSpPr>
        <p:spPr>
          <a:xfrm>
            <a:off x="10525252" y="8046719"/>
            <a:ext cx="767588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BOTTOMS TO</a:t>
            </a:r>
          </a:p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DEBUTANIZER</a:t>
            </a:r>
          </a:p>
        </p:txBody>
      </p:sp>
      <p:sp>
        <p:nvSpPr>
          <p:cNvPr id="485" name="Rectangle 484"/>
          <p:cNvSpPr/>
          <p:nvPr/>
        </p:nvSpPr>
        <p:spPr>
          <a:xfrm>
            <a:off x="11475720" y="502920"/>
            <a:ext cx="3246120" cy="7982711"/>
          </a:xfrm>
          <a:prstGeom prst="rect">
            <a:avLst/>
          </a:pr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TextBox 485"/>
          <p:cNvSpPr txBox="1"/>
          <p:nvPr/>
        </p:nvSpPr>
        <p:spPr>
          <a:xfrm>
            <a:off x="11567160" y="576072"/>
            <a:ext cx="56083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cxnSp>
        <p:nvCxnSpPr>
          <p:cNvPr id="487" name="Connector 486"/>
          <p:cNvCxnSpPr/>
          <p:nvPr/>
        </p:nvCxnSpPr>
        <p:spPr>
          <a:xfrm>
            <a:off x="11585448" y="832104"/>
            <a:ext cx="66751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8" name="TextBox 487"/>
          <p:cNvSpPr txBox="1"/>
          <p:nvPr/>
        </p:nvSpPr>
        <p:spPr>
          <a:xfrm>
            <a:off x="12435840" y="777240"/>
            <a:ext cx="78882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PROCESS LINE</a:t>
            </a:r>
          </a:p>
        </p:txBody>
      </p:sp>
      <p:cxnSp>
        <p:nvCxnSpPr>
          <p:cNvPr id="489" name="Connector 488"/>
          <p:cNvCxnSpPr/>
          <p:nvPr/>
        </p:nvCxnSpPr>
        <p:spPr>
          <a:xfrm>
            <a:off x="11585448" y="1069848"/>
            <a:ext cx="6675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0" name="TextBox 489"/>
          <p:cNvSpPr txBox="1"/>
          <p:nvPr/>
        </p:nvSpPr>
        <p:spPr>
          <a:xfrm>
            <a:off x="12435840" y="1014983"/>
            <a:ext cx="2590393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UTILITY LINE (STEAM, COOLING WATER, RELIEF)</a:t>
            </a:r>
          </a:p>
        </p:txBody>
      </p:sp>
      <p:cxnSp>
        <p:nvCxnSpPr>
          <p:cNvPr id="491" name="Connector 490"/>
          <p:cNvCxnSpPr/>
          <p:nvPr/>
        </p:nvCxnSpPr>
        <p:spPr>
          <a:xfrm>
            <a:off x="11585448" y="1307592"/>
            <a:ext cx="667512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2" name="TextBox 491"/>
          <p:cNvSpPr txBox="1"/>
          <p:nvPr/>
        </p:nvSpPr>
        <p:spPr>
          <a:xfrm>
            <a:off x="12435840" y="1252728"/>
            <a:ext cx="107939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INSTRUMENT SIGNAL</a:t>
            </a:r>
          </a:p>
        </p:txBody>
      </p:sp>
      <p:cxnSp>
        <p:nvCxnSpPr>
          <p:cNvPr id="493" name="Connector 492"/>
          <p:cNvCxnSpPr/>
          <p:nvPr/>
        </p:nvCxnSpPr>
        <p:spPr>
          <a:xfrm>
            <a:off x="11585448" y="1545336"/>
            <a:ext cx="66751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4" name="Freeform 493"/>
          <p:cNvSpPr/>
          <p:nvPr/>
        </p:nvSpPr>
        <p:spPr>
          <a:xfrm>
            <a:off x="11814048" y="1476756"/>
            <a:ext cx="201168" cy="137160"/>
          </a:xfrm>
          <a:custGeom>
            <a:avLst/>
            <a:gdLst/>
            <a:ahLst/>
            <a:cxnLst/>
            <a:rect l="l" t="t" r="r" b="b"/>
            <a:pathLst>
              <a:path w="201168" h="137160">
                <a:moveTo>
                  <a:pt x="0" y="0"/>
                </a:moveTo>
                <a:lnTo>
                  <a:pt x="201168" y="137160"/>
                </a:lnTo>
                <a:lnTo>
                  <a:pt x="201168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12435840" y="1490472"/>
            <a:ext cx="11956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MANUAL VALVE (GATE)</a:t>
            </a:r>
          </a:p>
        </p:txBody>
      </p:sp>
      <p:cxnSp>
        <p:nvCxnSpPr>
          <p:cNvPr id="496" name="Connector 495"/>
          <p:cNvCxnSpPr/>
          <p:nvPr/>
        </p:nvCxnSpPr>
        <p:spPr>
          <a:xfrm>
            <a:off x="11585448" y="2002536"/>
            <a:ext cx="66751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7" name="Freeform 496"/>
          <p:cNvSpPr/>
          <p:nvPr/>
        </p:nvSpPr>
        <p:spPr>
          <a:xfrm>
            <a:off x="11795760" y="1924812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8" name="Connector 497"/>
          <p:cNvCxnSpPr/>
          <p:nvPr/>
        </p:nvCxnSpPr>
        <p:spPr>
          <a:xfrm flipV="1">
            <a:off x="11914632" y="1773936"/>
            <a:ext cx="0" cy="15087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9" name="Freeform 498"/>
          <p:cNvSpPr/>
          <p:nvPr/>
        </p:nvSpPr>
        <p:spPr>
          <a:xfrm>
            <a:off x="11795760" y="1673351"/>
            <a:ext cx="237744" cy="100585"/>
          </a:xfrm>
          <a:custGeom>
            <a:avLst/>
            <a:gdLst/>
            <a:ahLst/>
            <a:cxnLst/>
            <a:rect l="l" t="t" r="r" b="b"/>
            <a:pathLst>
              <a:path w="237744" h="100585">
                <a:moveTo>
                  <a:pt x="0" y="100585"/>
                </a:moveTo>
                <a:lnTo>
                  <a:pt x="0" y="100585"/>
                </a:lnTo>
                <a:lnTo>
                  <a:pt x="9048" y="62093"/>
                </a:lnTo>
                <a:lnTo>
                  <a:pt x="34816" y="29461"/>
                </a:lnTo>
                <a:lnTo>
                  <a:pt x="73381" y="7657"/>
                </a:lnTo>
                <a:lnTo>
                  <a:pt x="118872" y="0"/>
                </a:lnTo>
                <a:lnTo>
                  <a:pt x="164362" y="7657"/>
                </a:lnTo>
                <a:lnTo>
                  <a:pt x="202927" y="29461"/>
                </a:lnTo>
                <a:lnTo>
                  <a:pt x="228695" y="62093"/>
                </a:lnTo>
                <a:lnTo>
                  <a:pt x="237744" y="100585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TextBox 499"/>
          <p:cNvSpPr txBox="1"/>
          <p:nvPr/>
        </p:nvSpPr>
        <p:spPr>
          <a:xfrm>
            <a:off x="12435840" y="1947672"/>
            <a:ext cx="2590393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CONTROL VALVE, FO / FC = FAIL OPEN / CLOSED</a:t>
            </a:r>
          </a:p>
        </p:txBody>
      </p:sp>
      <p:cxnSp>
        <p:nvCxnSpPr>
          <p:cNvPr id="501" name="Connector 500"/>
          <p:cNvCxnSpPr/>
          <p:nvPr/>
        </p:nvCxnSpPr>
        <p:spPr>
          <a:xfrm>
            <a:off x="11585448" y="2404872"/>
            <a:ext cx="66751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2" name="Freeform 501"/>
          <p:cNvSpPr/>
          <p:nvPr/>
        </p:nvSpPr>
        <p:spPr>
          <a:xfrm>
            <a:off x="11795760" y="2327148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3" name="Connector 502"/>
          <p:cNvCxnSpPr/>
          <p:nvPr/>
        </p:nvCxnSpPr>
        <p:spPr>
          <a:xfrm flipV="1">
            <a:off x="11914632" y="2203703"/>
            <a:ext cx="0" cy="123445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4" name="Rectangle 503"/>
          <p:cNvSpPr/>
          <p:nvPr/>
        </p:nvSpPr>
        <p:spPr>
          <a:xfrm>
            <a:off x="11846052" y="2093975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TextBox 504"/>
          <p:cNvSpPr txBox="1"/>
          <p:nvPr/>
        </p:nvSpPr>
        <p:spPr>
          <a:xfrm>
            <a:off x="11846052" y="2093976"/>
            <a:ext cx="13716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2435840" y="2350008"/>
            <a:ext cx="2474163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SIS SHUT-OFF VALVE, SOLENOID, FAIL CLOSED</a:t>
            </a:r>
          </a:p>
        </p:txBody>
      </p:sp>
      <p:cxnSp>
        <p:nvCxnSpPr>
          <p:cNvPr id="507" name="Connector 506"/>
          <p:cNvCxnSpPr/>
          <p:nvPr/>
        </p:nvCxnSpPr>
        <p:spPr>
          <a:xfrm>
            <a:off x="11585448" y="2715768"/>
            <a:ext cx="66751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8" name="Freeform 507"/>
          <p:cNvSpPr/>
          <p:nvPr/>
        </p:nvSpPr>
        <p:spPr>
          <a:xfrm>
            <a:off x="11795760" y="2632557"/>
            <a:ext cx="184251" cy="166421"/>
          </a:xfrm>
          <a:custGeom>
            <a:avLst/>
            <a:gdLst/>
            <a:ahLst/>
            <a:cxnLst/>
            <a:rect l="l" t="t" r="r" b="b"/>
            <a:pathLst>
              <a:path w="184251" h="166421">
                <a:moveTo>
                  <a:pt x="0" y="0"/>
                </a:moveTo>
                <a:lnTo>
                  <a:pt x="184251" y="83211"/>
                </a:lnTo>
                <a:lnTo>
                  <a:pt x="0" y="16642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9" name="Connector 508"/>
          <p:cNvCxnSpPr/>
          <p:nvPr/>
        </p:nvCxnSpPr>
        <p:spPr>
          <a:xfrm>
            <a:off x="11980011" y="2632557"/>
            <a:ext cx="0" cy="166421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0" name="TextBox 509"/>
          <p:cNvSpPr txBox="1"/>
          <p:nvPr/>
        </p:nvSpPr>
        <p:spPr>
          <a:xfrm>
            <a:off x="12435840" y="2660903"/>
            <a:ext cx="73070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CHECK VALVE</a:t>
            </a:r>
          </a:p>
        </p:txBody>
      </p:sp>
      <p:cxnSp>
        <p:nvCxnSpPr>
          <p:cNvPr id="511" name="Connector 510"/>
          <p:cNvCxnSpPr/>
          <p:nvPr/>
        </p:nvCxnSpPr>
        <p:spPr>
          <a:xfrm>
            <a:off x="11585448" y="2990087"/>
            <a:ext cx="66751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>
            <a:off x="11882628" y="2871215"/>
            <a:ext cx="0" cy="237744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Connector 512"/>
          <p:cNvCxnSpPr/>
          <p:nvPr/>
        </p:nvCxnSpPr>
        <p:spPr>
          <a:xfrm>
            <a:off x="11946636" y="2871215"/>
            <a:ext cx="0" cy="237744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4" name="TextBox 513"/>
          <p:cNvSpPr txBox="1"/>
          <p:nvPr/>
        </p:nvSpPr>
        <p:spPr>
          <a:xfrm>
            <a:off x="12435840" y="2935223"/>
            <a:ext cx="136997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FLOW ELEMENT (ORIFICE)</a:t>
            </a:r>
          </a:p>
        </p:txBody>
      </p:sp>
      <p:cxnSp>
        <p:nvCxnSpPr>
          <p:cNvPr id="515" name="Connector 514"/>
          <p:cNvCxnSpPr/>
          <p:nvPr/>
        </p:nvCxnSpPr>
        <p:spPr>
          <a:xfrm>
            <a:off x="11585448" y="3264407"/>
            <a:ext cx="6675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6" name="Rectangle 515"/>
          <p:cNvSpPr/>
          <p:nvPr/>
        </p:nvSpPr>
        <p:spPr>
          <a:xfrm>
            <a:off x="11832336" y="3182111"/>
            <a:ext cx="164592" cy="164592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TextBox 516"/>
          <p:cNvSpPr txBox="1"/>
          <p:nvPr/>
        </p:nvSpPr>
        <p:spPr>
          <a:xfrm>
            <a:off x="11832336" y="3200399"/>
            <a:ext cx="16459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T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11868912" y="3364991"/>
            <a:ext cx="9144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12435840" y="3209543"/>
            <a:ext cx="67259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STEAM TRAP</a:t>
            </a:r>
          </a:p>
        </p:txBody>
      </p:sp>
      <p:sp>
        <p:nvSpPr>
          <p:cNvPr id="520" name="Freeform 519"/>
          <p:cNvSpPr/>
          <p:nvPr/>
        </p:nvSpPr>
        <p:spPr>
          <a:xfrm>
            <a:off x="11855196" y="3493007"/>
            <a:ext cx="118872" cy="164592"/>
          </a:xfrm>
          <a:custGeom>
            <a:avLst/>
            <a:gdLst/>
            <a:ahLst/>
            <a:cxnLst/>
            <a:rect l="l" t="t" r="r" b="b"/>
            <a:pathLst>
              <a:path w="118872" h="164592">
                <a:moveTo>
                  <a:pt x="0" y="0"/>
                </a:moveTo>
                <a:lnTo>
                  <a:pt x="118872" y="164592"/>
                </a:lnTo>
                <a:lnTo>
                  <a:pt x="0" y="164592"/>
                </a:lnTo>
                <a:lnTo>
                  <a:pt x="118872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1" name="Connector 520"/>
          <p:cNvCxnSpPr/>
          <p:nvPr/>
        </p:nvCxnSpPr>
        <p:spPr>
          <a:xfrm flipV="1">
            <a:off x="11914632" y="3392423"/>
            <a:ext cx="0" cy="100584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2" name="TextBox 521"/>
          <p:cNvSpPr txBox="1"/>
          <p:nvPr/>
        </p:nvSpPr>
        <p:spPr>
          <a:xfrm>
            <a:off x="12435840" y="3520439"/>
            <a:ext cx="1137513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RELIEF VALVE (PSV)</a:t>
            </a:r>
          </a:p>
        </p:txBody>
      </p:sp>
      <p:sp>
        <p:nvSpPr>
          <p:cNvPr id="523" name="Oval 522"/>
          <p:cNvSpPr/>
          <p:nvPr/>
        </p:nvSpPr>
        <p:spPr>
          <a:xfrm>
            <a:off x="11750040" y="3776472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201</a:t>
            </a:r>
          </a:p>
        </p:txBody>
      </p:sp>
      <p:sp>
        <p:nvSpPr>
          <p:cNvPr id="524" name="TextBox 523"/>
          <p:cNvSpPr txBox="1"/>
          <p:nvPr/>
        </p:nvSpPr>
        <p:spPr>
          <a:xfrm>
            <a:off x="12435840" y="3886200"/>
            <a:ext cx="148620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FIELD-MOUNTED INSTRUMENT</a:t>
            </a:r>
          </a:p>
        </p:txBody>
      </p:sp>
      <p:sp>
        <p:nvSpPr>
          <p:cNvPr id="525" name="Oval 524"/>
          <p:cNvSpPr/>
          <p:nvPr/>
        </p:nvSpPr>
        <p:spPr>
          <a:xfrm>
            <a:off x="11750040" y="416052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201</a:t>
            </a:r>
          </a:p>
        </p:txBody>
      </p:sp>
      <p:cxnSp>
        <p:nvCxnSpPr>
          <p:cNvPr id="526" name="Connector 525"/>
          <p:cNvCxnSpPr/>
          <p:nvPr/>
        </p:nvCxnSpPr>
        <p:spPr>
          <a:xfrm>
            <a:off x="11750040" y="432511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7" name="TextBox 526"/>
          <p:cNvSpPr txBox="1"/>
          <p:nvPr/>
        </p:nvSpPr>
        <p:spPr>
          <a:xfrm>
            <a:off x="12435840" y="4270248"/>
            <a:ext cx="1893011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DCS FUNCTION (OPERATOR CONSOLE)</a:t>
            </a:r>
          </a:p>
        </p:txBody>
      </p:sp>
      <p:sp>
        <p:nvSpPr>
          <p:cNvPr id="528" name="Rectangle 527"/>
          <p:cNvSpPr/>
          <p:nvPr/>
        </p:nvSpPr>
        <p:spPr>
          <a:xfrm>
            <a:off x="11713464" y="4544568"/>
            <a:ext cx="402336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Oval 528"/>
          <p:cNvSpPr/>
          <p:nvPr/>
        </p:nvSpPr>
        <p:spPr>
          <a:xfrm>
            <a:off x="11750040" y="4581144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LSHH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203</a:t>
            </a:r>
          </a:p>
        </p:txBody>
      </p:sp>
      <p:cxnSp>
        <p:nvCxnSpPr>
          <p:cNvPr id="530" name="Connector 529"/>
          <p:cNvCxnSpPr/>
          <p:nvPr/>
        </p:nvCxnSpPr>
        <p:spPr>
          <a:xfrm>
            <a:off x="11750040" y="4745736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1" name="TextBox 530"/>
          <p:cNvSpPr txBox="1"/>
          <p:nvPr/>
        </p:nvSpPr>
        <p:spPr>
          <a:xfrm>
            <a:off x="12435840" y="4690872"/>
            <a:ext cx="78882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SIS FUNCTION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11585448" y="5093207"/>
            <a:ext cx="3003539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SERVICE CODES:  P PROCESS HYDROCARBON  ·  LS LP STEAM</a:t>
            </a:r>
          </a:p>
        </p:txBody>
      </p:sp>
      <p:sp>
        <p:nvSpPr>
          <p:cNvPr id="533" name="TextBox 532"/>
          <p:cNvSpPr txBox="1"/>
          <p:nvPr/>
        </p:nvSpPr>
        <p:spPr>
          <a:xfrm>
            <a:off x="11585448" y="5212079"/>
            <a:ext cx="3168375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CW COOLING WATER  ·  DR DRAIN  ·  COND. STEAM CONDENSATE</a:t>
            </a:r>
          </a:p>
        </p:txBody>
      </p:sp>
      <p:sp>
        <p:nvSpPr>
          <p:cNvPr id="534" name="TextBox 533"/>
          <p:cNvSpPr txBox="1"/>
          <p:nvPr/>
        </p:nvSpPr>
        <p:spPr>
          <a:xfrm>
            <a:off x="11585448" y="5330951"/>
            <a:ext cx="3058485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LINE NO. = SIZE - SERVICE - NUMBER (SIZES TBC, NOTE 2)</a:t>
            </a:r>
          </a:p>
        </p:txBody>
      </p:sp>
      <p:cxnSp>
        <p:nvCxnSpPr>
          <p:cNvPr id="535" name="Connector 534"/>
          <p:cNvCxnSpPr/>
          <p:nvPr/>
        </p:nvCxnSpPr>
        <p:spPr>
          <a:xfrm>
            <a:off x="11475720" y="5504687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6" name="TextBox 535"/>
          <p:cNvSpPr txBox="1"/>
          <p:nvPr/>
        </p:nvSpPr>
        <p:spPr>
          <a:xfrm>
            <a:off x="11567160" y="5577839"/>
            <a:ext cx="198018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>
                <a:solidFill>
                  <a:srgbClr val="000000"/>
                </a:solidFill>
                <a:latin typeface="Arial"/>
              </a:rPr>
              <a:t>INTERLOCK SCHEDULE  ·  SIS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11612880" y="5797295"/>
            <a:ext cx="5394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TAG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12179807" y="5797295"/>
            <a:ext cx="1234439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CAUSE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13441679" y="5797295"/>
            <a:ext cx="722375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SETTING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14191487" y="5797295"/>
            <a:ext cx="33832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DELAY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11612880" y="5971031"/>
            <a:ext cx="5394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LSLL-202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12179807" y="5971031"/>
            <a:ext cx="1234439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C-201 SUMP LOW-LOW *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13441679" y="5971031"/>
            <a:ext cx="722375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&lt; 5 %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14191487" y="5971031"/>
            <a:ext cx="33832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5 s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11612880" y="6144767"/>
            <a:ext cx="5394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LSHH-203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12179807" y="6144767"/>
            <a:ext cx="1234439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V-202 LEVEL HIGH-HIGH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13441679" y="6144767"/>
            <a:ext cx="722375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&gt; 92 %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14191487" y="6144767"/>
            <a:ext cx="33832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5 s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11612880" y="6318503"/>
            <a:ext cx="5394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HS-ESD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12179807" y="6318503"/>
            <a:ext cx="1234439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ESD PUSHBUTTON (DCS)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13441679" y="6318503"/>
            <a:ext cx="722375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MANUAL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14191487" y="6318503"/>
            <a:ext cx="33832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0 s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11612880" y="6492239"/>
            <a:ext cx="5394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FSLL-201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12179807" y="6492239"/>
            <a:ext cx="1234439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LOW FEED FLOW **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13441679" y="6492239"/>
            <a:ext cx="722375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&lt; 15 m³/h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14191487" y="6492239"/>
            <a:ext cx="33832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5 s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11612880" y="6665975"/>
            <a:ext cx="5394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PDSL-230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12179807" y="6665975"/>
            <a:ext cx="1234439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LOW P-202 DIFF. PRESS.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13441679" y="6665975"/>
            <a:ext cx="722375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&lt; 150 kPa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14191487" y="6665975"/>
            <a:ext cx="33832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3 s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11612880" y="6839711"/>
            <a:ext cx="5394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PSV-201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12179807" y="6839711"/>
            <a:ext cx="1234439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C-201 OVERPRESSURE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13441679" y="6839711"/>
            <a:ext cx="722375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1.80 MPa g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14191487" y="6839711"/>
            <a:ext cx="33832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MECH.</a:t>
            </a:r>
          </a:p>
        </p:txBody>
      </p:sp>
      <p:cxnSp>
        <p:nvCxnSpPr>
          <p:cNvPr id="565" name="Connector 564"/>
          <p:cNvCxnSpPr/>
          <p:nvPr/>
        </p:nvCxnSpPr>
        <p:spPr>
          <a:xfrm>
            <a:off x="11585448" y="5797295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>
            <a:off x="11585448" y="5971031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>
            <a:off x="11585448" y="6144767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>
            <a:off x="11585448" y="6318503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>
            <a:off x="11585448" y="6492239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>
            <a:off x="11585448" y="6665975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1" name="Connector 570"/>
          <p:cNvCxnSpPr/>
          <p:nvPr/>
        </p:nvCxnSpPr>
        <p:spPr>
          <a:xfrm>
            <a:off x="11585448" y="6839711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11585448" y="7013447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 572"/>
          <p:cNvCxnSpPr/>
          <p:nvPr/>
        </p:nvCxnSpPr>
        <p:spPr>
          <a:xfrm>
            <a:off x="11585448" y="5797295"/>
            <a:ext cx="0" cy="121615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>
            <a:off x="12152376" y="5797295"/>
            <a:ext cx="0" cy="121615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>
            <a:off x="13414247" y="5797295"/>
            <a:ext cx="0" cy="121615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14164055" y="5797295"/>
            <a:ext cx="0" cy="121615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 576"/>
          <p:cNvCxnSpPr/>
          <p:nvPr/>
        </p:nvCxnSpPr>
        <p:spPr>
          <a:xfrm>
            <a:off x="14529815" y="5797295"/>
            <a:ext cx="0" cy="121615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8" name="TextBox 577"/>
          <p:cNvSpPr txBox="1"/>
          <p:nvPr/>
        </p:nvSpPr>
        <p:spPr>
          <a:xfrm>
            <a:off x="11585448" y="7104888"/>
            <a:ext cx="556361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EFFECTS:</a:t>
            </a:r>
          </a:p>
        </p:txBody>
      </p:sp>
      <p:sp>
        <p:nvSpPr>
          <p:cNvPr id="579" name="TextBox 578"/>
          <p:cNvSpPr txBox="1"/>
          <p:nvPr/>
        </p:nvSpPr>
        <p:spPr>
          <a:xfrm>
            <a:off x="11585448" y="7223759"/>
            <a:ext cx="327826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LSLL-202: CLOSE XV-209 &amp; XV-202; TIC-208, TIC-202 MAN 0 %.</a:t>
            </a:r>
          </a:p>
        </p:txBody>
      </p:sp>
      <p:sp>
        <p:nvSpPr>
          <p:cNvPr id="580" name="TextBox 579"/>
          <p:cNvSpPr txBox="1"/>
          <p:nvPr/>
        </p:nvSpPr>
        <p:spPr>
          <a:xfrm>
            <a:off x="11585448" y="7342631"/>
            <a:ext cx="283870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LSHH-203 / HS-ESD: AS LSLL-202, PLUS CLOSE XV-201,</a:t>
            </a:r>
          </a:p>
        </p:txBody>
      </p:sp>
      <p:sp>
        <p:nvSpPr>
          <p:cNvPr id="581" name="TextBox 580"/>
          <p:cNvSpPr txBox="1"/>
          <p:nvPr/>
        </p:nvSpPr>
        <p:spPr>
          <a:xfrm>
            <a:off x="11585448" y="7461504"/>
            <a:ext cx="1959579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   FIC-201 MAN 0 % (FEED STOPPED).</a:t>
            </a:r>
          </a:p>
        </p:txBody>
      </p:sp>
      <p:sp>
        <p:nvSpPr>
          <p:cNvPr id="582" name="TextBox 581"/>
          <p:cNvSpPr txBox="1"/>
          <p:nvPr/>
        </p:nvSpPr>
        <p:spPr>
          <a:xfrm>
            <a:off x="11585448" y="7580376"/>
            <a:ext cx="234419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FSLL-201: AUTO-START P-201B (NOT A TRIP).</a:t>
            </a:r>
          </a:p>
        </p:txBody>
      </p:sp>
      <p:sp>
        <p:nvSpPr>
          <p:cNvPr id="583" name="TextBox 582"/>
          <p:cNvSpPr txBox="1"/>
          <p:nvPr/>
        </p:nvSpPr>
        <p:spPr>
          <a:xfrm>
            <a:off x="11585448" y="7699248"/>
            <a:ext cx="234419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PDSL-230: AUTO-START P-202B (NOT A TRIP).</a:t>
            </a:r>
          </a:p>
        </p:txBody>
      </p:sp>
      <p:sp>
        <p:nvSpPr>
          <p:cNvPr id="584" name="TextBox 583"/>
          <p:cNvSpPr txBox="1"/>
          <p:nvPr/>
        </p:nvSpPr>
        <p:spPr>
          <a:xfrm>
            <a:off x="11585448" y="7818120"/>
            <a:ext cx="2399141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* ARMED ONLY WHEN SIS IS IN RUN (HEAT ON).</a:t>
            </a:r>
          </a:p>
        </p:txBody>
      </p:sp>
      <p:sp>
        <p:nvSpPr>
          <p:cNvPr id="585" name="TextBox 584"/>
          <p:cNvSpPr txBox="1"/>
          <p:nvPr/>
        </p:nvSpPr>
        <p:spPr>
          <a:xfrm>
            <a:off x="11585448" y="7936992"/>
            <a:ext cx="245408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** ONLY WITH FV-201 &gt; 20 % AND XV-201 OPEN.</a:t>
            </a:r>
          </a:p>
        </p:txBody>
      </p:sp>
      <p:sp>
        <p:nvSpPr>
          <p:cNvPr id="586" name="TextBox 585"/>
          <p:cNvSpPr txBox="1"/>
          <p:nvPr/>
        </p:nvSpPr>
        <p:spPr>
          <a:xfrm>
            <a:off x="11585448" y="8055864"/>
            <a:ext cx="3058485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RESET BLOCKED WHILE A CAUSE IS PRESENT. RE-OPEN XV-209</a:t>
            </a:r>
          </a:p>
        </p:txBody>
      </p:sp>
      <p:sp>
        <p:nvSpPr>
          <p:cNvPr id="587" name="TextBox 586"/>
          <p:cNvSpPr txBox="1"/>
          <p:nvPr/>
        </p:nvSpPr>
        <p:spPr>
          <a:xfrm>
            <a:off x="11585448" y="8174736"/>
            <a:ext cx="283870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/ XV-202 NEEDS: FI-216 ≥ 250 m³/h, LIC-202 ≥ 30 %,</a:t>
            </a:r>
          </a:p>
        </p:txBody>
      </p:sp>
      <p:sp>
        <p:nvSpPr>
          <p:cNvPr id="588" name="TextBox 587"/>
          <p:cNvSpPr txBox="1"/>
          <p:nvPr/>
        </p:nvSpPr>
        <p:spPr>
          <a:xfrm>
            <a:off x="11585448" y="8293608"/>
            <a:ext cx="2893649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TIC-208 &amp; TIC-202 MAN ≤ 10 %, HV-209 &amp; HV-202 OPEN.</a:t>
            </a:r>
          </a:p>
        </p:txBody>
      </p:sp>
      <p:sp>
        <p:nvSpPr>
          <p:cNvPr id="589" name="TextBox 588"/>
          <p:cNvSpPr txBox="1"/>
          <p:nvPr/>
        </p:nvSpPr>
        <p:spPr>
          <a:xfrm>
            <a:off x="457200" y="873252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GENERAL NOTES: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1. DESIGN BASIS: DEPROPANIZER COLUMN VER 1 OTS MODEL, DESIGN CASE. PRESSURES MPa g. MW 44.1 / 58.1 kg/kmol ASSUMED.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    FEED 60 m³/h ≈ 31.8 t/h (634 kmol/h, 57 mol-% C3), -1 → 75 °C IN E-201 (67 % VAPOUR), TRAY 18 OF 27.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    PROPANE 32.1 m³/h ≈ 16.1 t/h; BOTTOMS 27.8 m³/h ≈ 15.6 t/h; VENT 72 Nm³/h. MASS CLOSURE +0.14 %.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    TOP 1.70 / 45 °C, BOTTOM 109 °C, V-202 1.68, PUMP DISCH. P-201 2.36, P-202 2.26. E-201 3.50 MW (5.8 t/h LS),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    E-203 2.24 MW (3.8 t/h LS), E-202 3.96 MW (CW 330 m³/h, 15 → 25 °C). OVERHEAD 40.8 t/h, 8 in AT 8.5 m/s.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2. LINE SIZES PRELIMINARY FROM VELOCITY (LIQUID 1-2.5 m/s, VAPOUR ≤ 10 m/s) - TBC BY HYDRAULIC CALCULATION.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3. PRESSURE INSTRUMENTS C/W ROOT AND TEST VALVES; PUMP CASING VENTS/DRAINS; TYP., NOT SHOWN.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4. XV-201, XV-202, XV-209 FAIL CLOSED, OPERATED BY THE SIS (SIGNALS NOT SHOWN). HV-202, HV-209 ARE MANUAL BLOCKS.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5. FAIL POSITIONS: FV-201, TV-202, TV-208, LV-202, LV-203 FC; FV-204 (REFLUX) AND PV-210 (VENT) FO.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6. LT-202 / LS-202 AND LT-203 / LS-203 ON SEPARATE NOZZLES; PT-211 INDEPENDENT OF PT-210 (PIC-210).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7. P-201A MOTOR, P-201B STEAM TURBINE (DIVERSE DRIVE); P-202A/B MOTOR. SPARE AUTO-STARTS (SCHEDULE).</a:t>
            </a:r>
          </a:p>
        </p:txBody>
      </p:sp>
      <p:sp>
        <p:nvSpPr>
          <p:cNvPr id="590" name="TextBox 589"/>
          <p:cNvSpPr txBox="1"/>
          <p:nvPr/>
        </p:nvSpPr>
        <p:spPr>
          <a:xfrm>
            <a:off x="6035040" y="8732520"/>
            <a:ext cx="55778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NOTES (CONT.):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8. TIC-227 (TRAY 27) CAN CASCADE THE FIC-204 SET POINT (CAS); NORMALLY MAN, FIC-204 ON ITS OWN SET POINT. SIGNAL NOT SHOWN.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9. PDI-212 COLUMN DIFFERENTIAL PRESSURE, TAPS ABOVE TRAY 27 AND IN THE SUMP VAPOUR SPACE (FLOODING INDICATOR).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10. PSV-201 4L6, SET 1.80 MPa g: CW FAILURE 40 852 kg/h (API L ORIFICE); FIRE CASE TBC; 5.9 % OPERATING MARGIN - HOLD.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11. V-201 SHOWN WITHOUT OVERPRESSURE PROTECTION IN THE OTS SCOPE - PSV REQUIRED, HOLD.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12. PSHH ON C-201 OVERHEAD TO TRIP REBOILER STEAM BEFORE PSV LIFT RECOMMENDED - HOLD (NOT IN OTS SCOPE).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13. DCS INDICATORS (TI, PI, FI, AI) IMPLY A FIELD TRANSMITTER; AI-219 C4+ IN PROPANE, AI-220 C3 IN BOTTOMS.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14. ALARM SET POINTS: SEE WORKBOOK (ALARM TABLE); TRIP SET POINTS: INTERLOCK SCHEDULE.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15. TRAYS NUMBERED FROM THE BOTTOM; ONLY FEED, CONTROL AND INDICATION TRAYS ARE LABELLED.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16. DESIGN CASE (REV A): NO V-201 LEVEL CONTROL, LT-201 LOCAL. REV B: LI-201 ON DCS, LAL/LAH-201, FAL-201 ON FIC-201.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      REV C: LIC-201 SETS THE FIC-201 SET POINT (CASCADE, RSP). BOTH ARE UPGRADES SELECTED IN THE OTS.</a:t>
            </a:r>
          </a:p>
        </p:txBody>
      </p:sp>
      <p:cxnSp>
        <p:nvCxnSpPr>
          <p:cNvPr id="591" name="Connector 590"/>
          <p:cNvCxnSpPr/>
          <p:nvPr/>
        </p:nvCxnSpPr>
        <p:spPr>
          <a:xfrm>
            <a:off x="11750040" y="8641080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Connector 591"/>
          <p:cNvCxnSpPr/>
          <p:nvPr/>
        </p:nvCxnSpPr>
        <p:spPr>
          <a:xfrm>
            <a:off x="11750040" y="8771382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11750040" y="8901684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11750040" y="9031986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11750040" y="91622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>
            <a:off x="1175004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1207008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14026896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>
            <a:off x="14804135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0" name="TextBox 599"/>
          <p:cNvSpPr txBox="1"/>
          <p:nvPr/>
        </p:nvSpPr>
        <p:spPr>
          <a:xfrm>
            <a:off x="11750040" y="8641080"/>
            <a:ext cx="320040" cy="1303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REV</a:t>
            </a:r>
          </a:p>
        </p:txBody>
      </p:sp>
      <p:sp>
        <p:nvSpPr>
          <p:cNvPr id="601" name="TextBox 600"/>
          <p:cNvSpPr txBox="1"/>
          <p:nvPr/>
        </p:nvSpPr>
        <p:spPr>
          <a:xfrm>
            <a:off x="12070080" y="8641080"/>
            <a:ext cx="1956816" cy="1303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DESCRIPTION</a:t>
            </a:r>
          </a:p>
        </p:txBody>
      </p:sp>
      <p:sp>
        <p:nvSpPr>
          <p:cNvPr id="602" name="TextBox 601"/>
          <p:cNvSpPr txBox="1"/>
          <p:nvPr/>
        </p:nvSpPr>
        <p:spPr>
          <a:xfrm>
            <a:off x="14026896" y="8641080"/>
            <a:ext cx="777240" cy="1303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603" name="TextBox 602"/>
          <p:cNvSpPr txBox="1"/>
          <p:nvPr/>
        </p:nvSpPr>
        <p:spPr>
          <a:xfrm>
            <a:off x="11750040" y="8771382"/>
            <a:ext cx="320040" cy="1303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604" name="TextBox 603"/>
          <p:cNvSpPr txBox="1"/>
          <p:nvPr/>
        </p:nvSpPr>
        <p:spPr>
          <a:xfrm>
            <a:off x="12070080" y="8771382"/>
            <a:ext cx="1956816" cy="1303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LI-201 ON DCS, LAL/LAH-201, FAL-201 (OPTION)</a:t>
            </a:r>
          </a:p>
        </p:txBody>
      </p:sp>
      <p:sp>
        <p:nvSpPr>
          <p:cNvPr id="605" name="TextBox 604"/>
          <p:cNvSpPr txBox="1"/>
          <p:nvPr/>
        </p:nvSpPr>
        <p:spPr>
          <a:xfrm>
            <a:off x="14026896" y="8771382"/>
            <a:ext cx="777240" cy="1303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--</a:t>
            </a:r>
          </a:p>
        </p:txBody>
      </p:sp>
      <p:sp>
        <p:nvSpPr>
          <p:cNvPr id="606" name="TextBox 605"/>
          <p:cNvSpPr txBox="1"/>
          <p:nvPr/>
        </p:nvSpPr>
        <p:spPr>
          <a:xfrm>
            <a:off x="11750040" y="8901684"/>
            <a:ext cx="320040" cy="1303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607" name="TextBox 606"/>
          <p:cNvSpPr txBox="1"/>
          <p:nvPr/>
        </p:nvSpPr>
        <p:spPr>
          <a:xfrm>
            <a:off x="12070080" y="8901684"/>
            <a:ext cx="1956816" cy="1303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LIC-201 CASCADE; OTS SCREEN DWG (USED IN DECKS)</a:t>
            </a:r>
          </a:p>
        </p:txBody>
      </p:sp>
      <p:sp>
        <p:nvSpPr>
          <p:cNvPr id="608" name="TextBox 607"/>
          <p:cNvSpPr txBox="1"/>
          <p:nvPr/>
        </p:nvSpPr>
        <p:spPr>
          <a:xfrm>
            <a:off x="14026896" y="8901684"/>
            <a:ext cx="777240" cy="1303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--</a:t>
            </a:r>
          </a:p>
        </p:txBody>
      </p:sp>
      <p:sp>
        <p:nvSpPr>
          <p:cNvPr id="609" name="TextBox 608"/>
          <p:cNvSpPr txBox="1"/>
          <p:nvPr/>
        </p:nvSpPr>
        <p:spPr>
          <a:xfrm>
            <a:off x="11750040" y="9031986"/>
            <a:ext cx="320040" cy="1303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610" name="TextBox 609"/>
          <p:cNvSpPr txBox="1"/>
          <p:nvPr/>
        </p:nvSpPr>
        <p:spPr>
          <a:xfrm>
            <a:off x="12070080" y="9031986"/>
            <a:ext cx="1956816" cy="1303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ALTERNATIVE VERSION, EPC STANDARD</a:t>
            </a:r>
          </a:p>
        </p:txBody>
      </p:sp>
      <p:sp>
        <p:nvSpPr>
          <p:cNvPr id="611" name="TextBox 610"/>
          <p:cNvSpPr txBox="1"/>
          <p:nvPr/>
        </p:nvSpPr>
        <p:spPr>
          <a:xfrm>
            <a:off x="14026896" y="9031986"/>
            <a:ext cx="777240" cy="13030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30-SEP-26</a:t>
            </a:r>
          </a:p>
        </p:txBody>
      </p:sp>
      <p:sp>
        <p:nvSpPr>
          <p:cNvPr id="612" name="Rectangle 611"/>
          <p:cNvSpPr/>
          <p:nvPr/>
        </p:nvSpPr>
        <p:spPr>
          <a:xfrm>
            <a:off x="11750040" y="9162288"/>
            <a:ext cx="3054096" cy="1207008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3" name="Connector 612"/>
          <p:cNvCxnSpPr/>
          <p:nvPr/>
        </p:nvCxnSpPr>
        <p:spPr>
          <a:xfrm>
            <a:off x="11750040" y="9473184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4" name="Connector 613"/>
          <p:cNvCxnSpPr/>
          <p:nvPr/>
        </p:nvCxnSpPr>
        <p:spPr>
          <a:xfrm>
            <a:off x="11750040" y="9802367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5" name="Connector 614"/>
          <p:cNvCxnSpPr/>
          <p:nvPr/>
        </p:nvCxnSpPr>
        <p:spPr>
          <a:xfrm>
            <a:off x="11750040" y="100766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6" name="TextBox 615"/>
          <p:cNvSpPr txBox="1"/>
          <p:nvPr/>
        </p:nvSpPr>
        <p:spPr>
          <a:xfrm>
            <a:off x="11750040" y="9180576"/>
            <a:ext cx="305409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DEPROPANIZER COLUMN VER 1 · OTS</a:t>
            </a:r>
          </a:p>
        </p:txBody>
      </p:sp>
      <p:sp>
        <p:nvSpPr>
          <p:cNvPr id="617" name="TextBox 616"/>
          <p:cNvSpPr txBox="1"/>
          <p:nvPr/>
        </p:nvSpPr>
        <p:spPr>
          <a:xfrm>
            <a:off x="11750040" y="9491472"/>
            <a:ext cx="3054096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P&amp;ID — C-201 · ALTERNATIVE VERSION</a:t>
            </a:r>
          </a:p>
        </p:txBody>
      </p:sp>
      <p:cxnSp>
        <p:nvCxnSpPr>
          <p:cNvPr id="618" name="Connector 617"/>
          <p:cNvCxnSpPr/>
          <p:nvPr/>
        </p:nvCxnSpPr>
        <p:spPr>
          <a:xfrm>
            <a:off x="12513563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9" name="Connector 618"/>
          <p:cNvCxnSpPr/>
          <p:nvPr/>
        </p:nvCxnSpPr>
        <p:spPr>
          <a:xfrm>
            <a:off x="13277088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>
            <a:off x="14040612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1" name="TextBox 620"/>
          <p:cNvSpPr txBox="1"/>
          <p:nvPr/>
        </p:nvSpPr>
        <p:spPr>
          <a:xfrm>
            <a:off x="11750040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DRAWN: APINAN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SOOTTITANTAWAT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12513563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CHK'D: --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13277088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APP'D: --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14040612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DATE: 30-SEP-26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11750040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DWG NO.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DC3-V1-PID-001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12513563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REV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13277088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SCALE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N.T.S.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14040612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SHEET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1 OF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