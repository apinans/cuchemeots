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4176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4758416" cy="10323576"/>
          </a:xfrm>
          <a:prstGeom prst="rect">
            <a:avLst/>
          </a:prstGeom>
          <a:noFill/>
          <a:ln w="279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4484096" cy="10049256"/>
          </a:xfrm>
          <a:prstGeom prst="rect">
            <a:avLst/>
          </a:prstGeom>
          <a:noFill/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023360" y="2011680"/>
            <a:ext cx="548640" cy="352043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9080" y="2514600"/>
            <a:ext cx="457200" cy="1097280"/>
          </a:xfrm>
          <a:prstGeom prst="rect">
            <a:avLst/>
          </a:pr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069080" y="2514600"/>
            <a:ext cx="457200" cy="109728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4069080" y="2514600"/>
            <a:ext cx="457200" cy="109728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069080" y="3977639"/>
            <a:ext cx="457200" cy="1188720"/>
          </a:xfrm>
          <a:prstGeom prst="rect">
            <a:avLst/>
          </a:pr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069080" y="3977639"/>
            <a:ext cx="457200" cy="118872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069080" y="3977639"/>
            <a:ext cx="457200" cy="118872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069080" y="2395728"/>
            <a:ext cx="45720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069080" y="3858768"/>
            <a:ext cx="45720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05938" y="2395728"/>
            <a:ext cx="348742" cy="111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>
                <a:solidFill>
                  <a:srgbClr val="000000"/>
                </a:solidFill>
                <a:latin typeface="Arial"/>
              </a:rPr>
              <a:t>C-101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0662" y="2532888"/>
            <a:ext cx="544017" cy="73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9" b="0">
                <a:solidFill>
                  <a:srgbClr val="000000"/>
                </a:solidFill>
                <a:latin typeface="Arial"/>
              </a:rPr>
              <a:t>PACKED COLUMN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9560" y="2619756"/>
            <a:ext cx="725119" cy="73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9" b="0">
                <a:solidFill>
                  <a:srgbClr val="000000"/>
                </a:solidFill>
                <a:latin typeface="Arial"/>
              </a:rPr>
              <a:t>STRUCTURED PACKING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2238" y="2706624"/>
            <a:ext cx="942441" cy="73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9" b="0">
                <a:solidFill>
                  <a:srgbClr val="000000"/>
                </a:solidFill>
                <a:latin typeface="Arial"/>
              </a:rPr>
              <a:t>20 THEOR. STAGES, 2 BEDS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0899" y="2793492"/>
            <a:ext cx="833780" cy="73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9" b="0">
                <a:solidFill>
                  <a:srgbClr val="000000"/>
                </a:solidFill>
                <a:latin typeface="Arial"/>
              </a:rPr>
              <a:t>ID 150 mm × 4 m (TBC)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39797" y="2880360"/>
            <a:ext cx="1014882" cy="73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9" b="0">
                <a:solidFill>
                  <a:srgbClr val="000000"/>
                </a:solidFill>
                <a:latin typeface="Arial"/>
              </a:rPr>
              <a:t>DESIGN FV / 1.0 barg (TBC)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97680" y="5532120"/>
            <a:ext cx="0" cy="5486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542282" y="30335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572000" y="3063240"/>
            <a:ext cx="2468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818888" y="28986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148072" y="3063240"/>
            <a:ext cx="82296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230368" y="28986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230368" y="306324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617720" y="2926080"/>
            <a:ext cx="214884" cy="71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ST 6</a:t>
            </a:r>
          </a:p>
        </p:txBody>
      </p:sp>
      <p:sp>
        <p:nvSpPr>
          <p:cNvPr id="27" name="Oval 26"/>
          <p:cNvSpPr/>
          <p:nvPr/>
        </p:nvSpPr>
        <p:spPr>
          <a:xfrm>
            <a:off x="4542282" y="4194810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4572000" y="4224528"/>
            <a:ext cx="2468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818888" y="405993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103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148072" y="4224528"/>
            <a:ext cx="82296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5230368" y="405993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103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230368" y="422452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617720" y="4087368"/>
            <a:ext cx="250317" cy="71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ST 13</a:t>
            </a:r>
          </a:p>
        </p:txBody>
      </p:sp>
      <p:sp>
        <p:nvSpPr>
          <p:cNvPr id="34" name="Oval 33"/>
          <p:cNvSpPr/>
          <p:nvPr/>
        </p:nvSpPr>
        <p:spPr>
          <a:xfrm>
            <a:off x="4542282" y="52738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4572000" y="5303520"/>
            <a:ext cx="2468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4818888" y="51389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102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148072" y="5303520"/>
            <a:ext cx="82296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5230368" y="51389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230368" y="53035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617720" y="5166359"/>
            <a:ext cx="250317" cy="71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ST 20</a:t>
            </a:r>
          </a:p>
        </p:txBody>
      </p:sp>
      <p:sp>
        <p:nvSpPr>
          <p:cNvPr id="41" name="Oval 40"/>
          <p:cNvSpPr/>
          <p:nvPr/>
        </p:nvSpPr>
        <p:spPr>
          <a:xfrm>
            <a:off x="3993642" y="216484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993642" y="5346954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H="1">
            <a:off x="3246120" y="2194560"/>
            <a:ext cx="77724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246120" y="2194560"/>
            <a:ext cx="0" cy="148132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3246120" y="5376672"/>
            <a:ext cx="77724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246120" y="4005072"/>
            <a:ext cx="0" cy="137160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3081527" y="36758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PDT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103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2990088" y="3840480"/>
            <a:ext cx="9144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2660903" y="36758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PDI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103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660903" y="3840480"/>
            <a:ext cx="32918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282696" y="2075688"/>
            <a:ext cx="142443" cy="69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HP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82696" y="5413248"/>
            <a:ext cx="142443" cy="69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LP</a:t>
            </a:r>
          </a:p>
        </p:txBody>
      </p:sp>
      <p:sp>
        <p:nvSpPr>
          <p:cNvPr id="53" name="Oval 52"/>
          <p:cNvSpPr/>
          <p:nvPr/>
        </p:nvSpPr>
        <p:spPr>
          <a:xfrm>
            <a:off x="3993642" y="490804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H="1">
            <a:off x="3867912" y="4937760"/>
            <a:ext cx="15544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3538727" y="47731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103</a:t>
            </a:r>
          </a:p>
        </p:txBody>
      </p:sp>
      <p:cxnSp>
        <p:nvCxnSpPr>
          <p:cNvPr id="56" name="Connector 55"/>
          <p:cNvCxnSpPr/>
          <p:nvPr/>
        </p:nvCxnSpPr>
        <p:spPr>
          <a:xfrm flipV="1">
            <a:off x="3703320" y="4690872"/>
            <a:ext cx="0" cy="8229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3538727" y="43616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103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538727" y="45262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297680" y="914400"/>
            <a:ext cx="0" cy="10972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297680" y="914400"/>
            <a:ext cx="23317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629400" y="914400"/>
            <a:ext cx="0" cy="201168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120640" y="795528"/>
            <a:ext cx="488899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DN40-PV-101</a:t>
            </a:r>
          </a:p>
        </p:txBody>
      </p:sp>
      <p:sp>
        <p:nvSpPr>
          <p:cNvPr id="63" name="Oval 62"/>
          <p:cNvSpPr/>
          <p:nvPr/>
        </p:nvSpPr>
        <p:spPr>
          <a:xfrm>
            <a:off x="4267962" y="125044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 flipH="1">
            <a:off x="4005072" y="1280160"/>
            <a:ext cx="2926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3675888" y="11155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102</a:t>
            </a:r>
          </a:p>
        </p:txBody>
      </p:sp>
      <p:cxnSp>
        <p:nvCxnSpPr>
          <p:cNvPr id="66" name="Connector 65"/>
          <p:cNvCxnSpPr/>
          <p:nvPr/>
        </p:nvCxnSpPr>
        <p:spPr>
          <a:xfrm flipH="1">
            <a:off x="3547872" y="1280160"/>
            <a:ext cx="128015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3218688" y="11155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PIC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102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3218688" y="128016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3145536" y="1280160"/>
            <a:ext cx="73152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2734056" y="1088136"/>
            <a:ext cx="3840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761488" y="11155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PSHH</a:t>
            </a:r>
          </a:p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102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2761488" y="128016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383280" y="868680"/>
            <a:ext cx="0" cy="246888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383280" y="868680"/>
            <a:ext cx="256032" cy="0"/>
          </a:xfrm>
          <a:prstGeom prst="line">
            <a:avLst/>
          </a:prstGeom>
          <a:ln w="889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3675887" y="813816"/>
            <a:ext cx="399135" cy="73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1">
                <a:solidFill>
                  <a:srgbClr val="000000"/>
                </a:solidFill>
                <a:latin typeface="Arial"/>
              </a:rPr>
              <a:t>TO PV-102</a:t>
            </a:r>
          </a:p>
        </p:txBody>
      </p:sp>
      <p:sp>
        <p:nvSpPr>
          <p:cNvPr id="76" name="Oval 75"/>
          <p:cNvSpPr/>
          <p:nvPr/>
        </p:nvSpPr>
        <p:spPr>
          <a:xfrm>
            <a:off x="4267962" y="1689354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 flipH="1">
            <a:off x="4005072" y="1719072"/>
            <a:ext cx="2926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3675888" y="155448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102B</a:t>
            </a:r>
          </a:p>
        </p:txBody>
      </p:sp>
      <p:cxnSp>
        <p:nvCxnSpPr>
          <p:cNvPr id="79" name="Connector 78"/>
          <p:cNvCxnSpPr/>
          <p:nvPr/>
        </p:nvCxnSpPr>
        <p:spPr>
          <a:xfrm flipH="1">
            <a:off x="2926080" y="1719072"/>
            <a:ext cx="749807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2926080" y="1499616"/>
            <a:ext cx="0" cy="219456"/>
          </a:xfrm>
          <a:prstGeom prst="line">
            <a:avLst/>
          </a:prstGeom>
          <a:ln w="889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993493" y="1673352"/>
            <a:ext cx="731418" cy="69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40" b="0">
                <a:solidFill>
                  <a:srgbClr val="000000"/>
                </a:solidFill>
                <a:latin typeface="Arial"/>
              </a:rPr>
              <a:t>PT-102B REC. (HOLD)</a:t>
            </a:r>
          </a:p>
        </p:txBody>
      </p:sp>
      <p:sp>
        <p:nvSpPr>
          <p:cNvPr id="82" name="Oval 81"/>
          <p:cNvSpPr/>
          <p:nvPr/>
        </p:nvSpPr>
        <p:spPr>
          <a:xfrm>
            <a:off x="4267962" y="1543050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4297680" y="1572768"/>
            <a:ext cx="320040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617720" y="1389888"/>
            <a:ext cx="0" cy="18288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Freeform 84"/>
          <p:cNvSpPr/>
          <p:nvPr/>
        </p:nvSpPr>
        <p:spPr>
          <a:xfrm>
            <a:off x="4544568" y="1271016"/>
            <a:ext cx="146304" cy="118872"/>
          </a:xfrm>
          <a:custGeom>
            <a:avLst/>
            <a:gdLst/>
            <a:ahLst/>
            <a:cxnLst/>
            <a:rect l="l" t="t" r="r" b="b"/>
            <a:pathLst>
              <a:path w="146304" h="118872">
                <a:moveTo>
                  <a:pt x="0" y="118872"/>
                </a:moveTo>
                <a:lnTo>
                  <a:pt x="146304" y="118872"/>
                </a:lnTo>
                <a:lnTo>
                  <a:pt x="73152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4617720" y="1197864"/>
            <a:ext cx="118872" cy="146304"/>
          </a:xfrm>
          <a:custGeom>
            <a:avLst/>
            <a:gdLst/>
            <a:ahLst/>
            <a:cxnLst/>
            <a:rect l="l" t="t" r="r" b="b"/>
            <a:pathLst>
              <a:path w="118872" h="146304">
                <a:moveTo>
                  <a:pt x="0" y="73152"/>
                </a:moveTo>
                <a:lnTo>
                  <a:pt x="118872" y="146304"/>
                </a:lnTo>
                <a:lnTo>
                  <a:pt x="118872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 flipV="1">
            <a:off x="4617720" y="1143000"/>
            <a:ext cx="0" cy="12801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572000" y="1143000"/>
            <a:ext cx="9144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736592" y="1271016"/>
            <a:ext cx="246888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5029200" y="1216152"/>
            <a:ext cx="761339" cy="73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1">
                <a:solidFill>
                  <a:srgbClr val="000000"/>
                </a:solidFill>
                <a:latin typeface="Arial"/>
              </a:rPr>
              <a:t>PSV-101 REC. (HOLD)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029200" y="1307592"/>
            <a:ext cx="1251102" cy="69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SET 1.0 barg ASSUMED, TO SAFE LOC.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703320" y="6080760"/>
            <a:ext cx="1188719" cy="146303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23309" y="6419088"/>
            <a:ext cx="348742" cy="111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00000"/>
                </a:solidFill>
                <a:latin typeface="Arial"/>
              </a:rPr>
              <a:t>D-101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853624" y="6556248"/>
            <a:ext cx="888111" cy="714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BATCH STILL (POT) 150 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871341" y="6643116"/>
            <a:ext cx="852678" cy="714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CHARGE 110 L = 95.7 kg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800475" y="6729984"/>
            <a:ext cx="994410" cy="714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DESIGN FV / 1.0 barg (TBC)</a:t>
            </a:r>
          </a:p>
        </p:txBody>
      </p:sp>
      <p:sp>
        <p:nvSpPr>
          <p:cNvPr id="97" name="Oval 96"/>
          <p:cNvSpPr/>
          <p:nvPr/>
        </p:nvSpPr>
        <p:spPr>
          <a:xfrm>
            <a:off x="4862322" y="66911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>
            <a:off x="4892040" y="6720840"/>
            <a:ext cx="25603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5148072" y="65562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106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5477256" y="6720840"/>
            <a:ext cx="82296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5559552" y="65562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TIC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5559552" y="672084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Oval 102"/>
          <p:cNvSpPr/>
          <p:nvPr/>
        </p:nvSpPr>
        <p:spPr>
          <a:xfrm>
            <a:off x="4844034" y="7120890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4873752" y="7150608"/>
            <a:ext cx="2743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5148072" y="698601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101B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5477256" y="7150608"/>
            <a:ext cx="54864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>
            <a:off x="5559552" y="6958584"/>
            <a:ext cx="3840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5586984" y="698601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TSHH</a:t>
            </a:r>
          </a:p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5586984" y="715060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4901184" y="7187184"/>
            <a:ext cx="310159" cy="682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30" b="0">
                <a:solidFill>
                  <a:srgbClr val="000000"/>
                </a:solidFill>
                <a:latin typeface="Arial"/>
              </a:rPr>
              <a:t>TE-101B</a:t>
            </a:r>
          </a:p>
        </p:txBody>
      </p:sp>
      <p:sp>
        <p:nvSpPr>
          <p:cNvPr id="111" name="Oval 110"/>
          <p:cNvSpPr/>
          <p:nvPr/>
        </p:nvSpPr>
        <p:spPr>
          <a:xfrm>
            <a:off x="4633722" y="6179058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633722" y="7477506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 flipV="1">
            <a:off x="4663440" y="6035040"/>
            <a:ext cx="0" cy="17373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4663440" y="6035040"/>
            <a:ext cx="160020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6263640" y="6035040"/>
            <a:ext cx="0" cy="47548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4663440" y="7507224"/>
            <a:ext cx="0" cy="17373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4663440" y="7680960"/>
            <a:ext cx="160020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263640" y="6839712"/>
            <a:ext cx="0" cy="84124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Oval 118"/>
          <p:cNvSpPr/>
          <p:nvPr/>
        </p:nvSpPr>
        <p:spPr>
          <a:xfrm>
            <a:off x="6099048" y="65105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LT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6428232" y="6675120"/>
            <a:ext cx="82296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Oval 120"/>
          <p:cNvSpPr/>
          <p:nvPr/>
        </p:nvSpPr>
        <p:spPr>
          <a:xfrm>
            <a:off x="6510528" y="65105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LI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6510528" y="66751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6839712" y="6675120"/>
            <a:ext cx="54864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ectangle 123"/>
          <p:cNvSpPr/>
          <p:nvPr/>
        </p:nvSpPr>
        <p:spPr>
          <a:xfrm>
            <a:off x="6922008" y="6483096"/>
            <a:ext cx="3840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6949440" y="65105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LSLL</a:t>
            </a:r>
          </a:p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6949440" y="66751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Oval 126"/>
          <p:cNvSpPr/>
          <p:nvPr/>
        </p:nvSpPr>
        <p:spPr>
          <a:xfrm>
            <a:off x="6949440" y="71506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LT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101B</a:t>
            </a:r>
          </a:p>
        </p:txBody>
      </p:sp>
      <p:cxnSp>
        <p:nvCxnSpPr>
          <p:cNvPr id="128" name="Connector 127"/>
          <p:cNvCxnSpPr/>
          <p:nvPr/>
        </p:nvCxnSpPr>
        <p:spPr>
          <a:xfrm flipV="1">
            <a:off x="7114032" y="6894576"/>
            <a:ext cx="0" cy="256032"/>
          </a:xfrm>
          <a:prstGeom prst="line">
            <a:avLst/>
          </a:prstGeom>
          <a:ln w="889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Oval 128"/>
          <p:cNvSpPr/>
          <p:nvPr/>
        </p:nvSpPr>
        <p:spPr>
          <a:xfrm>
            <a:off x="4469130" y="7495794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0" name="Connector 129"/>
          <p:cNvCxnSpPr/>
          <p:nvPr/>
        </p:nvCxnSpPr>
        <p:spPr>
          <a:xfrm>
            <a:off x="4498848" y="7525512"/>
            <a:ext cx="0" cy="292608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4498848" y="7818120"/>
            <a:ext cx="2615184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7114032" y="7479792"/>
            <a:ext cx="0" cy="338328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7296912" y="7269480"/>
            <a:ext cx="479450" cy="682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30" b="0">
                <a:solidFill>
                  <a:srgbClr val="000000"/>
                </a:solidFill>
                <a:latin typeface="Arial"/>
              </a:rPr>
              <a:t>REC. (HOLD),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296912" y="7351775"/>
            <a:ext cx="445592" cy="682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30" b="0">
                <a:solidFill>
                  <a:srgbClr val="000000"/>
                </a:solidFill>
                <a:latin typeface="Arial"/>
              </a:rPr>
              <a:t>OWN NOZZLES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4471416" y="6053328"/>
            <a:ext cx="10972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4471416" y="6089904"/>
            <a:ext cx="10972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4526280" y="5943600"/>
            <a:ext cx="0" cy="18288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Freeform 137"/>
          <p:cNvSpPr/>
          <p:nvPr/>
        </p:nvSpPr>
        <p:spPr>
          <a:xfrm>
            <a:off x="4453128" y="5824728"/>
            <a:ext cx="146304" cy="118872"/>
          </a:xfrm>
          <a:custGeom>
            <a:avLst/>
            <a:gdLst/>
            <a:ahLst/>
            <a:cxnLst/>
            <a:rect l="l" t="t" r="r" b="b"/>
            <a:pathLst>
              <a:path w="146304" h="118872">
                <a:moveTo>
                  <a:pt x="0" y="118872"/>
                </a:moveTo>
                <a:lnTo>
                  <a:pt x="146304" y="118872"/>
                </a:lnTo>
                <a:lnTo>
                  <a:pt x="73152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4526280" y="5751576"/>
            <a:ext cx="118872" cy="146304"/>
          </a:xfrm>
          <a:custGeom>
            <a:avLst/>
            <a:gdLst/>
            <a:ahLst/>
            <a:cxnLst/>
            <a:rect l="l" t="t" r="r" b="b"/>
            <a:pathLst>
              <a:path w="118872" h="146304">
                <a:moveTo>
                  <a:pt x="0" y="73152"/>
                </a:moveTo>
                <a:lnTo>
                  <a:pt x="118872" y="146304"/>
                </a:lnTo>
                <a:lnTo>
                  <a:pt x="118872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 flipV="1">
            <a:off x="4526280" y="5696712"/>
            <a:ext cx="0" cy="12801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4480560" y="5696712"/>
            <a:ext cx="9144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4645152" y="5824728"/>
            <a:ext cx="246888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4956048" y="5678424"/>
            <a:ext cx="1087323" cy="73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1">
                <a:solidFill>
                  <a:srgbClr val="000000"/>
                </a:solidFill>
                <a:latin typeface="Arial"/>
              </a:rPr>
              <a:t>RD-102 + PSV-102 REC. (HOLD)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956048" y="5769864"/>
            <a:ext cx="1251102" cy="69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SET 1.0 barg ASSUMED, TO SAFE LOC.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548640" y="5897880"/>
            <a:ext cx="34747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4023360" y="5897880"/>
            <a:ext cx="0" cy="246888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566928" y="5641848"/>
            <a:ext cx="109677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FAME CHARGE 110 L FROM IBC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66928" y="5733288"/>
            <a:ext cx="1100709" cy="71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(HOSE CONNECTION, METHOD TBC)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188720" y="5943600"/>
            <a:ext cx="488899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DN25-PL-112</a:t>
            </a:r>
          </a:p>
        </p:txBody>
      </p:sp>
      <p:sp>
        <p:nvSpPr>
          <p:cNvPr id="150" name="Freeform 149"/>
          <p:cNvSpPr/>
          <p:nvPr/>
        </p:nvSpPr>
        <p:spPr>
          <a:xfrm>
            <a:off x="2542032" y="5829300"/>
            <a:ext cx="219456" cy="137160"/>
          </a:xfrm>
          <a:custGeom>
            <a:avLst/>
            <a:gdLst/>
            <a:ahLst/>
            <a:cxnLst/>
            <a:rect l="l" t="t" r="r" b="b"/>
            <a:pathLst>
              <a:path w="219456" h="137160">
                <a:moveTo>
                  <a:pt x="0" y="0"/>
                </a:moveTo>
                <a:lnTo>
                  <a:pt x="219456" y="137160"/>
                </a:lnTo>
                <a:lnTo>
                  <a:pt x="219456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2510853" y="6007608"/>
            <a:ext cx="281813" cy="841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30" b="1">
                <a:solidFill>
                  <a:srgbClr val="000000"/>
                </a:solidFill>
                <a:latin typeface="Arial"/>
              </a:rPr>
              <a:t>V-101</a:t>
            </a:r>
          </a:p>
        </p:txBody>
      </p:sp>
      <p:sp>
        <p:nvSpPr>
          <p:cNvPr id="152" name="Freeform 151"/>
          <p:cNvSpPr/>
          <p:nvPr/>
        </p:nvSpPr>
        <p:spPr>
          <a:xfrm>
            <a:off x="2907791" y="5821070"/>
            <a:ext cx="170079" cy="153619"/>
          </a:xfrm>
          <a:custGeom>
            <a:avLst/>
            <a:gdLst/>
            <a:ahLst/>
            <a:cxnLst/>
            <a:rect l="l" t="t" r="r" b="b"/>
            <a:pathLst>
              <a:path w="170079" h="153619">
                <a:moveTo>
                  <a:pt x="0" y="0"/>
                </a:moveTo>
                <a:lnTo>
                  <a:pt x="170079" y="76810"/>
                </a:lnTo>
                <a:lnTo>
                  <a:pt x="0" y="15361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3" name="Connector 152"/>
          <p:cNvCxnSpPr/>
          <p:nvPr/>
        </p:nvCxnSpPr>
        <p:spPr>
          <a:xfrm>
            <a:off x="3077870" y="5821070"/>
            <a:ext cx="0" cy="153619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2834881" y="5998464"/>
            <a:ext cx="365277" cy="841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30" b="1">
                <a:solidFill>
                  <a:srgbClr val="000000"/>
                </a:solidFill>
                <a:latin typeface="Arial"/>
              </a:rPr>
              <a:t>NRV-112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4297680" y="7543800"/>
            <a:ext cx="0" cy="484631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297680" y="8028431"/>
            <a:ext cx="16916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Freeform 156"/>
          <p:cNvSpPr/>
          <p:nvPr/>
        </p:nvSpPr>
        <p:spPr>
          <a:xfrm>
            <a:off x="4736592" y="7959852"/>
            <a:ext cx="219456" cy="137159"/>
          </a:xfrm>
          <a:custGeom>
            <a:avLst/>
            <a:gdLst/>
            <a:ahLst/>
            <a:cxnLst/>
            <a:rect l="l" t="t" r="r" b="b"/>
            <a:pathLst>
              <a:path w="219456" h="137159">
                <a:moveTo>
                  <a:pt x="0" y="0"/>
                </a:moveTo>
                <a:lnTo>
                  <a:pt x="219456" y="137159"/>
                </a:lnTo>
                <a:lnTo>
                  <a:pt x="219456" y="0"/>
                </a:lnTo>
                <a:lnTo>
                  <a:pt x="0" y="13715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684547" y="8138159"/>
            <a:ext cx="323545" cy="841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30" b="1">
                <a:solidFill>
                  <a:srgbClr val="000000"/>
                </a:solidFill>
                <a:latin typeface="Arial"/>
              </a:rPr>
              <a:t>HV-201</a:t>
            </a:r>
          </a:p>
        </p:txBody>
      </p:sp>
      <p:sp>
        <p:nvSpPr>
          <p:cNvPr id="159" name="Freeform 158"/>
          <p:cNvSpPr/>
          <p:nvPr/>
        </p:nvSpPr>
        <p:spPr>
          <a:xfrm>
            <a:off x="5102352" y="7959852"/>
            <a:ext cx="219456" cy="137159"/>
          </a:xfrm>
          <a:custGeom>
            <a:avLst/>
            <a:gdLst/>
            <a:ahLst/>
            <a:cxnLst/>
            <a:rect l="l" t="t" r="r" b="b"/>
            <a:pathLst>
              <a:path w="219456" h="137159">
                <a:moveTo>
                  <a:pt x="0" y="0"/>
                </a:moveTo>
                <a:lnTo>
                  <a:pt x="219456" y="137159"/>
                </a:lnTo>
                <a:lnTo>
                  <a:pt x="219456" y="0"/>
                </a:lnTo>
                <a:lnTo>
                  <a:pt x="0" y="13715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071173" y="8138159"/>
            <a:ext cx="281813" cy="841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30" b="1">
                <a:solidFill>
                  <a:srgbClr val="000000"/>
                </a:solidFill>
                <a:latin typeface="Arial"/>
              </a:rPr>
              <a:t>V-102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035040" y="7964424"/>
            <a:ext cx="121488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RESIDUE (C18-RICH) TO STORAGE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035040" y="8055864"/>
            <a:ext cx="888111" cy="71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DRAIN BELOW 60 °C (TBC)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440680" y="7909560"/>
            <a:ext cx="488899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DN25-PL-113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2240280" y="6537960"/>
            <a:ext cx="960119" cy="41147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2075688" y="6574536"/>
            <a:ext cx="201168" cy="338327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2276856" y="6647688"/>
            <a:ext cx="813816" cy="192024"/>
          </a:xfrm>
          <a:custGeom>
            <a:avLst/>
            <a:gdLst/>
            <a:ahLst/>
            <a:cxnLst/>
            <a:rect l="l" t="t" r="r" b="b"/>
            <a:pathLst>
              <a:path w="813816" h="192024">
                <a:moveTo>
                  <a:pt x="0" y="0"/>
                </a:moveTo>
                <a:lnTo>
                  <a:pt x="758952" y="0"/>
                </a:lnTo>
                <a:lnTo>
                  <a:pt x="813816" y="96012"/>
                </a:lnTo>
                <a:lnTo>
                  <a:pt x="758952" y="192024"/>
                </a:lnTo>
                <a:lnTo>
                  <a:pt x="0" y="192024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2538857" y="6272784"/>
            <a:ext cx="317246" cy="98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20" b="1">
                <a:solidFill>
                  <a:srgbClr val="000000"/>
                </a:solidFill>
                <a:latin typeface="Arial"/>
              </a:rPr>
              <a:t>D-102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210511" y="6382512"/>
            <a:ext cx="973937" cy="69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REBOILER, HOT OIL IN TUBES</a:t>
            </a:r>
          </a:p>
        </p:txBody>
      </p:sp>
      <p:cxnSp>
        <p:nvCxnSpPr>
          <p:cNvPr id="169" name="Connector 168"/>
          <p:cNvCxnSpPr/>
          <p:nvPr/>
        </p:nvCxnSpPr>
        <p:spPr>
          <a:xfrm>
            <a:off x="3977639" y="7479792"/>
            <a:ext cx="0" cy="246887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H="1">
            <a:off x="2926080" y="7726679"/>
            <a:ext cx="1051559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2926080" y="6949440"/>
            <a:ext cx="0" cy="777239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2944368" y="7598664"/>
            <a:ext cx="488899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DN25-PL-114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3310128" y="7726679"/>
            <a:ext cx="0" cy="365761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Freeform 173"/>
          <p:cNvSpPr/>
          <p:nvPr/>
        </p:nvSpPr>
        <p:spPr>
          <a:xfrm>
            <a:off x="3250692" y="7818119"/>
            <a:ext cx="118872" cy="182880"/>
          </a:xfrm>
          <a:custGeom>
            <a:avLst/>
            <a:gdLst/>
            <a:ahLst/>
            <a:cxnLst/>
            <a:rect l="l" t="t" r="r" b="b"/>
            <a:pathLst>
              <a:path w="118872" h="182880">
                <a:moveTo>
                  <a:pt x="0" y="0"/>
                </a:moveTo>
                <a:lnTo>
                  <a:pt x="118872" y="182880"/>
                </a:lnTo>
                <a:lnTo>
                  <a:pt x="0" y="182880"/>
                </a:lnTo>
                <a:lnTo>
                  <a:pt x="118872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3392424" y="7863839"/>
            <a:ext cx="281813" cy="841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30" b="1">
                <a:solidFill>
                  <a:srgbClr val="000000"/>
                </a:solidFill>
                <a:latin typeface="Arial"/>
              </a:rPr>
              <a:t>V-103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237331" y="8110727"/>
            <a:ext cx="145592" cy="73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DR</a:t>
            </a:r>
          </a:p>
        </p:txBody>
      </p:sp>
      <p:cxnSp>
        <p:nvCxnSpPr>
          <p:cNvPr id="177" name="Connector 176"/>
          <p:cNvCxnSpPr/>
          <p:nvPr/>
        </p:nvCxnSpPr>
        <p:spPr>
          <a:xfrm>
            <a:off x="3200400" y="6675120"/>
            <a:ext cx="50292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TextBox 177"/>
          <p:cNvSpPr txBox="1"/>
          <p:nvPr/>
        </p:nvSpPr>
        <p:spPr>
          <a:xfrm>
            <a:off x="3246120" y="6547104"/>
            <a:ext cx="488899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DN40-PL-115</a:t>
            </a:r>
          </a:p>
        </p:txBody>
      </p:sp>
      <p:sp>
        <p:nvSpPr>
          <p:cNvPr id="179" name="Oval 178"/>
          <p:cNvSpPr/>
          <p:nvPr/>
        </p:nvSpPr>
        <p:spPr>
          <a:xfrm>
            <a:off x="3445001" y="66454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0" name="Connector 179"/>
          <p:cNvCxnSpPr/>
          <p:nvPr/>
        </p:nvCxnSpPr>
        <p:spPr>
          <a:xfrm>
            <a:off x="3474720" y="6675120"/>
            <a:ext cx="0" cy="12801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Oval 180"/>
          <p:cNvSpPr/>
          <p:nvPr/>
        </p:nvSpPr>
        <p:spPr>
          <a:xfrm>
            <a:off x="3310127" y="680313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182" name="Connector 181"/>
          <p:cNvCxnSpPr/>
          <p:nvPr/>
        </p:nvCxnSpPr>
        <p:spPr>
          <a:xfrm>
            <a:off x="3474720" y="7132320"/>
            <a:ext cx="0" cy="73152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Oval 182"/>
          <p:cNvSpPr/>
          <p:nvPr/>
        </p:nvSpPr>
        <p:spPr>
          <a:xfrm>
            <a:off x="3310127" y="7205472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184" name="Connector 183"/>
          <p:cNvCxnSpPr/>
          <p:nvPr/>
        </p:nvCxnSpPr>
        <p:spPr>
          <a:xfrm>
            <a:off x="3310127" y="7370064"/>
            <a:ext cx="32918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548640" y="6355080"/>
            <a:ext cx="162763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2176272" y="6355080"/>
            <a:ext cx="0" cy="219456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TextBox 186"/>
          <p:cNvSpPr txBox="1"/>
          <p:nvPr/>
        </p:nvSpPr>
        <p:spPr>
          <a:xfrm>
            <a:off x="566928" y="6062472"/>
            <a:ext cx="899921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HOT OIL SUPPLY 290 °C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566928" y="6153912"/>
            <a:ext cx="958977" cy="71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FROM VBD-PID-002 (TV-101)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280160" y="6400800"/>
            <a:ext cx="488899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DN25-HO-116</a:t>
            </a:r>
          </a:p>
        </p:txBody>
      </p:sp>
      <p:cxnSp>
        <p:nvCxnSpPr>
          <p:cNvPr id="190" name="Connector 189"/>
          <p:cNvCxnSpPr/>
          <p:nvPr/>
        </p:nvCxnSpPr>
        <p:spPr>
          <a:xfrm>
            <a:off x="2176272" y="6912864"/>
            <a:ext cx="0" cy="35661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H="1">
            <a:off x="548640" y="7269480"/>
            <a:ext cx="1627632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566928" y="7333488"/>
            <a:ext cx="899921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HOT OIL RETURN 256 °C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66928" y="7424927"/>
            <a:ext cx="888111" cy="71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TO VBD-PID-002 (TT-108)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280160" y="7141464"/>
            <a:ext cx="488899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DN25-HO-117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6400800" y="1115568"/>
            <a:ext cx="1280160" cy="42062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7662672" y="1152144"/>
            <a:ext cx="219456" cy="347471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6528816" y="1216152"/>
            <a:ext cx="1152144" cy="219456"/>
          </a:xfrm>
          <a:custGeom>
            <a:avLst/>
            <a:gdLst/>
            <a:ahLst/>
            <a:cxnLst/>
            <a:rect l="l" t="t" r="r" b="b"/>
            <a:pathLst>
              <a:path w="1152144" h="219456">
                <a:moveTo>
                  <a:pt x="1152144" y="0"/>
                </a:moveTo>
                <a:lnTo>
                  <a:pt x="54864" y="0"/>
                </a:lnTo>
                <a:lnTo>
                  <a:pt x="0" y="109728"/>
                </a:lnTo>
                <a:lnTo>
                  <a:pt x="54864" y="219456"/>
                </a:lnTo>
                <a:lnTo>
                  <a:pt x="1152144" y="219456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882257" y="512064"/>
            <a:ext cx="317246" cy="98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20" b="1">
                <a:solidFill>
                  <a:srgbClr val="000000"/>
                </a:solidFill>
                <a:latin typeface="Arial"/>
              </a:rPr>
              <a:t>E-103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6467297" y="626364"/>
            <a:ext cx="1147165" cy="69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OVERHEAD CONDENSER, TW IN TUBES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467297" y="708660"/>
            <a:ext cx="1147165" cy="69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LOAD 2.37 kW (DESIGN), AREA TBC</a:t>
            </a:r>
          </a:p>
        </p:txBody>
      </p:sp>
      <p:cxnSp>
        <p:nvCxnSpPr>
          <p:cNvPr id="201" name="Connector 200"/>
          <p:cNvCxnSpPr/>
          <p:nvPr/>
        </p:nvCxnSpPr>
        <p:spPr>
          <a:xfrm flipV="1">
            <a:off x="7781544" y="731520"/>
            <a:ext cx="0" cy="42062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7781544" y="731520"/>
            <a:ext cx="950976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8778240" y="630936"/>
            <a:ext cx="899921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TEMPERED WATER RETURN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8778240" y="722376"/>
            <a:ext cx="569214" cy="71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TO VBD-PID-002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882127" y="603504"/>
            <a:ext cx="488899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DN25-TW-119</a:t>
            </a:r>
          </a:p>
        </p:txBody>
      </p:sp>
      <p:cxnSp>
        <p:nvCxnSpPr>
          <p:cNvPr id="206" name="Connector 205"/>
          <p:cNvCxnSpPr/>
          <p:nvPr/>
        </p:nvCxnSpPr>
        <p:spPr>
          <a:xfrm flipH="1">
            <a:off x="7781544" y="1783080"/>
            <a:ext cx="950976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7781544" y="1499616"/>
            <a:ext cx="0" cy="283464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TextBox 207"/>
          <p:cNvSpPr txBox="1"/>
          <p:nvPr/>
        </p:nvSpPr>
        <p:spPr>
          <a:xfrm>
            <a:off x="8778240" y="1682496"/>
            <a:ext cx="125425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TEMPERED WATER 60 °C, 1.2 m³/h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8778240" y="1773936"/>
            <a:ext cx="958977" cy="71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FROM VBD-PID-002 (HV-105)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7882127" y="1810512"/>
            <a:ext cx="488899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DN25-TW-118</a:t>
            </a:r>
          </a:p>
        </p:txBody>
      </p:sp>
      <p:cxnSp>
        <p:nvCxnSpPr>
          <p:cNvPr id="211" name="Connector 210"/>
          <p:cNvCxnSpPr/>
          <p:nvPr/>
        </p:nvCxnSpPr>
        <p:spPr>
          <a:xfrm>
            <a:off x="6949440" y="1536192"/>
            <a:ext cx="0" cy="1024128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TextBox 211"/>
          <p:cNvSpPr txBox="1"/>
          <p:nvPr/>
        </p:nvSpPr>
        <p:spPr>
          <a:xfrm>
            <a:off x="7004304" y="2176272"/>
            <a:ext cx="488899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DN25-PL-102</a:t>
            </a:r>
          </a:p>
        </p:txBody>
      </p:sp>
      <p:sp>
        <p:nvSpPr>
          <p:cNvPr id="213" name="Oval 212"/>
          <p:cNvSpPr/>
          <p:nvPr/>
        </p:nvSpPr>
        <p:spPr>
          <a:xfrm>
            <a:off x="6919722" y="19819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4" name="Connector 213"/>
          <p:cNvCxnSpPr/>
          <p:nvPr/>
        </p:nvCxnSpPr>
        <p:spPr>
          <a:xfrm flipH="1">
            <a:off x="6748272" y="2011680"/>
            <a:ext cx="201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Oval 214"/>
          <p:cNvSpPr/>
          <p:nvPr/>
        </p:nvSpPr>
        <p:spPr>
          <a:xfrm>
            <a:off x="6419088" y="18470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105</a:t>
            </a:r>
          </a:p>
        </p:txBody>
      </p:sp>
      <p:cxnSp>
        <p:nvCxnSpPr>
          <p:cNvPr id="216" name="Connector 215"/>
          <p:cNvCxnSpPr/>
          <p:nvPr/>
        </p:nvCxnSpPr>
        <p:spPr>
          <a:xfrm flipH="1">
            <a:off x="6345936" y="2011680"/>
            <a:ext cx="73152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Oval 216"/>
          <p:cNvSpPr/>
          <p:nvPr/>
        </p:nvSpPr>
        <p:spPr>
          <a:xfrm>
            <a:off x="6016752" y="18470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105</a:t>
            </a:r>
          </a:p>
        </p:txBody>
      </p:sp>
      <p:cxnSp>
        <p:nvCxnSpPr>
          <p:cNvPr id="218" name="Connector 217"/>
          <p:cNvCxnSpPr/>
          <p:nvPr/>
        </p:nvCxnSpPr>
        <p:spPr>
          <a:xfrm>
            <a:off x="6016752" y="20116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Rounded Rectangle 218"/>
          <p:cNvSpPr/>
          <p:nvPr/>
        </p:nvSpPr>
        <p:spPr>
          <a:xfrm>
            <a:off x="6355080" y="2560320"/>
            <a:ext cx="1188719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6790817" y="2615184"/>
            <a:ext cx="317246" cy="98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20" b="1">
                <a:solidFill>
                  <a:srgbClr val="000000"/>
                </a:solidFill>
                <a:latin typeface="Arial"/>
              </a:rPr>
              <a:t>D-104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6647116" y="2724912"/>
            <a:ext cx="604647" cy="714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REFLUX DRUM 4 L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6658927" y="2807208"/>
            <a:ext cx="581025" cy="682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30" b="0">
                <a:solidFill>
                  <a:srgbClr val="000000"/>
                </a:solidFill>
                <a:latin typeface="Arial"/>
              </a:rPr>
              <a:t>DESIGN FV (TBC)</a:t>
            </a:r>
          </a:p>
        </p:txBody>
      </p:sp>
      <p:sp>
        <p:nvSpPr>
          <p:cNvPr id="223" name="Oval 222"/>
          <p:cNvSpPr/>
          <p:nvPr/>
        </p:nvSpPr>
        <p:spPr>
          <a:xfrm>
            <a:off x="7514081" y="2731770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4" name="Connector 223"/>
          <p:cNvCxnSpPr/>
          <p:nvPr/>
        </p:nvCxnSpPr>
        <p:spPr>
          <a:xfrm>
            <a:off x="7543800" y="2761488"/>
            <a:ext cx="17373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Oval 224"/>
          <p:cNvSpPr/>
          <p:nvPr/>
        </p:nvSpPr>
        <p:spPr>
          <a:xfrm>
            <a:off x="7717536" y="259689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LT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104</a:t>
            </a:r>
          </a:p>
        </p:txBody>
      </p:sp>
      <p:cxnSp>
        <p:nvCxnSpPr>
          <p:cNvPr id="226" name="Connector 225"/>
          <p:cNvCxnSpPr/>
          <p:nvPr/>
        </p:nvCxnSpPr>
        <p:spPr>
          <a:xfrm>
            <a:off x="8046720" y="2761488"/>
            <a:ext cx="9144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Oval 226"/>
          <p:cNvSpPr/>
          <p:nvPr/>
        </p:nvSpPr>
        <p:spPr>
          <a:xfrm>
            <a:off x="8138160" y="259689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LIC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104</a:t>
            </a:r>
          </a:p>
        </p:txBody>
      </p:sp>
      <p:cxnSp>
        <p:nvCxnSpPr>
          <p:cNvPr id="228" name="Connector 227"/>
          <p:cNvCxnSpPr/>
          <p:nvPr/>
        </p:nvCxnSpPr>
        <p:spPr>
          <a:xfrm>
            <a:off x="8138160" y="276148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7882127" y="2926080"/>
            <a:ext cx="0" cy="155448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Oval 229"/>
          <p:cNvSpPr/>
          <p:nvPr/>
        </p:nvSpPr>
        <p:spPr>
          <a:xfrm>
            <a:off x="7717536" y="310896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LSLL</a:t>
            </a:r>
          </a:p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104</a:t>
            </a:r>
          </a:p>
        </p:txBody>
      </p:sp>
      <p:cxnSp>
        <p:nvCxnSpPr>
          <p:cNvPr id="231" name="Connector 230"/>
          <p:cNvCxnSpPr/>
          <p:nvPr/>
        </p:nvCxnSpPr>
        <p:spPr>
          <a:xfrm>
            <a:off x="7717536" y="3273552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TextBox 231"/>
          <p:cNvSpPr txBox="1"/>
          <p:nvPr/>
        </p:nvSpPr>
        <p:spPr>
          <a:xfrm>
            <a:off x="7655001" y="3474720"/>
            <a:ext cx="454253" cy="69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STOPS P-104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8302752" y="2926080"/>
            <a:ext cx="0" cy="18288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Oval 233"/>
          <p:cNvSpPr/>
          <p:nvPr/>
        </p:nvSpPr>
        <p:spPr>
          <a:xfrm>
            <a:off x="8138160" y="310896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RY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104</a:t>
            </a:r>
          </a:p>
        </p:txBody>
      </p:sp>
      <p:cxnSp>
        <p:nvCxnSpPr>
          <p:cNvPr id="235" name="Connector 234"/>
          <p:cNvCxnSpPr/>
          <p:nvPr/>
        </p:nvCxnSpPr>
        <p:spPr>
          <a:xfrm>
            <a:off x="8138160" y="3273552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TextBox 235"/>
          <p:cNvSpPr txBox="1"/>
          <p:nvPr/>
        </p:nvSpPr>
        <p:spPr>
          <a:xfrm>
            <a:off x="8096885" y="3465576"/>
            <a:ext cx="411734" cy="682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30" b="0">
                <a:solidFill>
                  <a:srgbClr val="000000"/>
                </a:solidFill>
                <a:latin typeface="Arial"/>
              </a:rPr>
              <a:t>SETS SP OF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8079955" y="3547872"/>
            <a:ext cx="445592" cy="682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30" b="0">
                <a:solidFill>
                  <a:srgbClr val="000000"/>
                </a:solidFill>
                <a:latin typeface="Arial"/>
              </a:rPr>
              <a:t>FIC-104/105</a:t>
            </a:r>
          </a:p>
        </p:txBody>
      </p:sp>
      <p:cxnSp>
        <p:nvCxnSpPr>
          <p:cNvPr id="238" name="Connector 237"/>
          <p:cNvCxnSpPr/>
          <p:nvPr/>
        </p:nvCxnSpPr>
        <p:spPr>
          <a:xfrm flipV="1">
            <a:off x="7360920" y="2377440"/>
            <a:ext cx="0" cy="1828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7360920" y="2377440"/>
            <a:ext cx="278892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TextBox 239"/>
          <p:cNvSpPr txBox="1"/>
          <p:nvPr/>
        </p:nvSpPr>
        <p:spPr>
          <a:xfrm>
            <a:off x="7452360" y="2258568"/>
            <a:ext cx="488899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DN25-VG-108</a:t>
            </a:r>
          </a:p>
        </p:txBody>
      </p:sp>
      <p:cxnSp>
        <p:nvCxnSpPr>
          <p:cNvPr id="241" name="Connector 240"/>
          <p:cNvCxnSpPr/>
          <p:nvPr/>
        </p:nvCxnSpPr>
        <p:spPr>
          <a:xfrm>
            <a:off x="7269480" y="2971800"/>
            <a:ext cx="0" cy="6858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H="1">
            <a:off x="5897880" y="3657600"/>
            <a:ext cx="13716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TextBox 242"/>
          <p:cNvSpPr txBox="1"/>
          <p:nvPr/>
        </p:nvSpPr>
        <p:spPr>
          <a:xfrm>
            <a:off x="7324344" y="3035808"/>
            <a:ext cx="488899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DN15-PL-103</a:t>
            </a:r>
          </a:p>
        </p:txBody>
      </p:sp>
      <p:sp>
        <p:nvSpPr>
          <p:cNvPr id="244" name="Freeform 243"/>
          <p:cNvSpPr/>
          <p:nvPr/>
        </p:nvSpPr>
        <p:spPr>
          <a:xfrm>
            <a:off x="6976872" y="3589020"/>
            <a:ext cx="219456" cy="137160"/>
          </a:xfrm>
          <a:custGeom>
            <a:avLst/>
            <a:gdLst/>
            <a:ahLst/>
            <a:cxnLst/>
            <a:rect l="l" t="t" r="r" b="b"/>
            <a:pathLst>
              <a:path w="219456" h="137160">
                <a:moveTo>
                  <a:pt x="0" y="0"/>
                </a:moveTo>
                <a:lnTo>
                  <a:pt x="219456" y="137160"/>
                </a:lnTo>
                <a:lnTo>
                  <a:pt x="219456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6945693" y="3767328"/>
            <a:ext cx="281813" cy="841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30" b="1">
                <a:solidFill>
                  <a:srgbClr val="000000"/>
                </a:solidFill>
                <a:latin typeface="Arial"/>
              </a:rPr>
              <a:t>V-110</a:t>
            </a:r>
          </a:p>
        </p:txBody>
      </p:sp>
      <p:sp>
        <p:nvSpPr>
          <p:cNvPr id="246" name="Freeform 245"/>
          <p:cNvSpPr/>
          <p:nvPr/>
        </p:nvSpPr>
        <p:spPr>
          <a:xfrm>
            <a:off x="6629400" y="3767328"/>
            <a:ext cx="274320" cy="109728"/>
          </a:xfrm>
          <a:custGeom>
            <a:avLst/>
            <a:gdLst/>
            <a:ahLst/>
            <a:cxnLst/>
            <a:rect l="l" t="t" r="r" b="b"/>
            <a:pathLst>
              <a:path w="274320" h="109728">
                <a:moveTo>
                  <a:pt x="54864" y="0"/>
                </a:moveTo>
                <a:lnTo>
                  <a:pt x="0" y="109728"/>
                </a:lnTo>
                <a:lnTo>
                  <a:pt x="274320" y="109728"/>
                </a:lnTo>
                <a:lnTo>
                  <a:pt x="219456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6611112" y="350215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6675120" y="3584448"/>
            <a:ext cx="164592" cy="146304"/>
          </a:xfrm>
          <a:custGeom>
            <a:avLst/>
            <a:gdLst/>
            <a:ahLst/>
            <a:cxnLst/>
            <a:rect l="l" t="t" r="r" b="b"/>
            <a:pathLst>
              <a:path w="164592" h="146304">
                <a:moveTo>
                  <a:pt x="164592" y="0"/>
                </a:moveTo>
                <a:lnTo>
                  <a:pt x="0" y="73152"/>
                </a:lnTo>
                <a:lnTo>
                  <a:pt x="164592" y="146304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6607937" y="3904487"/>
            <a:ext cx="317246" cy="98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20" b="1">
                <a:solidFill>
                  <a:srgbClr val="000000"/>
                </a:solidFill>
                <a:latin typeface="Arial"/>
              </a:rPr>
              <a:t>P-104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729984" y="4014215"/>
            <a:ext cx="73152" cy="76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251" name="Freeform 250"/>
          <p:cNvSpPr/>
          <p:nvPr/>
        </p:nvSpPr>
        <p:spPr>
          <a:xfrm>
            <a:off x="6367881" y="3580790"/>
            <a:ext cx="170079" cy="153619"/>
          </a:xfrm>
          <a:custGeom>
            <a:avLst/>
            <a:gdLst/>
            <a:ahLst/>
            <a:cxnLst/>
            <a:rect l="l" t="t" r="r" b="b"/>
            <a:pathLst>
              <a:path w="170079" h="153619">
                <a:moveTo>
                  <a:pt x="170079" y="0"/>
                </a:moveTo>
                <a:lnTo>
                  <a:pt x="0" y="76810"/>
                </a:lnTo>
                <a:lnTo>
                  <a:pt x="170079" y="15361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2" name="Connector 251"/>
          <p:cNvCxnSpPr/>
          <p:nvPr/>
        </p:nvCxnSpPr>
        <p:spPr>
          <a:xfrm>
            <a:off x="6367881" y="3580790"/>
            <a:ext cx="0" cy="153619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3" name="TextBox 252"/>
          <p:cNvSpPr txBox="1"/>
          <p:nvPr/>
        </p:nvSpPr>
        <p:spPr>
          <a:xfrm>
            <a:off x="6245593" y="3758184"/>
            <a:ext cx="365277" cy="841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30" b="1">
                <a:solidFill>
                  <a:srgbClr val="000000"/>
                </a:solidFill>
                <a:latin typeface="Arial"/>
              </a:rPr>
              <a:t>NRV-104</a:t>
            </a:r>
          </a:p>
        </p:txBody>
      </p:sp>
      <p:sp>
        <p:nvSpPr>
          <p:cNvPr id="254" name="Freeform 253"/>
          <p:cNvSpPr/>
          <p:nvPr/>
        </p:nvSpPr>
        <p:spPr>
          <a:xfrm>
            <a:off x="6044184" y="3589020"/>
            <a:ext cx="219456" cy="137160"/>
          </a:xfrm>
          <a:custGeom>
            <a:avLst/>
            <a:gdLst/>
            <a:ahLst/>
            <a:cxnLst/>
            <a:rect l="l" t="t" r="r" b="b"/>
            <a:pathLst>
              <a:path w="219456" h="137160">
                <a:moveTo>
                  <a:pt x="0" y="0"/>
                </a:moveTo>
                <a:lnTo>
                  <a:pt x="219456" y="137160"/>
                </a:lnTo>
                <a:lnTo>
                  <a:pt x="219456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6013005" y="3767328"/>
            <a:ext cx="281813" cy="841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30" b="1">
                <a:solidFill>
                  <a:srgbClr val="000000"/>
                </a:solidFill>
                <a:latin typeface="Arial"/>
              </a:rPr>
              <a:t>V-111</a:t>
            </a:r>
          </a:p>
        </p:txBody>
      </p:sp>
      <p:sp>
        <p:nvSpPr>
          <p:cNvPr id="256" name="Oval 255"/>
          <p:cNvSpPr/>
          <p:nvPr/>
        </p:nvSpPr>
        <p:spPr>
          <a:xfrm>
            <a:off x="5868162" y="36278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7" name="Connector 256"/>
          <p:cNvCxnSpPr/>
          <p:nvPr/>
        </p:nvCxnSpPr>
        <p:spPr>
          <a:xfrm flipV="1">
            <a:off x="5897880" y="2240280"/>
            <a:ext cx="0" cy="14173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H="1">
            <a:off x="4572000" y="2240280"/>
            <a:ext cx="132588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9" name="TextBox 258"/>
          <p:cNvSpPr txBox="1"/>
          <p:nvPr/>
        </p:nvSpPr>
        <p:spPr>
          <a:xfrm>
            <a:off x="4663440" y="2121408"/>
            <a:ext cx="488899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DN15-PL-104</a:t>
            </a:r>
          </a:p>
        </p:txBody>
      </p:sp>
      <p:cxnSp>
        <p:nvCxnSpPr>
          <p:cNvPr id="260" name="Connector 259"/>
          <p:cNvCxnSpPr/>
          <p:nvPr/>
        </p:nvCxnSpPr>
        <p:spPr>
          <a:xfrm>
            <a:off x="5797296" y="3282696"/>
            <a:ext cx="201168" cy="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5797296" y="3337560"/>
            <a:ext cx="201168" cy="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5998464" y="3310128"/>
            <a:ext cx="1005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Oval 262"/>
          <p:cNvSpPr/>
          <p:nvPr/>
        </p:nvSpPr>
        <p:spPr>
          <a:xfrm>
            <a:off x="6099048" y="314553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FT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104</a:t>
            </a:r>
          </a:p>
        </p:txBody>
      </p:sp>
      <p:cxnSp>
        <p:nvCxnSpPr>
          <p:cNvPr id="264" name="Connector 263"/>
          <p:cNvCxnSpPr/>
          <p:nvPr/>
        </p:nvCxnSpPr>
        <p:spPr>
          <a:xfrm>
            <a:off x="6428232" y="3310128"/>
            <a:ext cx="82296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5" name="Oval 264"/>
          <p:cNvSpPr/>
          <p:nvPr/>
        </p:nvSpPr>
        <p:spPr>
          <a:xfrm>
            <a:off x="6510528" y="314553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FIC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104</a:t>
            </a:r>
          </a:p>
        </p:txBody>
      </p:sp>
      <p:cxnSp>
        <p:nvCxnSpPr>
          <p:cNvPr id="266" name="Connector 265"/>
          <p:cNvCxnSpPr/>
          <p:nvPr/>
        </p:nvCxnSpPr>
        <p:spPr>
          <a:xfrm>
            <a:off x="6510528" y="331012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Freeform 266"/>
          <p:cNvSpPr/>
          <p:nvPr/>
        </p:nvSpPr>
        <p:spPr>
          <a:xfrm>
            <a:off x="5820156" y="2578608"/>
            <a:ext cx="155448" cy="237744"/>
          </a:xfrm>
          <a:custGeom>
            <a:avLst/>
            <a:gdLst/>
            <a:ahLst/>
            <a:cxnLst/>
            <a:rect l="l" t="t" r="r" b="b"/>
            <a:pathLst>
              <a:path w="155448" h="237744">
                <a:moveTo>
                  <a:pt x="0" y="0"/>
                </a:moveTo>
                <a:lnTo>
                  <a:pt x="155448" y="237744"/>
                </a:lnTo>
                <a:lnTo>
                  <a:pt x="0" y="237744"/>
                </a:lnTo>
                <a:lnTo>
                  <a:pt x="155448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8" name="Connector 267"/>
          <p:cNvCxnSpPr/>
          <p:nvPr/>
        </p:nvCxnSpPr>
        <p:spPr>
          <a:xfrm>
            <a:off x="5975604" y="2697480"/>
            <a:ext cx="12344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Freeform 268"/>
          <p:cNvSpPr/>
          <p:nvPr/>
        </p:nvSpPr>
        <p:spPr>
          <a:xfrm>
            <a:off x="6099048" y="2578608"/>
            <a:ext cx="108060" cy="237744"/>
          </a:xfrm>
          <a:custGeom>
            <a:avLst/>
            <a:gdLst/>
            <a:ahLst/>
            <a:cxnLst/>
            <a:rect l="l" t="t" r="r" b="b"/>
            <a:pathLst>
              <a:path w="108060" h="237744">
                <a:moveTo>
                  <a:pt x="0" y="0"/>
                </a:moveTo>
                <a:lnTo>
                  <a:pt x="37529" y="7168"/>
                </a:lnTo>
                <a:lnTo>
                  <a:pt x="70531" y="27810"/>
                </a:lnTo>
                <a:lnTo>
                  <a:pt x="95027" y="59436"/>
                </a:lnTo>
                <a:lnTo>
                  <a:pt x="108060" y="98230"/>
                </a:lnTo>
                <a:lnTo>
                  <a:pt x="108060" y="139513"/>
                </a:lnTo>
                <a:lnTo>
                  <a:pt x="95027" y="178308"/>
                </a:lnTo>
                <a:lnTo>
                  <a:pt x="70531" y="209933"/>
                </a:lnTo>
                <a:lnTo>
                  <a:pt x="37529" y="230575"/>
                </a:lnTo>
                <a:lnTo>
                  <a:pt x="0" y="237744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473750" y="2578608"/>
            <a:ext cx="323545" cy="841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30" b="1">
                <a:solidFill>
                  <a:srgbClr val="000000"/>
                </a:solidFill>
                <a:latin typeface="Arial"/>
              </a:rPr>
              <a:t>FV-104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645404" y="2706624"/>
            <a:ext cx="15189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cxnSp>
        <p:nvCxnSpPr>
          <p:cNvPr id="272" name="Connector 271"/>
          <p:cNvCxnSpPr/>
          <p:nvPr/>
        </p:nvCxnSpPr>
        <p:spPr>
          <a:xfrm flipV="1">
            <a:off x="6675120" y="3072384"/>
            <a:ext cx="0" cy="73152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H="1">
            <a:off x="6263640" y="3072384"/>
            <a:ext cx="41148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6263640" y="2697480"/>
            <a:ext cx="0" cy="374904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H="1">
            <a:off x="6208776" y="2697480"/>
            <a:ext cx="54864" cy="0"/>
          </a:xfrm>
          <a:prstGeom prst="line">
            <a:avLst/>
          </a:prstGeom>
          <a:ln w="889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5897880" y="3657600"/>
            <a:ext cx="0" cy="10515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5897880" y="4709160"/>
            <a:ext cx="2304287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8" name="Freeform 277"/>
          <p:cNvSpPr/>
          <p:nvPr/>
        </p:nvSpPr>
        <p:spPr>
          <a:xfrm>
            <a:off x="6236208" y="463143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9" name="Connector 278"/>
          <p:cNvCxnSpPr/>
          <p:nvPr/>
        </p:nvCxnSpPr>
        <p:spPr>
          <a:xfrm flipV="1">
            <a:off x="6355080" y="4507992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Freeform 279"/>
          <p:cNvSpPr/>
          <p:nvPr/>
        </p:nvSpPr>
        <p:spPr>
          <a:xfrm>
            <a:off x="6236208" y="4399931"/>
            <a:ext cx="237744" cy="108061"/>
          </a:xfrm>
          <a:custGeom>
            <a:avLst/>
            <a:gdLst/>
            <a:ahLst/>
            <a:cxnLst/>
            <a:rect l="l" t="t" r="r" b="b"/>
            <a:pathLst>
              <a:path w="237744" h="108061">
                <a:moveTo>
                  <a:pt x="0" y="108061"/>
                </a:moveTo>
                <a:lnTo>
                  <a:pt x="7168" y="70531"/>
                </a:lnTo>
                <a:lnTo>
                  <a:pt x="27810" y="37529"/>
                </a:lnTo>
                <a:lnTo>
                  <a:pt x="59436" y="13033"/>
                </a:lnTo>
                <a:lnTo>
                  <a:pt x="98230" y="0"/>
                </a:lnTo>
                <a:lnTo>
                  <a:pt x="139513" y="0"/>
                </a:lnTo>
                <a:lnTo>
                  <a:pt x="178308" y="13033"/>
                </a:lnTo>
                <a:lnTo>
                  <a:pt x="209933" y="37529"/>
                </a:lnTo>
                <a:lnTo>
                  <a:pt x="230575" y="70531"/>
                </a:lnTo>
                <a:lnTo>
                  <a:pt x="237744" y="108061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6066028" y="4379976"/>
            <a:ext cx="15189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6193307" y="4809744"/>
            <a:ext cx="323545" cy="841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30" b="1">
                <a:solidFill>
                  <a:srgbClr val="000000"/>
                </a:solidFill>
                <a:latin typeface="Arial"/>
              </a:rPr>
              <a:t>FV-105</a:t>
            </a:r>
          </a:p>
        </p:txBody>
      </p:sp>
      <p:cxnSp>
        <p:nvCxnSpPr>
          <p:cNvPr id="283" name="Connector 282"/>
          <p:cNvCxnSpPr/>
          <p:nvPr/>
        </p:nvCxnSpPr>
        <p:spPr>
          <a:xfrm>
            <a:off x="7013448" y="4608576"/>
            <a:ext cx="0" cy="201168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7068312" y="4608576"/>
            <a:ext cx="0" cy="201168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Oval 284"/>
          <p:cNvSpPr/>
          <p:nvPr/>
        </p:nvSpPr>
        <p:spPr>
          <a:xfrm>
            <a:off x="7011162" y="4578858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6" name="Connector 285"/>
          <p:cNvCxnSpPr/>
          <p:nvPr/>
        </p:nvCxnSpPr>
        <p:spPr>
          <a:xfrm flipV="1">
            <a:off x="7040880" y="4480560"/>
            <a:ext cx="0" cy="12801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7" name="Oval 286"/>
          <p:cNvSpPr/>
          <p:nvPr/>
        </p:nvSpPr>
        <p:spPr>
          <a:xfrm>
            <a:off x="6876288" y="415137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FT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105</a:t>
            </a:r>
          </a:p>
        </p:txBody>
      </p:sp>
      <p:cxnSp>
        <p:nvCxnSpPr>
          <p:cNvPr id="288" name="Connector 287"/>
          <p:cNvCxnSpPr/>
          <p:nvPr/>
        </p:nvCxnSpPr>
        <p:spPr>
          <a:xfrm flipH="1">
            <a:off x="6793992" y="4315968"/>
            <a:ext cx="82296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9" name="Oval 288"/>
          <p:cNvSpPr/>
          <p:nvPr/>
        </p:nvSpPr>
        <p:spPr>
          <a:xfrm>
            <a:off x="6464808" y="415137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FIC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105</a:t>
            </a:r>
          </a:p>
        </p:txBody>
      </p:sp>
      <p:cxnSp>
        <p:nvCxnSpPr>
          <p:cNvPr id="290" name="Connector 289"/>
          <p:cNvCxnSpPr/>
          <p:nvPr/>
        </p:nvCxnSpPr>
        <p:spPr>
          <a:xfrm>
            <a:off x="6464808" y="431596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H="1">
            <a:off x="6355080" y="4315968"/>
            <a:ext cx="10972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6355080" y="4315968"/>
            <a:ext cx="0" cy="82296"/>
          </a:xfrm>
          <a:prstGeom prst="line">
            <a:avLst/>
          </a:prstGeom>
          <a:ln w="889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3" name="TextBox 292"/>
          <p:cNvSpPr txBox="1"/>
          <p:nvPr/>
        </p:nvSpPr>
        <p:spPr>
          <a:xfrm>
            <a:off x="7178040" y="4764024"/>
            <a:ext cx="488899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DN15-PL-105</a:t>
            </a:r>
          </a:p>
        </p:txBody>
      </p:sp>
      <p:sp>
        <p:nvSpPr>
          <p:cNvPr id="294" name="Oval 293"/>
          <p:cNvSpPr/>
          <p:nvPr/>
        </p:nvSpPr>
        <p:spPr>
          <a:xfrm>
            <a:off x="7696961" y="467944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5" name="Connector 294"/>
          <p:cNvCxnSpPr/>
          <p:nvPr/>
        </p:nvCxnSpPr>
        <p:spPr>
          <a:xfrm>
            <a:off x="7726679" y="4709160"/>
            <a:ext cx="0" cy="429768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6" name="Freeform 295"/>
          <p:cNvSpPr/>
          <p:nvPr/>
        </p:nvSpPr>
        <p:spPr>
          <a:xfrm>
            <a:off x="7667244" y="4846320"/>
            <a:ext cx="118871" cy="182880"/>
          </a:xfrm>
          <a:custGeom>
            <a:avLst/>
            <a:gdLst/>
            <a:ahLst/>
            <a:cxnLst/>
            <a:rect l="l" t="t" r="r" b="b"/>
            <a:pathLst>
              <a:path w="118871" h="182880">
                <a:moveTo>
                  <a:pt x="0" y="0"/>
                </a:moveTo>
                <a:lnTo>
                  <a:pt x="118871" y="182880"/>
                </a:lnTo>
                <a:lnTo>
                  <a:pt x="0" y="182880"/>
                </a:lnTo>
                <a:lnTo>
                  <a:pt x="118871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7808975" y="4892040"/>
            <a:ext cx="281813" cy="841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30" b="1">
                <a:solidFill>
                  <a:srgbClr val="000000"/>
                </a:solidFill>
                <a:latin typeface="Arial"/>
              </a:rPr>
              <a:t>V-115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6991705" y="5010912"/>
            <a:ext cx="652678" cy="73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9" b="1">
                <a:solidFill>
                  <a:srgbClr val="000000"/>
                </a:solidFill>
                <a:latin typeface="Arial"/>
              </a:rPr>
              <a:t>D-105 SAMPLE PT.</a:t>
            </a:r>
          </a:p>
        </p:txBody>
      </p:sp>
      <p:sp>
        <p:nvSpPr>
          <p:cNvPr id="299" name="Freeform 298"/>
          <p:cNvSpPr/>
          <p:nvPr/>
        </p:nvSpPr>
        <p:spPr>
          <a:xfrm>
            <a:off x="8202167" y="4631436"/>
            <a:ext cx="237745" cy="155448"/>
          </a:xfrm>
          <a:custGeom>
            <a:avLst/>
            <a:gdLst/>
            <a:ahLst/>
            <a:cxnLst/>
            <a:rect l="l" t="t" r="r" b="b"/>
            <a:pathLst>
              <a:path w="237745" h="155448">
                <a:moveTo>
                  <a:pt x="0" y="0"/>
                </a:moveTo>
                <a:lnTo>
                  <a:pt x="237745" y="155448"/>
                </a:lnTo>
                <a:lnTo>
                  <a:pt x="237745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8252460" y="4709160"/>
            <a:ext cx="137159" cy="118872"/>
          </a:xfrm>
          <a:custGeom>
            <a:avLst/>
            <a:gdLst/>
            <a:ahLst/>
            <a:cxnLst/>
            <a:rect l="l" t="t" r="r" b="b"/>
            <a:pathLst>
              <a:path w="137159" h="118872">
                <a:moveTo>
                  <a:pt x="68580" y="0"/>
                </a:moveTo>
                <a:lnTo>
                  <a:pt x="0" y="118872"/>
                </a:lnTo>
                <a:lnTo>
                  <a:pt x="137159" y="11887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1" name="Connector 300"/>
          <p:cNvCxnSpPr/>
          <p:nvPr/>
        </p:nvCxnSpPr>
        <p:spPr>
          <a:xfrm flipV="1">
            <a:off x="8321040" y="4526280"/>
            <a:ext cx="0" cy="1051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Rectangle 301"/>
          <p:cNvSpPr/>
          <p:nvPr/>
        </p:nvSpPr>
        <p:spPr>
          <a:xfrm>
            <a:off x="8247888" y="4416552"/>
            <a:ext cx="146304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8247888" y="4416552"/>
            <a:ext cx="146304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8467344" y="4773168"/>
            <a:ext cx="323545" cy="841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30" b="1">
                <a:solidFill>
                  <a:srgbClr val="000000"/>
                </a:solidFill>
                <a:latin typeface="Arial"/>
              </a:rPr>
              <a:t>XV-107</a:t>
            </a:r>
          </a:p>
        </p:txBody>
      </p:sp>
      <p:sp>
        <p:nvSpPr>
          <p:cNvPr id="305" name="Oval 304"/>
          <p:cNvSpPr/>
          <p:nvPr/>
        </p:nvSpPr>
        <p:spPr>
          <a:xfrm>
            <a:off x="8156448" y="387705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HS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107</a:t>
            </a:r>
          </a:p>
        </p:txBody>
      </p:sp>
      <p:cxnSp>
        <p:nvCxnSpPr>
          <p:cNvPr id="306" name="Connector 305"/>
          <p:cNvCxnSpPr/>
          <p:nvPr/>
        </p:nvCxnSpPr>
        <p:spPr>
          <a:xfrm>
            <a:off x="8156448" y="404164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8321040" y="4206240"/>
            <a:ext cx="0" cy="210312"/>
          </a:xfrm>
          <a:prstGeom prst="line">
            <a:avLst/>
          </a:prstGeom>
          <a:ln w="889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8" name="TextBox 307"/>
          <p:cNvSpPr txBox="1"/>
          <p:nvPr/>
        </p:nvSpPr>
        <p:spPr>
          <a:xfrm>
            <a:off x="8522208" y="3931920"/>
            <a:ext cx="885748" cy="682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30" b="0">
                <a:solidFill>
                  <a:srgbClr val="000000"/>
                </a:solidFill>
                <a:latin typeface="Arial"/>
              </a:rPr>
              <a:t>CLOSED / TK-201 / TK-202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8522208" y="4014215"/>
            <a:ext cx="919607" cy="682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30" b="0">
                <a:solidFill>
                  <a:srgbClr val="000000"/>
                </a:solidFill>
                <a:latin typeface="Arial"/>
              </a:rPr>
              <a:t>FAIL: STAYS PUT (ASSUMED)</a:t>
            </a:r>
          </a:p>
        </p:txBody>
      </p:sp>
      <p:cxnSp>
        <p:nvCxnSpPr>
          <p:cNvPr id="310" name="Connector 309"/>
          <p:cNvCxnSpPr/>
          <p:nvPr/>
        </p:nvCxnSpPr>
        <p:spPr>
          <a:xfrm>
            <a:off x="8321040" y="4828032"/>
            <a:ext cx="0" cy="850392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" name="TextBox 310"/>
          <p:cNvSpPr txBox="1"/>
          <p:nvPr/>
        </p:nvSpPr>
        <p:spPr>
          <a:xfrm>
            <a:off x="8375904" y="5120640"/>
            <a:ext cx="488899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DN15-PL-106</a:t>
            </a:r>
          </a:p>
        </p:txBody>
      </p:sp>
      <p:cxnSp>
        <p:nvCxnSpPr>
          <p:cNvPr id="312" name="Connector 311"/>
          <p:cNvCxnSpPr/>
          <p:nvPr/>
        </p:nvCxnSpPr>
        <p:spPr>
          <a:xfrm>
            <a:off x="8439912" y="4709160"/>
            <a:ext cx="180136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10241280" y="4709160"/>
            <a:ext cx="0" cy="969264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TextBox 313"/>
          <p:cNvSpPr txBox="1"/>
          <p:nvPr/>
        </p:nvSpPr>
        <p:spPr>
          <a:xfrm>
            <a:off x="9144000" y="4590288"/>
            <a:ext cx="488899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DN15-PL-107</a:t>
            </a:r>
          </a:p>
        </p:txBody>
      </p:sp>
      <p:sp>
        <p:nvSpPr>
          <p:cNvPr id="315" name="Rounded Rectangle 314"/>
          <p:cNvSpPr/>
          <p:nvPr/>
        </p:nvSpPr>
        <p:spPr>
          <a:xfrm>
            <a:off x="8046719" y="5669280"/>
            <a:ext cx="548640" cy="1828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8133283" y="6172200"/>
            <a:ext cx="375513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TK-201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8160448" y="6291072"/>
            <a:ext cx="321183" cy="714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OFF-CUT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8142731" y="6373368"/>
            <a:ext cx="356616" cy="714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RECEIVER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8115173" y="6455664"/>
            <a:ext cx="411734" cy="682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30" b="0">
                <a:solidFill>
                  <a:srgbClr val="000000"/>
                </a:solidFill>
                <a:latin typeface="Arial"/>
              </a:rPr>
              <a:t>VOLUME TBC</a:t>
            </a:r>
          </a:p>
        </p:txBody>
      </p:sp>
      <p:sp>
        <p:nvSpPr>
          <p:cNvPr id="320" name="Oval 319"/>
          <p:cNvSpPr/>
          <p:nvPr/>
        </p:nvSpPr>
        <p:spPr>
          <a:xfrm>
            <a:off x="8565642" y="70111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1" name="Connector 320"/>
          <p:cNvCxnSpPr/>
          <p:nvPr/>
        </p:nvCxnSpPr>
        <p:spPr>
          <a:xfrm>
            <a:off x="8595360" y="7040880"/>
            <a:ext cx="2468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2" name="Oval 321"/>
          <p:cNvSpPr/>
          <p:nvPr/>
        </p:nvSpPr>
        <p:spPr>
          <a:xfrm>
            <a:off x="8842248" y="68762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WT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201</a:t>
            </a:r>
          </a:p>
        </p:txBody>
      </p:sp>
      <p:cxnSp>
        <p:nvCxnSpPr>
          <p:cNvPr id="323" name="Connector 322"/>
          <p:cNvCxnSpPr/>
          <p:nvPr/>
        </p:nvCxnSpPr>
        <p:spPr>
          <a:xfrm>
            <a:off x="9006840" y="7205472"/>
            <a:ext cx="0" cy="9144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4" name="Oval 323"/>
          <p:cNvSpPr/>
          <p:nvPr/>
        </p:nvSpPr>
        <p:spPr>
          <a:xfrm>
            <a:off x="8842248" y="7296912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WI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201</a:t>
            </a:r>
          </a:p>
        </p:txBody>
      </p:sp>
      <p:cxnSp>
        <p:nvCxnSpPr>
          <p:cNvPr id="325" name="Connector 324"/>
          <p:cNvCxnSpPr/>
          <p:nvPr/>
        </p:nvCxnSpPr>
        <p:spPr>
          <a:xfrm>
            <a:off x="8842248" y="7461504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6" name="TextBox 325"/>
          <p:cNvSpPr txBox="1"/>
          <p:nvPr/>
        </p:nvSpPr>
        <p:spPr>
          <a:xfrm>
            <a:off x="8800973" y="6766560"/>
            <a:ext cx="411734" cy="682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30" b="0">
                <a:solidFill>
                  <a:srgbClr val="000000"/>
                </a:solidFill>
                <a:latin typeface="Arial"/>
              </a:rPr>
              <a:t>LOAD CELLS</a:t>
            </a:r>
          </a:p>
        </p:txBody>
      </p:sp>
      <p:cxnSp>
        <p:nvCxnSpPr>
          <p:cNvPr id="327" name="Connector 326"/>
          <p:cNvCxnSpPr/>
          <p:nvPr/>
        </p:nvCxnSpPr>
        <p:spPr>
          <a:xfrm>
            <a:off x="8321040" y="7498079"/>
            <a:ext cx="0" cy="594361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8" name="Freeform 327"/>
          <p:cNvSpPr/>
          <p:nvPr/>
        </p:nvSpPr>
        <p:spPr>
          <a:xfrm>
            <a:off x="8261604" y="7680960"/>
            <a:ext cx="118871" cy="182880"/>
          </a:xfrm>
          <a:custGeom>
            <a:avLst/>
            <a:gdLst/>
            <a:ahLst/>
            <a:cxnLst/>
            <a:rect l="l" t="t" r="r" b="b"/>
            <a:pathLst>
              <a:path w="118871" h="182880">
                <a:moveTo>
                  <a:pt x="0" y="0"/>
                </a:moveTo>
                <a:lnTo>
                  <a:pt x="118871" y="182880"/>
                </a:lnTo>
                <a:lnTo>
                  <a:pt x="0" y="182880"/>
                </a:lnTo>
                <a:lnTo>
                  <a:pt x="118871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TextBox 328"/>
          <p:cNvSpPr txBox="1"/>
          <p:nvPr/>
        </p:nvSpPr>
        <p:spPr>
          <a:xfrm>
            <a:off x="7956931" y="7726679"/>
            <a:ext cx="281813" cy="841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30" b="1">
                <a:solidFill>
                  <a:srgbClr val="000000"/>
                </a:solidFill>
                <a:latin typeface="Arial"/>
              </a:rPr>
              <a:t>V-116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8007299" y="8119872"/>
            <a:ext cx="627481" cy="69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TO PRODUCT DRUMS</a:t>
            </a:r>
          </a:p>
        </p:txBody>
      </p:sp>
      <p:cxnSp>
        <p:nvCxnSpPr>
          <p:cNvPr id="331" name="Connector 330"/>
          <p:cNvCxnSpPr/>
          <p:nvPr/>
        </p:nvCxnSpPr>
        <p:spPr>
          <a:xfrm flipV="1">
            <a:off x="8503919" y="5394960"/>
            <a:ext cx="0" cy="365760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2" name="TextBox 331"/>
          <p:cNvSpPr txBox="1"/>
          <p:nvPr/>
        </p:nvSpPr>
        <p:spPr>
          <a:xfrm>
            <a:off x="8549640" y="5340096"/>
            <a:ext cx="581025" cy="682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30" b="0">
                <a:solidFill>
                  <a:srgbClr val="000000"/>
                </a:solidFill>
                <a:latin typeface="Arial"/>
              </a:rPr>
              <a:t>VENT / EQUALISE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8549640" y="5422392"/>
            <a:ext cx="581025" cy="682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30" b="0">
                <a:solidFill>
                  <a:srgbClr val="000000"/>
                </a:solidFill>
                <a:latin typeface="Arial"/>
              </a:rPr>
              <a:t>TO VACUUM (TBC)</a:t>
            </a:r>
          </a:p>
        </p:txBody>
      </p:sp>
      <p:sp>
        <p:nvSpPr>
          <p:cNvPr id="334" name="Rounded Rectangle 333"/>
          <p:cNvSpPr/>
          <p:nvPr/>
        </p:nvSpPr>
        <p:spPr>
          <a:xfrm>
            <a:off x="9966959" y="5669280"/>
            <a:ext cx="548640" cy="1828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10053523" y="6172200"/>
            <a:ext cx="375513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TK-202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10080688" y="6291072"/>
            <a:ext cx="321183" cy="714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PRODUCT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10062972" y="6373368"/>
            <a:ext cx="356616" cy="714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RECEIVER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10035413" y="6455664"/>
            <a:ext cx="411734" cy="682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30" b="0">
                <a:solidFill>
                  <a:srgbClr val="000000"/>
                </a:solidFill>
                <a:latin typeface="Arial"/>
              </a:rPr>
              <a:t>VOLUME TBC</a:t>
            </a:r>
          </a:p>
        </p:txBody>
      </p:sp>
      <p:sp>
        <p:nvSpPr>
          <p:cNvPr id="339" name="Oval 338"/>
          <p:cNvSpPr/>
          <p:nvPr/>
        </p:nvSpPr>
        <p:spPr>
          <a:xfrm>
            <a:off x="10485882" y="70111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0" name="Connector 339"/>
          <p:cNvCxnSpPr/>
          <p:nvPr/>
        </p:nvCxnSpPr>
        <p:spPr>
          <a:xfrm>
            <a:off x="10515600" y="7040880"/>
            <a:ext cx="201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1" name="Oval 340"/>
          <p:cNvSpPr/>
          <p:nvPr/>
        </p:nvSpPr>
        <p:spPr>
          <a:xfrm>
            <a:off x="10716768" y="68762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WT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202</a:t>
            </a:r>
          </a:p>
        </p:txBody>
      </p:sp>
      <p:cxnSp>
        <p:nvCxnSpPr>
          <p:cNvPr id="342" name="Connector 341"/>
          <p:cNvCxnSpPr/>
          <p:nvPr/>
        </p:nvCxnSpPr>
        <p:spPr>
          <a:xfrm>
            <a:off x="10881360" y="7205472"/>
            <a:ext cx="0" cy="9144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Oval 342"/>
          <p:cNvSpPr/>
          <p:nvPr/>
        </p:nvSpPr>
        <p:spPr>
          <a:xfrm>
            <a:off x="10716768" y="7296912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WI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202</a:t>
            </a:r>
          </a:p>
        </p:txBody>
      </p:sp>
      <p:cxnSp>
        <p:nvCxnSpPr>
          <p:cNvPr id="344" name="Connector 343"/>
          <p:cNvCxnSpPr/>
          <p:nvPr/>
        </p:nvCxnSpPr>
        <p:spPr>
          <a:xfrm>
            <a:off x="10716768" y="7461504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5" name="TextBox 344"/>
          <p:cNvSpPr txBox="1"/>
          <p:nvPr/>
        </p:nvSpPr>
        <p:spPr>
          <a:xfrm>
            <a:off x="10675493" y="6766560"/>
            <a:ext cx="411734" cy="682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30" b="0">
                <a:solidFill>
                  <a:srgbClr val="000000"/>
                </a:solidFill>
                <a:latin typeface="Arial"/>
              </a:rPr>
              <a:t>LOAD CELLS</a:t>
            </a:r>
          </a:p>
        </p:txBody>
      </p:sp>
      <p:cxnSp>
        <p:nvCxnSpPr>
          <p:cNvPr id="346" name="Connector 345"/>
          <p:cNvCxnSpPr/>
          <p:nvPr/>
        </p:nvCxnSpPr>
        <p:spPr>
          <a:xfrm>
            <a:off x="10241280" y="7498079"/>
            <a:ext cx="0" cy="594361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7" name="Freeform 346"/>
          <p:cNvSpPr/>
          <p:nvPr/>
        </p:nvSpPr>
        <p:spPr>
          <a:xfrm>
            <a:off x="10181844" y="7680960"/>
            <a:ext cx="118871" cy="182880"/>
          </a:xfrm>
          <a:custGeom>
            <a:avLst/>
            <a:gdLst/>
            <a:ahLst/>
            <a:cxnLst/>
            <a:rect l="l" t="t" r="r" b="b"/>
            <a:pathLst>
              <a:path w="118871" h="182880">
                <a:moveTo>
                  <a:pt x="0" y="0"/>
                </a:moveTo>
                <a:lnTo>
                  <a:pt x="118871" y="182880"/>
                </a:lnTo>
                <a:lnTo>
                  <a:pt x="0" y="182880"/>
                </a:lnTo>
                <a:lnTo>
                  <a:pt x="118871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9877171" y="7726679"/>
            <a:ext cx="281813" cy="841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30" b="1">
                <a:solidFill>
                  <a:srgbClr val="000000"/>
                </a:solidFill>
                <a:latin typeface="Arial"/>
              </a:rPr>
              <a:t>V-117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9927539" y="8119872"/>
            <a:ext cx="627481" cy="69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TO PRODUCT DRUMS</a:t>
            </a:r>
          </a:p>
        </p:txBody>
      </p:sp>
      <p:cxnSp>
        <p:nvCxnSpPr>
          <p:cNvPr id="350" name="Connector 349"/>
          <p:cNvCxnSpPr/>
          <p:nvPr/>
        </p:nvCxnSpPr>
        <p:spPr>
          <a:xfrm flipV="1">
            <a:off x="10424159" y="5394960"/>
            <a:ext cx="0" cy="365760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1" name="TextBox 350"/>
          <p:cNvSpPr txBox="1"/>
          <p:nvPr/>
        </p:nvSpPr>
        <p:spPr>
          <a:xfrm>
            <a:off x="10469880" y="5340096"/>
            <a:ext cx="581025" cy="682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30" b="0">
                <a:solidFill>
                  <a:srgbClr val="000000"/>
                </a:solidFill>
                <a:latin typeface="Arial"/>
              </a:rPr>
              <a:t>VENT / EQUALISE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10469880" y="5422392"/>
            <a:ext cx="581025" cy="682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30" b="0">
                <a:solidFill>
                  <a:srgbClr val="000000"/>
                </a:solidFill>
                <a:latin typeface="Arial"/>
              </a:rPr>
              <a:t>TO VACUUM (TBC)</a:t>
            </a:r>
          </a:p>
        </p:txBody>
      </p:sp>
      <p:sp>
        <p:nvSpPr>
          <p:cNvPr id="353" name="Rounded Rectangle 352"/>
          <p:cNvSpPr/>
          <p:nvPr/>
        </p:nvSpPr>
        <p:spPr>
          <a:xfrm>
            <a:off x="10149840" y="2103120"/>
            <a:ext cx="36576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10570464" y="2560320"/>
            <a:ext cx="356616" cy="95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000000"/>
                </a:solidFill>
                <a:latin typeface="Arial"/>
              </a:rPr>
              <a:t>VT-101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10570464" y="2670048"/>
            <a:ext cx="462915" cy="71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VACUUM TRAP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10570464" y="2752344"/>
            <a:ext cx="445592" cy="682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30" b="0">
                <a:solidFill>
                  <a:srgbClr val="000000"/>
                </a:solidFill>
                <a:latin typeface="Arial"/>
              </a:rPr>
              <a:t>COOLING TBC</a:t>
            </a:r>
          </a:p>
        </p:txBody>
      </p:sp>
      <p:cxnSp>
        <p:nvCxnSpPr>
          <p:cNvPr id="357" name="Connector 356"/>
          <p:cNvCxnSpPr/>
          <p:nvPr/>
        </p:nvCxnSpPr>
        <p:spPr>
          <a:xfrm flipV="1">
            <a:off x="10332720" y="1874519"/>
            <a:ext cx="0" cy="228601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10332720" y="1874519"/>
            <a:ext cx="484632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9" name="TextBox 358"/>
          <p:cNvSpPr txBox="1"/>
          <p:nvPr/>
        </p:nvSpPr>
        <p:spPr>
          <a:xfrm>
            <a:off x="10387584" y="1984248"/>
            <a:ext cx="488899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DN25-VG-109</a:t>
            </a:r>
          </a:p>
        </p:txBody>
      </p:sp>
      <p:sp>
        <p:nvSpPr>
          <p:cNvPr id="360" name="Oval 359"/>
          <p:cNvSpPr/>
          <p:nvPr/>
        </p:nvSpPr>
        <p:spPr>
          <a:xfrm>
            <a:off x="10817352" y="171907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Freeform 360"/>
          <p:cNvSpPr/>
          <p:nvPr/>
        </p:nvSpPr>
        <p:spPr>
          <a:xfrm>
            <a:off x="10863072" y="1783080"/>
            <a:ext cx="219456" cy="182880"/>
          </a:xfrm>
          <a:custGeom>
            <a:avLst/>
            <a:gdLst/>
            <a:ahLst/>
            <a:cxnLst/>
            <a:rect l="l" t="t" r="r" b="b"/>
            <a:pathLst>
              <a:path w="219456" h="182880">
                <a:moveTo>
                  <a:pt x="0" y="0"/>
                </a:moveTo>
                <a:lnTo>
                  <a:pt x="219456" y="91439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TextBox 361"/>
          <p:cNvSpPr txBox="1"/>
          <p:nvPr/>
        </p:nvSpPr>
        <p:spPr>
          <a:xfrm>
            <a:off x="10794492" y="2057400"/>
            <a:ext cx="356616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VP-101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10741342" y="2176272"/>
            <a:ext cx="462915" cy="714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VACUUM PUMP</a:t>
            </a:r>
          </a:p>
        </p:txBody>
      </p:sp>
      <p:cxnSp>
        <p:nvCxnSpPr>
          <p:cNvPr id="364" name="Connector 363"/>
          <p:cNvCxnSpPr/>
          <p:nvPr/>
        </p:nvCxnSpPr>
        <p:spPr>
          <a:xfrm>
            <a:off x="11128248" y="1874519"/>
            <a:ext cx="438912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5" name="TextBox 364"/>
          <p:cNvSpPr txBox="1"/>
          <p:nvPr/>
        </p:nvSpPr>
        <p:spPr>
          <a:xfrm>
            <a:off x="11155680" y="1920240"/>
            <a:ext cx="488899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DN25-VG-110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11139678" y="1463040"/>
            <a:ext cx="427482" cy="71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0" b="1">
                <a:solidFill>
                  <a:srgbClr val="000000"/>
                </a:solidFill>
                <a:latin typeface="Arial"/>
              </a:rPr>
              <a:t>EXHAUST TO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11033379" y="1545336"/>
            <a:ext cx="533781" cy="71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0" b="1">
                <a:solidFill>
                  <a:srgbClr val="000000"/>
                </a:solidFill>
                <a:latin typeface="Arial"/>
              </a:rPr>
              <a:t>SAFE LOCATION</a:t>
            </a:r>
          </a:p>
        </p:txBody>
      </p:sp>
      <p:cxnSp>
        <p:nvCxnSpPr>
          <p:cNvPr id="368" name="Connector 367"/>
          <p:cNvCxnSpPr/>
          <p:nvPr/>
        </p:nvCxnSpPr>
        <p:spPr>
          <a:xfrm>
            <a:off x="10332720" y="3017520"/>
            <a:ext cx="0" cy="384048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9" name="Freeform 368"/>
          <p:cNvSpPr/>
          <p:nvPr/>
        </p:nvSpPr>
        <p:spPr>
          <a:xfrm>
            <a:off x="10273284" y="3118103"/>
            <a:ext cx="118872" cy="182881"/>
          </a:xfrm>
          <a:custGeom>
            <a:avLst/>
            <a:gdLst/>
            <a:ahLst/>
            <a:cxnLst/>
            <a:rect l="l" t="t" r="r" b="b"/>
            <a:pathLst>
              <a:path w="118872" h="182881">
                <a:moveTo>
                  <a:pt x="0" y="0"/>
                </a:moveTo>
                <a:lnTo>
                  <a:pt x="118872" y="182881"/>
                </a:lnTo>
                <a:lnTo>
                  <a:pt x="0" y="182881"/>
                </a:lnTo>
                <a:lnTo>
                  <a:pt x="118872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10415016" y="3163824"/>
            <a:ext cx="281813" cy="841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30" b="1">
                <a:solidFill>
                  <a:srgbClr val="000000"/>
                </a:solidFill>
                <a:latin typeface="Arial"/>
              </a:rPr>
              <a:t>V-114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10259923" y="3419856"/>
            <a:ext cx="145592" cy="73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DR</a:t>
            </a:r>
          </a:p>
        </p:txBody>
      </p:sp>
      <p:cxnSp>
        <p:nvCxnSpPr>
          <p:cNvPr id="372" name="Connector 371"/>
          <p:cNvCxnSpPr/>
          <p:nvPr/>
        </p:nvCxnSpPr>
        <p:spPr>
          <a:xfrm flipH="1">
            <a:off x="8915400" y="3611880"/>
            <a:ext cx="26517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 flipV="1">
            <a:off x="8915400" y="2377440"/>
            <a:ext cx="0" cy="123444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H="1">
            <a:off x="11247120" y="3611880"/>
            <a:ext cx="32004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5" name="TextBox 374"/>
          <p:cNvSpPr txBox="1"/>
          <p:nvPr/>
        </p:nvSpPr>
        <p:spPr>
          <a:xfrm>
            <a:off x="11139678" y="3392424"/>
            <a:ext cx="42748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N₂ SUPPLY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11078260" y="3483864"/>
            <a:ext cx="488899" cy="69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40" b="0">
                <a:solidFill>
                  <a:srgbClr val="000000"/>
                </a:solidFill>
                <a:latin typeface="Arial"/>
              </a:rPr>
              <a:t>PRESSURE TBC</a:t>
            </a:r>
          </a:p>
        </p:txBody>
      </p:sp>
      <p:sp>
        <p:nvSpPr>
          <p:cNvPr id="377" name="Freeform 376"/>
          <p:cNvSpPr/>
          <p:nvPr/>
        </p:nvSpPr>
        <p:spPr>
          <a:xfrm>
            <a:off x="11049609" y="3535070"/>
            <a:ext cx="170079" cy="153619"/>
          </a:xfrm>
          <a:custGeom>
            <a:avLst/>
            <a:gdLst/>
            <a:ahLst/>
            <a:cxnLst/>
            <a:rect l="l" t="t" r="r" b="b"/>
            <a:pathLst>
              <a:path w="170079" h="153619">
                <a:moveTo>
                  <a:pt x="170079" y="0"/>
                </a:moveTo>
                <a:lnTo>
                  <a:pt x="0" y="76810"/>
                </a:lnTo>
                <a:lnTo>
                  <a:pt x="170079" y="15361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8" name="Connector 377"/>
          <p:cNvCxnSpPr/>
          <p:nvPr/>
        </p:nvCxnSpPr>
        <p:spPr>
          <a:xfrm>
            <a:off x="11049609" y="3535070"/>
            <a:ext cx="0" cy="153619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9" name="TextBox 378"/>
          <p:cNvSpPr txBox="1"/>
          <p:nvPr/>
        </p:nvSpPr>
        <p:spPr>
          <a:xfrm>
            <a:off x="10927321" y="3712464"/>
            <a:ext cx="365277" cy="841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30" b="1">
                <a:solidFill>
                  <a:srgbClr val="000000"/>
                </a:solidFill>
                <a:latin typeface="Arial"/>
              </a:rPr>
              <a:t>NRV-102</a:t>
            </a:r>
          </a:p>
        </p:txBody>
      </p:sp>
      <p:sp>
        <p:nvSpPr>
          <p:cNvPr id="380" name="Freeform 379"/>
          <p:cNvSpPr/>
          <p:nvPr/>
        </p:nvSpPr>
        <p:spPr>
          <a:xfrm>
            <a:off x="10725912" y="3543300"/>
            <a:ext cx="219455" cy="137160"/>
          </a:xfrm>
          <a:custGeom>
            <a:avLst/>
            <a:gdLst/>
            <a:ahLst/>
            <a:cxnLst/>
            <a:rect l="l" t="t" r="r" b="b"/>
            <a:pathLst>
              <a:path w="219455" h="137160">
                <a:moveTo>
                  <a:pt x="0" y="0"/>
                </a:moveTo>
                <a:lnTo>
                  <a:pt x="219455" y="137160"/>
                </a:lnTo>
                <a:lnTo>
                  <a:pt x="219455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TextBox 380"/>
          <p:cNvSpPr txBox="1"/>
          <p:nvPr/>
        </p:nvSpPr>
        <p:spPr>
          <a:xfrm>
            <a:off x="10694733" y="3721608"/>
            <a:ext cx="281813" cy="841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30" b="1">
                <a:solidFill>
                  <a:srgbClr val="000000"/>
                </a:solidFill>
                <a:latin typeface="Arial"/>
              </a:rPr>
              <a:t>V-112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9006840" y="3657600"/>
            <a:ext cx="488899" cy="7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DN15-NG-111</a:t>
            </a:r>
          </a:p>
        </p:txBody>
      </p:sp>
      <p:sp>
        <p:nvSpPr>
          <p:cNvPr id="383" name="Oval 382"/>
          <p:cNvSpPr/>
          <p:nvPr/>
        </p:nvSpPr>
        <p:spPr>
          <a:xfrm>
            <a:off x="8885682" y="23477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9434322" y="35821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9434322" y="23477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Freeform 385"/>
          <p:cNvSpPr/>
          <p:nvPr/>
        </p:nvSpPr>
        <p:spPr>
          <a:xfrm>
            <a:off x="8837676" y="2807208"/>
            <a:ext cx="155448" cy="237744"/>
          </a:xfrm>
          <a:custGeom>
            <a:avLst/>
            <a:gdLst/>
            <a:ahLst/>
            <a:cxnLst/>
            <a:rect l="l" t="t" r="r" b="b"/>
            <a:pathLst>
              <a:path w="155448" h="237744">
                <a:moveTo>
                  <a:pt x="0" y="0"/>
                </a:moveTo>
                <a:lnTo>
                  <a:pt x="155448" y="237744"/>
                </a:lnTo>
                <a:lnTo>
                  <a:pt x="0" y="237744"/>
                </a:lnTo>
                <a:lnTo>
                  <a:pt x="155448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7" name="Connector 386"/>
          <p:cNvCxnSpPr/>
          <p:nvPr/>
        </p:nvCxnSpPr>
        <p:spPr>
          <a:xfrm flipH="1">
            <a:off x="8714232" y="2926080"/>
            <a:ext cx="12344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8" name="Freeform 387"/>
          <p:cNvSpPr/>
          <p:nvPr/>
        </p:nvSpPr>
        <p:spPr>
          <a:xfrm>
            <a:off x="8606171" y="2807208"/>
            <a:ext cx="108061" cy="237744"/>
          </a:xfrm>
          <a:custGeom>
            <a:avLst/>
            <a:gdLst/>
            <a:ahLst/>
            <a:cxnLst/>
            <a:rect l="l" t="t" r="r" b="b"/>
            <a:pathLst>
              <a:path w="108061" h="237744">
                <a:moveTo>
                  <a:pt x="108061" y="0"/>
                </a:moveTo>
                <a:lnTo>
                  <a:pt x="70531" y="7168"/>
                </a:lnTo>
                <a:lnTo>
                  <a:pt x="37529" y="27810"/>
                </a:lnTo>
                <a:lnTo>
                  <a:pt x="13033" y="59436"/>
                </a:lnTo>
                <a:lnTo>
                  <a:pt x="0" y="98230"/>
                </a:lnTo>
                <a:lnTo>
                  <a:pt x="0" y="139513"/>
                </a:lnTo>
                <a:lnTo>
                  <a:pt x="13033" y="178308"/>
                </a:lnTo>
                <a:lnTo>
                  <a:pt x="37529" y="209933"/>
                </a:lnTo>
                <a:lnTo>
                  <a:pt x="70531" y="230575"/>
                </a:lnTo>
                <a:lnTo>
                  <a:pt x="108061" y="237744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9015984" y="2807208"/>
            <a:ext cx="323545" cy="841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30" b="1">
                <a:solidFill>
                  <a:srgbClr val="000000"/>
                </a:solidFill>
                <a:latin typeface="Arial"/>
              </a:rPr>
              <a:t>PV-102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9015984" y="2935224"/>
            <a:ext cx="15189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391" name="Freeform 390"/>
          <p:cNvSpPr/>
          <p:nvPr/>
        </p:nvSpPr>
        <p:spPr>
          <a:xfrm>
            <a:off x="8846820" y="3255264"/>
            <a:ext cx="137160" cy="219456"/>
          </a:xfrm>
          <a:custGeom>
            <a:avLst/>
            <a:gdLst/>
            <a:ahLst/>
            <a:cxnLst/>
            <a:rect l="l" t="t" r="r" b="b"/>
            <a:pathLst>
              <a:path w="137160" h="219456">
                <a:moveTo>
                  <a:pt x="0" y="0"/>
                </a:moveTo>
                <a:lnTo>
                  <a:pt x="137160" y="219456"/>
                </a:lnTo>
                <a:lnTo>
                  <a:pt x="0" y="219456"/>
                </a:lnTo>
                <a:lnTo>
                  <a:pt x="137160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TextBox 391"/>
          <p:cNvSpPr txBox="1"/>
          <p:nvPr/>
        </p:nvSpPr>
        <p:spPr>
          <a:xfrm>
            <a:off x="8533003" y="3319272"/>
            <a:ext cx="281813" cy="841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30" b="1">
                <a:solidFill>
                  <a:srgbClr val="000000"/>
                </a:solidFill>
                <a:latin typeface="Arial"/>
              </a:rPr>
              <a:t>V-113</a:t>
            </a:r>
          </a:p>
        </p:txBody>
      </p:sp>
      <p:cxnSp>
        <p:nvCxnSpPr>
          <p:cNvPr id="393" name="Connector 392"/>
          <p:cNvCxnSpPr/>
          <p:nvPr/>
        </p:nvCxnSpPr>
        <p:spPr>
          <a:xfrm flipV="1">
            <a:off x="8659368" y="2542032"/>
            <a:ext cx="0" cy="26517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4" name="TextBox 393"/>
          <p:cNvSpPr txBox="1"/>
          <p:nvPr/>
        </p:nvSpPr>
        <p:spPr>
          <a:xfrm>
            <a:off x="8124748" y="2468880"/>
            <a:ext cx="488899" cy="69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40" b="1">
                <a:solidFill>
                  <a:srgbClr val="000000"/>
                </a:solidFill>
                <a:latin typeface="Arial"/>
              </a:rPr>
              <a:t>FROM PIC-102</a:t>
            </a:r>
          </a:p>
        </p:txBody>
      </p:sp>
      <p:cxnSp>
        <p:nvCxnSpPr>
          <p:cNvPr id="395" name="Connector 394"/>
          <p:cNvCxnSpPr/>
          <p:nvPr/>
        </p:nvCxnSpPr>
        <p:spPr>
          <a:xfrm flipV="1">
            <a:off x="9464040" y="2377440"/>
            <a:ext cx="0" cy="123444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6" name="Freeform 395"/>
          <p:cNvSpPr/>
          <p:nvPr/>
        </p:nvSpPr>
        <p:spPr>
          <a:xfrm>
            <a:off x="9395460" y="3136391"/>
            <a:ext cx="137159" cy="219457"/>
          </a:xfrm>
          <a:custGeom>
            <a:avLst/>
            <a:gdLst/>
            <a:ahLst/>
            <a:cxnLst/>
            <a:rect l="l" t="t" r="r" b="b"/>
            <a:pathLst>
              <a:path w="137159" h="219457">
                <a:moveTo>
                  <a:pt x="0" y="0"/>
                </a:moveTo>
                <a:lnTo>
                  <a:pt x="137159" y="219457"/>
                </a:lnTo>
                <a:lnTo>
                  <a:pt x="0" y="219457"/>
                </a:lnTo>
                <a:lnTo>
                  <a:pt x="137159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TextBox 396"/>
          <p:cNvSpPr txBox="1"/>
          <p:nvPr/>
        </p:nvSpPr>
        <p:spPr>
          <a:xfrm>
            <a:off x="9039910" y="3200400"/>
            <a:ext cx="323545" cy="841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30" b="1">
                <a:solidFill>
                  <a:srgbClr val="000000"/>
                </a:solidFill>
                <a:latin typeface="Arial"/>
              </a:rPr>
              <a:t>HV-110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8951722" y="3346704"/>
            <a:ext cx="411734" cy="682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30" b="0">
                <a:solidFill>
                  <a:srgbClr val="000000"/>
                </a:solidFill>
                <a:latin typeface="Arial"/>
              </a:rPr>
              <a:t>VAC. BREAK</a:t>
            </a:r>
          </a:p>
        </p:txBody>
      </p:sp>
      <p:sp>
        <p:nvSpPr>
          <p:cNvPr id="399" name="Freeform 398"/>
          <p:cNvSpPr/>
          <p:nvPr/>
        </p:nvSpPr>
        <p:spPr>
          <a:xfrm>
            <a:off x="9701784" y="2615184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347472" h="347472">
                <a:moveTo>
                  <a:pt x="173736" y="0"/>
                </a:moveTo>
                <a:lnTo>
                  <a:pt x="347472" y="173736"/>
                </a:lnTo>
                <a:lnTo>
                  <a:pt x="173736" y="347472"/>
                </a:lnTo>
                <a:lnTo>
                  <a:pt x="0" y="173736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9701784" y="2697479"/>
            <a:ext cx="347472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TZ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9701784" y="2788920"/>
            <a:ext cx="347472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110</a:t>
            </a:r>
          </a:p>
        </p:txBody>
      </p:sp>
      <p:cxnSp>
        <p:nvCxnSpPr>
          <p:cNvPr id="402" name="Connector 401"/>
          <p:cNvCxnSpPr/>
          <p:nvPr/>
        </p:nvCxnSpPr>
        <p:spPr>
          <a:xfrm>
            <a:off x="9875520" y="2962656"/>
            <a:ext cx="0" cy="283464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 flipH="1">
            <a:off x="9555480" y="3246120"/>
            <a:ext cx="32004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4" name="TextBox 403"/>
          <p:cNvSpPr txBox="1"/>
          <p:nvPr/>
        </p:nvSpPr>
        <p:spPr>
          <a:xfrm>
            <a:off x="9573768" y="3666744"/>
            <a:ext cx="1190472" cy="682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30" b="0">
                <a:solidFill>
                  <a:srgbClr val="000000"/>
                </a:solidFill>
                <a:latin typeface="Arial"/>
              </a:rPr>
              <a:t>TZ-110 REC. (HOLD): BLOCKS HV-110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9573768" y="3749040"/>
            <a:ext cx="1021181" cy="682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30" b="0">
                <a:solidFill>
                  <a:srgbClr val="000000"/>
                </a:solidFill>
                <a:latin typeface="Arial"/>
              </a:rPr>
              <a:t>WHILE POT (TT-101B) &gt; 150 °C</a:t>
            </a:r>
          </a:p>
        </p:txBody>
      </p:sp>
      <p:sp>
        <p:nvSpPr>
          <p:cNvPr id="406" name="Rectangle 405"/>
          <p:cNvSpPr/>
          <p:nvPr/>
        </p:nvSpPr>
        <p:spPr>
          <a:xfrm>
            <a:off x="11841480" y="502920"/>
            <a:ext cx="2880360" cy="8001000"/>
          </a:xfrm>
          <a:prstGeom prst="rect">
            <a:avLst/>
          </a:pr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TextBox 406"/>
          <p:cNvSpPr txBox="1"/>
          <p:nvPr/>
        </p:nvSpPr>
        <p:spPr>
          <a:xfrm>
            <a:off x="11841480" y="539496"/>
            <a:ext cx="28803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LEGEND</a:t>
            </a:r>
          </a:p>
        </p:txBody>
      </p:sp>
      <p:cxnSp>
        <p:nvCxnSpPr>
          <p:cNvPr id="408" name="Connector 407"/>
          <p:cNvCxnSpPr/>
          <p:nvPr/>
        </p:nvCxnSpPr>
        <p:spPr>
          <a:xfrm>
            <a:off x="11932919" y="86868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9" name="Freeform 408"/>
          <p:cNvSpPr/>
          <p:nvPr/>
        </p:nvSpPr>
        <p:spPr>
          <a:xfrm>
            <a:off x="12051792" y="800100"/>
            <a:ext cx="219455" cy="137160"/>
          </a:xfrm>
          <a:custGeom>
            <a:avLst/>
            <a:gdLst/>
            <a:ahLst/>
            <a:cxnLst/>
            <a:rect l="l" t="t" r="r" b="b"/>
            <a:pathLst>
              <a:path w="219455" h="137160">
                <a:moveTo>
                  <a:pt x="0" y="0"/>
                </a:moveTo>
                <a:lnTo>
                  <a:pt x="219455" y="137160"/>
                </a:lnTo>
                <a:lnTo>
                  <a:pt x="219455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TextBox 409"/>
          <p:cNvSpPr txBox="1"/>
          <p:nvPr/>
        </p:nvSpPr>
        <p:spPr>
          <a:xfrm>
            <a:off x="12499848" y="813816"/>
            <a:ext cx="137236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HAND VALVE (BLOCK / DRAIN), V-1nn</a:t>
            </a:r>
          </a:p>
        </p:txBody>
      </p:sp>
      <p:cxnSp>
        <p:nvCxnSpPr>
          <p:cNvPr id="411" name="Connector 410"/>
          <p:cNvCxnSpPr/>
          <p:nvPr/>
        </p:nvCxnSpPr>
        <p:spPr>
          <a:xfrm>
            <a:off x="11932919" y="1138428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2" name="Freeform 411"/>
          <p:cNvSpPr/>
          <p:nvPr/>
        </p:nvSpPr>
        <p:spPr>
          <a:xfrm>
            <a:off x="12051792" y="1061618"/>
            <a:ext cx="170078" cy="153619"/>
          </a:xfrm>
          <a:custGeom>
            <a:avLst/>
            <a:gdLst/>
            <a:ahLst/>
            <a:cxnLst/>
            <a:rect l="l" t="t" r="r" b="b"/>
            <a:pathLst>
              <a:path w="170078" h="153619">
                <a:moveTo>
                  <a:pt x="0" y="0"/>
                </a:moveTo>
                <a:lnTo>
                  <a:pt x="170078" y="76810"/>
                </a:lnTo>
                <a:lnTo>
                  <a:pt x="0" y="15361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3" name="Connector 412"/>
          <p:cNvCxnSpPr/>
          <p:nvPr/>
        </p:nvCxnSpPr>
        <p:spPr>
          <a:xfrm>
            <a:off x="12221870" y="1061618"/>
            <a:ext cx="0" cy="153619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4" name="TextBox 413"/>
          <p:cNvSpPr txBox="1"/>
          <p:nvPr/>
        </p:nvSpPr>
        <p:spPr>
          <a:xfrm>
            <a:off x="12499848" y="1083564"/>
            <a:ext cx="117551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CHECK VALVE, FLOW →, NRV-1nn</a:t>
            </a:r>
          </a:p>
        </p:txBody>
      </p:sp>
      <p:cxnSp>
        <p:nvCxnSpPr>
          <p:cNvPr id="415" name="Connector 414"/>
          <p:cNvCxnSpPr/>
          <p:nvPr/>
        </p:nvCxnSpPr>
        <p:spPr>
          <a:xfrm>
            <a:off x="11932919" y="146304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6" name="Freeform 415"/>
          <p:cNvSpPr/>
          <p:nvPr/>
        </p:nvSpPr>
        <p:spPr>
          <a:xfrm>
            <a:off x="12070080" y="1403604"/>
            <a:ext cx="182879" cy="118872"/>
          </a:xfrm>
          <a:custGeom>
            <a:avLst/>
            <a:gdLst/>
            <a:ahLst/>
            <a:cxnLst/>
            <a:rect l="l" t="t" r="r" b="b"/>
            <a:pathLst>
              <a:path w="182879" h="118872">
                <a:moveTo>
                  <a:pt x="0" y="0"/>
                </a:moveTo>
                <a:lnTo>
                  <a:pt x="182879" y="118872"/>
                </a:lnTo>
                <a:lnTo>
                  <a:pt x="182879" y="0"/>
                </a:lnTo>
                <a:lnTo>
                  <a:pt x="0" y="118872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12138659" y="1440180"/>
            <a:ext cx="45720" cy="4572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12499848" y="1353312"/>
            <a:ext cx="86055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GLOBE (BYPASS) VALVE</a:t>
            </a:r>
          </a:p>
        </p:txBody>
      </p:sp>
      <p:cxnSp>
        <p:nvCxnSpPr>
          <p:cNvPr id="419" name="Connector 418"/>
          <p:cNvCxnSpPr/>
          <p:nvPr/>
        </p:nvCxnSpPr>
        <p:spPr>
          <a:xfrm>
            <a:off x="11932919" y="1787652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0" name="Freeform 419"/>
          <p:cNvSpPr/>
          <p:nvPr/>
        </p:nvSpPr>
        <p:spPr>
          <a:xfrm>
            <a:off x="12042647" y="1709928"/>
            <a:ext cx="237745" cy="155448"/>
          </a:xfrm>
          <a:custGeom>
            <a:avLst/>
            <a:gdLst/>
            <a:ahLst/>
            <a:cxnLst/>
            <a:rect l="l" t="t" r="r" b="b"/>
            <a:pathLst>
              <a:path w="237745" h="155448">
                <a:moveTo>
                  <a:pt x="0" y="0"/>
                </a:moveTo>
                <a:lnTo>
                  <a:pt x="237745" y="155448"/>
                </a:lnTo>
                <a:lnTo>
                  <a:pt x="237745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1" name="Connector 420"/>
          <p:cNvCxnSpPr/>
          <p:nvPr/>
        </p:nvCxnSpPr>
        <p:spPr>
          <a:xfrm flipV="1">
            <a:off x="12161519" y="1650492"/>
            <a:ext cx="0" cy="5943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Freeform 421"/>
          <p:cNvSpPr/>
          <p:nvPr/>
        </p:nvSpPr>
        <p:spPr>
          <a:xfrm>
            <a:off x="12042647" y="1542431"/>
            <a:ext cx="237745" cy="108061"/>
          </a:xfrm>
          <a:custGeom>
            <a:avLst/>
            <a:gdLst/>
            <a:ahLst/>
            <a:cxnLst/>
            <a:rect l="l" t="t" r="r" b="b"/>
            <a:pathLst>
              <a:path w="237745" h="108061">
                <a:moveTo>
                  <a:pt x="0" y="108061"/>
                </a:moveTo>
                <a:lnTo>
                  <a:pt x="7169" y="70531"/>
                </a:lnTo>
                <a:lnTo>
                  <a:pt x="27811" y="37529"/>
                </a:lnTo>
                <a:lnTo>
                  <a:pt x="59437" y="13033"/>
                </a:lnTo>
                <a:lnTo>
                  <a:pt x="98231" y="0"/>
                </a:lnTo>
                <a:lnTo>
                  <a:pt x="139514" y="0"/>
                </a:lnTo>
                <a:lnTo>
                  <a:pt x="178308" y="13033"/>
                </a:lnTo>
                <a:lnTo>
                  <a:pt x="209934" y="37529"/>
                </a:lnTo>
                <a:lnTo>
                  <a:pt x="230576" y="70531"/>
                </a:lnTo>
                <a:lnTo>
                  <a:pt x="237745" y="108061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TextBox 422"/>
          <p:cNvSpPr txBox="1"/>
          <p:nvPr/>
        </p:nvSpPr>
        <p:spPr>
          <a:xfrm>
            <a:off x="12499848" y="1677924"/>
            <a:ext cx="219913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CONTROL VALVE, DIAPHRAGM; FO / FC = FAIL OPEN / CLOSED</a:t>
            </a:r>
          </a:p>
        </p:txBody>
      </p:sp>
      <p:cxnSp>
        <p:nvCxnSpPr>
          <p:cNvPr id="424" name="Connector 423"/>
          <p:cNvCxnSpPr/>
          <p:nvPr/>
        </p:nvCxnSpPr>
        <p:spPr>
          <a:xfrm>
            <a:off x="11932919" y="2157984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Freeform 424"/>
          <p:cNvSpPr/>
          <p:nvPr/>
        </p:nvSpPr>
        <p:spPr>
          <a:xfrm>
            <a:off x="12042647" y="2080260"/>
            <a:ext cx="237745" cy="155448"/>
          </a:xfrm>
          <a:custGeom>
            <a:avLst/>
            <a:gdLst/>
            <a:ahLst/>
            <a:cxnLst/>
            <a:rect l="l" t="t" r="r" b="b"/>
            <a:pathLst>
              <a:path w="237745" h="155448">
                <a:moveTo>
                  <a:pt x="0" y="0"/>
                </a:moveTo>
                <a:lnTo>
                  <a:pt x="237745" y="155448"/>
                </a:lnTo>
                <a:lnTo>
                  <a:pt x="237745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6" name="Connector 425"/>
          <p:cNvCxnSpPr/>
          <p:nvPr/>
        </p:nvCxnSpPr>
        <p:spPr>
          <a:xfrm flipV="1">
            <a:off x="12161519" y="2029967"/>
            <a:ext cx="0" cy="5029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Rectangle 426"/>
          <p:cNvSpPr/>
          <p:nvPr/>
        </p:nvSpPr>
        <p:spPr>
          <a:xfrm>
            <a:off x="12097511" y="1929384"/>
            <a:ext cx="128016" cy="100584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TextBox 427"/>
          <p:cNvSpPr txBox="1"/>
          <p:nvPr/>
        </p:nvSpPr>
        <p:spPr>
          <a:xfrm>
            <a:off x="12499848" y="2039112"/>
            <a:ext cx="149047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ON/OFF VALVE, SOLENOID-PNEUMATIC (S)</a:t>
            </a:r>
          </a:p>
        </p:txBody>
      </p:sp>
      <p:cxnSp>
        <p:nvCxnSpPr>
          <p:cNvPr id="429" name="Connector 428"/>
          <p:cNvCxnSpPr/>
          <p:nvPr/>
        </p:nvCxnSpPr>
        <p:spPr>
          <a:xfrm>
            <a:off x="11932919" y="240030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Freeform 429"/>
          <p:cNvSpPr/>
          <p:nvPr/>
        </p:nvSpPr>
        <p:spPr>
          <a:xfrm>
            <a:off x="12042647" y="2322576"/>
            <a:ext cx="237745" cy="155448"/>
          </a:xfrm>
          <a:custGeom>
            <a:avLst/>
            <a:gdLst/>
            <a:ahLst/>
            <a:cxnLst/>
            <a:rect l="l" t="t" r="r" b="b"/>
            <a:pathLst>
              <a:path w="237745" h="155448">
                <a:moveTo>
                  <a:pt x="0" y="0"/>
                </a:moveTo>
                <a:lnTo>
                  <a:pt x="237745" y="155448"/>
                </a:lnTo>
                <a:lnTo>
                  <a:pt x="237745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Freeform 430"/>
          <p:cNvSpPr/>
          <p:nvPr/>
        </p:nvSpPr>
        <p:spPr>
          <a:xfrm>
            <a:off x="12092940" y="2400300"/>
            <a:ext cx="137159" cy="118872"/>
          </a:xfrm>
          <a:custGeom>
            <a:avLst/>
            <a:gdLst/>
            <a:ahLst/>
            <a:cxnLst/>
            <a:rect l="l" t="t" r="r" b="b"/>
            <a:pathLst>
              <a:path w="137159" h="118872">
                <a:moveTo>
                  <a:pt x="68579" y="0"/>
                </a:moveTo>
                <a:lnTo>
                  <a:pt x="0" y="118872"/>
                </a:lnTo>
                <a:lnTo>
                  <a:pt x="137159" y="11887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TextBox 431"/>
          <p:cNvSpPr txBox="1"/>
          <p:nvPr/>
        </p:nvSpPr>
        <p:spPr>
          <a:xfrm>
            <a:off x="12499848" y="2345436"/>
            <a:ext cx="101803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THREE-WAY DIVERTER VALVE</a:t>
            </a:r>
          </a:p>
        </p:txBody>
      </p:sp>
      <p:sp>
        <p:nvSpPr>
          <p:cNvPr id="433" name="Freeform 432"/>
          <p:cNvSpPr/>
          <p:nvPr/>
        </p:nvSpPr>
        <p:spPr>
          <a:xfrm>
            <a:off x="12097511" y="2697480"/>
            <a:ext cx="128017" cy="100584"/>
          </a:xfrm>
          <a:custGeom>
            <a:avLst/>
            <a:gdLst/>
            <a:ahLst/>
            <a:cxnLst/>
            <a:rect l="l" t="t" r="r" b="b"/>
            <a:pathLst>
              <a:path w="128017" h="100584">
                <a:moveTo>
                  <a:pt x="0" y="100584"/>
                </a:moveTo>
                <a:lnTo>
                  <a:pt x="128017" y="100584"/>
                </a:lnTo>
                <a:lnTo>
                  <a:pt x="64008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Freeform 433"/>
          <p:cNvSpPr/>
          <p:nvPr/>
        </p:nvSpPr>
        <p:spPr>
          <a:xfrm>
            <a:off x="12161519" y="2633472"/>
            <a:ext cx="109728" cy="128016"/>
          </a:xfrm>
          <a:custGeom>
            <a:avLst/>
            <a:gdLst/>
            <a:ahLst/>
            <a:cxnLst/>
            <a:rect l="l" t="t" r="r" b="b"/>
            <a:pathLst>
              <a:path w="109728" h="128016">
                <a:moveTo>
                  <a:pt x="0" y="64008"/>
                </a:moveTo>
                <a:lnTo>
                  <a:pt x="109728" y="128016"/>
                </a:lnTo>
                <a:lnTo>
                  <a:pt x="109728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5" name="Connector 434"/>
          <p:cNvCxnSpPr/>
          <p:nvPr/>
        </p:nvCxnSpPr>
        <p:spPr>
          <a:xfrm flipV="1">
            <a:off x="12161519" y="2606040"/>
            <a:ext cx="0" cy="9144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12161519" y="2798064"/>
            <a:ext cx="0" cy="4572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12271247" y="2697480"/>
            <a:ext cx="118872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TextBox 437"/>
          <p:cNvSpPr txBox="1"/>
          <p:nvPr/>
        </p:nvSpPr>
        <p:spPr>
          <a:xfrm>
            <a:off x="12499848" y="2670048"/>
            <a:ext cx="168732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RELIEF VALVE (DASHED = RECOMMENDED, HOLD)</a:t>
            </a:r>
          </a:p>
        </p:txBody>
      </p:sp>
      <p:cxnSp>
        <p:nvCxnSpPr>
          <p:cNvPr id="439" name="Connector 438"/>
          <p:cNvCxnSpPr/>
          <p:nvPr/>
        </p:nvCxnSpPr>
        <p:spPr>
          <a:xfrm>
            <a:off x="11932919" y="299466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12134088" y="2894076"/>
            <a:ext cx="0" cy="201168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>
            <a:off x="12188951" y="2894076"/>
            <a:ext cx="0" cy="201168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2" name="TextBox 441"/>
          <p:cNvSpPr txBox="1"/>
          <p:nvPr/>
        </p:nvSpPr>
        <p:spPr>
          <a:xfrm>
            <a:off x="12499848" y="2939796"/>
            <a:ext cx="86055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ORIFICE FLOW ELEMENT</a:t>
            </a:r>
          </a:p>
        </p:txBody>
      </p:sp>
      <p:cxnSp>
        <p:nvCxnSpPr>
          <p:cNvPr id="443" name="Connector 442"/>
          <p:cNvCxnSpPr/>
          <p:nvPr/>
        </p:nvCxnSpPr>
        <p:spPr>
          <a:xfrm>
            <a:off x="11932919" y="3264408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4" name="Freeform 443"/>
          <p:cNvSpPr/>
          <p:nvPr/>
        </p:nvSpPr>
        <p:spPr>
          <a:xfrm>
            <a:off x="12060936" y="3337560"/>
            <a:ext cx="201167" cy="64008"/>
          </a:xfrm>
          <a:custGeom>
            <a:avLst/>
            <a:gdLst/>
            <a:ahLst/>
            <a:cxnLst/>
            <a:rect l="l" t="t" r="r" b="b"/>
            <a:pathLst>
              <a:path w="201167" h="64008">
                <a:moveTo>
                  <a:pt x="45719" y="0"/>
                </a:moveTo>
                <a:lnTo>
                  <a:pt x="0" y="64008"/>
                </a:lnTo>
                <a:lnTo>
                  <a:pt x="201167" y="64008"/>
                </a:lnTo>
                <a:lnTo>
                  <a:pt x="155448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12051792" y="3154679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Freeform 445"/>
          <p:cNvSpPr/>
          <p:nvPr/>
        </p:nvSpPr>
        <p:spPr>
          <a:xfrm>
            <a:off x="12106655" y="3209544"/>
            <a:ext cx="128017" cy="109728"/>
          </a:xfrm>
          <a:custGeom>
            <a:avLst/>
            <a:gdLst/>
            <a:ahLst/>
            <a:cxnLst/>
            <a:rect l="l" t="t" r="r" b="b"/>
            <a:pathLst>
              <a:path w="128017" h="109728">
                <a:moveTo>
                  <a:pt x="0" y="0"/>
                </a:moveTo>
                <a:lnTo>
                  <a:pt x="128017" y="54864"/>
                </a:lnTo>
                <a:lnTo>
                  <a:pt x="0" y="109728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TextBox 446"/>
          <p:cNvSpPr txBox="1"/>
          <p:nvPr/>
        </p:nvSpPr>
        <p:spPr>
          <a:xfrm>
            <a:off x="12499848" y="3209544"/>
            <a:ext cx="141173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CENTRIFUGAL PUMP (MOTOR NOT SHOWN)</a:t>
            </a:r>
          </a:p>
        </p:txBody>
      </p:sp>
      <p:sp>
        <p:nvSpPr>
          <p:cNvPr id="448" name="Oval 447"/>
          <p:cNvSpPr/>
          <p:nvPr/>
        </p:nvSpPr>
        <p:spPr>
          <a:xfrm>
            <a:off x="12051792" y="3424427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TextBox 448"/>
          <p:cNvSpPr txBox="1"/>
          <p:nvPr/>
        </p:nvSpPr>
        <p:spPr>
          <a:xfrm>
            <a:off x="12499848" y="3479291"/>
            <a:ext cx="164795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FIELD INSTRUMENT (TRANSMITTER / ELEMENT)</a:t>
            </a:r>
          </a:p>
        </p:txBody>
      </p:sp>
      <p:sp>
        <p:nvSpPr>
          <p:cNvPr id="450" name="Oval 449"/>
          <p:cNvSpPr/>
          <p:nvPr/>
        </p:nvSpPr>
        <p:spPr>
          <a:xfrm>
            <a:off x="12051792" y="3694176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1" name="Connector 450"/>
          <p:cNvCxnSpPr/>
          <p:nvPr/>
        </p:nvCxnSpPr>
        <p:spPr>
          <a:xfrm>
            <a:off x="12051792" y="3803904"/>
            <a:ext cx="21945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TextBox 451"/>
          <p:cNvSpPr txBox="1"/>
          <p:nvPr/>
        </p:nvSpPr>
        <p:spPr>
          <a:xfrm>
            <a:off x="12499848" y="3749040"/>
            <a:ext cx="160858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DCS FUNCTION (SHARED DISPLAY / CONTROL)</a:t>
            </a:r>
          </a:p>
        </p:txBody>
      </p:sp>
      <p:sp>
        <p:nvSpPr>
          <p:cNvPr id="453" name="Rectangle 452"/>
          <p:cNvSpPr/>
          <p:nvPr/>
        </p:nvSpPr>
        <p:spPr>
          <a:xfrm>
            <a:off x="12024360" y="3936491"/>
            <a:ext cx="274320" cy="2743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12051792" y="3963924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5" name="Connector 454"/>
          <p:cNvCxnSpPr/>
          <p:nvPr/>
        </p:nvCxnSpPr>
        <p:spPr>
          <a:xfrm>
            <a:off x="12051792" y="4073652"/>
            <a:ext cx="21945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6" name="TextBox 455"/>
          <p:cNvSpPr txBox="1"/>
          <p:nvPr/>
        </p:nvSpPr>
        <p:spPr>
          <a:xfrm>
            <a:off x="12499848" y="4018788"/>
            <a:ext cx="978661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SIS-100 FUNCTION (TRIP)</a:t>
            </a:r>
          </a:p>
        </p:txBody>
      </p:sp>
      <p:sp>
        <p:nvSpPr>
          <p:cNvPr id="457" name="Oval 456"/>
          <p:cNvSpPr/>
          <p:nvPr/>
        </p:nvSpPr>
        <p:spPr>
          <a:xfrm>
            <a:off x="12051792" y="4233672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TextBox 457"/>
          <p:cNvSpPr txBox="1"/>
          <p:nvPr/>
        </p:nvSpPr>
        <p:spPr>
          <a:xfrm>
            <a:off x="12499848" y="4288536"/>
            <a:ext cx="152984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RECOMMENDED INSTRUMENT (DASHED, HOLD)</a:t>
            </a:r>
          </a:p>
        </p:txBody>
      </p:sp>
      <p:sp>
        <p:nvSpPr>
          <p:cNvPr id="459" name="Freeform 458"/>
          <p:cNvSpPr/>
          <p:nvPr/>
        </p:nvSpPr>
        <p:spPr>
          <a:xfrm>
            <a:off x="12051792" y="4503420"/>
            <a:ext cx="219455" cy="219456"/>
          </a:xfrm>
          <a:custGeom>
            <a:avLst/>
            <a:gdLst/>
            <a:ahLst/>
            <a:cxnLst/>
            <a:rect l="l" t="t" r="r" b="b"/>
            <a:pathLst>
              <a:path w="219455" h="219456">
                <a:moveTo>
                  <a:pt x="109727" y="0"/>
                </a:moveTo>
                <a:lnTo>
                  <a:pt x="219455" y="109728"/>
                </a:lnTo>
                <a:lnTo>
                  <a:pt x="109727" y="219456"/>
                </a:lnTo>
                <a:lnTo>
                  <a:pt x="0" y="109728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TextBox 459"/>
          <p:cNvSpPr txBox="1"/>
          <p:nvPr/>
        </p:nvSpPr>
        <p:spPr>
          <a:xfrm>
            <a:off x="12499848" y="4558284"/>
            <a:ext cx="105740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INTERLOCK LOGIC (DIAMOND)</a:t>
            </a:r>
          </a:p>
        </p:txBody>
      </p:sp>
      <p:cxnSp>
        <p:nvCxnSpPr>
          <p:cNvPr id="461" name="Connector 460"/>
          <p:cNvCxnSpPr/>
          <p:nvPr/>
        </p:nvCxnSpPr>
        <p:spPr>
          <a:xfrm>
            <a:off x="11932919" y="4882896"/>
            <a:ext cx="45720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2" name="TextBox 461"/>
          <p:cNvSpPr txBox="1"/>
          <p:nvPr/>
        </p:nvSpPr>
        <p:spPr>
          <a:xfrm>
            <a:off x="12499848" y="4828032"/>
            <a:ext cx="160858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INSTRUMENT SIGNAL (ELECTRIC / SOFTWARE)</a:t>
            </a:r>
          </a:p>
        </p:txBody>
      </p:sp>
      <p:cxnSp>
        <p:nvCxnSpPr>
          <p:cNvPr id="463" name="Connector 462"/>
          <p:cNvCxnSpPr/>
          <p:nvPr/>
        </p:nvCxnSpPr>
        <p:spPr>
          <a:xfrm>
            <a:off x="11932919" y="5152644"/>
            <a:ext cx="4572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4" name="TextBox 463"/>
          <p:cNvSpPr txBox="1"/>
          <p:nvPr/>
        </p:nvSpPr>
        <p:spPr>
          <a:xfrm>
            <a:off x="12499848" y="5097780"/>
            <a:ext cx="117551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PROCESS LINE, FLOW DIRECTION</a:t>
            </a:r>
          </a:p>
        </p:txBody>
      </p:sp>
      <p:cxnSp>
        <p:nvCxnSpPr>
          <p:cNvPr id="465" name="Connector 464"/>
          <p:cNvCxnSpPr/>
          <p:nvPr/>
        </p:nvCxnSpPr>
        <p:spPr>
          <a:xfrm>
            <a:off x="11932919" y="5422392"/>
            <a:ext cx="4572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6" name="TextBox 465"/>
          <p:cNvSpPr txBox="1"/>
          <p:nvPr/>
        </p:nvSpPr>
        <p:spPr>
          <a:xfrm>
            <a:off x="12499848" y="5367528"/>
            <a:ext cx="113614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UTILITY / DRAIN / VENT LINE</a:t>
            </a:r>
          </a:p>
        </p:txBody>
      </p:sp>
      <p:cxnSp>
        <p:nvCxnSpPr>
          <p:cNvPr id="467" name="Connector 466"/>
          <p:cNvCxnSpPr/>
          <p:nvPr/>
        </p:nvCxnSpPr>
        <p:spPr>
          <a:xfrm>
            <a:off x="11932919" y="569214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8" name="Oval 467"/>
          <p:cNvSpPr/>
          <p:nvPr/>
        </p:nvSpPr>
        <p:spPr>
          <a:xfrm>
            <a:off x="12131801" y="56624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TextBox 468"/>
          <p:cNvSpPr txBox="1"/>
          <p:nvPr/>
        </p:nvSpPr>
        <p:spPr>
          <a:xfrm>
            <a:off x="12499848" y="5637276"/>
            <a:ext cx="70307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CONNECTION (TEE)</a:t>
            </a:r>
          </a:p>
        </p:txBody>
      </p:sp>
      <p:sp>
        <p:nvSpPr>
          <p:cNvPr id="470" name="TextBox 469"/>
          <p:cNvSpPr txBox="1"/>
          <p:nvPr/>
        </p:nvSpPr>
        <p:spPr>
          <a:xfrm>
            <a:off x="11951207" y="5916168"/>
            <a:ext cx="2241651" cy="857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" b="1">
                <a:solidFill>
                  <a:srgbClr val="000000"/>
                </a:solidFill>
                <a:latin typeface="Arial"/>
              </a:rPr>
              <a:t>LINE NUMBER  DNxx-SVC-1nn  (SIZES PRELIMINARY, TBC)</a:t>
            </a:r>
          </a:p>
        </p:txBody>
      </p:sp>
      <p:sp>
        <p:nvSpPr>
          <p:cNvPr id="471" name="TextBox 470"/>
          <p:cNvSpPr txBox="1"/>
          <p:nvPr/>
        </p:nvSpPr>
        <p:spPr>
          <a:xfrm>
            <a:off x="11951207" y="6035040"/>
            <a:ext cx="2118029" cy="777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90" b="0">
                <a:solidFill>
                  <a:srgbClr val="000000"/>
                </a:solidFill>
                <a:latin typeface="Arial"/>
              </a:rPr>
              <a:t>PV PROCESS VAPOUR · PL PROCESS LIQUID · VG VACUUM GAS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11951207" y="6135624"/>
            <a:ext cx="2503855" cy="777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90" b="0">
                <a:solidFill>
                  <a:srgbClr val="000000"/>
                </a:solidFill>
                <a:latin typeface="Arial"/>
              </a:rPr>
              <a:t>NG NITROGEN · HO HOT OIL · TW TEMPERED WATER · CW COOLING WATER</a:t>
            </a:r>
          </a:p>
        </p:txBody>
      </p:sp>
      <p:sp>
        <p:nvSpPr>
          <p:cNvPr id="473" name="TextBox 472"/>
          <p:cNvSpPr txBox="1"/>
          <p:nvPr/>
        </p:nvSpPr>
        <p:spPr>
          <a:xfrm>
            <a:off x="11951208" y="6327648"/>
            <a:ext cx="1395984" cy="95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000000"/>
                </a:solidFill>
                <a:latin typeface="Arial"/>
              </a:rPr>
              <a:t>EQUIPMENT LIST (BOTH SHEETS)</a:t>
            </a:r>
          </a:p>
        </p:txBody>
      </p:sp>
      <p:cxnSp>
        <p:nvCxnSpPr>
          <p:cNvPr id="474" name="Connector 473"/>
          <p:cNvCxnSpPr/>
          <p:nvPr/>
        </p:nvCxnSpPr>
        <p:spPr>
          <a:xfrm>
            <a:off x="11905488" y="6483096"/>
            <a:ext cx="27614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5" name="TextBox 474"/>
          <p:cNvSpPr txBox="1"/>
          <p:nvPr/>
        </p:nvSpPr>
        <p:spPr>
          <a:xfrm>
            <a:off x="11932919" y="6483096"/>
            <a:ext cx="420624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TAG</a:t>
            </a:r>
          </a:p>
        </p:txBody>
      </p:sp>
      <p:sp>
        <p:nvSpPr>
          <p:cNvPr id="476" name="TextBox 475"/>
          <p:cNvSpPr txBox="1"/>
          <p:nvPr/>
        </p:nvSpPr>
        <p:spPr>
          <a:xfrm>
            <a:off x="12408407" y="6483096"/>
            <a:ext cx="1161288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SERVICE</a:t>
            </a:r>
          </a:p>
        </p:txBody>
      </p:sp>
      <p:sp>
        <p:nvSpPr>
          <p:cNvPr id="477" name="TextBox 476"/>
          <p:cNvSpPr txBox="1"/>
          <p:nvPr/>
        </p:nvSpPr>
        <p:spPr>
          <a:xfrm>
            <a:off x="13624559" y="6483096"/>
            <a:ext cx="1014983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DATA (DESIGN CASE)</a:t>
            </a:r>
          </a:p>
        </p:txBody>
      </p:sp>
      <p:cxnSp>
        <p:nvCxnSpPr>
          <p:cNvPr id="478" name="Connector 477"/>
          <p:cNvCxnSpPr/>
          <p:nvPr/>
        </p:nvCxnSpPr>
        <p:spPr>
          <a:xfrm>
            <a:off x="11905488" y="6600139"/>
            <a:ext cx="27614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9" name="TextBox 478"/>
          <p:cNvSpPr txBox="1"/>
          <p:nvPr/>
        </p:nvSpPr>
        <p:spPr>
          <a:xfrm>
            <a:off x="11932919" y="6600139"/>
            <a:ext cx="420624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C-101</a:t>
            </a:r>
          </a:p>
        </p:txBody>
      </p:sp>
      <p:sp>
        <p:nvSpPr>
          <p:cNvPr id="480" name="TextBox 479"/>
          <p:cNvSpPr txBox="1"/>
          <p:nvPr/>
        </p:nvSpPr>
        <p:spPr>
          <a:xfrm>
            <a:off x="12408407" y="6600139"/>
            <a:ext cx="1161288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PACKED COLUMN</a:t>
            </a:r>
          </a:p>
        </p:txBody>
      </p:sp>
      <p:sp>
        <p:nvSpPr>
          <p:cNvPr id="481" name="TextBox 480"/>
          <p:cNvSpPr txBox="1"/>
          <p:nvPr/>
        </p:nvSpPr>
        <p:spPr>
          <a:xfrm>
            <a:off x="13624559" y="6600139"/>
            <a:ext cx="1014983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20 STAGES, ID 150 mm TBC</a:t>
            </a:r>
          </a:p>
        </p:txBody>
      </p:sp>
      <p:cxnSp>
        <p:nvCxnSpPr>
          <p:cNvPr id="482" name="Connector 481"/>
          <p:cNvCxnSpPr/>
          <p:nvPr/>
        </p:nvCxnSpPr>
        <p:spPr>
          <a:xfrm>
            <a:off x="11905488" y="6717182"/>
            <a:ext cx="27614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3" name="TextBox 482"/>
          <p:cNvSpPr txBox="1"/>
          <p:nvPr/>
        </p:nvSpPr>
        <p:spPr>
          <a:xfrm>
            <a:off x="11932919" y="6717182"/>
            <a:ext cx="420624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D-101</a:t>
            </a:r>
          </a:p>
        </p:txBody>
      </p:sp>
      <p:sp>
        <p:nvSpPr>
          <p:cNvPr id="484" name="TextBox 483"/>
          <p:cNvSpPr txBox="1"/>
          <p:nvPr/>
        </p:nvSpPr>
        <p:spPr>
          <a:xfrm>
            <a:off x="12408407" y="6717182"/>
            <a:ext cx="1161288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BATCH STILL (POT)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13624559" y="6717182"/>
            <a:ext cx="1014983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150 L, CHARGE 110 L</a:t>
            </a:r>
          </a:p>
        </p:txBody>
      </p:sp>
      <p:cxnSp>
        <p:nvCxnSpPr>
          <p:cNvPr id="486" name="Connector 485"/>
          <p:cNvCxnSpPr/>
          <p:nvPr/>
        </p:nvCxnSpPr>
        <p:spPr>
          <a:xfrm>
            <a:off x="11905488" y="6834225"/>
            <a:ext cx="27614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7" name="TextBox 486"/>
          <p:cNvSpPr txBox="1"/>
          <p:nvPr/>
        </p:nvSpPr>
        <p:spPr>
          <a:xfrm>
            <a:off x="11932919" y="6834225"/>
            <a:ext cx="420624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D-102</a:t>
            </a:r>
          </a:p>
        </p:txBody>
      </p:sp>
      <p:sp>
        <p:nvSpPr>
          <p:cNvPr id="488" name="TextBox 487"/>
          <p:cNvSpPr txBox="1"/>
          <p:nvPr/>
        </p:nvSpPr>
        <p:spPr>
          <a:xfrm>
            <a:off x="12408407" y="6834225"/>
            <a:ext cx="1161288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REBOILER, HOT OIL</a:t>
            </a:r>
          </a:p>
        </p:txBody>
      </p:sp>
      <p:sp>
        <p:nvSpPr>
          <p:cNvPr id="489" name="TextBox 488"/>
          <p:cNvSpPr txBox="1"/>
          <p:nvPr/>
        </p:nvSpPr>
        <p:spPr>
          <a:xfrm>
            <a:off x="13624559" y="6834225"/>
            <a:ext cx="1014983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DUTY 3.0 kW</a:t>
            </a:r>
          </a:p>
        </p:txBody>
      </p:sp>
      <p:cxnSp>
        <p:nvCxnSpPr>
          <p:cNvPr id="490" name="Connector 489"/>
          <p:cNvCxnSpPr/>
          <p:nvPr/>
        </p:nvCxnSpPr>
        <p:spPr>
          <a:xfrm>
            <a:off x="11905488" y="6951268"/>
            <a:ext cx="27614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1" name="TextBox 490"/>
          <p:cNvSpPr txBox="1"/>
          <p:nvPr/>
        </p:nvSpPr>
        <p:spPr>
          <a:xfrm>
            <a:off x="11932919" y="6951268"/>
            <a:ext cx="420624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E-103</a:t>
            </a:r>
          </a:p>
        </p:txBody>
      </p:sp>
      <p:sp>
        <p:nvSpPr>
          <p:cNvPr id="492" name="TextBox 491"/>
          <p:cNvSpPr txBox="1"/>
          <p:nvPr/>
        </p:nvSpPr>
        <p:spPr>
          <a:xfrm>
            <a:off x="12408407" y="6951268"/>
            <a:ext cx="1161288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OVERHEAD CONDENSER</a:t>
            </a:r>
          </a:p>
        </p:txBody>
      </p:sp>
      <p:sp>
        <p:nvSpPr>
          <p:cNvPr id="493" name="TextBox 492"/>
          <p:cNvSpPr txBox="1"/>
          <p:nvPr/>
        </p:nvSpPr>
        <p:spPr>
          <a:xfrm>
            <a:off x="13624559" y="6951268"/>
            <a:ext cx="1014983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2.37 kW, TW 60 °C</a:t>
            </a:r>
          </a:p>
        </p:txBody>
      </p:sp>
      <p:cxnSp>
        <p:nvCxnSpPr>
          <p:cNvPr id="494" name="Connector 493"/>
          <p:cNvCxnSpPr/>
          <p:nvPr/>
        </p:nvCxnSpPr>
        <p:spPr>
          <a:xfrm>
            <a:off x="11905488" y="7068312"/>
            <a:ext cx="27614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5" name="TextBox 494"/>
          <p:cNvSpPr txBox="1"/>
          <p:nvPr/>
        </p:nvSpPr>
        <p:spPr>
          <a:xfrm>
            <a:off x="11932919" y="7068312"/>
            <a:ext cx="420624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D-104</a:t>
            </a:r>
          </a:p>
        </p:txBody>
      </p:sp>
      <p:sp>
        <p:nvSpPr>
          <p:cNvPr id="496" name="TextBox 495"/>
          <p:cNvSpPr txBox="1"/>
          <p:nvPr/>
        </p:nvSpPr>
        <p:spPr>
          <a:xfrm>
            <a:off x="12408407" y="7068312"/>
            <a:ext cx="1161288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REFLUX DRUM</a:t>
            </a:r>
          </a:p>
        </p:txBody>
      </p:sp>
      <p:sp>
        <p:nvSpPr>
          <p:cNvPr id="497" name="TextBox 496"/>
          <p:cNvSpPr txBox="1"/>
          <p:nvPr/>
        </p:nvSpPr>
        <p:spPr>
          <a:xfrm>
            <a:off x="13624559" y="7068312"/>
            <a:ext cx="1014983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4 L; 50 % = 1.74 kg</a:t>
            </a:r>
          </a:p>
        </p:txBody>
      </p:sp>
      <p:cxnSp>
        <p:nvCxnSpPr>
          <p:cNvPr id="498" name="Connector 497"/>
          <p:cNvCxnSpPr/>
          <p:nvPr/>
        </p:nvCxnSpPr>
        <p:spPr>
          <a:xfrm>
            <a:off x="11905488" y="7185355"/>
            <a:ext cx="27614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9" name="TextBox 498"/>
          <p:cNvSpPr txBox="1"/>
          <p:nvPr/>
        </p:nvSpPr>
        <p:spPr>
          <a:xfrm>
            <a:off x="11932919" y="7185355"/>
            <a:ext cx="420624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P-104</a:t>
            </a:r>
          </a:p>
        </p:txBody>
      </p:sp>
      <p:sp>
        <p:nvSpPr>
          <p:cNvPr id="500" name="TextBox 499"/>
          <p:cNvSpPr txBox="1"/>
          <p:nvPr/>
        </p:nvSpPr>
        <p:spPr>
          <a:xfrm>
            <a:off x="12408407" y="7185355"/>
            <a:ext cx="1161288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REFLUX / DISTILLATE PUMP</a:t>
            </a:r>
          </a:p>
        </p:txBody>
      </p:sp>
      <p:sp>
        <p:nvSpPr>
          <p:cNvPr id="501" name="TextBox 500"/>
          <p:cNvSpPr txBox="1"/>
          <p:nvPr/>
        </p:nvSpPr>
        <p:spPr>
          <a:xfrm>
            <a:off x="13624559" y="7185355"/>
            <a:ext cx="1014983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DRAW 0–70 kg/h</a:t>
            </a:r>
          </a:p>
        </p:txBody>
      </p:sp>
      <p:cxnSp>
        <p:nvCxnSpPr>
          <p:cNvPr id="502" name="Connector 501"/>
          <p:cNvCxnSpPr/>
          <p:nvPr/>
        </p:nvCxnSpPr>
        <p:spPr>
          <a:xfrm>
            <a:off x="11905488" y="7302398"/>
            <a:ext cx="27614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3" name="TextBox 502"/>
          <p:cNvSpPr txBox="1"/>
          <p:nvPr/>
        </p:nvSpPr>
        <p:spPr>
          <a:xfrm>
            <a:off x="11932919" y="7302398"/>
            <a:ext cx="420624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VT-101</a:t>
            </a:r>
          </a:p>
        </p:txBody>
      </p:sp>
      <p:sp>
        <p:nvSpPr>
          <p:cNvPr id="504" name="TextBox 503"/>
          <p:cNvSpPr txBox="1"/>
          <p:nvPr/>
        </p:nvSpPr>
        <p:spPr>
          <a:xfrm>
            <a:off x="12408407" y="7302398"/>
            <a:ext cx="1161288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VACUUM TRAP</a:t>
            </a:r>
          </a:p>
        </p:txBody>
      </p:sp>
      <p:sp>
        <p:nvSpPr>
          <p:cNvPr id="505" name="TextBox 504"/>
          <p:cNvSpPr txBox="1"/>
          <p:nvPr/>
        </p:nvSpPr>
        <p:spPr>
          <a:xfrm>
            <a:off x="13624559" y="7302398"/>
            <a:ext cx="1014983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SIZE / COOLING TBC</a:t>
            </a:r>
          </a:p>
        </p:txBody>
      </p:sp>
      <p:cxnSp>
        <p:nvCxnSpPr>
          <p:cNvPr id="506" name="Connector 505"/>
          <p:cNvCxnSpPr/>
          <p:nvPr/>
        </p:nvCxnSpPr>
        <p:spPr>
          <a:xfrm>
            <a:off x="11905488" y="7419441"/>
            <a:ext cx="27614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7" name="TextBox 506"/>
          <p:cNvSpPr txBox="1"/>
          <p:nvPr/>
        </p:nvSpPr>
        <p:spPr>
          <a:xfrm>
            <a:off x="11932919" y="7419441"/>
            <a:ext cx="420624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VP-101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12408407" y="7419441"/>
            <a:ext cx="1161288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VACUUM PUMP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13624559" y="7419441"/>
            <a:ext cx="1014983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TOP 160 mbar a</a:t>
            </a:r>
          </a:p>
        </p:txBody>
      </p:sp>
      <p:cxnSp>
        <p:nvCxnSpPr>
          <p:cNvPr id="510" name="Connector 509"/>
          <p:cNvCxnSpPr/>
          <p:nvPr/>
        </p:nvCxnSpPr>
        <p:spPr>
          <a:xfrm>
            <a:off x="11905488" y="7536484"/>
            <a:ext cx="27614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1" name="TextBox 510"/>
          <p:cNvSpPr txBox="1"/>
          <p:nvPr/>
        </p:nvSpPr>
        <p:spPr>
          <a:xfrm>
            <a:off x="11932919" y="7536484"/>
            <a:ext cx="420624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TK-201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12408407" y="7536484"/>
            <a:ext cx="1161288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OFF-CUT RECEIVER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13624559" y="7536484"/>
            <a:ext cx="1014983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11.1 kg (CAMPAIGN A)</a:t>
            </a:r>
          </a:p>
        </p:txBody>
      </p:sp>
      <p:cxnSp>
        <p:nvCxnSpPr>
          <p:cNvPr id="514" name="Connector 513"/>
          <p:cNvCxnSpPr/>
          <p:nvPr/>
        </p:nvCxnSpPr>
        <p:spPr>
          <a:xfrm>
            <a:off x="11905488" y="7653528"/>
            <a:ext cx="27614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5" name="TextBox 514"/>
          <p:cNvSpPr txBox="1"/>
          <p:nvPr/>
        </p:nvSpPr>
        <p:spPr>
          <a:xfrm>
            <a:off x="11932919" y="7653528"/>
            <a:ext cx="420624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TK-202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12408407" y="7653528"/>
            <a:ext cx="1161288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PRODUCT RECEIVER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13624559" y="7653528"/>
            <a:ext cx="1014983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34.7 kg (CAMPAIGN A)</a:t>
            </a:r>
          </a:p>
        </p:txBody>
      </p:sp>
      <p:cxnSp>
        <p:nvCxnSpPr>
          <p:cNvPr id="518" name="Connector 517"/>
          <p:cNvCxnSpPr/>
          <p:nvPr/>
        </p:nvCxnSpPr>
        <p:spPr>
          <a:xfrm>
            <a:off x="11905488" y="7770571"/>
            <a:ext cx="27614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9" name="TextBox 518"/>
          <p:cNvSpPr txBox="1"/>
          <p:nvPr/>
        </p:nvSpPr>
        <p:spPr>
          <a:xfrm>
            <a:off x="11932919" y="7770571"/>
            <a:ext cx="420624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HE-101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12408407" y="7770571"/>
            <a:ext cx="1161288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HOT-OIL HEATER (PID-002)</a:t>
            </a:r>
          </a:p>
        </p:txBody>
      </p:sp>
      <p:sp>
        <p:nvSpPr>
          <p:cNvPr id="521" name="TextBox 520"/>
          <p:cNvSpPr txBox="1"/>
          <p:nvPr/>
        </p:nvSpPr>
        <p:spPr>
          <a:xfrm>
            <a:off x="13624559" y="7770571"/>
            <a:ext cx="1014983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12 kW ELECTRIC</a:t>
            </a:r>
          </a:p>
        </p:txBody>
      </p:sp>
      <p:cxnSp>
        <p:nvCxnSpPr>
          <p:cNvPr id="522" name="Connector 521"/>
          <p:cNvCxnSpPr/>
          <p:nvPr/>
        </p:nvCxnSpPr>
        <p:spPr>
          <a:xfrm>
            <a:off x="11905488" y="7887614"/>
            <a:ext cx="27614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3" name="TextBox 522"/>
          <p:cNvSpPr txBox="1"/>
          <p:nvPr/>
        </p:nvSpPr>
        <p:spPr>
          <a:xfrm>
            <a:off x="11932919" y="7887614"/>
            <a:ext cx="420624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P-101</a:t>
            </a:r>
          </a:p>
        </p:txBody>
      </p:sp>
      <p:sp>
        <p:nvSpPr>
          <p:cNvPr id="524" name="TextBox 523"/>
          <p:cNvSpPr txBox="1"/>
          <p:nvPr/>
        </p:nvSpPr>
        <p:spPr>
          <a:xfrm>
            <a:off x="12408407" y="7887614"/>
            <a:ext cx="1161288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HOT-OIL PUMP (PID-002)</a:t>
            </a:r>
          </a:p>
        </p:txBody>
      </p:sp>
      <p:sp>
        <p:nvSpPr>
          <p:cNvPr id="525" name="TextBox 524"/>
          <p:cNvSpPr txBox="1"/>
          <p:nvPr/>
        </p:nvSpPr>
        <p:spPr>
          <a:xfrm>
            <a:off x="13624559" y="7887614"/>
            <a:ext cx="1014983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125 kg/h AT DESIGN</a:t>
            </a:r>
          </a:p>
        </p:txBody>
      </p:sp>
      <p:cxnSp>
        <p:nvCxnSpPr>
          <p:cNvPr id="526" name="Connector 525"/>
          <p:cNvCxnSpPr/>
          <p:nvPr/>
        </p:nvCxnSpPr>
        <p:spPr>
          <a:xfrm>
            <a:off x="11905488" y="8004657"/>
            <a:ext cx="27614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7" name="TextBox 526"/>
          <p:cNvSpPr txBox="1"/>
          <p:nvPr/>
        </p:nvSpPr>
        <p:spPr>
          <a:xfrm>
            <a:off x="11932919" y="8004657"/>
            <a:ext cx="420624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E-104</a:t>
            </a:r>
          </a:p>
        </p:txBody>
      </p:sp>
      <p:sp>
        <p:nvSpPr>
          <p:cNvPr id="528" name="TextBox 527"/>
          <p:cNvSpPr txBox="1"/>
          <p:nvPr/>
        </p:nvSpPr>
        <p:spPr>
          <a:xfrm>
            <a:off x="12408407" y="8004657"/>
            <a:ext cx="1161288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HOT-OIL COOLER (PID-002)</a:t>
            </a:r>
          </a:p>
        </p:txBody>
      </p:sp>
      <p:sp>
        <p:nvSpPr>
          <p:cNvPr id="529" name="TextBox 528"/>
          <p:cNvSpPr txBox="1"/>
          <p:nvPr/>
        </p:nvSpPr>
        <p:spPr>
          <a:xfrm>
            <a:off x="13624559" y="8004657"/>
            <a:ext cx="1014983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COOL-DOWN ONLY</a:t>
            </a:r>
          </a:p>
        </p:txBody>
      </p:sp>
      <p:cxnSp>
        <p:nvCxnSpPr>
          <p:cNvPr id="530" name="Connector 529"/>
          <p:cNvCxnSpPr/>
          <p:nvPr/>
        </p:nvCxnSpPr>
        <p:spPr>
          <a:xfrm>
            <a:off x="11905488" y="8121700"/>
            <a:ext cx="27614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1" name="TextBox 530"/>
          <p:cNvSpPr txBox="1"/>
          <p:nvPr/>
        </p:nvSpPr>
        <p:spPr>
          <a:xfrm>
            <a:off x="11932919" y="8121700"/>
            <a:ext cx="420624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P-108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12408407" y="8121700"/>
            <a:ext cx="1161288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TEMP.-WATER PUMP (PID-002)</a:t>
            </a:r>
          </a:p>
        </p:txBody>
      </p:sp>
      <p:sp>
        <p:nvSpPr>
          <p:cNvPr id="533" name="TextBox 532"/>
          <p:cNvSpPr txBox="1"/>
          <p:nvPr/>
        </p:nvSpPr>
        <p:spPr>
          <a:xfrm>
            <a:off x="13624559" y="8121700"/>
            <a:ext cx="1014983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1.2 m³/h, 60 °C</a:t>
            </a:r>
          </a:p>
        </p:txBody>
      </p:sp>
      <p:cxnSp>
        <p:nvCxnSpPr>
          <p:cNvPr id="534" name="Connector 533"/>
          <p:cNvCxnSpPr/>
          <p:nvPr/>
        </p:nvCxnSpPr>
        <p:spPr>
          <a:xfrm>
            <a:off x="11905488" y="8238744"/>
            <a:ext cx="27614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5" name="TextBox 534"/>
          <p:cNvSpPr txBox="1"/>
          <p:nvPr/>
        </p:nvSpPr>
        <p:spPr>
          <a:xfrm>
            <a:off x="11932919" y="8238744"/>
            <a:ext cx="420624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TK-102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12408407" y="8238744"/>
            <a:ext cx="1161288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HOT-OIL EXP. TANK</a:t>
            </a:r>
          </a:p>
        </p:txBody>
      </p:sp>
      <p:sp>
        <p:nvSpPr>
          <p:cNvPr id="537" name="TextBox 536"/>
          <p:cNvSpPr txBox="1"/>
          <p:nvPr/>
        </p:nvSpPr>
        <p:spPr>
          <a:xfrm>
            <a:off x="13624559" y="8238744"/>
            <a:ext cx="1014983" cy="1170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RECOMMENDED, HOLD</a:t>
            </a:r>
          </a:p>
        </p:txBody>
      </p:sp>
      <p:cxnSp>
        <p:nvCxnSpPr>
          <p:cNvPr id="538" name="Connector 537"/>
          <p:cNvCxnSpPr/>
          <p:nvPr/>
        </p:nvCxnSpPr>
        <p:spPr>
          <a:xfrm>
            <a:off x="11905488" y="8355787"/>
            <a:ext cx="27614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Connector 538"/>
          <p:cNvCxnSpPr/>
          <p:nvPr/>
        </p:nvCxnSpPr>
        <p:spPr>
          <a:xfrm>
            <a:off x="11905488" y="6483096"/>
            <a:ext cx="0" cy="187269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Connector 539"/>
          <p:cNvCxnSpPr/>
          <p:nvPr/>
        </p:nvCxnSpPr>
        <p:spPr>
          <a:xfrm>
            <a:off x="12380976" y="6483096"/>
            <a:ext cx="0" cy="187269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1" name="Connector 540"/>
          <p:cNvCxnSpPr/>
          <p:nvPr/>
        </p:nvCxnSpPr>
        <p:spPr>
          <a:xfrm>
            <a:off x="13597128" y="6483096"/>
            <a:ext cx="0" cy="187269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>
            <a:off x="14666976" y="6483096"/>
            <a:ext cx="0" cy="187269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>
            <a:off x="320040" y="8595360"/>
            <a:ext cx="1138428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57200" y="8668512"/>
            <a:ext cx="5532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GENERAL NOTES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1. ALTERNATIVE VERSION TO EPC STANDARD. THE SCREEN P&amp;ID VBD-V1-PID-001 (P&amp;ID TAB, TOP) STAYS THE REFERENCE FOR THE DCS, THE DECKS AND THE EXERCISES.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2. DESIGN CASE (OTS MODEL, NOISE OFF, START OF CAMPAIGN AT TOTAL REFLUX): TOP 160 mbar a (PIC-102), POT 170.9 mbar a, COLUMN ΔP 10.9 mbar, FLOODING 61 %;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POT DUTY 3.0 kW (JIC-101); HOT OIL 290 °C (TIC-107); TEMPERED WATER 60 °C, 1.2 m³/h; CHARGE 110 L = 95.7 kg FAME (89 % LEVEL HOT, 133 L AT 255 °C).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3. TOTAL REFLUX: TI-104 192.4, TI-103 193.3, TI-102 239, POT 255.9 °C; OVERHEAD 31.7 kg/h (MW 214); E-103 LOAD 2.37 kW; REFLUX 31.8 kg/h.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4. CAMPAIGN A: OFF-CUT R 15 → TK-201, PRODUCT CUT R 10 → TK-202 (C16:0 ≥ 99.0 wt %). SWITCH 307 min, END 907 min; TK-201 11.1 kg, TK-202 34.7 kg,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RECOVERY 80.7 %; RESIDUE 45.5 kg STAYS IN D-101. MASS BALANCE CLOSES TO 0.002 % (eng_check.py).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5. VAPOUR-PRESSURE ANCHORS, ΔHv, PACKING CAPACITY, CONDENSER UA, POT HEAT LOSS ARE ASSUMED IN THE MODEL (TBC).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6. LINE SIZES PRELIMINARY (TBC). OVERHEAD DN40: 7.6 m/s, 0.12 mbar/m (DN25 WOULD GIVE 17.9 m/s, 1.1 mbar/m). LIQUID LINES AT MINIMUM SIZE.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7. ALL VESSELS SEE VACUUM: DESIGN FV / 1.0 barg ASSUMED (HOLD); MATERIALS TBC. ESTER LINES TRACED / INSULATED ABOVE 45 °C (ESTERS FREEZE 30–38 °C), TBC.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8. PRESSURE AND LEVEL INSTRUMENTS C/W ROOT AND TEST VALVES (TYP., NOT SHOWN). PUMP MOTORS AND CASING DRAINS NOT SHOWN.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9. NEW TAGS ON THIS SET: V-101…V-122, NRV-101/102/104/108/112, FT-101, TT-101, LINE NUMBERS. ALL OTHER TAGS ARE THE OTS TAGS, UNCHANGED.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10. CHARGE METHOD, RECEIVER VENT / EQUALISING LINE, VT-101 COOLING AND DRAINING: TBC.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126480" y="8668512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INSTRUMENT AND SAFETY NOTES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11. FIELD TRANSMITTERS (CIRCLE) ARE DRAWN SEPARATE FROM DCS FUNCTIONS (BAR) AND SIS-100 FUNCTIONS (SQUARE). AS IN THE MODEL, PSHH-102 SHARES PT-102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  AND LSLL-101 SHARES LT-101 WITH THE DCS; TSHH-101 HAS ITS OWN ELEMENT TE-101B.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12. SIS-100 TRIPS (DELAY): TSHH-101 &gt; 290 °C (5 s) · PSHH-102 &gt; 300 mbar (5 s, RUN) · FSLL-108 &lt; 0.36 m³/h (10 s, RUN) · LSLL-101 &lt; 20 % (5 s, RUN) ·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  TSHH-107 &gt; 330 °C (5 s) · HS-100. ACTIONS, PERMISSIVES AND RESET: INTERLOCK SCHEDULE ON VBD-PID-002.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13. LSLL-104 &lt; 5 % FOR 5 s STOPS P-104 (PUMP PROTECTION IN THE BPCS, NOT A SIF).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14. FAIL POSITIONS: PV-102 FO (N₂ BLEED OPEN; TOP SETTLES ≈ 300 mbar = PSHH-102), FV-104 FO (REFLUX KEPT), FV-105 FC (NO DRAW-OFF),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  XV-101 / TV-101 FC (VBD-PID-002). XV-107 STAYS PUT AND HV-105 FO: ASSUMED (TBC).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15. PIC-102 → PV-102. LIC-104 → RY-104 → SET POINTS OF FIC-104 (R/(R+1)) AND FIC-105 (1/(R+1)). HS-107 → XV-107: CLOSED / TK-201 / TK-202; A TRIP SETS CLOSED.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16. HV-110 N₂ VACUUM BREAK ONLY WITH THE POT BELOW 150 °C (PROCEDURE TODAY).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17. DASHED ITEMS ARE RECOMMENDED BY THE HAZOP AND SAFETY-LAYERS TABS AND DO NOT EXIST: PSV-101, RD-102 + PSV-102, PT-102B, LT-101B, TZ-110 (HOLD).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  RELIEF SET 1.0 barg ASSUMED; SIZE TO API 520/521 ONCE MAWP AND N₂ REGULATOR PRESSURE ARE KNOWN (HOLD).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18. RO-102 (N₂), TSV-103 (E-103 WATER SIDE), AT-102 (O₂) AND FA-101 ARE FURTHER RECOMMENDATIONS IN THE SAFETY-LAYERS TAB, NOT DRAWN.</a:t>
            </a:r>
          </a:p>
        </p:txBody>
      </p:sp>
      <p:cxnSp>
        <p:nvCxnSpPr>
          <p:cNvPr id="546" name="Connector 545"/>
          <p:cNvCxnSpPr/>
          <p:nvPr/>
        </p:nvCxnSpPr>
        <p:spPr>
          <a:xfrm>
            <a:off x="11750040" y="8641080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>
            <a:off x="11750040" y="8814815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547"/>
          <p:cNvCxnSpPr/>
          <p:nvPr/>
        </p:nvCxnSpPr>
        <p:spPr>
          <a:xfrm>
            <a:off x="11750040" y="8988552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>
            <a:off x="11750040" y="91622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>
            <a:off x="1175004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>
            <a:off x="1207008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>
            <a:off x="14026896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Connector 552"/>
          <p:cNvCxnSpPr/>
          <p:nvPr/>
        </p:nvCxnSpPr>
        <p:spPr>
          <a:xfrm>
            <a:off x="14804135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11750040" y="8641080"/>
            <a:ext cx="3200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REV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12070080" y="8641080"/>
            <a:ext cx="1956816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DESCRIPTION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14026896" y="8641080"/>
            <a:ext cx="7772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DATE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11750040" y="8814815"/>
            <a:ext cx="3200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—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12070080" y="8814815"/>
            <a:ext cx="1956816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VBD-V1-PID-001 A (SCREEN): CURRENT, DCS/DECKS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14026896" y="8814815"/>
            <a:ext cx="7772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—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11750040" y="8988552"/>
            <a:ext cx="3200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12070080" y="8988552"/>
            <a:ext cx="1956816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ALTERNATIVE VERSION, EPC STANDARD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14026896" y="8988552"/>
            <a:ext cx="7772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12-OCT-26</a:t>
            </a:r>
          </a:p>
        </p:txBody>
      </p:sp>
      <p:sp>
        <p:nvSpPr>
          <p:cNvPr id="563" name="Rectangle 562"/>
          <p:cNvSpPr/>
          <p:nvPr/>
        </p:nvSpPr>
        <p:spPr>
          <a:xfrm>
            <a:off x="11750040" y="9162288"/>
            <a:ext cx="3054096" cy="1207008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4" name="Connector 563"/>
          <p:cNvCxnSpPr/>
          <p:nvPr/>
        </p:nvCxnSpPr>
        <p:spPr>
          <a:xfrm>
            <a:off x="11750040" y="9473184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11750040" y="9802367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11750040" y="100766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11750040" y="9180576"/>
            <a:ext cx="305409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1">
                <a:solidFill>
                  <a:srgbClr val="000000"/>
                </a:solidFill>
                <a:latin typeface="Arial"/>
              </a:rPr>
              <a:t>CLIENT: DEPARTMENT OF CHEMICAL ENGINEERING,</a:t>
            </a:r>
          </a:p>
          <a:p>
            <a:pPr algn="ctr"/>
            <a:r>
              <a:rPr sz="560" b="1">
                <a:solidFill>
                  <a:srgbClr val="000000"/>
                </a:solidFill>
                <a:latin typeface="Arial"/>
              </a:rPr>
              <a:t>FACULTY OF ENGINEERING, CHULALONGKORN UNIVERSITY</a:t>
            </a:r>
          </a:p>
          <a:p>
            <a:pPr algn="ctr"/>
            <a:r>
              <a:rPr sz="560" b="1">
                <a:solidFill>
                  <a:srgbClr val="000000"/>
                </a:solidFill>
                <a:latin typeface="Arial"/>
              </a:rPr>
              <a:t>VACUUM BATCH DISTILLATION VER 1 · OTS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11750040" y="9491472"/>
            <a:ext cx="3054096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P&amp;ID — VACUUM BATCH DISTILLATION C-101</a:t>
            </a:r>
          </a:p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· ALTERNATIVE VERSION</a:t>
            </a:r>
          </a:p>
        </p:txBody>
      </p:sp>
      <p:cxnSp>
        <p:nvCxnSpPr>
          <p:cNvPr id="569" name="Connector 568"/>
          <p:cNvCxnSpPr/>
          <p:nvPr/>
        </p:nvCxnSpPr>
        <p:spPr>
          <a:xfrm>
            <a:off x="12513563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13277088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>
            <a:off x="14040612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2" name="TextBox 571"/>
          <p:cNvSpPr txBox="1"/>
          <p:nvPr/>
        </p:nvSpPr>
        <p:spPr>
          <a:xfrm>
            <a:off x="11750040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DRAWN: </a:t>
            </a:r>
          </a:p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Apinan Soottitantawat</a:t>
            </a:r>
          </a:p>
        </p:txBody>
      </p:sp>
      <p:sp>
        <p:nvSpPr>
          <p:cNvPr id="573" name="TextBox 572"/>
          <p:cNvSpPr txBox="1"/>
          <p:nvPr/>
        </p:nvSpPr>
        <p:spPr>
          <a:xfrm>
            <a:off x="12513563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CHK'D: --</a:t>
            </a:r>
          </a:p>
        </p:txBody>
      </p:sp>
      <p:sp>
        <p:nvSpPr>
          <p:cNvPr id="574" name="TextBox 573"/>
          <p:cNvSpPr txBox="1"/>
          <p:nvPr/>
        </p:nvSpPr>
        <p:spPr>
          <a:xfrm>
            <a:off x="13277088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APP'D: --</a:t>
            </a:r>
          </a:p>
        </p:txBody>
      </p:sp>
      <p:sp>
        <p:nvSpPr>
          <p:cNvPr id="575" name="TextBox 574"/>
          <p:cNvSpPr txBox="1"/>
          <p:nvPr/>
        </p:nvSpPr>
        <p:spPr>
          <a:xfrm>
            <a:off x="14040612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DATE: 12-OCT-26</a:t>
            </a:r>
          </a:p>
        </p:txBody>
      </p:sp>
      <p:sp>
        <p:nvSpPr>
          <p:cNvPr id="576" name="TextBox 575"/>
          <p:cNvSpPr txBox="1"/>
          <p:nvPr/>
        </p:nvSpPr>
        <p:spPr>
          <a:xfrm>
            <a:off x="11750040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DWG NO.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VBD-PID-001</a:t>
            </a:r>
          </a:p>
        </p:txBody>
      </p:sp>
      <p:sp>
        <p:nvSpPr>
          <p:cNvPr id="577" name="TextBox 576"/>
          <p:cNvSpPr txBox="1"/>
          <p:nvPr/>
        </p:nvSpPr>
        <p:spPr>
          <a:xfrm>
            <a:off x="12513563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REV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578" name="TextBox 577"/>
          <p:cNvSpPr txBox="1"/>
          <p:nvPr/>
        </p:nvSpPr>
        <p:spPr>
          <a:xfrm>
            <a:off x="13277088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SCALE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N.T.S.</a:t>
            </a:r>
          </a:p>
        </p:txBody>
      </p:sp>
      <p:sp>
        <p:nvSpPr>
          <p:cNvPr id="579" name="TextBox 578"/>
          <p:cNvSpPr txBox="1"/>
          <p:nvPr/>
        </p:nvSpPr>
        <p:spPr>
          <a:xfrm>
            <a:off x="14040612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SHEET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1 OF 2</a:t>
            </a:r>
          </a:p>
        </p:txBody>
      </p:sp>
      <p:sp>
        <p:nvSpPr>
          <p:cNvPr id="580" name="TextBox 579"/>
          <p:cNvSpPr txBox="1"/>
          <p:nvPr/>
        </p:nvSpPr>
        <p:spPr>
          <a:xfrm>
            <a:off x="502920" y="429768"/>
            <a:ext cx="1947164" cy="111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ALTERNATIVE VERSION · EPC STANDARD</a:t>
            </a:r>
          </a:p>
        </p:txBody>
      </p:sp>
      <p:sp>
        <p:nvSpPr>
          <p:cNvPr id="581" name="TextBox 580"/>
          <p:cNvSpPr txBox="1"/>
          <p:nvPr/>
        </p:nvSpPr>
        <p:spPr>
          <a:xfrm>
            <a:off x="502920" y="566928"/>
            <a:ext cx="1529842" cy="79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REFERENCE: SCREEN P&amp;ID VBD-V1-PID-001</a:t>
            </a:r>
          </a:p>
        </p:txBody>
      </p:sp>
      <p:sp>
        <p:nvSpPr>
          <p:cNvPr id="582" name="TextBox 581"/>
          <p:cNvSpPr txBox="1"/>
          <p:nvPr/>
        </p:nvSpPr>
        <p:spPr>
          <a:xfrm>
            <a:off x="8591702" y="8458200"/>
            <a:ext cx="3021177" cy="82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20" b="1">
                <a:solidFill>
                  <a:srgbClr val="000000"/>
                </a:solidFill>
                <a:latin typeface="Arial"/>
              </a:rPr>
              <a:t>SHEET 1 OF 2 · PROCESS: C-101, D-101, D-102, OVERHEAD, RECEIVERS, VACUUM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