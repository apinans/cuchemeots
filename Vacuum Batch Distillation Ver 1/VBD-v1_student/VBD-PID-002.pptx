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40080" cy="1463039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51560" y="2971800"/>
            <a:ext cx="365760" cy="914400"/>
          </a:xfrm>
          <a:custGeom>
            <a:avLst/>
            <a:gdLst/>
            <a:ahLst/>
            <a:cxnLst/>
            <a:rect l="l" t="t" r="r" b="b"/>
            <a:pathLst>
              <a:path w="365760" h="914400">
                <a:moveTo>
                  <a:pt x="0" y="0"/>
                </a:moveTo>
                <a:lnTo>
                  <a:pt x="365760" y="182880"/>
                </a:lnTo>
                <a:lnTo>
                  <a:pt x="0" y="365760"/>
                </a:lnTo>
                <a:lnTo>
                  <a:pt x="365760" y="548640"/>
                </a:lnTo>
                <a:lnTo>
                  <a:pt x="0" y="731520"/>
                </a:lnTo>
                <a:lnTo>
                  <a:pt x="365760" y="91440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246120"/>
            <a:ext cx="403860" cy="111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HE-101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383280"/>
            <a:ext cx="602284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HOT-OIL HEATER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74720"/>
            <a:ext cx="1242441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12 kW ELECTRIC, ELEMENT STEPS TBC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566160"/>
            <a:ext cx="1136142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DESIGN OUTPUT 4.04 kW (33.7 %)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234440" y="1828800"/>
            <a:ext cx="0" cy="9144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34440" y="1828800"/>
            <a:ext cx="55321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84748" y="1892807"/>
            <a:ext cx="781811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TO D-102 TUBE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6322" y="1984248"/>
            <a:ext cx="580237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ON VBD-PID-001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40280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DN25-HO-116</a:t>
            </a:r>
          </a:p>
        </p:txBody>
      </p:sp>
      <p:sp>
        <p:nvSpPr>
          <p:cNvPr id="15" name="Oval 14"/>
          <p:cNvSpPr/>
          <p:nvPr/>
        </p:nvSpPr>
        <p:spPr>
          <a:xfrm>
            <a:off x="1616202" y="1799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1645920" y="1609344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481328" y="128016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645920" y="1179576"/>
            <a:ext cx="0" cy="10058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481328" y="82296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81328" y="98755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027681" y="1799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2057400" y="1609344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892807" y="128016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107B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057400" y="1179576"/>
            <a:ext cx="0" cy="10058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865376" y="795528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92807" y="82296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92807" y="987552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58568" y="1645920"/>
            <a:ext cx="310159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TE-107B</a:t>
            </a:r>
          </a:p>
        </p:txBody>
      </p:sp>
      <p:sp>
        <p:nvSpPr>
          <p:cNvPr id="29" name="Freeform 28"/>
          <p:cNvSpPr/>
          <p:nvPr/>
        </p:nvSpPr>
        <p:spPr>
          <a:xfrm>
            <a:off x="2286000" y="1760220"/>
            <a:ext cx="219456" cy="137160"/>
          </a:xfrm>
          <a:custGeom>
            <a:avLst/>
            <a:gdLst/>
            <a:ahLst/>
            <a:cxnLst/>
            <a:rect l="l" t="t" r="r" b="b"/>
            <a:pathLst>
              <a:path w="219456" h="137160">
                <a:moveTo>
                  <a:pt x="0" y="0"/>
                </a:moveTo>
                <a:lnTo>
                  <a:pt x="219456" y="137160"/>
                </a:lnTo>
                <a:lnTo>
                  <a:pt x="219456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54821" y="193852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V-104</a:t>
            </a:r>
          </a:p>
        </p:txBody>
      </p:sp>
      <p:sp>
        <p:nvSpPr>
          <p:cNvPr id="31" name="Freeform 30"/>
          <p:cNvSpPr/>
          <p:nvPr/>
        </p:nvSpPr>
        <p:spPr>
          <a:xfrm>
            <a:off x="2606040" y="1938528"/>
            <a:ext cx="274320" cy="109728"/>
          </a:xfrm>
          <a:custGeom>
            <a:avLst/>
            <a:gdLst/>
            <a:ahLst/>
            <a:cxnLst/>
            <a:rect l="l" t="t" r="r" b="b"/>
            <a:pathLst>
              <a:path w="274320" h="109728">
                <a:moveTo>
                  <a:pt x="54864" y="0"/>
                </a:moveTo>
                <a:lnTo>
                  <a:pt x="0" y="109728"/>
                </a:lnTo>
                <a:lnTo>
                  <a:pt x="274320" y="109728"/>
                </a:lnTo>
                <a:lnTo>
                  <a:pt x="21945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87752" y="16733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670048" y="1755648"/>
            <a:ext cx="164592" cy="146304"/>
          </a:xfrm>
          <a:custGeom>
            <a:avLst/>
            <a:gdLst/>
            <a:ahLst/>
            <a:cxnLst/>
            <a:rect l="l" t="t" r="r" b="b"/>
            <a:pathLst>
              <a:path w="164592" h="146304">
                <a:moveTo>
                  <a:pt x="0" y="0"/>
                </a:moveTo>
                <a:lnTo>
                  <a:pt x="164592" y="73152"/>
                </a:lnTo>
                <a:lnTo>
                  <a:pt x="0" y="146304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84577" y="2075688"/>
            <a:ext cx="317246" cy="98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000000"/>
                </a:solidFill>
                <a:latin typeface="Arial"/>
              </a:rPr>
              <a:t>P-101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9852" y="2185416"/>
            <a:ext cx="526694" cy="76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HOT-OIL PUMP</a:t>
            </a:r>
          </a:p>
        </p:txBody>
      </p:sp>
      <p:sp>
        <p:nvSpPr>
          <p:cNvPr id="36" name="Freeform 35"/>
          <p:cNvSpPr/>
          <p:nvPr/>
        </p:nvSpPr>
        <p:spPr>
          <a:xfrm>
            <a:off x="2999232" y="1751990"/>
            <a:ext cx="170078" cy="153619"/>
          </a:xfrm>
          <a:custGeom>
            <a:avLst/>
            <a:gdLst/>
            <a:ahLst/>
            <a:cxnLst/>
            <a:rect l="l" t="t" r="r" b="b"/>
            <a:pathLst>
              <a:path w="170078" h="153619">
                <a:moveTo>
                  <a:pt x="0" y="0"/>
                </a:moveTo>
                <a:lnTo>
                  <a:pt x="170078" y="76810"/>
                </a:lnTo>
                <a:lnTo>
                  <a:pt x="0" y="15361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3169310" y="1751990"/>
            <a:ext cx="0" cy="15361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926321" y="1929384"/>
            <a:ext cx="365277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NRV-101</a:t>
            </a:r>
          </a:p>
        </p:txBody>
      </p:sp>
      <p:sp>
        <p:nvSpPr>
          <p:cNvPr id="39" name="Freeform 38"/>
          <p:cNvSpPr/>
          <p:nvPr/>
        </p:nvSpPr>
        <p:spPr>
          <a:xfrm>
            <a:off x="3291840" y="1760220"/>
            <a:ext cx="219456" cy="137160"/>
          </a:xfrm>
          <a:custGeom>
            <a:avLst/>
            <a:gdLst/>
            <a:ahLst/>
            <a:cxnLst/>
            <a:rect l="l" t="t" r="r" b="b"/>
            <a:pathLst>
              <a:path w="219456" h="137160">
                <a:moveTo>
                  <a:pt x="0" y="0"/>
                </a:moveTo>
                <a:lnTo>
                  <a:pt x="219456" y="137160"/>
                </a:lnTo>
                <a:lnTo>
                  <a:pt x="219456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0661" y="193852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V-105</a:t>
            </a:r>
          </a:p>
        </p:txBody>
      </p:sp>
      <p:sp>
        <p:nvSpPr>
          <p:cNvPr id="41" name="Freeform 40"/>
          <p:cNvSpPr/>
          <p:nvPr/>
        </p:nvSpPr>
        <p:spPr>
          <a:xfrm>
            <a:off x="3648456" y="17510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3767328" y="164592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694176" y="1536192"/>
            <a:ext cx="146304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4176" y="1536192"/>
            <a:ext cx="146304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7056" y="1527048"/>
            <a:ext cx="15189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5555" y="1929384"/>
            <a:ext cx="323545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XV-101</a:t>
            </a:r>
          </a:p>
        </p:txBody>
      </p:sp>
      <p:sp>
        <p:nvSpPr>
          <p:cNvPr id="47" name="Oval 46"/>
          <p:cNvSpPr/>
          <p:nvPr/>
        </p:nvSpPr>
        <p:spPr>
          <a:xfrm>
            <a:off x="4039362" y="1799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19522" y="1799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187952" y="1760220"/>
            <a:ext cx="219456" cy="137160"/>
          </a:xfrm>
          <a:custGeom>
            <a:avLst/>
            <a:gdLst/>
            <a:ahLst/>
            <a:cxnLst/>
            <a:rect l="l" t="t" r="r" b="b"/>
            <a:pathLst>
              <a:path w="219456" h="137160">
                <a:moveTo>
                  <a:pt x="0" y="0"/>
                </a:moveTo>
                <a:lnTo>
                  <a:pt x="219456" y="137160"/>
                </a:lnTo>
                <a:lnTo>
                  <a:pt x="219456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56773" y="193852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V-106</a:t>
            </a:r>
          </a:p>
        </p:txBody>
      </p:sp>
      <p:sp>
        <p:nvSpPr>
          <p:cNvPr id="51" name="Freeform 50"/>
          <p:cNvSpPr/>
          <p:nvPr/>
        </p:nvSpPr>
        <p:spPr>
          <a:xfrm>
            <a:off x="4590288" y="17510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4709160" y="16276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4590288" y="1519571"/>
            <a:ext cx="237744" cy="108061"/>
          </a:xfrm>
          <a:custGeom>
            <a:avLst/>
            <a:gdLst/>
            <a:ahLst/>
            <a:cxnLst/>
            <a:rect l="l" t="t" r="r" b="b"/>
            <a:pathLst>
              <a:path w="237744" h="108061">
                <a:moveTo>
                  <a:pt x="0" y="108061"/>
                </a:moveTo>
                <a:lnTo>
                  <a:pt x="7168" y="70531"/>
                </a:lnTo>
                <a:lnTo>
                  <a:pt x="27810" y="37529"/>
                </a:lnTo>
                <a:lnTo>
                  <a:pt x="59436" y="13033"/>
                </a:lnTo>
                <a:lnTo>
                  <a:pt x="98230" y="0"/>
                </a:lnTo>
                <a:lnTo>
                  <a:pt x="139513" y="0"/>
                </a:lnTo>
                <a:lnTo>
                  <a:pt x="178308" y="13033"/>
                </a:lnTo>
                <a:lnTo>
                  <a:pt x="209933" y="37529"/>
                </a:lnTo>
                <a:lnTo>
                  <a:pt x="230575" y="70531"/>
                </a:lnTo>
                <a:lnTo>
                  <a:pt x="237744" y="10806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1499616"/>
            <a:ext cx="15189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47387" y="1929384"/>
            <a:ext cx="323545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TV-101</a:t>
            </a:r>
          </a:p>
        </p:txBody>
      </p:sp>
      <p:sp>
        <p:nvSpPr>
          <p:cNvPr id="56" name="Freeform 55"/>
          <p:cNvSpPr/>
          <p:nvPr/>
        </p:nvSpPr>
        <p:spPr>
          <a:xfrm>
            <a:off x="5010912" y="1760220"/>
            <a:ext cx="219456" cy="137160"/>
          </a:xfrm>
          <a:custGeom>
            <a:avLst/>
            <a:gdLst/>
            <a:ahLst/>
            <a:cxnLst/>
            <a:rect l="l" t="t" r="r" b="b"/>
            <a:pathLst>
              <a:path w="219456" h="137160">
                <a:moveTo>
                  <a:pt x="0" y="0"/>
                </a:moveTo>
                <a:lnTo>
                  <a:pt x="219456" y="137160"/>
                </a:lnTo>
                <a:lnTo>
                  <a:pt x="219456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79733" y="193852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V-107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069080" y="1828800"/>
            <a:ext cx="0" cy="5029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069080" y="2331720"/>
            <a:ext cx="1280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349240" y="1828800"/>
            <a:ext cx="0" cy="5029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4617720" y="227228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686300" y="2308860"/>
            <a:ext cx="45720" cy="4572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68253" y="2414016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33087" y="2212848"/>
            <a:ext cx="281025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BYPASS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779007" y="172821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833872" y="172821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776722" y="1698498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5806440" y="1609344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641848" y="128016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89320" y="1481328"/>
            <a:ext cx="310159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NEW TAG</a:t>
            </a:r>
          </a:p>
        </p:txBody>
      </p:sp>
      <p:sp>
        <p:nvSpPr>
          <p:cNvPr id="71" name="Oval 70"/>
          <p:cNvSpPr/>
          <p:nvPr/>
        </p:nvSpPr>
        <p:spPr>
          <a:xfrm>
            <a:off x="4544568" y="82296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JIC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544568" y="98755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709160" y="1152144"/>
            <a:ext cx="0" cy="365760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806440" y="987552"/>
            <a:ext cx="0" cy="29260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4873752" y="987552"/>
            <a:ext cx="93268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901184" y="731520"/>
            <a:ext cx="1313307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Q = FT-101 × cp × (TT-107 − TT-108)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01184" y="813816"/>
            <a:ext cx="710946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SP 3.0 kW (DESIGN)</a:t>
            </a:r>
          </a:p>
        </p:txBody>
      </p:sp>
      <p:sp>
        <p:nvSpPr>
          <p:cNvPr id="78" name="Oval 77"/>
          <p:cNvSpPr/>
          <p:nvPr/>
        </p:nvSpPr>
        <p:spPr>
          <a:xfrm>
            <a:off x="6279642" y="1799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 flipV="1">
            <a:off x="6309360" y="1645920"/>
            <a:ext cx="0" cy="18288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309360" y="1463040"/>
            <a:ext cx="0" cy="18288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6236208" y="1344168"/>
            <a:ext cx="146304" cy="118872"/>
          </a:xfrm>
          <a:custGeom>
            <a:avLst/>
            <a:gdLst/>
            <a:ahLst/>
            <a:cxnLst/>
            <a:rect l="l" t="t" r="r" b="b"/>
            <a:pathLst>
              <a:path w="146304" h="118872">
                <a:moveTo>
                  <a:pt x="0" y="118872"/>
                </a:moveTo>
                <a:lnTo>
                  <a:pt x="146304" y="118872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6309360" y="1271016"/>
            <a:ext cx="118872" cy="146304"/>
          </a:xfrm>
          <a:custGeom>
            <a:avLst/>
            <a:gdLst/>
            <a:ahLst/>
            <a:cxnLst/>
            <a:rect l="l" t="t" r="r" b="b"/>
            <a:pathLst>
              <a:path w="118872" h="146304">
                <a:moveTo>
                  <a:pt x="0" y="73152"/>
                </a:moveTo>
                <a:lnTo>
                  <a:pt x="118872" y="146304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6309360" y="1216152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263640" y="1216152"/>
            <a:ext cx="914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428232" y="1344168"/>
            <a:ext cx="246888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446520" y="987552"/>
            <a:ext cx="761339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TSV-101 REC. (HOLD)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46520" y="1078992"/>
            <a:ext cx="696772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TO TK-102, SET TBC</a:t>
            </a:r>
          </a:p>
        </p:txBody>
      </p:sp>
      <p:cxnSp>
        <p:nvCxnSpPr>
          <p:cNvPr id="88" name="Connector 87"/>
          <p:cNvCxnSpPr/>
          <p:nvPr/>
        </p:nvCxnSpPr>
        <p:spPr>
          <a:xfrm flipH="1">
            <a:off x="731520" y="987552"/>
            <a:ext cx="7498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31520" y="987552"/>
            <a:ext cx="0" cy="225856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31520" y="3246120"/>
            <a:ext cx="18288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68096" y="3108960"/>
            <a:ext cx="242442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POWER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97480" y="566928"/>
            <a:ext cx="640080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97480" y="566928"/>
            <a:ext cx="6400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SIS-100</a:t>
            </a:r>
          </a:p>
        </p:txBody>
      </p:sp>
      <p:cxnSp>
        <p:nvCxnSpPr>
          <p:cNvPr id="94" name="Connector 93"/>
          <p:cNvCxnSpPr/>
          <p:nvPr/>
        </p:nvCxnSpPr>
        <p:spPr>
          <a:xfrm flipH="1">
            <a:off x="594360" y="731520"/>
            <a:ext cx="210312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94360" y="731520"/>
            <a:ext cx="0" cy="297180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94360" y="3703320"/>
            <a:ext cx="3200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30936" y="3749039"/>
            <a:ext cx="377875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CONTACTOR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6" y="3831336"/>
            <a:ext cx="208584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TRIP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2249424" y="987552"/>
            <a:ext cx="5394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788920" y="841248"/>
            <a:ext cx="0" cy="146304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337560" y="704088"/>
            <a:ext cx="42976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767328" y="704088"/>
            <a:ext cx="0" cy="832104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2916936" y="108813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944368" y="1115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HS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2944368" y="12801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108960" y="841248"/>
            <a:ext cx="0" cy="246888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3319272" y="1234440"/>
            <a:ext cx="181813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ESD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83280" y="411480"/>
            <a:ext cx="2082596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INPUTS ALSO FROM VBD-PID-001: TSHH-101, PSHH-102, LSLL-101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83280" y="493776"/>
            <a:ext cx="2671572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OUTPUTS ALSO (SOFTWARE): JIC-101 / TIC-107 / TIC-101 → MAN, XV-107 → CLOSED</a:t>
            </a:r>
          </a:p>
        </p:txBody>
      </p:sp>
      <p:cxnSp>
        <p:nvCxnSpPr>
          <p:cNvPr id="110" name="Connector 109"/>
          <p:cNvCxnSpPr/>
          <p:nvPr/>
        </p:nvCxnSpPr>
        <p:spPr>
          <a:xfrm flipH="1">
            <a:off x="1234440" y="4937760"/>
            <a:ext cx="56692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234440" y="4206240"/>
            <a:ext cx="0" cy="7315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6583680" y="4937760"/>
            <a:ext cx="320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967728" y="4828032"/>
            <a:ext cx="86055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FROM D-102 TUBE SIDE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967728" y="4919472"/>
            <a:ext cx="580237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ON VBD-PID-001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40680" y="4992624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DN25-HO-117</a:t>
            </a:r>
          </a:p>
        </p:txBody>
      </p:sp>
      <p:sp>
        <p:nvSpPr>
          <p:cNvPr id="116" name="Oval 115"/>
          <p:cNvSpPr/>
          <p:nvPr/>
        </p:nvSpPr>
        <p:spPr>
          <a:xfrm>
            <a:off x="6188202" y="49080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6217920" y="4718304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6053328" y="43891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119" name="Connector 118"/>
          <p:cNvCxnSpPr/>
          <p:nvPr/>
        </p:nvCxnSpPr>
        <p:spPr>
          <a:xfrm flipH="1">
            <a:off x="5961888" y="4553712"/>
            <a:ext cx="91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5632704" y="43891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5632704" y="45537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5921502" y="4224528"/>
            <a:ext cx="592836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RETURN 255.6 °C</a:t>
            </a:r>
          </a:p>
        </p:txBody>
      </p:sp>
      <p:sp>
        <p:nvSpPr>
          <p:cNvPr id="123" name="Oval 122"/>
          <p:cNvSpPr/>
          <p:nvPr/>
        </p:nvSpPr>
        <p:spPr>
          <a:xfrm>
            <a:off x="3913632" y="4736592"/>
            <a:ext cx="402336" cy="40233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3913632" y="4837176"/>
            <a:ext cx="402336" cy="201168"/>
          </a:xfrm>
          <a:custGeom>
            <a:avLst/>
            <a:gdLst/>
            <a:ahLst/>
            <a:cxnLst/>
            <a:rect l="l" t="t" r="r" b="b"/>
            <a:pathLst>
              <a:path w="402336" h="201168">
                <a:moveTo>
                  <a:pt x="0" y="100584"/>
                </a:moveTo>
                <a:lnTo>
                  <a:pt x="82296" y="0"/>
                </a:lnTo>
                <a:lnTo>
                  <a:pt x="164592" y="201168"/>
                </a:lnTo>
                <a:lnTo>
                  <a:pt x="246888" y="0"/>
                </a:lnTo>
                <a:lnTo>
                  <a:pt x="329184" y="201168"/>
                </a:lnTo>
                <a:lnTo>
                  <a:pt x="402336" y="100584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956177" y="4462272"/>
            <a:ext cx="317246" cy="98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000000"/>
                </a:solidFill>
                <a:latin typeface="Arial"/>
              </a:rPr>
              <a:t>E-104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17595" y="4572000"/>
            <a:ext cx="994410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HOT-OIL COOLER (COOL-DOWN)</a:t>
            </a:r>
          </a:p>
        </p:txBody>
      </p:sp>
      <p:cxnSp>
        <p:nvCxnSpPr>
          <p:cNvPr id="127" name="Connector 126"/>
          <p:cNvCxnSpPr/>
          <p:nvPr/>
        </p:nvCxnSpPr>
        <p:spPr>
          <a:xfrm flipV="1">
            <a:off x="4023360" y="5129784"/>
            <a:ext cx="0" cy="42976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206240" y="5129784"/>
            <a:ext cx="0" cy="42976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 128"/>
          <p:cNvSpPr/>
          <p:nvPr/>
        </p:nvSpPr>
        <p:spPr>
          <a:xfrm>
            <a:off x="3963924" y="5257800"/>
            <a:ext cx="118872" cy="182879"/>
          </a:xfrm>
          <a:custGeom>
            <a:avLst/>
            <a:gdLst/>
            <a:ahLst/>
            <a:cxnLst/>
            <a:rect l="l" t="t" r="r" b="b"/>
            <a:pathLst>
              <a:path w="118872" h="182879">
                <a:moveTo>
                  <a:pt x="0" y="0"/>
                </a:moveTo>
                <a:lnTo>
                  <a:pt x="118872" y="182879"/>
                </a:lnTo>
                <a:lnTo>
                  <a:pt x="0" y="182879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599230" y="5303520"/>
            <a:ext cx="323545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30" b="1">
                <a:solidFill>
                  <a:srgbClr val="000000"/>
                </a:solidFill>
                <a:latin typeface="Arial"/>
              </a:rPr>
              <a:t>HV-104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932453" y="5577840"/>
            <a:ext cx="181813" cy="73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CWS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24528" y="5577840"/>
            <a:ext cx="181813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CWR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79392" y="5303520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DN15-CW-120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3017520" y="4937760"/>
            <a:ext cx="0" cy="41148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2958084" y="5052060"/>
            <a:ext cx="118872" cy="182880"/>
          </a:xfrm>
          <a:custGeom>
            <a:avLst/>
            <a:gdLst/>
            <a:ahLst/>
            <a:cxnLst/>
            <a:rect l="l" t="t" r="r" b="b"/>
            <a:pathLst>
              <a:path w="118872" h="182880">
                <a:moveTo>
                  <a:pt x="0" y="0"/>
                </a:moveTo>
                <a:lnTo>
                  <a:pt x="118872" y="182880"/>
                </a:lnTo>
                <a:lnTo>
                  <a:pt x="0" y="182880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099815" y="5097780"/>
            <a:ext cx="281813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V-109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944723" y="5367527"/>
            <a:ext cx="145592" cy="73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cxnSp>
        <p:nvCxnSpPr>
          <p:cNvPr id="138" name="Connector 137"/>
          <p:cNvCxnSpPr/>
          <p:nvPr/>
        </p:nvCxnSpPr>
        <p:spPr>
          <a:xfrm flipH="1">
            <a:off x="822960" y="4617720"/>
            <a:ext cx="4114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937259" y="4558283"/>
            <a:ext cx="182881" cy="118873"/>
          </a:xfrm>
          <a:custGeom>
            <a:avLst/>
            <a:gdLst/>
            <a:ahLst/>
            <a:cxnLst/>
            <a:rect l="l" t="t" r="r" b="b"/>
            <a:pathLst>
              <a:path w="182881" h="118873">
                <a:moveTo>
                  <a:pt x="0" y="0"/>
                </a:moveTo>
                <a:lnTo>
                  <a:pt x="182881" y="118873"/>
                </a:lnTo>
                <a:lnTo>
                  <a:pt x="182881" y="0"/>
                </a:lnTo>
                <a:lnTo>
                  <a:pt x="0" y="118873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87793" y="4700016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V-118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37641" y="4562856"/>
            <a:ext cx="148742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103120" y="3931920"/>
            <a:ext cx="685800" cy="411480"/>
          </a:xfrm>
          <a:prstGeom prst="rect">
            <a:avLst/>
          </a:prstGeom>
          <a:noFill/>
          <a:ln w="1397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277160" y="3986784"/>
            <a:ext cx="337718" cy="88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TK-102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253538" y="4105656"/>
            <a:ext cx="384962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EXP. TANK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218893" y="4187952"/>
            <a:ext cx="454253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REC. (HOLD)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2446020" y="4343400"/>
            <a:ext cx="0" cy="59436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2416301" y="49080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 flipV="1">
            <a:off x="2697480" y="3657600"/>
            <a:ext cx="0" cy="27432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2743200" y="3639312"/>
            <a:ext cx="662127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VENT / N₂ BLANKET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103120" y="3822191"/>
            <a:ext cx="750315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SIZE FOR 30 → 330 °C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469880" y="1280160"/>
            <a:ext cx="1097280" cy="1920240"/>
          </a:xfrm>
          <a:prstGeom prst="rect">
            <a:avLst/>
          </a:prstGeom>
          <a:noFill/>
          <a:ln w="1397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790605" y="1847088"/>
            <a:ext cx="455828" cy="85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>
                <a:solidFill>
                  <a:srgbClr val="000000"/>
                </a:solidFill>
                <a:latin typeface="Arial"/>
              </a:rPr>
              <a:t>TEMPERED-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69346" y="1947672"/>
            <a:ext cx="498348" cy="85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>
                <a:solidFill>
                  <a:srgbClr val="000000"/>
                </a:solidFill>
                <a:latin typeface="Arial"/>
              </a:rPr>
              <a:t>WATER UNIT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98480" y="2075688"/>
            <a:ext cx="640080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60 °C, TCV INCL.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804779" y="2167128"/>
            <a:ext cx="427482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PACKAGE BY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769346" y="2249424"/>
            <a:ext cx="498347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OTHERS (TBC)</a:t>
            </a:r>
          </a:p>
        </p:txBody>
      </p:sp>
      <p:cxnSp>
        <p:nvCxnSpPr>
          <p:cNvPr id="157" name="Connector 156"/>
          <p:cNvCxnSpPr/>
          <p:nvPr/>
        </p:nvCxnSpPr>
        <p:spPr>
          <a:xfrm flipH="1">
            <a:off x="7406640" y="1645920"/>
            <a:ext cx="3063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6972808" y="1371600"/>
            <a:ext cx="38811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TO E-103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780682" y="1463040"/>
            <a:ext cx="580237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ON VBD-PID-001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430768" y="1709928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DN25-TW-118</a:t>
            </a:r>
          </a:p>
        </p:txBody>
      </p:sp>
      <p:sp>
        <p:nvSpPr>
          <p:cNvPr id="161" name="Freeform 160"/>
          <p:cNvSpPr/>
          <p:nvPr/>
        </p:nvSpPr>
        <p:spPr>
          <a:xfrm>
            <a:off x="10131552" y="1577340"/>
            <a:ext cx="219455" cy="137160"/>
          </a:xfrm>
          <a:custGeom>
            <a:avLst/>
            <a:gdLst/>
            <a:ahLst/>
            <a:cxnLst/>
            <a:rect l="l" t="t" r="r" b="b"/>
            <a:pathLst>
              <a:path w="219455" h="137160">
                <a:moveTo>
                  <a:pt x="0" y="0"/>
                </a:moveTo>
                <a:lnTo>
                  <a:pt x="219455" y="137160"/>
                </a:lnTo>
                <a:lnTo>
                  <a:pt x="219455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100373" y="175564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V-119</a:t>
            </a:r>
          </a:p>
        </p:txBody>
      </p:sp>
      <p:sp>
        <p:nvSpPr>
          <p:cNvPr id="163" name="Freeform 162"/>
          <p:cNvSpPr/>
          <p:nvPr/>
        </p:nvSpPr>
        <p:spPr>
          <a:xfrm>
            <a:off x="9784080" y="1755648"/>
            <a:ext cx="274320" cy="109728"/>
          </a:xfrm>
          <a:custGeom>
            <a:avLst/>
            <a:gdLst/>
            <a:ahLst/>
            <a:cxnLst/>
            <a:rect l="l" t="t" r="r" b="b"/>
            <a:pathLst>
              <a:path w="274320" h="109728">
                <a:moveTo>
                  <a:pt x="54864" y="0"/>
                </a:moveTo>
                <a:lnTo>
                  <a:pt x="0" y="109728"/>
                </a:lnTo>
                <a:lnTo>
                  <a:pt x="274320" y="109728"/>
                </a:lnTo>
                <a:lnTo>
                  <a:pt x="21945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65792" y="14904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9829800" y="1572768"/>
            <a:ext cx="164592" cy="146304"/>
          </a:xfrm>
          <a:custGeom>
            <a:avLst/>
            <a:gdLst/>
            <a:ahLst/>
            <a:cxnLst/>
            <a:rect l="l" t="t" r="r" b="b"/>
            <a:pathLst>
              <a:path w="164592" h="146304">
                <a:moveTo>
                  <a:pt x="164592" y="0"/>
                </a:moveTo>
                <a:lnTo>
                  <a:pt x="0" y="73152"/>
                </a:lnTo>
                <a:lnTo>
                  <a:pt x="164592" y="146304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762617" y="1892808"/>
            <a:ext cx="317246" cy="98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000000"/>
                </a:solidFill>
                <a:latin typeface="Arial"/>
              </a:rPr>
              <a:t>P-108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525609" y="2002536"/>
            <a:ext cx="791260" cy="76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TEMPERED-WATER PUMP</a:t>
            </a:r>
          </a:p>
        </p:txBody>
      </p:sp>
      <p:sp>
        <p:nvSpPr>
          <p:cNvPr id="168" name="Freeform 167"/>
          <p:cNvSpPr/>
          <p:nvPr/>
        </p:nvSpPr>
        <p:spPr>
          <a:xfrm>
            <a:off x="9522561" y="1569110"/>
            <a:ext cx="170079" cy="153619"/>
          </a:xfrm>
          <a:custGeom>
            <a:avLst/>
            <a:gdLst/>
            <a:ahLst/>
            <a:cxnLst/>
            <a:rect l="l" t="t" r="r" b="b"/>
            <a:pathLst>
              <a:path w="170079" h="153619">
                <a:moveTo>
                  <a:pt x="170079" y="0"/>
                </a:moveTo>
                <a:lnTo>
                  <a:pt x="0" y="76810"/>
                </a:lnTo>
                <a:lnTo>
                  <a:pt x="170079" y="15361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>
            <a:off x="9522561" y="1569110"/>
            <a:ext cx="0" cy="15361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400273" y="1746504"/>
            <a:ext cx="365277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NRV-108</a:t>
            </a:r>
          </a:p>
        </p:txBody>
      </p:sp>
      <p:sp>
        <p:nvSpPr>
          <p:cNvPr id="171" name="Freeform 170"/>
          <p:cNvSpPr/>
          <p:nvPr/>
        </p:nvSpPr>
        <p:spPr>
          <a:xfrm>
            <a:off x="9217152" y="1577340"/>
            <a:ext cx="219455" cy="137160"/>
          </a:xfrm>
          <a:custGeom>
            <a:avLst/>
            <a:gdLst/>
            <a:ahLst/>
            <a:cxnLst/>
            <a:rect l="l" t="t" r="r" b="b"/>
            <a:pathLst>
              <a:path w="219455" h="137160">
                <a:moveTo>
                  <a:pt x="0" y="0"/>
                </a:moveTo>
                <a:lnTo>
                  <a:pt x="219455" y="137160"/>
                </a:lnTo>
                <a:lnTo>
                  <a:pt x="219455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85973" y="175564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V-120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8842248" y="154533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8897111" y="154533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8839961" y="1515618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 flipV="1">
            <a:off x="8869680" y="1353312"/>
            <a:ext cx="0" cy="19202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Oval 176"/>
          <p:cNvSpPr/>
          <p:nvPr/>
        </p:nvSpPr>
        <p:spPr>
          <a:xfrm>
            <a:off x="8705088" y="1024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178" name="Connector 177"/>
          <p:cNvCxnSpPr/>
          <p:nvPr/>
        </p:nvCxnSpPr>
        <p:spPr>
          <a:xfrm flipV="1">
            <a:off x="8869680" y="941832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8705088" y="61264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8705088" y="777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9034272" y="1188720"/>
            <a:ext cx="24688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281160" y="969264"/>
            <a:ext cx="0" cy="21945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9089136" y="585215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9116568" y="61264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FSLL</a:t>
            </a:r>
          </a:p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9116568" y="777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9528048" y="731520"/>
            <a:ext cx="392049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→ SIS-100</a:t>
            </a:r>
          </a:p>
        </p:txBody>
      </p:sp>
      <p:sp>
        <p:nvSpPr>
          <p:cNvPr id="187" name="Oval 186"/>
          <p:cNvSpPr/>
          <p:nvPr/>
        </p:nvSpPr>
        <p:spPr>
          <a:xfrm>
            <a:off x="8337042" y="16162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 flipV="1">
            <a:off x="8366760" y="1353312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8202168" y="1024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190" name="Connector 189"/>
          <p:cNvCxnSpPr/>
          <p:nvPr/>
        </p:nvCxnSpPr>
        <p:spPr>
          <a:xfrm flipV="1">
            <a:off x="8366760" y="941832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8202168" y="61264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8202168" y="777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Freeform 192"/>
          <p:cNvSpPr/>
          <p:nvPr/>
        </p:nvSpPr>
        <p:spPr>
          <a:xfrm>
            <a:off x="7699248" y="156819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 flipV="1">
            <a:off x="7818120" y="144475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Freeform 194"/>
          <p:cNvSpPr/>
          <p:nvPr/>
        </p:nvSpPr>
        <p:spPr>
          <a:xfrm>
            <a:off x="7699248" y="1336691"/>
            <a:ext cx="237744" cy="108061"/>
          </a:xfrm>
          <a:custGeom>
            <a:avLst/>
            <a:gdLst/>
            <a:ahLst/>
            <a:cxnLst/>
            <a:rect l="l" t="t" r="r" b="b"/>
            <a:pathLst>
              <a:path w="237744" h="108061">
                <a:moveTo>
                  <a:pt x="0" y="108061"/>
                </a:moveTo>
                <a:lnTo>
                  <a:pt x="7168" y="70531"/>
                </a:lnTo>
                <a:lnTo>
                  <a:pt x="27810" y="37529"/>
                </a:lnTo>
                <a:lnTo>
                  <a:pt x="59436" y="13033"/>
                </a:lnTo>
                <a:lnTo>
                  <a:pt x="98230" y="0"/>
                </a:lnTo>
                <a:lnTo>
                  <a:pt x="139513" y="0"/>
                </a:lnTo>
                <a:lnTo>
                  <a:pt x="178308" y="13033"/>
                </a:lnTo>
                <a:lnTo>
                  <a:pt x="209933" y="37529"/>
                </a:lnTo>
                <a:lnTo>
                  <a:pt x="230575" y="70531"/>
                </a:lnTo>
                <a:lnTo>
                  <a:pt x="237744" y="10806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955280" y="1316736"/>
            <a:ext cx="19126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FO*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56347" y="1746504"/>
            <a:ext cx="323545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HV-105</a:t>
            </a:r>
          </a:p>
        </p:txBody>
      </p:sp>
      <p:sp>
        <p:nvSpPr>
          <p:cNvPr id="198" name="Oval 197"/>
          <p:cNvSpPr/>
          <p:nvPr/>
        </p:nvSpPr>
        <p:spPr>
          <a:xfrm>
            <a:off x="7653528" y="7680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HIC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7653528" y="9326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818120" y="1097280"/>
            <a:ext cx="0" cy="237744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Oval 200"/>
          <p:cNvSpPr/>
          <p:nvPr/>
        </p:nvSpPr>
        <p:spPr>
          <a:xfrm>
            <a:off x="9068561" y="16162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2" name="Connector 201"/>
          <p:cNvCxnSpPr/>
          <p:nvPr/>
        </p:nvCxnSpPr>
        <p:spPr>
          <a:xfrm>
            <a:off x="9098280" y="1645920"/>
            <a:ext cx="0" cy="29260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8933688" y="19385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108B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063509" y="2075688"/>
            <a:ext cx="851890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30" b="0">
                <a:solidFill>
                  <a:srgbClr val="000000"/>
                </a:solidFill>
                <a:latin typeface="Arial"/>
              </a:rPr>
              <a:t>REC. (HOLD): OWN SENSOR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435949" y="2157984"/>
            <a:ext cx="479450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30" b="0">
                <a:solidFill>
                  <a:srgbClr val="000000"/>
                </a:solidFill>
                <a:latin typeface="Arial"/>
              </a:rPr>
              <a:t>FOR FSLL-108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7406640" y="2926080"/>
            <a:ext cx="3063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6894068" y="2816352"/>
            <a:ext cx="46685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FROM E-103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780682" y="2907792"/>
            <a:ext cx="580237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ON VBD-PID-001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452360" y="2980944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DN25-TW-119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8778240" y="2926080"/>
            <a:ext cx="0" cy="36576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Freeform 210"/>
          <p:cNvSpPr/>
          <p:nvPr/>
        </p:nvSpPr>
        <p:spPr>
          <a:xfrm>
            <a:off x="8718804" y="3017520"/>
            <a:ext cx="118872" cy="182880"/>
          </a:xfrm>
          <a:custGeom>
            <a:avLst/>
            <a:gdLst/>
            <a:ahLst/>
            <a:cxnLst/>
            <a:rect l="l" t="t" r="r" b="b"/>
            <a:pathLst>
              <a:path w="118872" h="182880">
                <a:moveTo>
                  <a:pt x="0" y="0"/>
                </a:moveTo>
                <a:lnTo>
                  <a:pt x="118872" y="182880"/>
                </a:lnTo>
                <a:lnTo>
                  <a:pt x="0" y="182880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860536" y="3063240"/>
            <a:ext cx="281813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V-121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705443" y="3310128"/>
            <a:ext cx="145592" cy="73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cxnSp>
        <p:nvCxnSpPr>
          <p:cNvPr id="214" name="Connector 213"/>
          <p:cNvCxnSpPr/>
          <p:nvPr/>
        </p:nvCxnSpPr>
        <p:spPr>
          <a:xfrm flipV="1">
            <a:off x="9692640" y="2606040"/>
            <a:ext cx="0" cy="32004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Freeform 214"/>
          <p:cNvSpPr/>
          <p:nvPr/>
        </p:nvSpPr>
        <p:spPr>
          <a:xfrm>
            <a:off x="9633204" y="2674620"/>
            <a:ext cx="118872" cy="182880"/>
          </a:xfrm>
          <a:custGeom>
            <a:avLst/>
            <a:gdLst/>
            <a:ahLst/>
            <a:cxnLst/>
            <a:rect l="l" t="t" r="r" b="b"/>
            <a:pathLst>
              <a:path w="118872" h="182880">
                <a:moveTo>
                  <a:pt x="0" y="0"/>
                </a:moveTo>
                <a:lnTo>
                  <a:pt x="118872" y="182880"/>
                </a:lnTo>
                <a:lnTo>
                  <a:pt x="0" y="182880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774936" y="2720340"/>
            <a:ext cx="281813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V-122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583623" y="2514600"/>
            <a:ext cx="218033" cy="73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VENT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290600" y="1920240"/>
            <a:ext cx="1055039" cy="682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30" b="0">
                <a:solidFill>
                  <a:srgbClr val="000000"/>
                </a:solidFill>
                <a:latin typeface="Arial"/>
              </a:rPr>
              <a:t>* FAIL POSITION ASSUMED (TBC)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330846" y="3429000"/>
            <a:ext cx="3260547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E-103 WATER SIDE: TSV-103 RECOMMENDED IF IT CAN BE BLOCKED IN (SAFETY-LAYERS TAB, NOT DRAWN)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66928" y="5815583"/>
            <a:ext cx="4151884" cy="111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INTERLOCK SCHEDULE · SIS-100 AND P-104 PUMP INTERLOCK (FROM THE OTS MODEL)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5989320"/>
            <a:ext cx="4003852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X = ACTION ON TRIP. SETTINGS FROM K.trip*; DELAYS FROM sisStep [5, 5, 10, 5, 5] s; ACTIONS FROM sisTrip.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566928" y="6144768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594360" y="6144768"/>
            <a:ext cx="31089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ITEM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960120" y="6144768"/>
            <a:ext cx="51206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TAG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527048" y="6144768"/>
            <a:ext cx="11338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SENSOR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715768" y="6144768"/>
            <a:ext cx="1819655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CAUSE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590288" y="6144768"/>
            <a:ext cx="54864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193792" y="6144768"/>
            <a:ext cx="31089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DELAY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559552" y="6144768"/>
            <a:ext cx="6766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ACTIVE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291072" y="6144768"/>
            <a:ext cx="51206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TV-101 SHUT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(JIC-101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MAN 0 %)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858000" y="6144768"/>
            <a:ext cx="51206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HE-101 OFF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(TIC-107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MAN 0 %)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424927" y="6144768"/>
            <a:ext cx="42062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XV-101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CLOSED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900415" y="6144768"/>
            <a:ext cx="42062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TIC-101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→ MAN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8375903" y="6144768"/>
            <a:ext cx="51206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XV-107 →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CLOSED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(TOT. REFL.)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8942831" y="6144768"/>
            <a:ext cx="34747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P-104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STOP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9345167" y="6144768"/>
            <a:ext cx="47548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FIRST-OUT</a:t>
            </a:r>
          </a:p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+ ALARM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9875519" y="6144768"/>
            <a:ext cx="152704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RESET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566928" y="6510528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594360" y="651052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60120" y="651052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TSHH-101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527048" y="6510528"/>
            <a:ext cx="11338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TE-101B / TT-101B (OWN)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715768" y="6510528"/>
            <a:ext cx="1819655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POT D-101 TEMPERATURE HIGH-HIGH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590288" y="6510528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&gt; 290 °C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193792" y="651052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559552" y="651052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ALWAYS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291072" y="651052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858000" y="651052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7424927" y="651052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900415" y="651052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8375903" y="651052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9345167" y="651052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875519" y="6510528"/>
            <a:ext cx="1527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BLOCKED UNTIL POT &lt; 290 °C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566928" y="6693408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TextBox 253"/>
          <p:cNvSpPr txBox="1"/>
          <p:nvPr/>
        </p:nvSpPr>
        <p:spPr>
          <a:xfrm>
            <a:off x="594360" y="669340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I-2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60120" y="669340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PSHH-102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527048" y="6693408"/>
            <a:ext cx="11338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PT-102 (SHARED, PIC-102)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715768" y="6693408"/>
            <a:ext cx="1819655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COLUMN TOP PRESSURE HIGH-HIGH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590288" y="6693408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&gt; 300 mbar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5193792" y="669340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559552" y="669340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HEATING ARMED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291072" y="669340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6858000" y="669340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424927" y="669340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900415" y="669340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375903" y="669340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345167" y="669340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9875519" y="6693408"/>
            <a:ext cx="1527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ANY TIME; RE-ARM NEEDS PERMISSIVES</a:t>
            </a:r>
          </a:p>
        </p:txBody>
      </p:sp>
      <p:cxnSp>
        <p:nvCxnSpPr>
          <p:cNvPr id="268" name="Connector 267"/>
          <p:cNvCxnSpPr/>
          <p:nvPr/>
        </p:nvCxnSpPr>
        <p:spPr>
          <a:xfrm>
            <a:off x="566928" y="6876288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/>
          <p:cNvSpPr txBox="1"/>
          <p:nvPr/>
        </p:nvSpPr>
        <p:spPr>
          <a:xfrm>
            <a:off x="594360" y="687628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I-3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960120" y="687628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FSLL-108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527048" y="6876288"/>
            <a:ext cx="11338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FT-108 (SHARED, FI-108)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715768" y="6876288"/>
            <a:ext cx="1819655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TEMPERED WATER TO E-103 LOW-LOW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590288" y="6876288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&lt; 0.36 m³/h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5193792" y="687628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10 s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559552" y="687628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HEATING ARMED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291072" y="687628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6858000" y="687628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7424927" y="687628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900415" y="687628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375903" y="687628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9345167" y="687628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9875519" y="6876288"/>
            <a:ext cx="1527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ANY TIME; RE-ARM NEEDS PERMISSIVES</a:t>
            </a:r>
          </a:p>
        </p:txBody>
      </p:sp>
      <p:cxnSp>
        <p:nvCxnSpPr>
          <p:cNvPr id="283" name="Connector 282"/>
          <p:cNvCxnSpPr/>
          <p:nvPr/>
        </p:nvCxnSpPr>
        <p:spPr>
          <a:xfrm>
            <a:off x="566928" y="7059168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extBox 283"/>
          <p:cNvSpPr txBox="1"/>
          <p:nvPr/>
        </p:nvSpPr>
        <p:spPr>
          <a:xfrm>
            <a:off x="594360" y="705916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I-4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960120" y="705916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LSLL-101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527048" y="7059168"/>
            <a:ext cx="11338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LT-101 (SHARED, LI-101)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715768" y="7059168"/>
            <a:ext cx="1819655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POT D-101 LEVEL LOW-LOW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590288" y="7059168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&lt; 20 %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5193792" y="705916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559552" y="705916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HEATING ARMED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291072" y="705916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858000" y="705916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7424927" y="705916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900415" y="705916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8375903" y="705916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9345167" y="705916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9875519" y="7059168"/>
            <a:ext cx="1527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ANY TIME; RE-ARM NEEDS PERMISSIVES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566928" y="7242048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/>
          <p:cNvSpPr txBox="1"/>
          <p:nvPr/>
        </p:nvSpPr>
        <p:spPr>
          <a:xfrm>
            <a:off x="594360" y="724204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I-5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960120" y="724204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TSHH-107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527048" y="7242048"/>
            <a:ext cx="11338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TE-107B / TT-107B (OWN)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2715768" y="7242048"/>
            <a:ext cx="1819655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HOT-OIL SUPPLY TEMPERATURE HIGH-HIGH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4590288" y="7242048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&gt; 330 °C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5193792" y="724204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5559552" y="724204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ALWAYS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6291072" y="724204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858000" y="724204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7424927" y="724204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7900415" y="724204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375903" y="724204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9345167" y="724204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9875519" y="7242048"/>
            <a:ext cx="1527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BLOCKED UNTIL OIL &lt; 330 °C</a:t>
            </a:r>
          </a:p>
        </p:txBody>
      </p:sp>
      <p:cxnSp>
        <p:nvCxnSpPr>
          <p:cNvPr id="313" name="Connector 312"/>
          <p:cNvCxnSpPr/>
          <p:nvPr/>
        </p:nvCxnSpPr>
        <p:spPr>
          <a:xfrm>
            <a:off x="566928" y="7424928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594360" y="742492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I-6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960120" y="742492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HS-100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527048" y="7424928"/>
            <a:ext cx="11338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PUSH-BUTTON (DCS / SIS)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715768" y="7424928"/>
            <a:ext cx="1819655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MANUAL EMERGENCY STOP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590288" y="7424928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PUSH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5193792" y="742492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0 s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5559552" y="742492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ALWAYS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6291072" y="742492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858000" y="742492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7424927" y="742492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900415" y="7424928"/>
            <a:ext cx="4206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8375903" y="742492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9345167" y="742492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9875519" y="7424928"/>
            <a:ext cx="1527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RESET, THEN RE-ARM</a:t>
            </a:r>
          </a:p>
        </p:txBody>
      </p:sp>
      <p:cxnSp>
        <p:nvCxnSpPr>
          <p:cNvPr id="328" name="Connector 327"/>
          <p:cNvCxnSpPr/>
          <p:nvPr/>
        </p:nvCxnSpPr>
        <p:spPr>
          <a:xfrm>
            <a:off x="566928" y="7607808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/>
          <p:cNvSpPr txBox="1"/>
          <p:nvPr/>
        </p:nvSpPr>
        <p:spPr>
          <a:xfrm>
            <a:off x="594360" y="760780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I-7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960120" y="760780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LSLL-104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527048" y="7607808"/>
            <a:ext cx="11338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LT-104 (SHARED, LIC-104)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2715768" y="7607808"/>
            <a:ext cx="1819655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REFLUX DRUM LEVEL LOW-LOW (BPCS, NOT A SIF)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4590288" y="7607808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&lt; 5 %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5193792" y="760780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5559552" y="760780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P-104 RUNNING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8942831" y="7607808"/>
            <a:ext cx="34747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9345167" y="760780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ALARM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9875519" y="7607808"/>
            <a:ext cx="1527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RESTART P-104 IN THE FIELD</a:t>
            </a:r>
          </a:p>
        </p:txBody>
      </p:sp>
      <p:cxnSp>
        <p:nvCxnSpPr>
          <p:cNvPr id="339" name="Connector 338"/>
          <p:cNvCxnSpPr/>
          <p:nvPr/>
        </p:nvCxnSpPr>
        <p:spPr>
          <a:xfrm>
            <a:off x="566928" y="7790688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TextBox 339"/>
          <p:cNvSpPr txBox="1"/>
          <p:nvPr/>
        </p:nvSpPr>
        <p:spPr>
          <a:xfrm>
            <a:off x="594360" y="779068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REC.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960120" y="779068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TZ-110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527048" y="7790688"/>
            <a:ext cx="11338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TT-101B (REC., HOLD)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715768" y="7790688"/>
            <a:ext cx="1819655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N₂ VACUUM BREAK HV-110 WITH POT &gt; 150 °C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4590288" y="7790688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&gt; 150 °C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5193792" y="7790688"/>
            <a:ext cx="31089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5559552" y="779068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ALWAYS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9875519" y="7790688"/>
            <a:ext cx="1527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BLOCKS HV-110 (NOT IN MODEL)</a:t>
            </a:r>
          </a:p>
        </p:txBody>
      </p:sp>
      <p:cxnSp>
        <p:nvCxnSpPr>
          <p:cNvPr id="348" name="Connector 347"/>
          <p:cNvCxnSpPr/>
          <p:nvPr/>
        </p:nvCxnSpPr>
        <p:spPr>
          <a:xfrm>
            <a:off x="566928" y="7973567"/>
            <a:ext cx="10863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566928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932688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499616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2688336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4562856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5166360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5532120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6263640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6830568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7397496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7872983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8348471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8915399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9317735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9848087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1429999" y="6144768"/>
            <a:ext cx="0" cy="182879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TextBox 364"/>
          <p:cNvSpPr txBox="1"/>
          <p:nvPr/>
        </p:nvSpPr>
        <p:spPr>
          <a:xfrm>
            <a:off x="566928" y="8037575"/>
            <a:ext cx="605739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PERMISSIVES TO ARM HEATING (armPermissives, ALL REQUIRED): VP-101 RUNNING AND PIC-102 &lt; 250 mbar · P-108 RUNNING AND FI-108 ≥ 0.6 m³/h · LI-101 &gt; 30 % ·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8129015"/>
            <a:ext cx="538810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P-101 RUNNING · TIC-107 &lt; 320 °C · HV-110 CLOSED.   ARMING OPENS XV-101 AND ENABLES HE-101. OPERATOR DISARM: XV-101 CLOSED, HE-101 OFF.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566928" y="8247888"/>
            <a:ext cx="538810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VP-101, P-108, P-101 AND P-104 KEEP RUNNING ON A SIS TRIP: VACUUM, CONDENSER AND REFLUX STAY ON SO THE COLUMN COOLS UNDER TOTAL REFLUX.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11841480" y="502920"/>
            <a:ext cx="2880360" cy="800100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11841480" y="539496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370" name="Connector 369"/>
          <p:cNvCxnSpPr/>
          <p:nvPr/>
        </p:nvCxnSpPr>
        <p:spPr>
          <a:xfrm>
            <a:off x="11932919" y="86868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Freeform 370"/>
          <p:cNvSpPr/>
          <p:nvPr/>
        </p:nvSpPr>
        <p:spPr>
          <a:xfrm>
            <a:off x="12051792" y="800100"/>
            <a:ext cx="219455" cy="137160"/>
          </a:xfrm>
          <a:custGeom>
            <a:avLst/>
            <a:gdLst/>
            <a:ahLst/>
            <a:cxnLst/>
            <a:rect l="l" t="t" r="r" b="b"/>
            <a:pathLst>
              <a:path w="219455" h="137160">
                <a:moveTo>
                  <a:pt x="0" y="0"/>
                </a:moveTo>
                <a:lnTo>
                  <a:pt x="219455" y="137160"/>
                </a:lnTo>
                <a:lnTo>
                  <a:pt x="219455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12499848" y="813816"/>
            <a:ext cx="137236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HAND VALVE (BLOCK / DRAIN), V-1nn</a:t>
            </a:r>
          </a:p>
        </p:txBody>
      </p:sp>
      <p:cxnSp>
        <p:nvCxnSpPr>
          <p:cNvPr id="373" name="Connector 372"/>
          <p:cNvCxnSpPr/>
          <p:nvPr/>
        </p:nvCxnSpPr>
        <p:spPr>
          <a:xfrm>
            <a:off x="11932919" y="113842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Freeform 373"/>
          <p:cNvSpPr/>
          <p:nvPr/>
        </p:nvSpPr>
        <p:spPr>
          <a:xfrm>
            <a:off x="12051792" y="1061618"/>
            <a:ext cx="170078" cy="153619"/>
          </a:xfrm>
          <a:custGeom>
            <a:avLst/>
            <a:gdLst/>
            <a:ahLst/>
            <a:cxnLst/>
            <a:rect l="l" t="t" r="r" b="b"/>
            <a:pathLst>
              <a:path w="170078" h="153619">
                <a:moveTo>
                  <a:pt x="0" y="0"/>
                </a:moveTo>
                <a:lnTo>
                  <a:pt x="170078" y="76810"/>
                </a:lnTo>
                <a:lnTo>
                  <a:pt x="0" y="15361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5" name="Connector 374"/>
          <p:cNvCxnSpPr/>
          <p:nvPr/>
        </p:nvCxnSpPr>
        <p:spPr>
          <a:xfrm>
            <a:off x="12221870" y="1061618"/>
            <a:ext cx="0" cy="15361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12499848" y="1083564"/>
            <a:ext cx="117551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CHECK VALVE, FLOW →, NRV-1nn</a:t>
            </a:r>
          </a:p>
        </p:txBody>
      </p:sp>
      <p:cxnSp>
        <p:nvCxnSpPr>
          <p:cNvPr id="377" name="Connector 376"/>
          <p:cNvCxnSpPr/>
          <p:nvPr/>
        </p:nvCxnSpPr>
        <p:spPr>
          <a:xfrm>
            <a:off x="11932919" y="146304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Freeform 377"/>
          <p:cNvSpPr/>
          <p:nvPr/>
        </p:nvSpPr>
        <p:spPr>
          <a:xfrm>
            <a:off x="12070080" y="1403604"/>
            <a:ext cx="182879" cy="118872"/>
          </a:xfrm>
          <a:custGeom>
            <a:avLst/>
            <a:gdLst/>
            <a:ahLst/>
            <a:cxnLst/>
            <a:rect l="l" t="t" r="r" b="b"/>
            <a:pathLst>
              <a:path w="182879" h="118872">
                <a:moveTo>
                  <a:pt x="0" y="0"/>
                </a:moveTo>
                <a:lnTo>
                  <a:pt x="182879" y="118872"/>
                </a:lnTo>
                <a:lnTo>
                  <a:pt x="182879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2138659" y="1440180"/>
            <a:ext cx="45720" cy="4572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12499848" y="1353312"/>
            <a:ext cx="86055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GLOBE (BYPASS) VALVE</a:t>
            </a:r>
          </a:p>
        </p:txBody>
      </p:sp>
      <p:cxnSp>
        <p:nvCxnSpPr>
          <p:cNvPr id="381" name="Connector 380"/>
          <p:cNvCxnSpPr/>
          <p:nvPr/>
        </p:nvCxnSpPr>
        <p:spPr>
          <a:xfrm>
            <a:off x="11932919" y="1787652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Freeform 381"/>
          <p:cNvSpPr/>
          <p:nvPr/>
        </p:nvSpPr>
        <p:spPr>
          <a:xfrm>
            <a:off x="12042647" y="1709928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3" name="Connector 382"/>
          <p:cNvCxnSpPr/>
          <p:nvPr/>
        </p:nvCxnSpPr>
        <p:spPr>
          <a:xfrm flipV="1">
            <a:off x="12161519" y="1650492"/>
            <a:ext cx="0" cy="594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Freeform 383"/>
          <p:cNvSpPr/>
          <p:nvPr/>
        </p:nvSpPr>
        <p:spPr>
          <a:xfrm>
            <a:off x="12042647" y="1542431"/>
            <a:ext cx="237745" cy="108061"/>
          </a:xfrm>
          <a:custGeom>
            <a:avLst/>
            <a:gdLst/>
            <a:ahLst/>
            <a:cxnLst/>
            <a:rect l="l" t="t" r="r" b="b"/>
            <a:pathLst>
              <a:path w="237745" h="108061">
                <a:moveTo>
                  <a:pt x="0" y="108061"/>
                </a:moveTo>
                <a:lnTo>
                  <a:pt x="7169" y="70531"/>
                </a:lnTo>
                <a:lnTo>
                  <a:pt x="27811" y="37529"/>
                </a:lnTo>
                <a:lnTo>
                  <a:pt x="59437" y="13033"/>
                </a:lnTo>
                <a:lnTo>
                  <a:pt x="98231" y="0"/>
                </a:lnTo>
                <a:lnTo>
                  <a:pt x="139514" y="0"/>
                </a:lnTo>
                <a:lnTo>
                  <a:pt x="178308" y="13033"/>
                </a:lnTo>
                <a:lnTo>
                  <a:pt x="209934" y="37529"/>
                </a:lnTo>
                <a:lnTo>
                  <a:pt x="230576" y="70531"/>
                </a:lnTo>
                <a:lnTo>
                  <a:pt x="237745" y="10806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12499848" y="1677924"/>
            <a:ext cx="219913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CONTROL VALVE, DIAPHRAGM; FO / FC = FAIL OPEN / CLOSED</a:t>
            </a:r>
          </a:p>
        </p:txBody>
      </p:sp>
      <p:cxnSp>
        <p:nvCxnSpPr>
          <p:cNvPr id="386" name="Connector 385"/>
          <p:cNvCxnSpPr/>
          <p:nvPr/>
        </p:nvCxnSpPr>
        <p:spPr>
          <a:xfrm>
            <a:off x="11932919" y="2157984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Freeform 386"/>
          <p:cNvSpPr/>
          <p:nvPr/>
        </p:nvSpPr>
        <p:spPr>
          <a:xfrm>
            <a:off x="12042647" y="2080260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 flipV="1">
            <a:off x="12161519" y="2029967"/>
            <a:ext cx="0" cy="5029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Rectangle 388"/>
          <p:cNvSpPr/>
          <p:nvPr/>
        </p:nvSpPr>
        <p:spPr>
          <a:xfrm>
            <a:off x="12097511" y="1929384"/>
            <a:ext cx="128016" cy="1005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12499848" y="2039112"/>
            <a:ext cx="149047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ON/OFF VALVE, SOLENOID-PNEUMATIC (S)</a:t>
            </a:r>
          </a:p>
        </p:txBody>
      </p:sp>
      <p:cxnSp>
        <p:nvCxnSpPr>
          <p:cNvPr id="391" name="Connector 390"/>
          <p:cNvCxnSpPr/>
          <p:nvPr/>
        </p:nvCxnSpPr>
        <p:spPr>
          <a:xfrm>
            <a:off x="11932919" y="24003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Freeform 391"/>
          <p:cNvSpPr/>
          <p:nvPr/>
        </p:nvSpPr>
        <p:spPr>
          <a:xfrm>
            <a:off x="12042647" y="232257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12092940" y="2400300"/>
            <a:ext cx="137159" cy="118872"/>
          </a:xfrm>
          <a:custGeom>
            <a:avLst/>
            <a:gdLst/>
            <a:ahLst/>
            <a:cxnLst/>
            <a:rect l="l" t="t" r="r" b="b"/>
            <a:pathLst>
              <a:path w="137159" h="118872">
                <a:moveTo>
                  <a:pt x="68579" y="0"/>
                </a:moveTo>
                <a:lnTo>
                  <a:pt x="0" y="118872"/>
                </a:lnTo>
                <a:lnTo>
                  <a:pt x="137159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12499848" y="2345436"/>
            <a:ext cx="101803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THREE-WAY DIVERTER VALVE</a:t>
            </a:r>
          </a:p>
        </p:txBody>
      </p:sp>
      <p:sp>
        <p:nvSpPr>
          <p:cNvPr id="395" name="Freeform 394"/>
          <p:cNvSpPr/>
          <p:nvPr/>
        </p:nvSpPr>
        <p:spPr>
          <a:xfrm>
            <a:off x="12097511" y="2697480"/>
            <a:ext cx="128017" cy="100584"/>
          </a:xfrm>
          <a:custGeom>
            <a:avLst/>
            <a:gdLst/>
            <a:ahLst/>
            <a:cxnLst/>
            <a:rect l="l" t="t" r="r" b="b"/>
            <a:pathLst>
              <a:path w="128017" h="100584">
                <a:moveTo>
                  <a:pt x="0" y="100584"/>
                </a:moveTo>
                <a:lnTo>
                  <a:pt x="128017" y="100584"/>
                </a:lnTo>
                <a:lnTo>
                  <a:pt x="6400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2161519" y="2633472"/>
            <a:ext cx="109728" cy="128016"/>
          </a:xfrm>
          <a:custGeom>
            <a:avLst/>
            <a:gdLst/>
            <a:ahLst/>
            <a:cxnLst/>
            <a:rect l="l" t="t" r="r" b="b"/>
            <a:pathLst>
              <a:path w="109728" h="128016">
                <a:moveTo>
                  <a:pt x="0" y="64008"/>
                </a:moveTo>
                <a:lnTo>
                  <a:pt x="109728" y="128016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7" name="Connector 396"/>
          <p:cNvCxnSpPr/>
          <p:nvPr/>
        </p:nvCxnSpPr>
        <p:spPr>
          <a:xfrm flipV="1">
            <a:off x="12161519" y="2606040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12161519" y="2798064"/>
            <a:ext cx="0" cy="4572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12271247" y="2697480"/>
            <a:ext cx="11887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TextBox 399"/>
          <p:cNvSpPr txBox="1"/>
          <p:nvPr/>
        </p:nvSpPr>
        <p:spPr>
          <a:xfrm>
            <a:off x="12499848" y="2670048"/>
            <a:ext cx="168732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RELIEF VALVE (DASHED = RECOMMENDED, HOLD)</a:t>
            </a:r>
          </a:p>
        </p:txBody>
      </p:sp>
      <p:cxnSp>
        <p:nvCxnSpPr>
          <p:cNvPr id="401" name="Connector 400"/>
          <p:cNvCxnSpPr/>
          <p:nvPr/>
        </p:nvCxnSpPr>
        <p:spPr>
          <a:xfrm>
            <a:off x="11932919" y="299466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12134088" y="289407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12188951" y="289407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TextBox 403"/>
          <p:cNvSpPr txBox="1"/>
          <p:nvPr/>
        </p:nvSpPr>
        <p:spPr>
          <a:xfrm>
            <a:off x="12499848" y="2939796"/>
            <a:ext cx="86055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ORIFICE FLOW ELEMENT</a:t>
            </a:r>
          </a:p>
        </p:txBody>
      </p:sp>
      <p:cxnSp>
        <p:nvCxnSpPr>
          <p:cNvPr id="405" name="Connector 404"/>
          <p:cNvCxnSpPr/>
          <p:nvPr/>
        </p:nvCxnSpPr>
        <p:spPr>
          <a:xfrm>
            <a:off x="11932919" y="326440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6" name="Freeform 405"/>
          <p:cNvSpPr/>
          <p:nvPr/>
        </p:nvSpPr>
        <p:spPr>
          <a:xfrm>
            <a:off x="12060936" y="3337560"/>
            <a:ext cx="201167" cy="64008"/>
          </a:xfrm>
          <a:custGeom>
            <a:avLst/>
            <a:gdLst/>
            <a:ahLst/>
            <a:cxnLst/>
            <a:rect l="l" t="t" r="r" b="b"/>
            <a:pathLst>
              <a:path w="201167" h="64008">
                <a:moveTo>
                  <a:pt x="45719" y="0"/>
                </a:moveTo>
                <a:lnTo>
                  <a:pt x="0" y="64008"/>
                </a:lnTo>
                <a:lnTo>
                  <a:pt x="201167" y="64008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12051792" y="3154679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12106655" y="3209544"/>
            <a:ext cx="128017" cy="109728"/>
          </a:xfrm>
          <a:custGeom>
            <a:avLst/>
            <a:gdLst/>
            <a:ahLst/>
            <a:cxnLst/>
            <a:rect l="l" t="t" r="r" b="b"/>
            <a:pathLst>
              <a:path w="128017" h="109728">
                <a:moveTo>
                  <a:pt x="0" y="0"/>
                </a:moveTo>
                <a:lnTo>
                  <a:pt x="128017" y="54864"/>
                </a:lnTo>
                <a:lnTo>
                  <a:pt x="0" y="109728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12499848" y="3209544"/>
            <a:ext cx="141173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CENTRIFUGAL PUMP (MOTOR NOT SHOWN)</a:t>
            </a:r>
          </a:p>
        </p:txBody>
      </p:sp>
      <p:sp>
        <p:nvSpPr>
          <p:cNvPr id="410" name="Oval 409"/>
          <p:cNvSpPr/>
          <p:nvPr/>
        </p:nvSpPr>
        <p:spPr>
          <a:xfrm>
            <a:off x="12051792" y="3424427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12499848" y="3479291"/>
            <a:ext cx="164795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FIELD INSTRUMENT (TRANSMITTER / ELEMENT)</a:t>
            </a:r>
          </a:p>
        </p:txBody>
      </p:sp>
      <p:sp>
        <p:nvSpPr>
          <p:cNvPr id="412" name="Oval 411"/>
          <p:cNvSpPr/>
          <p:nvPr/>
        </p:nvSpPr>
        <p:spPr>
          <a:xfrm>
            <a:off x="12051792" y="3694176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3" name="Connector 412"/>
          <p:cNvCxnSpPr/>
          <p:nvPr/>
        </p:nvCxnSpPr>
        <p:spPr>
          <a:xfrm>
            <a:off x="12051792" y="3803904"/>
            <a:ext cx="21945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TextBox 413"/>
          <p:cNvSpPr txBox="1"/>
          <p:nvPr/>
        </p:nvSpPr>
        <p:spPr>
          <a:xfrm>
            <a:off x="12499848" y="3749040"/>
            <a:ext cx="160858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DCS FUNCTION (SHARED DISPLAY / CONTROL)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12024360" y="3936491"/>
            <a:ext cx="27432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12051792" y="396392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Connector 416"/>
          <p:cNvCxnSpPr/>
          <p:nvPr/>
        </p:nvCxnSpPr>
        <p:spPr>
          <a:xfrm>
            <a:off x="12051792" y="4073652"/>
            <a:ext cx="21945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12499848" y="4018788"/>
            <a:ext cx="978661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SIS-100 FUNCTION (TRIP)</a:t>
            </a:r>
          </a:p>
        </p:txBody>
      </p:sp>
      <p:sp>
        <p:nvSpPr>
          <p:cNvPr id="419" name="Oval 418"/>
          <p:cNvSpPr/>
          <p:nvPr/>
        </p:nvSpPr>
        <p:spPr>
          <a:xfrm>
            <a:off x="12051792" y="42336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12499848" y="4288536"/>
            <a:ext cx="152984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RECOMMENDED INSTRUMENT (DASHED, HOLD)</a:t>
            </a:r>
          </a:p>
        </p:txBody>
      </p:sp>
      <p:sp>
        <p:nvSpPr>
          <p:cNvPr id="421" name="Freeform 420"/>
          <p:cNvSpPr/>
          <p:nvPr/>
        </p:nvSpPr>
        <p:spPr>
          <a:xfrm>
            <a:off x="12051792" y="4503420"/>
            <a:ext cx="219455" cy="219456"/>
          </a:xfrm>
          <a:custGeom>
            <a:avLst/>
            <a:gdLst/>
            <a:ahLst/>
            <a:cxnLst/>
            <a:rect l="l" t="t" r="r" b="b"/>
            <a:pathLst>
              <a:path w="219455" h="219456">
                <a:moveTo>
                  <a:pt x="109727" y="0"/>
                </a:moveTo>
                <a:lnTo>
                  <a:pt x="219455" y="109728"/>
                </a:lnTo>
                <a:lnTo>
                  <a:pt x="109727" y="219456"/>
                </a:lnTo>
                <a:lnTo>
                  <a:pt x="0" y="109728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12499848" y="4558284"/>
            <a:ext cx="105740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INTERLOCK LOGIC (DIAMOND)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11932919" y="4882896"/>
            <a:ext cx="4572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12499848" y="4828032"/>
            <a:ext cx="160858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INSTRUMENT SIGNAL (ELECTRIC / SOFTWARE)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11932919" y="5152644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12499848" y="5097780"/>
            <a:ext cx="117551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PROCESS LINE, FLOW DIRECTION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11932919" y="5422392"/>
            <a:ext cx="4572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12499848" y="5367528"/>
            <a:ext cx="113614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UTILITY / DRAIN / VENT LINE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11932919" y="569214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Oval 429"/>
          <p:cNvSpPr/>
          <p:nvPr/>
        </p:nvSpPr>
        <p:spPr>
          <a:xfrm>
            <a:off x="12131801" y="56624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2499848" y="5637276"/>
            <a:ext cx="70307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CONNECTION (TEE)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1951207" y="5916168"/>
            <a:ext cx="2241651" cy="85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LINE NUMBER  DNxx-SVC-1nn  (SIZES PRELIMINARY, TBC)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1951207" y="6035040"/>
            <a:ext cx="2118029" cy="777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90" b="0">
                <a:solidFill>
                  <a:srgbClr val="000000"/>
                </a:solidFill>
                <a:latin typeface="Arial"/>
              </a:rPr>
              <a:t>PV PROCESS VAPOUR · PL PROCESS LIQUID · VG VACUUM GAS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1951207" y="6135624"/>
            <a:ext cx="2503855" cy="777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90" b="0">
                <a:solidFill>
                  <a:srgbClr val="000000"/>
                </a:solidFill>
                <a:latin typeface="Arial"/>
              </a:rPr>
              <a:t>NG NITROGEN · HO HOT OIL · TW TEMPERED WATER · CW COOLING WATER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11951208" y="6345936"/>
            <a:ext cx="2277872" cy="88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RECOMMENDED ADDITIONS (DASHED, NOT EXISTING, HOLD)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11951208" y="6492240"/>
            <a:ext cx="1962911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PSV-101 C-101 TOP · RD-102 + PSV-102 POT (PID-001)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11951208" y="6601968"/>
            <a:ext cx="1887321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TSV-101 HOT-OIL SIDE OF D-102 → TK-102 (PID-002)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1951208" y="6711696"/>
            <a:ext cx="2000707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TK-102 HOT-OIL EXPANSION TANK, N₂ BLANKET (PID-002)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1951208" y="6821424"/>
            <a:ext cx="1811731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PT-102B, LT-101B (PID-001), FT-108B (PID-002):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1951208" y="6931152"/>
            <a:ext cx="1849526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   OWN SENSORS FOR PSHH-102, LSLL-101, FSLL-108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11951208" y="7040880"/>
            <a:ext cx="1849526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TZ-110 HV-110 INTERLOCK, POT &gt; 150 °C (PID-001)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1951208" y="7150608"/>
            <a:ext cx="2038502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SOURCE: HAZOP R02/R03/R13 AND SAFETY-LAYERS REGISTER</a:t>
            </a:r>
          </a:p>
        </p:txBody>
      </p:sp>
      <p:cxnSp>
        <p:nvCxnSpPr>
          <p:cNvPr id="443" name="Connector 442"/>
          <p:cNvCxnSpPr/>
          <p:nvPr/>
        </p:nvCxnSpPr>
        <p:spPr>
          <a:xfrm>
            <a:off x="320040" y="8595360"/>
            <a:ext cx="113842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TextBox 443"/>
          <p:cNvSpPr txBox="1"/>
          <p:nvPr/>
        </p:nvSpPr>
        <p:spPr>
          <a:xfrm>
            <a:off x="457200" y="8668512"/>
            <a:ext cx="5532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NOTES (HOT OIL AND TEMPERED WATER)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1. PART OF THE ALTERNATIVE VERSION (EPC STANDARD). GENERAL NOTES, EQUIPMENT LIST AND PROCESS SIDE: VBD-PID-001.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2. HOT OIL: SUPPLY 290 °C (TIC-107), RETURN 255.6 °C (ΔT 34.4 K). TV-101 36.7 % OPEN GIVES mcp 0.087 kW/K = 125 kg/h AT cp 2.5 kJ/kg K (ASSUMED);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TV-101 WIDE OPEN ≈ 1080 kg/h. HE-101 4.04 kW = POT DUTY 3.00 kW + LOOP LOSS 1.04 kW (BALANCE CLOSES TO 0.000 kW).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3. OIL GRADE, FLASH POINT, LOOP VOLUME, P-101 HEAD, HE-101 ELEMENT STEPS: TBC. HE-101 HAS POWER ONLY WITH P-101 RUNNING (MODEL; CONFIRM).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4. JIC-101 DUTY = FT-101 × cp × (TT-107 − TT-108). FT-101 IS A NEW TAG FOR THE FLOW THE MODEL USES; METER TYPE AND RANGE TBC.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5. TEMPERED WATER 60 °C, 1.2 m³/h; ΔT ACROSS E-103 1.7 K AT 2.37 kW. KEEP SUPPLY ABOVE 45 °C (TI-109 L ALARM): ESTERS FREEZE AT 30–38 °C.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6. E-104 / HV-104 ONLY FOR COOL-DOWN (SHUTDOWN PROCEDURE). COOLING-WATER CONDITIONS TBC.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7. DCS ALARMS (OTS): TIC-107 H 315 °C · JIC-101 H 5.0 kW · FI-108 L 0.6 m³/h · TI-109 L 45 / H 80 °C · TIC-101 H 280 °C.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8. LINE SIZES PRELIMINARY (TBC): HOT OIL DN25 = 0.72 m/s AT 1080 kg/h (ρ 750 ASSUMED); TEMPERED WATER DN25 = 0.60 m/s.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6126480" y="8668512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INTERLOCK NOTES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9. A TRIP SETS JIC-101 AND TIC-107 TO MAN 0 % (TV-101 SHUT, HE-101 OFF), TIC-101 TO MAN, XV-107 TO CLOSED; SIS-100 LEAVES RUN SO XV-101 CLOSES.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10. PSHH-102, FSLL-108 AND LSLL-101 ACT ONLY WHILE HEATING IS ARMED. TSHH-101 AND TSHH-107 ACT ALWAYS AND BLOCK THE RESET WHILE ABOVE THE SETTING.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11. SIS-100 DE-ENERGISES TO TRIP; XV-101 AND TV-101 FAIL CLOSED; HE-101 CONTACTOR OPENS. FIRST-OUT SHOWN ON THE SIS FACEPLATE.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12. SHARED SENSORS (SAFETY-LAYERS TAB GAPS): PT-102, FT-108, LT-101 SERVE CONTROL / ALARM AND TRIP. OWN SENSORS ARE RECOMMENDED (HOLD).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13. AIR INGRESS (HIGH RISK IN THE HAZOP) HAS NO SIF: TZ-110 AND AN O₂ ANALYSER AT-102 ARE RECOMMENDED (HOLD).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14. SIL TARGETS, PROOF TESTS AND RESPONSE TIMES: SRS OF SIF TAB. CAUSE AND EFFECT: C&amp;E MATRIX VBD-IN-CE-001.</a:t>
            </a:r>
          </a:p>
        </p:txBody>
      </p:sp>
      <p:cxnSp>
        <p:nvCxnSpPr>
          <p:cNvPr id="446" name="Connector 445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11750040" y="8814815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1750040" y="898855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TextBox 453"/>
          <p:cNvSpPr txBox="1"/>
          <p:nvPr/>
        </p:nvSpPr>
        <p:spPr>
          <a:xfrm>
            <a:off x="11750040" y="8641080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2070080" y="8641080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4026896" y="8641080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1750040" y="8814815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12070080" y="8814815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VBD-V1-PID-001 A (SCREEN): CURRENT, DCS/DECKS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14026896" y="8814815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1750040" y="8988552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12070080" y="8988552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ALTERNATIVE VERSION, EPC STANDARD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14026896" y="8988552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12-OCT-26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4" name="Connector 463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TextBox 466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CLIENT: DEPARTMENT OF CHEMICAL ENGINEERING,</a:t>
            </a:r>
          </a:p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FACULTY OF ENGINEERING, CHULALONGKORN UNIVERSITY</a:t>
            </a:r>
          </a:p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VACUUM BATCH DISTILLATION VER 1 · OTS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— VACUUM BATCH DISTILLATION C-101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· ALTERNATIVE VERSION</a:t>
            </a:r>
          </a:p>
        </p:txBody>
      </p:sp>
      <p:cxnSp>
        <p:nvCxnSpPr>
          <p:cNvPr id="469" name="Connector 468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" name="TextBox 471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DRAWN: </a:t>
            </a:r>
          </a:p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12-OCT-26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VBD-PID-002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 OF 2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502920" y="429768"/>
            <a:ext cx="1947164" cy="111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ALTERNATIVE VERSION · EPC STANDARD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502920" y="566928"/>
            <a:ext cx="152984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REFERENCE: SCREEN P&amp;ID VBD-V1-PID-001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8591702" y="8458200"/>
            <a:ext cx="3021177" cy="8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" b="1">
                <a:solidFill>
                  <a:srgbClr val="000000"/>
                </a:solidFill>
                <a:latin typeface="Arial"/>
              </a:rPr>
              <a:t>SHEET 2 OF 2 · HOT-OIL SKID, TEMPERED WATER, SIS-100, INTERLOCK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