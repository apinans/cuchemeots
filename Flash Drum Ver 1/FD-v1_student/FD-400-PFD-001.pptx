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52000"/>
            <a:ext cx="10188000" cy="7056000"/>
          </a:xfrm>
          <a:prstGeom prst="rect">
            <a:avLst/>
          </a:prstGeom>
          <a:noFill/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57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P-400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284" y="393968"/>
            <a:ext cx="1043431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Feed Supply Pump (upstream)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5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E-400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253" y="393968"/>
            <a:ext cx="93949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Feed Preheater (hot oil)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53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D-400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66772" y="393968"/>
            <a:ext cx="454456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Flash Drum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509877"/>
            <a:ext cx="10188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0" name="Rectangle 9"/>
          <p:cNvSpPr/>
          <p:nvPr/>
        </p:nvSpPr>
        <p:spPr>
          <a:xfrm>
            <a:off x="7056000" y="6192000"/>
            <a:ext cx="3384000" cy="11160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056000" y="6357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7056000" y="6753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7056000" y="7005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7128000" y="6222817"/>
            <a:ext cx="1520596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FLASH DRUM VER 1 - OPERATOR TRAINING SIMULATOR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316" y="6432180"/>
            <a:ext cx="1147368" cy="1676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000000"/>
                </a:solidFill>
                <a:latin typeface="Arial"/>
              </a:rPr>
              <a:t>PROCESS FLOW DIAGRAM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2112" y="6616400"/>
            <a:ext cx="187177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000000"/>
                </a:solidFill>
                <a:latin typeface="Arial"/>
              </a:rPr>
              <a:t>D-400 FLASH DRUM UNIT - FEED PREHEAT, LET-DOWN AND FLASH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6400" y="6779122"/>
            <a:ext cx="393826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DRAWING No.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6400" y="6878390"/>
            <a:ext cx="570991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FD-400-PFD-001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7728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852768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REV.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768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8640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913680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680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2784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9678240" y="6779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SHEET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8240" y="6878390"/>
            <a:ext cx="306425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1 OF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64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6400" y="7130390"/>
            <a:ext cx="802487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Apinan Soottitantawat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7728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8527680" y="7031122"/>
            <a:ext cx="289889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CHECKED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768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08640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91368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680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NTS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2784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9678240" y="7031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8240" y="7130390"/>
            <a:ext cx="438708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2026-09-29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2000" y="6292800"/>
            <a:ext cx="6768000" cy="10152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000" y="6350195"/>
            <a:ext cx="32532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sp>
        <p:nvSpPr>
          <p:cNvPr id="41" name="Freeform 40"/>
          <p:cNvSpPr/>
          <p:nvPr/>
        </p:nvSpPr>
        <p:spPr>
          <a:xfrm>
            <a:off x="324000" y="6501472"/>
            <a:ext cx="288000" cy="115200"/>
          </a:xfrm>
          <a:custGeom>
            <a:avLst/>
            <a:gdLst/>
            <a:ahLst/>
            <a:cxnLst/>
            <a:rect l="l" t="t" r="r" b="b"/>
            <a:pathLst>
              <a:path w="288000" h="115200">
                <a:moveTo>
                  <a:pt x="68400" y="0"/>
                </a:moveTo>
                <a:lnTo>
                  <a:pt x="288000" y="0"/>
                </a:lnTo>
                <a:lnTo>
                  <a:pt x="2196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8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Mass Flow (kg/h)</a:t>
            </a:r>
          </a:p>
        </p:txBody>
      </p:sp>
      <p:sp>
        <p:nvSpPr>
          <p:cNvPr id="44" name="Freeform 43"/>
          <p:cNvSpPr/>
          <p:nvPr/>
        </p:nvSpPr>
        <p:spPr>
          <a:xfrm>
            <a:off x="2007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0" y="0"/>
                </a:moveTo>
                <a:lnTo>
                  <a:pt x="2520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25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13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Temperature (°C)</a:t>
            </a:r>
          </a:p>
        </p:txBody>
      </p:sp>
      <p:sp>
        <p:nvSpPr>
          <p:cNvPr id="47" name="Freeform 46"/>
          <p:cNvSpPr/>
          <p:nvPr/>
        </p:nvSpPr>
        <p:spPr>
          <a:xfrm>
            <a:off x="367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50400" y="0"/>
                </a:moveTo>
                <a:lnTo>
                  <a:pt x="2016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9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78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Pressure (kPa g)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333400" y="65590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5643000" y="65120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Line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38400" y="6825472"/>
            <a:ext cx="259200" cy="0"/>
          </a:xfrm>
          <a:prstGeom prst="line">
            <a:avLst/>
          </a:prstGeom>
          <a:ln w="6480">
            <a:solidFill>
              <a:srgbClr val="000000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648000" y="67784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Utility Line</a:t>
            </a:r>
          </a:p>
        </p:txBody>
      </p:sp>
      <p:sp>
        <p:nvSpPr>
          <p:cNvPr id="54" name="Freeform 53"/>
          <p:cNvSpPr/>
          <p:nvPr/>
        </p:nvSpPr>
        <p:spPr>
          <a:xfrm>
            <a:off x="20502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1330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2133000" y="6668152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57" name="Freeform 56"/>
          <p:cNvSpPr/>
          <p:nvPr/>
        </p:nvSpPr>
        <p:spPr>
          <a:xfrm>
            <a:off x="2094120" y="6613720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13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Control Valve</a:t>
            </a:r>
          </a:p>
        </p:txBody>
      </p:sp>
      <p:sp>
        <p:nvSpPr>
          <p:cNvPr id="59" name="Oval 58"/>
          <p:cNvSpPr/>
          <p:nvPr/>
        </p:nvSpPr>
        <p:spPr>
          <a:xfrm>
            <a:off x="3733200" y="6760672"/>
            <a:ext cx="129600" cy="129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3733200" y="6760672"/>
            <a:ext cx="64800" cy="129600"/>
          </a:xfrm>
          <a:custGeom>
            <a:avLst/>
            <a:gdLst/>
            <a:ahLst/>
            <a:cxnLst/>
            <a:rect l="l" t="t" r="r" b="b"/>
            <a:pathLst>
              <a:path w="64800" h="129600">
                <a:moveTo>
                  <a:pt x="64800" y="64800"/>
                </a:moveTo>
                <a:lnTo>
                  <a:pt x="64800" y="129600"/>
                </a:lnTo>
                <a:lnTo>
                  <a:pt x="56342" y="129046"/>
                </a:lnTo>
                <a:lnTo>
                  <a:pt x="48029" y="127392"/>
                </a:lnTo>
                <a:lnTo>
                  <a:pt x="40002" y="124667"/>
                </a:lnTo>
                <a:lnTo>
                  <a:pt x="32400" y="120918"/>
                </a:lnTo>
                <a:lnTo>
                  <a:pt x="25352" y="116209"/>
                </a:lnTo>
                <a:lnTo>
                  <a:pt x="18979" y="110621"/>
                </a:lnTo>
                <a:lnTo>
                  <a:pt x="13391" y="104248"/>
                </a:lnTo>
                <a:lnTo>
                  <a:pt x="8682" y="97200"/>
                </a:lnTo>
                <a:lnTo>
                  <a:pt x="4933" y="89598"/>
                </a:lnTo>
                <a:lnTo>
                  <a:pt x="2208" y="81571"/>
                </a:lnTo>
                <a:lnTo>
                  <a:pt x="554" y="73258"/>
                </a:lnTo>
                <a:lnTo>
                  <a:pt x="0" y="64800"/>
                </a:lnTo>
                <a:lnTo>
                  <a:pt x="554" y="56342"/>
                </a:lnTo>
                <a:lnTo>
                  <a:pt x="2208" y="48029"/>
                </a:lnTo>
                <a:lnTo>
                  <a:pt x="4933" y="40002"/>
                </a:lnTo>
                <a:lnTo>
                  <a:pt x="8682" y="32400"/>
                </a:lnTo>
                <a:lnTo>
                  <a:pt x="13391" y="25352"/>
                </a:lnTo>
                <a:lnTo>
                  <a:pt x="18979" y="18979"/>
                </a:lnTo>
                <a:lnTo>
                  <a:pt x="25352" y="13391"/>
                </a:lnTo>
                <a:lnTo>
                  <a:pt x="32400" y="8682"/>
                </a:lnTo>
                <a:lnTo>
                  <a:pt x="40002" y="4933"/>
                </a:lnTo>
                <a:lnTo>
                  <a:pt x="48029" y="2208"/>
                </a:lnTo>
                <a:lnTo>
                  <a:pt x="56342" y="554"/>
                </a:lnTo>
                <a:lnTo>
                  <a:pt x="64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78000" y="6778482"/>
            <a:ext cx="748944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Input / Output</a:t>
            </a:r>
          </a:p>
        </p:txBody>
      </p:sp>
      <p:sp>
        <p:nvSpPr>
          <p:cNvPr id="62" name="Freeform 61"/>
          <p:cNvSpPr/>
          <p:nvPr/>
        </p:nvSpPr>
        <p:spPr>
          <a:xfrm>
            <a:off x="5376600" y="6739072"/>
            <a:ext cx="172800" cy="172800"/>
          </a:xfrm>
          <a:custGeom>
            <a:avLst/>
            <a:gdLst/>
            <a:ahLst/>
            <a:cxnLst/>
            <a:rect l="l" t="t" r="r" b="b"/>
            <a:pathLst>
              <a:path w="172800" h="172800">
                <a:moveTo>
                  <a:pt x="86400" y="0"/>
                </a:moveTo>
                <a:lnTo>
                  <a:pt x="172800" y="86400"/>
                </a:lnTo>
                <a:lnTo>
                  <a:pt x="86400" y="172800"/>
                </a:lnTo>
                <a:lnTo>
                  <a:pt x="0" y="864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55000" y="675689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43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Stream Number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38400" y="70918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>
            <a:off x="468000" y="69838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468000" y="71386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648000" y="70448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Line Crossing</a:t>
            </a:r>
          </a:p>
        </p:txBody>
      </p:sp>
      <p:sp>
        <p:nvSpPr>
          <p:cNvPr id="69" name="Oval 68"/>
          <p:cNvSpPr/>
          <p:nvPr/>
        </p:nvSpPr>
        <p:spPr>
          <a:xfrm>
            <a:off x="2073384" y="7010728"/>
            <a:ext cx="119232" cy="119232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2073384" y="7070344"/>
            <a:ext cx="59616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 flipH="1">
            <a:off x="2064442" y="7116844"/>
            <a:ext cx="31596" cy="4590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2169962" y="7116844"/>
            <a:ext cx="31596" cy="4590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2058480" y="7162749"/>
            <a:ext cx="14904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74" name="TextBox 73"/>
          <p:cNvSpPr txBox="1"/>
          <p:nvPr/>
        </p:nvSpPr>
        <p:spPr>
          <a:xfrm>
            <a:off x="2313000" y="70448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Centrifugal Pump</a:t>
            </a:r>
          </a:p>
        </p:txBody>
      </p:sp>
      <p:sp>
        <p:nvSpPr>
          <p:cNvPr id="75" name="Oval 74"/>
          <p:cNvSpPr/>
          <p:nvPr/>
        </p:nvSpPr>
        <p:spPr>
          <a:xfrm>
            <a:off x="3708000" y="7001872"/>
            <a:ext cx="180000" cy="180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3756600" y="7045072"/>
            <a:ext cx="82800" cy="93600"/>
          </a:xfrm>
          <a:custGeom>
            <a:avLst/>
            <a:gdLst/>
            <a:ahLst/>
            <a:cxnLst/>
            <a:rect l="l" t="t" r="r" b="b"/>
            <a:pathLst>
              <a:path w="82800" h="93600">
                <a:moveTo>
                  <a:pt x="41400" y="0"/>
                </a:moveTo>
                <a:lnTo>
                  <a:pt x="82800" y="18720"/>
                </a:lnTo>
                <a:lnTo>
                  <a:pt x="0" y="46800"/>
                </a:lnTo>
                <a:lnTo>
                  <a:pt x="82800" y="74880"/>
                </a:lnTo>
                <a:lnTo>
                  <a:pt x="41400" y="9360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978000" y="7044882"/>
            <a:ext cx="515873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Heat Exchanger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391000" y="6980272"/>
            <a:ext cx="144000" cy="22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643000" y="7044882"/>
            <a:ext cx="370204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Separator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52000" y="5634000"/>
            <a:ext cx="3348000" cy="6228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4000" y="5691395"/>
            <a:ext cx="542645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DESIGN BASIS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4000" y="5787089"/>
            <a:ext cx="1551304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Feed 16 m3/h, 35 wt% n-butane / 65 wt% n-hexane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4000" y="5879384"/>
            <a:ext cx="1582013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D-400 1.6 m ID x 4.8 m T/T, 102.7 kPa g, 49.2 °C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4000" y="5971679"/>
            <a:ext cx="1520596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E-400 duty about 420 kW, hot oil 180 -&gt; 120 °C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36000" y="5634000"/>
            <a:ext cx="3348000" cy="6228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708000" y="5691395"/>
            <a:ext cx="28910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708000" y="5787089"/>
            <a:ext cx="2841065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1. Flows in kg/h; temperatures in °C; pressures in kPa g. Stream data: D-400 design case.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08000" y="5879384"/>
            <a:ext cx="2319019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2. P-400 and the hot-oil system are outside the unit; shown as supplies.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08000" y="5971679"/>
            <a:ext cx="2165476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3. PSV-400 set 450 kPa g (MAWP). N2 blanket PCV-430 holds 30 kPa g.</a:t>
            </a:r>
          </a:p>
        </p:txBody>
      </p:sp>
      <p:sp>
        <p:nvSpPr>
          <p:cNvPr id="90" name="Oval 89"/>
          <p:cNvSpPr/>
          <p:nvPr/>
        </p:nvSpPr>
        <p:spPr>
          <a:xfrm>
            <a:off x="1310400" y="3423600"/>
            <a:ext cx="259200" cy="2592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1310400" y="355320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 flipH="1">
            <a:off x="1290960" y="3654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1520352" y="3654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>
            <a:off x="1278000" y="3754080"/>
            <a:ext cx="32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95" name="Oval 94"/>
          <p:cNvSpPr/>
          <p:nvPr/>
        </p:nvSpPr>
        <p:spPr>
          <a:xfrm>
            <a:off x="3690900" y="3510900"/>
            <a:ext cx="178200" cy="1782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3739014" y="3553668"/>
            <a:ext cx="81972" cy="92664"/>
          </a:xfrm>
          <a:custGeom>
            <a:avLst/>
            <a:gdLst/>
            <a:ahLst/>
            <a:cxnLst/>
            <a:rect l="l" t="t" r="r" b="b"/>
            <a:pathLst>
              <a:path w="81972" h="92664">
                <a:moveTo>
                  <a:pt x="40986" y="0"/>
                </a:moveTo>
                <a:lnTo>
                  <a:pt x="81972" y="18533"/>
                </a:lnTo>
                <a:lnTo>
                  <a:pt x="0" y="46332"/>
                </a:lnTo>
                <a:lnTo>
                  <a:pt x="81972" y="74131"/>
                </a:lnTo>
                <a:lnTo>
                  <a:pt x="40986" y="92664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3780000" y="3510900"/>
            <a:ext cx="0" cy="42768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3780000" y="3646332"/>
            <a:ext cx="0" cy="42768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99" name="Rounded Rectangle 98"/>
          <p:cNvSpPr/>
          <p:nvPr/>
        </p:nvSpPr>
        <p:spPr>
          <a:xfrm>
            <a:off x="6420920" y="2848583"/>
            <a:ext cx="478161" cy="114283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6420920" y="3054293"/>
            <a:ext cx="47816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6420920" y="3097493"/>
            <a:ext cx="47816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6442520" y="3397143"/>
            <a:ext cx="434960" cy="13714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03" name="Oval 102"/>
          <p:cNvSpPr/>
          <p:nvPr/>
        </p:nvSpPr>
        <p:spPr>
          <a:xfrm>
            <a:off x="457200" y="351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457200" y="351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57200" y="171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457200" y="171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57200" y="4885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457200" y="4885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069200" y="1285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0069200" y="1285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0069200" y="2005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10069200" y="2005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0069200" y="279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10069200" y="279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069200" y="4885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0069200" y="4885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2853000" y="1773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2853000" y="4941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622800" y="3553200"/>
            <a:ext cx="687600" cy="46800"/>
          </a:xfrm>
          <a:custGeom>
            <a:avLst/>
            <a:gdLst/>
            <a:ahLst/>
            <a:cxnLst/>
            <a:rect l="l" t="t" r="r" b="b"/>
            <a:pathLst>
              <a:path w="687600" h="46800">
                <a:moveTo>
                  <a:pt x="0" y="46800"/>
                </a:moveTo>
                <a:lnTo>
                  <a:pt x="313200" y="46800"/>
                </a:lnTo>
                <a:lnTo>
                  <a:pt x="313200" y="0"/>
                </a:lnTo>
                <a:lnTo>
                  <a:pt x="6876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1216800" y="35200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842400" y="34524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35200" y="34846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23" name="Freeform 122"/>
          <p:cNvSpPr/>
          <p:nvPr/>
        </p:nvSpPr>
        <p:spPr>
          <a:xfrm>
            <a:off x="1569600" y="3553200"/>
            <a:ext cx="2121300" cy="46800"/>
          </a:xfrm>
          <a:custGeom>
            <a:avLst/>
            <a:gdLst/>
            <a:ahLst/>
            <a:cxnLst/>
            <a:rect l="l" t="t" r="r" b="b"/>
            <a:pathLst>
              <a:path w="2121300" h="46800">
                <a:moveTo>
                  <a:pt x="0" y="0"/>
                </a:moveTo>
                <a:lnTo>
                  <a:pt x="1094400" y="0"/>
                </a:lnTo>
                <a:lnTo>
                  <a:pt x="1094400" y="46800"/>
                </a:lnTo>
                <a:lnTo>
                  <a:pt x="2121300" y="468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3597300" y="356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552850" y="34524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545650" y="34846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127" name="Connector 126"/>
          <p:cNvCxnSpPr/>
          <p:nvPr/>
        </p:nvCxnSpPr>
        <p:spPr>
          <a:xfrm flipV="1">
            <a:off x="2328435" y="34236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28" name="Freeform 127"/>
          <p:cNvSpPr/>
          <p:nvPr/>
        </p:nvSpPr>
        <p:spPr>
          <a:xfrm>
            <a:off x="2155635" y="30024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87821" y="30167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10208</a:t>
            </a:r>
          </a:p>
        </p:txBody>
      </p:sp>
      <p:sp>
        <p:nvSpPr>
          <p:cNvPr id="130" name="Freeform 129"/>
          <p:cNvSpPr/>
          <p:nvPr/>
        </p:nvSpPr>
        <p:spPr>
          <a:xfrm>
            <a:off x="2173635" y="31428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220435" y="31571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32" name="Freeform 131"/>
          <p:cNvSpPr/>
          <p:nvPr/>
        </p:nvSpPr>
        <p:spPr>
          <a:xfrm>
            <a:off x="2173635" y="32832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220435" y="32975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134" name="Freeform 133"/>
          <p:cNvSpPr/>
          <p:nvPr/>
        </p:nvSpPr>
        <p:spPr>
          <a:xfrm>
            <a:off x="3869100" y="3420000"/>
            <a:ext cx="2551820" cy="180000"/>
          </a:xfrm>
          <a:custGeom>
            <a:avLst/>
            <a:gdLst/>
            <a:ahLst/>
            <a:cxnLst/>
            <a:rect l="l" t="t" r="r" b="b"/>
            <a:pathLst>
              <a:path w="2551820" h="180000">
                <a:moveTo>
                  <a:pt x="0" y="180000"/>
                </a:moveTo>
                <a:lnTo>
                  <a:pt x="1242900" y="180000"/>
                </a:lnTo>
                <a:lnTo>
                  <a:pt x="1242900" y="0"/>
                </a:lnTo>
                <a:lnTo>
                  <a:pt x="255182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6327320" y="338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5518574" y="335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5601374" y="335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 flipV="1">
            <a:off x="5601374" y="3262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39" name="Freeform 138"/>
          <p:cNvSpPr/>
          <p:nvPr/>
        </p:nvSpPr>
        <p:spPr>
          <a:xfrm>
            <a:off x="5562494" y="3208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5011200" y="337619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004000" y="340841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142" name="Connector 141"/>
          <p:cNvCxnSpPr/>
          <p:nvPr/>
        </p:nvCxnSpPr>
        <p:spPr>
          <a:xfrm flipV="1">
            <a:off x="4825237" y="3470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43" name="Freeform 142"/>
          <p:cNvSpPr/>
          <p:nvPr/>
        </p:nvSpPr>
        <p:spPr>
          <a:xfrm>
            <a:off x="4670437" y="3189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717237" y="32039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74</a:t>
            </a:r>
          </a:p>
        </p:txBody>
      </p:sp>
      <p:sp>
        <p:nvSpPr>
          <p:cNvPr id="145" name="Freeform 144"/>
          <p:cNvSpPr/>
          <p:nvPr/>
        </p:nvSpPr>
        <p:spPr>
          <a:xfrm>
            <a:off x="4670437" y="3330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717237" y="3344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550</a:t>
            </a:r>
          </a:p>
        </p:txBody>
      </p:sp>
      <p:sp>
        <p:nvSpPr>
          <p:cNvPr id="147" name="Freeform 146"/>
          <p:cNvSpPr/>
          <p:nvPr/>
        </p:nvSpPr>
        <p:spPr>
          <a:xfrm>
            <a:off x="6564368" y="1368000"/>
            <a:ext cx="3504832" cy="1507011"/>
          </a:xfrm>
          <a:custGeom>
            <a:avLst/>
            <a:gdLst/>
            <a:ahLst/>
            <a:cxnLst/>
            <a:rect l="l" t="t" r="r" b="b"/>
            <a:pathLst>
              <a:path w="3504832" h="1507011">
                <a:moveTo>
                  <a:pt x="0" y="1507011"/>
                </a:moveTo>
                <a:lnTo>
                  <a:pt x="0" y="0"/>
                </a:lnTo>
                <a:lnTo>
                  <a:pt x="3504832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9975600" y="133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8733439" y="1303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8816239" y="1303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1" name="Connector 150"/>
          <p:cNvCxnSpPr/>
          <p:nvPr/>
        </p:nvCxnSpPr>
        <p:spPr>
          <a:xfrm flipV="1">
            <a:off x="8816239" y="1210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52" name="Freeform 151"/>
          <p:cNvSpPr/>
          <p:nvPr/>
        </p:nvSpPr>
        <p:spPr>
          <a:xfrm>
            <a:off x="8777359" y="1156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7462478" y="126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455278" y="129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155" name="Connector 154"/>
          <p:cNvCxnSpPr/>
          <p:nvPr/>
        </p:nvCxnSpPr>
        <p:spPr>
          <a:xfrm flipV="1">
            <a:off x="6811502" y="1238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56" name="Freeform 155"/>
          <p:cNvSpPr/>
          <p:nvPr/>
        </p:nvSpPr>
        <p:spPr>
          <a:xfrm>
            <a:off x="6638702" y="8172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688211" y="8315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1714</a:t>
            </a:r>
          </a:p>
        </p:txBody>
      </p:sp>
      <p:sp>
        <p:nvSpPr>
          <p:cNvPr id="158" name="Freeform 157"/>
          <p:cNvSpPr/>
          <p:nvPr/>
        </p:nvSpPr>
        <p:spPr>
          <a:xfrm>
            <a:off x="6656702" y="957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688211" y="971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49.2</a:t>
            </a:r>
          </a:p>
        </p:txBody>
      </p:sp>
      <p:sp>
        <p:nvSpPr>
          <p:cNvPr id="160" name="Freeform 159"/>
          <p:cNvSpPr/>
          <p:nvPr/>
        </p:nvSpPr>
        <p:spPr>
          <a:xfrm>
            <a:off x="6656702" y="1098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670888" y="11123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102.7</a:t>
            </a:r>
          </a:p>
        </p:txBody>
      </p:sp>
      <p:sp>
        <p:nvSpPr>
          <p:cNvPr id="162" name="Freeform 161"/>
          <p:cNvSpPr/>
          <p:nvPr/>
        </p:nvSpPr>
        <p:spPr>
          <a:xfrm>
            <a:off x="6660000" y="3985423"/>
            <a:ext cx="3409200" cy="982577"/>
          </a:xfrm>
          <a:custGeom>
            <a:avLst/>
            <a:gdLst/>
            <a:ahLst/>
            <a:cxnLst/>
            <a:rect l="l" t="t" r="r" b="b"/>
            <a:pathLst>
              <a:path w="3409200" h="982577">
                <a:moveTo>
                  <a:pt x="0" y="0"/>
                </a:moveTo>
                <a:lnTo>
                  <a:pt x="0" y="982577"/>
                </a:lnTo>
                <a:lnTo>
                  <a:pt x="3409200" y="982577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9975600" y="493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8668867" y="4903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8751667" y="4903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6" name="Connector 165"/>
          <p:cNvCxnSpPr/>
          <p:nvPr/>
        </p:nvCxnSpPr>
        <p:spPr>
          <a:xfrm flipV="1">
            <a:off x="8751667" y="4810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67" name="Freeform 166"/>
          <p:cNvSpPr/>
          <p:nvPr/>
        </p:nvSpPr>
        <p:spPr>
          <a:xfrm>
            <a:off x="8712787" y="4756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7772511" y="486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765311" y="489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cxnSp>
        <p:nvCxnSpPr>
          <p:cNvPr id="170" name="Connector 169"/>
          <p:cNvCxnSpPr/>
          <p:nvPr/>
        </p:nvCxnSpPr>
        <p:spPr>
          <a:xfrm flipV="1">
            <a:off x="7214545" y="4838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71" name="Freeform 170"/>
          <p:cNvSpPr/>
          <p:nvPr/>
        </p:nvSpPr>
        <p:spPr>
          <a:xfrm>
            <a:off x="7041745" y="45576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091254" y="4571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8491</a:t>
            </a:r>
          </a:p>
        </p:txBody>
      </p:sp>
      <p:sp>
        <p:nvSpPr>
          <p:cNvPr id="173" name="Freeform 172"/>
          <p:cNvSpPr/>
          <p:nvPr/>
        </p:nvSpPr>
        <p:spPr>
          <a:xfrm>
            <a:off x="7059745" y="4698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7091254" y="47123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49.2</a:t>
            </a:r>
          </a:p>
        </p:txBody>
      </p:sp>
      <p:sp>
        <p:nvSpPr>
          <p:cNvPr id="175" name="Freeform 174"/>
          <p:cNvSpPr/>
          <p:nvPr/>
        </p:nvSpPr>
        <p:spPr>
          <a:xfrm>
            <a:off x="622800" y="1800000"/>
            <a:ext cx="2257200" cy="0"/>
          </a:xfrm>
          <a:custGeom>
            <a:avLst/>
            <a:gdLst/>
            <a:ahLst/>
            <a:cxnLst/>
            <a:rect l="l" t="t" r="r" b="b"/>
            <a:pathLst>
              <a:path w="2257200" h="0">
                <a:moveTo>
                  <a:pt x="0" y="0"/>
                </a:moveTo>
                <a:lnTo>
                  <a:pt x="225720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2880000" y="1800000"/>
            <a:ext cx="900000" cy="1710900"/>
          </a:xfrm>
          <a:custGeom>
            <a:avLst/>
            <a:gdLst/>
            <a:ahLst/>
            <a:cxnLst/>
            <a:rect l="l" t="t" r="r" b="b"/>
            <a:pathLst>
              <a:path w="900000" h="1710900">
                <a:moveTo>
                  <a:pt x="0" y="0"/>
                </a:moveTo>
                <a:lnTo>
                  <a:pt x="900000" y="0"/>
                </a:lnTo>
                <a:lnTo>
                  <a:pt x="900000" y="171090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3746880" y="34173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3580470" y="173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3663270" y="173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0" name="Connector 179"/>
          <p:cNvCxnSpPr/>
          <p:nvPr/>
        </p:nvCxnSpPr>
        <p:spPr>
          <a:xfrm flipV="1">
            <a:off x="3663270" y="1642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81" name="Freeform 180"/>
          <p:cNvSpPr/>
          <p:nvPr/>
        </p:nvSpPr>
        <p:spPr>
          <a:xfrm>
            <a:off x="3624390" y="1588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2" name="Connector 181"/>
          <p:cNvCxnSpPr/>
          <p:nvPr/>
        </p:nvCxnSpPr>
        <p:spPr>
          <a:xfrm>
            <a:off x="3780000" y="1813815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83" name="Freeform 182"/>
          <p:cNvSpPr/>
          <p:nvPr/>
        </p:nvSpPr>
        <p:spPr>
          <a:xfrm>
            <a:off x="3891600" y="1673415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3923786" y="1687735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10980</a:t>
            </a:r>
          </a:p>
        </p:txBody>
      </p:sp>
      <p:sp>
        <p:nvSpPr>
          <p:cNvPr id="185" name="Freeform 184"/>
          <p:cNvSpPr/>
          <p:nvPr/>
        </p:nvSpPr>
        <p:spPr>
          <a:xfrm>
            <a:off x="3909600" y="1813815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3956400" y="1828135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187" name="Freeform 186"/>
          <p:cNvSpPr/>
          <p:nvPr/>
        </p:nvSpPr>
        <p:spPr>
          <a:xfrm>
            <a:off x="2880000" y="1800000"/>
            <a:ext cx="0" cy="1751400"/>
          </a:xfrm>
          <a:custGeom>
            <a:avLst/>
            <a:gdLst/>
            <a:ahLst/>
            <a:cxnLst/>
            <a:rect l="l" t="t" r="r" b="b"/>
            <a:pathLst>
              <a:path w="0" h="1751400">
                <a:moveTo>
                  <a:pt x="0" y="0"/>
                </a:moveTo>
                <a:lnTo>
                  <a:pt x="0" y="175140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880000" y="3648600"/>
            <a:ext cx="0" cy="1319400"/>
          </a:xfrm>
          <a:custGeom>
            <a:avLst/>
            <a:gdLst/>
            <a:ahLst/>
            <a:cxnLst/>
            <a:rect l="l" t="t" r="r" b="b"/>
            <a:pathLst>
              <a:path w="0" h="1319400">
                <a:moveTo>
                  <a:pt x="0" y="0"/>
                </a:moveTo>
                <a:lnTo>
                  <a:pt x="0" y="131940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2880000" y="3689100"/>
            <a:ext cx="900000" cy="1278900"/>
          </a:xfrm>
          <a:custGeom>
            <a:avLst/>
            <a:gdLst/>
            <a:ahLst/>
            <a:cxnLst/>
            <a:rect l="l" t="t" r="r" b="b"/>
            <a:pathLst>
              <a:path w="900000" h="1278900">
                <a:moveTo>
                  <a:pt x="900000" y="0"/>
                </a:moveTo>
                <a:lnTo>
                  <a:pt x="900000" y="1278900"/>
                </a:lnTo>
                <a:lnTo>
                  <a:pt x="0" y="127890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0" name="Connector 189"/>
          <p:cNvCxnSpPr/>
          <p:nvPr/>
        </p:nvCxnSpPr>
        <p:spPr>
          <a:xfrm>
            <a:off x="3780000" y="4451715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91" name="Freeform 190"/>
          <p:cNvSpPr/>
          <p:nvPr/>
        </p:nvSpPr>
        <p:spPr>
          <a:xfrm>
            <a:off x="3909600" y="4381515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956400" y="4395835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193" name="Freeform 192"/>
          <p:cNvSpPr/>
          <p:nvPr/>
        </p:nvSpPr>
        <p:spPr>
          <a:xfrm>
            <a:off x="622800" y="4968000"/>
            <a:ext cx="2257200" cy="0"/>
          </a:xfrm>
          <a:custGeom>
            <a:avLst/>
            <a:gdLst/>
            <a:ahLst/>
            <a:cxnLst/>
            <a:rect l="l" t="t" r="r" b="b"/>
            <a:pathLst>
              <a:path w="2257200" h="0">
                <a:moveTo>
                  <a:pt x="2257200" y="0"/>
                </a:move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622800" y="493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0" y="33120"/>
                </a:moveTo>
                <a:lnTo>
                  <a:pt x="93600" y="0"/>
                </a:lnTo>
                <a:lnTo>
                  <a:pt x="93600" y="6624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6779540" y="2088000"/>
            <a:ext cx="3289660" cy="798525"/>
          </a:xfrm>
          <a:custGeom>
            <a:avLst/>
            <a:gdLst/>
            <a:ahLst/>
            <a:cxnLst/>
            <a:rect l="l" t="t" r="r" b="b"/>
            <a:pathLst>
              <a:path w="3289660" h="798525">
                <a:moveTo>
                  <a:pt x="0" y="798525"/>
                </a:moveTo>
                <a:lnTo>
                  <a:pt x="0" y="0"/>
                </a:lnTo>
                <a:lnTo>
                  <a:pt x="328966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9975600" y="205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6899080" y="2880000"/>
            <a:ext cx="3170120" cy="313831"/>
          </a:xfrm>
          <a:custGeom>
            <a:avLst/>
            <a:gdLst/>
            <a:ahLst/>
            <a:cxnLst/>
            <a:rect l="l" t="t" r="r" b="b"/>
            <a:pathLst>
              <a:path w="3170120" h="313831">
                <a:moveTo>
                  <a:pt x="3170120" y="0"/>
                </a:moveTo>
                <a:lnTo>
                  <a:pt x="1596920" y="0"/>
                </a:lnTo>
                <a:lnTo>
                  <a:pt x="1596920" y="313831"/>
                </a:lnTo>
                <a:lnTo>
                  <a:pt x="0" y="313831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6899080" y="3160711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0" y="33120"/>
                </a:moveTo>
                <a:lnTo>
                  <a:pt x="93600" y="0"/>
                </a:lnTo>
                <a:lnTo>
                  <a:pt x="93600" y="6624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8592820" y="281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8675620" y="281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8675620" y="2722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02" name="Freeform 201"/>
          <p:cNvSpPr/>
          <p:nvPr/>
        </p:nvSpPr>
        <p:spPr>
          <a:xfrm>
            <a:off x="8636740" y="2668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279701" y="3796407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P-400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352302" y="37223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E-400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887100" y="3726165"/>
            <a:ext cx="339496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hot oil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082322" y="4018678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D-400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82320" y="3279246"/>
            <a:ext cx="804062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Feed from Tankage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305941" y="3397306"/>
            <a:ext cx="556818" cy="965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" b="0" i="0">
                <a:solidFill>
                  <a:srgbClr val="000000"/>
                </a:solidFill>
                <a:latin typeface="Arial"/>
              </a:rPr>
              <a:t>35 wt% n-butane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99386" y="1571702"/>
            <a:ext cx="681227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Hot Oil Supply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99386" y="4739702"/>
            <a:ext cx="681227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Hot Oil Return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9783546" y="1047246"/>
            <a:ext cx="722172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Fuel-Gas Header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9836302" y="1165306"/>
            <a:ext cx="616660" cy="965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" b="0" i="0">
                <a:solidFill>
                  <a:srgbClr val="000000"/>
                </a:solidFill>
                <a:latin typeface="Arial"/>
              </a:rPr>
              <a:t>76.8 wt% n-butane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995638" y="1859702"/>
            <a:ext cx="312724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Flare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9934221" y="2651702"/>
            <a:ext cx="435558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Nitrogen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666655" y="4647246"/>
            <a:ext cx="845006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To Downstream Unit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9780828" y="4765306"/>
            <a:ext cx="616660" cy="965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" b="0" i="0">
                <a:solidFill>
                  <a:srgbClr val="000000"/>
                </a:solidFill>
                <a:latin typeface="Arial"/>
              </a:rPr>
              <a:t>26.6 wt% n-butane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988000" y="2525960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000000"/>
                </a:solidFill>
                <a:latin typeface="Arial"/>
              </a:rPr>
              <a:t>Bypass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621503" y="1913702"/>
            <a:ext cx="763117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Relief (PSV-400)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498788" y="3590280"/>
            <a:ext cx="306425" cy="914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60" b="0" i="0">
                <a:solidFill>
                  <a:srgbClr val="000000"/>
                </a:solidFill>
                <a:latin typeface="Arial"/>
              </a:rPr>
              <a:t>FCV-400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3045402" y="1916280"/>
            <a:ext cx="533196" cy="914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60" b="0" i="0">
                <a:solidFill>
                  <a:srgbClr val="000000"/>
                </a:solidFill>
                <a:latin typeface="Arial"/>
              </a:rPr>
              <a:t>TCV-401 (3-way)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8630788" y="1502280"/>
            <a:ext cx="306425" cy="914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60" b="0" i="0">
                <a:solidFill>
                  <a:srgbClr val="000000"/>
                </a:solidFill>
                <a:latin typeface="Arial"/>
              </a:rPr>
              <a:t>PCV-420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8558788" y="5102280"/>
            <a:ext cx="306425" cy="914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60" b="0" i="0">
                <a:solidFill>
                  <a:srgbClr val="000000"/>
                </a:solidFill>
                <a:latin typeface="Arial"/>
              </a:rPr>
              <a:t>LCV-400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8468788" y="3014280"/>
            <a:ext cx="306425" cy="914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60" b="0" i="0">
                <a:solidFill>
                  <a:srgbClr val="000000"/>
                </a:solidFill>
                <a:latin typeface="Arial"/>
              </a:rPr>
              <a:t>PCV-430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020961" y="3734280"/>
            <a:ext cx="278078" cy="914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60" b="0" i="0">
                <a:solidFill>
                  <a:srgbClr val="000000"/>
                </a:solidFill>
                <a:latin typeface="Arial"/>
              </a:rPr>
              <a:t>FT-400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