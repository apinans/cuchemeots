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2809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P-100 A/B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904" y="393968"/>
            <a:ext cx="73162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Benzene Feed Pumps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529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8978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Slurry Reactor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624" y="459907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Agitator M-101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6957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6407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Reflux Condenser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4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Reflux Drum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523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3941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Pump-around Pumps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9243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9401" y="393968"/>
            <a:ext cx="80091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Pump-around Cooler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047" y="459907"/>
            <a:ext cx="73162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LP Steam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672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058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Steam Drum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4100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3549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Slurry Finishing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8904" y="459907"/>
            <a:ext cx="73162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Reactor (jacketed)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2238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P-102 A/B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687" y="393968"/>
            <a:ext cx="80091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R-102 Transfer Pumps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9666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F-102 A/B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5729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Catalyst Candle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4312" y="459907"/>
            <a:ext cx="35051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Filters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6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R-103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221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Trickle-bed Finishing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1740" y="459907"/>
            <a:ext cx="35051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3815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7909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Product Cooler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1243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984" y="393968"/>
            <a:ext cx="523747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HP Separator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8672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1507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Recycle H2 Compressor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2000" y="575815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7128000" y="6222817"/>
            <a:ext cx="179697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CYCLOHEXANE REACTOR VER 1 · OPERATOR TRAINING SIMULATOR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3608" y="6616400"/>
            <a:ext cx="1808784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CYCLOHEXANE UNIT — BENZENE HYDROGENATION REACTOR TRAIN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6400" y="6878390"/>
            <a:ext cx="570991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CHX-V1-PFD-001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2026-10-26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68" name="Freeform 67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71" name="Freeform 70"/>
          <p:cNvSpPr/>
          <p:nvPr/>
        </p:nvSpPr>
        <p:spPr>
          <a:xfrm>
            <a:off x="145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5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74" name="Freeform 73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 g)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66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397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778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508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81" name="Freeform 80"/>
          <p:cNvSpPr/>
          <p:nvPr/>
        </p:nvSpPr>
        <p:spPr>
          <a:xfrm>
            <a:off x="5935200" y="64942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018000" y="64942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18000" y="64017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4" name="Freeform 83"/>
          <p:cNvSpPr/>
          <p:nvPr/>
        </p:nvSpPr>
        <p:spPr>
          <a:xfrm>
            <a:off x="5979120" y="63473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8000" y="65120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86" name="Oval 85"/>
          <p:cNvSpPr/>
          <p:nvPr/>
        </p:nvSpPr>
        <p:spPr>
          <a:xfrm>
            <a:off x="40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40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89" name="Freeform 88"/>
          <p:cNvSpPr/>
          <p:nvPr/>
        </p:nvSpPr>
        <p:spPr>
          <a:xfrm>
            <a:off x="149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7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55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8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268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286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96" name="Oval 95"/>
          <p:cNvSpPr/>
          <p:nvPr/>
        </p:nvSpPr>
        <p:spPr>
          <a:xfrm>
            <a:off x="3738384" y="67443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3738384" y="68039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H="1">
            <a:off x="3729442" y="68504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834962" y="68504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723480" y="68963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3978000" y="67784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818000" y="6749872"/>
            <a:ext cx="180000" cy="151200"/>
          </a:xfrm>
          <a:custGeom>
            <a:avLst/>
            <a:gdLst/>
            <a:ahLst/>
            <a:cxnLst/>
            <a:rect l="l" t="t" r="r" b="b"/>
            <a:pathLst>
              <a:path w="180000" h="151200">
                <a:moveTo>
                  <a:pt x="0" y="0"/>
                </a:moveTo>
                <a:lnTo>
                  <a:pt x="180000" y="0"/>
                </a:lnTo>
                <a:lnTo>
                  <a:pt x="180000" y="117936"/>
                </a:lnTo>
                <a:lnTo>
                  <a:pt x="90000" y="151200"/>
                </a:lnTo>
                <a:lnTo>
                  <a:pt x="0" y="117936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884600" y="6722656"/>
            <a:ext cx="46800" cy="27216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908000" y="6722656"/>
            <a:ext cx="0" cy="1209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4868400" y="6843616"/>
            <a:ext cx="7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5088000" y="67784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Stirred Reactor</a:t>
            </a:r>
          </a:p>
        </p:txBody>
      </p:sp>
      <p:sp>
        <p:nvSpPr>
          <p:cNvPr id="107" name="Oval 106"/>
          <p:cNvSpPr/>
          <p:nvPr/>
        </p:nvSpPr>
        <p:spPr>
          <a:xfrm>
            <a:off x="5928000" y="67354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5976600" y="67786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98000" y="67784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96000" y="69802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8000" y="7044882"/>
            <a:ext cx="37020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452000" y="70306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5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90800" y="7016272"/>
            <a:ext cx="194400" cy="151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2590800" y="7016272"/>
            <a:ext cx="194400" cy="1512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2868000" y="7044882"/>
            <a:ext cx="28280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Filter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722400" y="6976672"/>
            <a:ext cx="151200" cy="23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722400" y="705623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722400" y="712751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72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72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3978000" y="70448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Packed-Bed Reactor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4800000" y="7012672"/>
            <a:ext cx="216000" cy="158400"/>
          </a:xfrm>
          <a:custGeom>
            <a:avLst/>
            <a:gdLst/>
            <a:ahLst/>
            <a:cxnLst/>
            <a:rect l="l" t="t" r="r" b="b"/>
            <a:pathLst>
              <a:path w="216000" h="158400">
                <a:moveTo>
                  <a:pt x="0" y="0"/>
                </a:moveTo>
                <a:lnTo>
                  <a:pt x="216000" y="39600"/>
                </a:lnTo>
                <a:lnTo>
                  <a:pt x="216000" y="118800"/>
                </a:lnTo>
                <a:lnTo>
                  <a:pt x="0" y="158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88000" y="7044882"/>
            <a:ext cx="39933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Compressor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2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4000" y="5691395"/>
            <a:ext cx="397763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REACTION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4000" y="5787089"/>
            <a:ext cx="124421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C6H6 + 3 H2 -&gt; C6H12 dH = -206 kJ/mol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4000" y="5879384"/>
            <a:ext cx="1428470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Raney-Ni slurry (R-101/102), Ni bed (R-103)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4000" y="5971679"/>
            <a:ext cx="161272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Benzene 34.8 t/h; product 37.5 t/h, 2 ppm benzene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36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08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08000" y="5787089"/>
            <a:ext cx="2380436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Rev 0 · Issued for teaching. Flags: t/h, °C, bar g at the design point.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08000" y="5879384"/>
            <a:ext cx="308673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All numbers come from the simulator model (design state, noise off); no flag = no model value.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08000" y="5971679"/>
            <a:ext cx="336311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H2 passes R-101, E-103/V-103, R-102, R-103, V-104 and K-101 in series; D-101 blowdown (≈1 %) not shown.</a:t>
            </a:r>
          </a:p>
        </p:txBody>
      </p:sp>
      <p:sp>
        <p:nvSpPr>
          <p:cNvPr id="135" name="Oval 134"/>
          <p:cNvSpPr/>
          <p:nvPr/>
        </p:nvSpPr>
        <p:spPr>
          <a:xfrm>
            <a:off x="1120320" y="2882880"/>
            <a:ext cx="207360" cy="20736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1120320" y="2986560"/>
            <a:ext cx="10368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1104768" y="3067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1288282" y="3067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1094400" y="3147264"/>
            <a:ext cx="25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0" name="Freeform 139"/>
          <p:cNvSpPr/>
          <p:nvPr/>
        </p:nvSpPr>
        <p:spPr>
          <a:xfrm>
            <a:off x="2525076" y="2786162"/>
            <a:ext cx="709848" cy="763676"/>
          </a:xfrm>
          <a:custGeom>
            <a:avLst/>
            <a:gdLst/>
            <a:ahLst/>
            <a:cxnLst/>
            <a:rect l="l" t="t" r="r" b="b"/>
            <a:pathLst>
              <a:path w="709848" h="763676">
                <a:moveTo>
                  <a:pt x="0" y="0"/>
                </a:moveTo>
                <a:lnTo>
                  <a:pt x="709848" y="0"/>
                </a:lnTo>
                <a:lnTo>
                  <a:pt x="709848" y="595667"/>
                </a:lnTo>
                <a:lnTo>
                  <a:pt x="354924" y="763676"/>
                </a:lnTo>
                <a:lnTo>
                  <a:pt x="0" y="595667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787720" y="2648701"/>
            <a:ext cx="184561" cy="137462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880000" y="2648701"/>
            <a:ext cx="0" cy="6109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2723833" y="3259641"/>
            <a:ext cx="31233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3438000" y="120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525480" y="128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3600000" y="1206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00000" y="1452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8" name="Rounded Rectangle 147"/>
          <p:cNvSpPr/>
          <p:nvPr/>
        </p:nvSpPr>
        <p:spPr>
          <a:xfrm>
            <a:off x="4310630" y="1609374"/>
            <a:ext cx="306740" cy="6692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4332230" y="1930615"/>
            <a:ext cx="263540" cy="8031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0" name="Oval 149"/>
          <p:cNvSpPr/>
          <p:nvPr/>
        </p:nvSpPr>
        <p:spPr>
          <a:xfrm>
            <a:off x="2488320" y="4754880"/>
            <a:ext cx="207360" cy="20736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2488320" y="4858560"/>
            <a:ext cx="10368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H="1">
            <a:off x="2472768" y="4939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2656282" y="4939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2462400" y="5019264"/>
            <a:ext cx="25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5" name="Oval 154"/>
          <p:cNvSpPr/>
          <p:nvPr/>
        </p:nvSpPr>
        <p:spPr>
          <a:xfrm>
            <a:off x="3366000" y="473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3453480" y="481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3528000" y="4734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528000" y="4980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9" name="Rounded Rectangle 158"/>
          <p:cNvSpPr/>
          <p:nvPr/>
        </p:nvSpPr>
        <p:spPr>
          <a:xfrm>
            <a:off x="4225880" y="4082341"/>
            <a:ext cx="764241" cy="33131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5724000" y="2817115"/>
            <a:ext cx="648000" cy="701770"/>
          </a:xfrm>
          <a:custGeom>
            <a:avLst/>
            <a:gdLst/>
            <a:ahLst/>
            <a:cxnLst/>
            <a:rect l="l" t="t" r="r" b="b"/>
            <a:pathLst>
              <a:path w="648000" h="701770">
                <a:moveTo>
                  <a:pt x="0" y="0"/>
                </a:moveTo>
                <a:lnTo>
                  <a:pt x="648000" y="0"/>
                </a:lnTo>
                <a:lnTo>
                  <a:pt x="648000" y="547380"/>
                </a:lnTo>
                <a:lnTo>
                  <a:pt x="324000" y="701770"/>
                </a:lnTo>
                <a:lnTo>
                  <a:pt x="0" y="54738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963760" y="2690797"/>
            <a:ext cx="168480" cy="126318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6048000" y="2690797"/>
            <a:ext cx="0" cy="56141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05440" y="3252212"/>
            <a:ext cx="2851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4" name="Oval 163"/>
          <p:cNvSpPr/>
          <p:nvPr/>
        </p:nvSpPr>
        <p:spPr>
          <a:xfrm>
            <a:off x="6520320" y="4754880"/>
            <a:ext cx="207360" cy="20736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6520320" y="4858560"/>
            <a:ext cx="10368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6504768" y="4939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6688282" y="4939430"/>
            <a:ext cx="54950" cy="7983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6494400" y="5019264"/>
            <a:ext cx="25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9" name="Rectangle 168"/>
          <p:cNvSpPr/>
          <p:nvPr/>
        </p:nvSpPr>
        <p:spPr>
          <a:xfrm>
            <a:off x="6984000" y="4698000"/>
            <a:ext cx="504000" cy="39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V="1">
            <a:off x="6984000" y="4698000"/>
            <a:ext cx="504000" cy="396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1" name="Rounded Rectangle 170"/>
          <p:cNvSpPr/>
          <p:nvPr/>
        </p:nvSpPr>
        <p:spPr>
          <a:xfrm>
            <a:off x="7619925" y="2640188"/>
            <a:ext cx="456150" cy="911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7619925" y="2891036"/>
            <a:ext cx="45615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7619925" y="3300964"/>
            <a:ext cx="45615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7619925" y="2891036"/>
            <a:ext cx="456150" cy="40992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7619925" y="2891036"/>
            <a:ext cx="456150" cy="40992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6" name="Oval 175"/>
          <p:cNvSpPr/>
          <p:nvPr/>
        </p:nvSpPr>
        <p:spPr>
          <a:xfrm>
            <a:off x="8586000" y="437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8673480" y="445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8748000" y="4374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8748000" y="4620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0" name="Rounded Rectangle 179"/>
          <p:cNvSpPr/>
          <p:nvPr/>
        </p:nvSpPr>
        <p:spPr>
          <a:xfrm>
            <a:off x="9306000" y="3312000"/>
            <a:ext cx="396000" cy="86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9327600" y="3726720"/>
            <a:ext cx="352800" cy="1036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2" name="Freeform 181"/>
          <p:cNvSpPr/>
          <p:nvPr/>
        </p:nvSpPr>
        <p:spPr>
          <a:xfrm>
            <a:off x="8352000" y="1134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117000"/>
                </a:moveTo>
                <a:lnTo>
                  <a:pt x="576000" y="0"/>
                </a:lnTo>
                <a:lnTo>
                  <a:pt x="576000" y="468000"/>
                </a:lnTo>
                <a:lnTo>
                  <a:pt x="0" y="351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7200" y="294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457200" y="294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069200" y="286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0069200" y="286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069200" y="85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0069200" y="85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069200" y="517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0069200" y="517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17200" y="438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5317200" y="438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317200" y="380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5317200" y="380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829200" y="394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6829200" y="394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622800" y="2986560"/>
            <a:ext cx="497520" cy="37440"/>
          </a:xfrm>
          <a:custGeom>
            <a:avLst/>
            <a:gdLst/>
            <a:ahLst/>
            <a:cxnLst/>
            <a:rect l="l" t="t" r="r" b="b"/>
            <a:pathLst>
              <a:path w="497520" h="37440">
                <a:moveTo>
                  <a:pt x="0" y="37440"/>
                </a:moveTo>
                <a:lnTo>
                  <a:pt x="241200" y="37440"/>
                </a:lnTo>
                <a:lnTo>
                  <a:pt x="241200" y="0"/>
                </a:lnTo>
                <a:lnTo>
                  <a:pt x="49752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026720" y="295344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763200" y="289692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6000" y="292914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1" name="Freeform 200"/>
          <p:cNvSpPr/>
          <p:nvPr/>
        </p:nvSpPr>
        <p:spPr>
          <a:xfrm>
            <a:off x="1327680" y="2986560"/>
            <a:ext cx="1197396" cy="66889"/>
          </a:xfrm>
          <a:custGeom>
            <a:avLst/>
            <a:gdLst/>
            <a:ahLst/>
            <a:cxnLst/>
            <a:rect l="l" t="t" r="r" b="b"/>
            <a:pathLst>
              <a:path w="1197396" h="66889">
                <a:moveTo>
                  <a:pt x="0" y="0"/>
                </a:moveTo>
                <a:lnTo>
                  <a:pt x="616320" y="0"/>
                </a:lnTo>
                <a:lnTo>
                  <a:pt x="616320" y="66889"/>
                </a:lnTo>
                <a:lnTo>
                  <a:pt x="1197396" y="6688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431476" y="3020329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879200" y="2919582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879200" y="3002382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1944000" y="3002382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6" name="Freeform 205"/>
          <p:cNvSpPr/>
          <p:nvPr/>
        </p:nvSpPr>
        <p:spPr>
          <a:xfrm>
            <a:off x="2101320" y="2963502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479737" y="288576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472537" y="291798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09" name="Connector 208"/>
          <p:cNvCxnSpPr/>
          <p:nvPr/>
        </p:nvCxnSpPr>
        <p:spPr>
          <a:xfrm flipV="1">
            <a:off x="1770180" y="285696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0" name="Freeform 209"/>
          <p:cNvSpPr/>
          <p:nvPr/>
        </p:nvSpPr>
        <p:spPr>
          <a:xfrm>
            <a:off x="1597380" y="243576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646888" y="245008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34.8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1615380" y="25761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662180" y="259048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14" name="Freeform 213"/>
          <p:cNvSpPr/>
          <p:nvPr/>
        </p:nvSpPr>
        <p:spPr>
          <a:xfrm>
            <a:off x="1615380" y="27165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662180" y="273088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16" name="Freeform 215"/>
          <p:cNvSpPr/>
          <p:nvPr/>
        </p:nvSpPr>
        <p:spPr>
          <a:xfrm>
            <a:off x="8467200" y="1508400"/>
            <a:ext cx="0" cy="2979000"/>
          </a:xfrm>
          <a:custGeom>
            <a:avLst/>
            <a:gdLst/>
            <a:ahLst/>
            <a:cxnLst/>
            <a:rect l="l" t="t" r="r" b="b"/>
            <a:pathLst>
              <a:path w="0" h="2979000">
                <a:moveTo>
                  <a:pt x="0" y="0"/>
                </a:moveTo>
                <a:lnTo>
                  <a:pt x="0" y="2979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880000" y="4584600"/>
            <a:ext cx="5587200" cy="887400"/>
          </a:xfrm>
          <a:custGeom>
            <a:avLst/>
            <a:gdLst/>
            <a:ahLst/>
            <a:cxnLst/>
            <a:rect l="l" t="t" r="r" b="b"/>
            <a:pathLst>
              <a:path w="5587200" h="887400">
                <a:moveTo>
                  <a:pt x="5587200" y="0"/>
                </a:moveTo>
                <a:lnTo>
                  <a:pt x="5587200" y="887400"/>
                </a:lnTo>
                <a:lnTo>
                  <a:pt x="0" y="887400"/>
                </a:lnTo>
                <a:lnTo>
                  <a:pt x="0" y="32256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2880000" y="3549838"/>
            <a:ext cx="0" cy="1260122"/>
          </a:xfrm>
          <a:custGeom>
            <a:avLst/>
            <a:gdLst/>
            <a:ahLst/>
            <a:cxnLst/>
            <a:rect l="l" t="t" r="r" b="b"/>
            <a:pathLst>
              <a:path w="0" h="1260122">
                <a:moveTo>
                  <a:pt x="0" y="1260122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846880" y="3549838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2815200" y="427014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2815200" y="435294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2880000" y="4352945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3" name="Freeform 222"/>
          <p:cNvSpPr/>
          <p:nvPr/>
        </p:nvSpPr>
        <p:spPr>
          <a:xfrm>
            <a:off x="3037320" y="4314065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6593519" y="537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586319" y="540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26" name="Connector 225"/>
          <p:cNvCxnSpPr/>
          <p:nvPr/>
        </p:nvCxnSpPr>
        <p:spPr>
          <a:xfrm flipV="1">
            <a:off x="5833847" y="534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7" name="Freeform 226"/>
          <p:cNvSpPr/>
          <p:nvPr/>
        </p:nvSpPr>
        <p:spPr>
          <a:xfrm>
            <a:off x="5661047" y="4921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710555" y="4935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6.42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5679047" y="506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725847" y="5075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31" name="Freeform 230"/>
          <p:cNvSpPr/>
          <p:nvPr/>
        </p:nvSpPr>
        <p:spPr>
          <a:xfrm>
            <a:off x="5679047" y="520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725847" y="521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233" name="Freeform 232"/>
          <p:cNvSpPr/>
          <p:nvPr/>
        </p:nvSpPr>
        <p:spPr>
          <a:xfrm>
            <a:off x="2702538" y="1368000"/>
            <a:ext cx="735462" cy="1418162"/>
          </a:xfrm>
          <a:custGeom>
            <a:avLst/>
            <a:gdLst/>
            <a:ahLst/>
            <a:cxnLst/>
            <a:rect l="l" t="t" r="r" b="b"/>
            <a:pathLst>
              <a:path w="735462" h="1418162">
                <a:moveTo>
                  <a:pt x="0" y="1418162"/>
                </a:moveTo>
                <a:lnTo>
                  <a:pt x="0" y="0"/>
                </a:lnTo>
                <a:lnTo>
                  <a:pt x="735462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344400" y="13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601738" y="160855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594538" y="164077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2702538" y="2032394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8" name="Freeform 237"/>
          <p:cNvSpPr/>
          <p:nvPr/>
        </p:nvSpPr>
        <p:spPr>
          <a:xfrm>
            <a:off x="2814138" y="1821794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863647" y="1836114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51.3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2832138" y="196219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2878938" y="1976514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42" name="Freeform 241"/>
          <p:cNvSpPr/>
          <p:nvPr/>
        </p:nvSpPr>
        <p:spPr>
          <a:xfrm>
            <a:off x="2832138" y="210259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878938" y="2116914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3762000" y="1368000"/>
            <a:ext cx="548630" cy="576000"/>
          </a:xfrm>
          <a:custGeom>
            <a:avLst/>
            <a:gdLst/>
            <a:ahLst/>
            <a:cxnLst/>
            <a:rect l="l" t="t" r="r" b="b"/>
            <a:pathLst>
              <a:path w="548630" h="576000">
                <a:moveTo>
                  <a:pt x="0" y="0"/>
                </a:moveTo>
                <a:lnTo>
                  <a:pt x="270000" y="0"/>
                </a:lnTo>
                <a:lnTo>
                  <a:pt x="270000" y="576000"/>
                </a:lnTo>
                <a:lnTo>
                  <a:pt x="548630" y="576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4217030" y="191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3931200" y="155951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924000" y="159173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3234924" y="2274780"/>
            <a:ext cx="1229076" cy="625934"/>
          </a:xfrm>
          <a:custGeom>
            <a:avLst/>
            <a:gdLst/>
            <a:ahLst/>
            <a:cxnLst/>
            <a:rect l="l" t="t" r="r" b="b"/>
            <a:pathLst>
              <a:path w="1229076" h="625934">
                <a:moveTo>
                  <a:pt x="1229076" y="0"/>
                </a:moveTo>
                <a:lnTo>
                  <a:pt x="1229076" y="625934"/>
                </a:lnTo>
                <a:lnTo>
                  <a:pt x="0" y="62593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3234924" y="2867594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061629" y="279991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054429" y="283213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52" name="Connector 251"/>
          <p:cNvCxnSpPr/>
          <p:nvPr/>
        </p:nvCxnSpPr>
        <p:spPr>
          <a:xfrm flipV="1">
            <a:off x="4440680" y="2771114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3" name="Freeform 252"/>
          <p:cNvSpPr/>
          <p:nvPr/>
        </p:nvSpPr>
        <p:spPr>
          <a:xfrm>
            <a:off x="4267880" y="2349914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317389" y="2364234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46.5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4285880" y="249031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317389" y="2504634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55.7</a:t>
            </a:r>
          </a:p>
        </p:txBody>
      </p:sp>
      <p:sp>
        <p:nvSpPr>
          <p:cNvPr id="257" name="Freeform 256"/>
          <p:cNvSpPr/>
          <p:nvPr/>
        </p:nvSpPr>
        <p:spPr>
          <a:xfrm>
            <a:off x="4285880" y="263071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332680" y="2645034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4464000" y="1368000"/>
            <a:ext cx="1422000" cy="1449115"/>
          </a:xfrm>
          <a:custGeom>
            <a:avLst/>
            <a:gdLst/>
            <a:ahLst/>
            <a:cxnLst/>
            <a:rect l="l" t="t" r="r" b="b"/>
            <a:pathLst>
              <a:path w="1422000" h="1449115">
                <a:moveTo>
                  <a:pt x="0" y="245220"/>
                </a:moveTo>
                <a:lnTo>
                  <a:pt x="0" y="0"/>
                </a:lnTo>
                <a:lnTo>
                  <a:pt x="1422000" y="0"/>
                </a:lnTo>
                <a:lnTo>
                  <a:pt x="1422000" y="144911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5852880" y="2723515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5676148" y="12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5668948" y="12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63" name="Connector 262"/>
          <p:cNvCxnSpPr/>
          <p:nvPr/>
        </p:nvCxnSpPr>
        <p:spPr>
          <a:xfrm flipV="1">
            <a:off x="5309498" y="123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4" name="Freeform 263"/>
          <p:cNvSpPr/>
          <p:nvPr/>
        </p:nvSpPr>
        <p:spPr>
          <a:xfrm>
            <a:off x="5136698" y="81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186206" y="83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4.73</a:t>
            </a:r>
          </a:p>
        </p:txBody>
      </p:sp>
      <p:sp>
        <p:nvSpPr>
          <p:cNvPr id="266" name="Freeform 265"/>
          <p:cNvSpPr/>
          <p:nvPr/>
        </p:nvSpPr>
        <p:spPr>
          <a:xfrm>
            <a:off x="5154698" y="95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186206" y="971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55.7</a:t>
            </a:r>
          </a:p>
        </p:txBody>
      </p:sp>
      <p:sp>
        <p:nvSpPr>
          <p:cNvPr id="268" name="Freeform 267"/>
          <p:cNvSpPr/>
          <p:nvPr/>
        </p:nvSpPr>
        <p:spPr>
          <a:xfrm>
            <a:off x="5154698" y="10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5186206" y="111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29.6</a:t>
            </a:r>
          </a:p>
        </p:txBody>
      </p:sp>
      <p:sp>
        <p:nvSpPr>
          <p:cNvPr id="270" name="Freeform 269"/>
          <p:cNvSpPr/>
          <p:nvPr/>
        </p:nvSpPr>
        <p:spPr>
          <a:xfrm>
            <a:off x="3234924" y="3168000"/>
            <a:ext cx="2489076" cy="38184"/>
          </a:xfrm>
          <a:custGeom>
            <a:avLst/>
            <a:gdLst/>
            <a:ahLst/>
            <a:cxnLst/>
            <a:rect l="l" t="t" r="r" b="b"/>
            <a:pathLst>
              <a:path w="2489076" h="38184">
                <a:moveTo>
                  <a:pt x="0" y="38184"/>
                </a:moveTo>
                <a:lnTo>
                  <a:pt x="1229076" y="38184"/>
                </a:lnTo>
                <a:lnTo>
                  <a:pt x="1229076" y="0"/>
                </a:lnTo>
                <a:lnTo>
                  <a:pt x="2489076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5630400" y="31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4399200" y="308883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4399200" y="317163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>
            <a:off x="4464000" y="317163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5" name="Freeform 274"/>
          <p:cNvSpPr/>
          <p:nvPr/>
        </p:nvSpPr>
        <p:spPr>
          <a:xfrm>
            <a:off x="4621320" y="313275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3942847" y="310538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935647" y="313760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278" name="Connector 277"/>
          <p:cNvCxnSpPr/>
          <p:nvPr/>
        </p:nvCxnSpPr>
        <p:spPr>
          <a:xfrm flipV="1">
            <a:off x="4763641" y="303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9" name="Freeform 278"/>
          <p:cNvSpPr/>
          <p:nvPr/>
        </p:nvSpPr>
        <p:spPr>
          <a:xfrm>
            <a:off x="4590841" y="261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640350" y="263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36.5</a:t>
            </a:r>
          </a:p>
        </p:txBody>
      </p:sp>
      <p:sp>
        <p:nvSpPr>
          <p:cNvPr id="281" name="Freeform 280"/>
          <p:cNvSpPr/>
          <p:nvPr/>
        </p:nvSpPr>
        <p:spPr>
          <a:xfrm>
            <a:off x="4608841" y="275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4655641" y="277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4608841" y="28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655641" y="2912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85" name="Freeform 284"/>
          <p:cNvSpPr/>
          <p:nvPr/>
        </p:nvSpPr>
        <p:spPr>
          <a:xfrm>
            <a:off x="2232000" y="3397103"/>
            <a:ext cx="325342" cy="1461457"/>
          </a:xfrm>
          <a:custGeom>
            <a:avLst/>
            <a:gdLst/>
            <a:ahLst/>
            <a:cxnLst/>
            <a:rect l="l" t="t" r="r" b="b"/>
            <a:pathLst>
              <a:path w="325342" h="1461457">
                <a:moveTo>
                  <a:pt x="325342" y="0"/>
                </a:moveTo>
                <a:lnTo>
                  <a:pt x="0" y="0"/>
                </a:lnTo>
                <a:lnTo>
                  <a:pt x="0" y="1461457"/>
                </a:lnTo>
                <a:lnTo>
                  <a:pt x="256320" y="1461457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394720" y="482544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131200" y="399252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2124000" y="402474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289" name="Freeform 288"/>
          <p:cNvSpPr/>
          <p:nvPr/>
        </p:nvSpPr>
        <p:spPr>
          <a:xfrm>
            <a:off x="2695680" y="4858560"/>
            <a:ext cx="670320" cy="37440"/>
          </a:xfrm>
          <a:custGeom>
            <a:avLst/>
            <a:gdLst/>
            <a:ahLst/>
            <a:cxnLst/>
            <a:rect l="l" t="t" r="r" b="b"/>
            <a:pathLst>
              <a:path w="670320" h="37440">
                <a:moveTo>
                  <a:pt x="0" y="0"/>
                </a:moveTo>
                <a:lnTo>
                  <a:pt x="328320" y="0"/>
                </a:lnTo>
                <a:lnTo>
                  <a:pt x="328320" y="37440"/>
                </a:lnTo>
                <a:lnTo>
                  <a:pt x="670320" y="3744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3272400" y="486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2923200" y="478332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2916000" y="481554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3097051" y="4896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4" name="Freeform 293"/>
          <p:cNvSpPr/>
          <p:nvPr/>
        </p:nvSpPr>
        <p:spPr>
          <a:xfrm>
            <a:off x="2924251" y="5025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2956437" y="5039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357.3</a:t>
            </a:r>
          </a:p>
        </p:txBody>
      </p:sp>
      <p:sp>
        <p:nvSpPr>
          <p:cNvPr id="296" name="Freeform 295"/>
          <p:cNvSpPr/>
          <p:nvPr/>
        </p:nvSpPr>
        <p:spPr>
          <a:xfrm>
            <a:off x="2942251" y="516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989051" y="518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98" name="Freeform 297"/>
          <p:cNvSpPr/>
          <p:nvPr/>
        </p:nvSpPr>
        <p:spPr>
          <a:xfrm>
            <a:off x="2942251" y="5306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989051" y="53207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300" name="Freeform 299"/>
          <p:cNvSpPr/>
          <p:nvPr/>
        </p:nvSpPr>
        <p:spPr>
          <a:xfrm>
            <a:off x="3690000" y="4296600"/>
            <a:ext cx="270000" cy="599400"/>
          </a:xfrm>
          <a:custGeom>
            <a:avLst/>
            <a:gdLst/>
            <a:ahLst/>
            <a:cxnLst/>
            <a:rect l="l" t="t" r="r" b="b"/>
            <a:pathLst>
              <a:path w="270000" h="599400">
                <a:moveTo>
                  <a:pt x="0" y="599400"/>
                </a:moveTo>
                <a:lnTo>
                  <a:pt x="270000" y="599400"/>
                </a:lnTo>
                <a:lnTo>
                  <a:pt x="27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121994" y="3435286"/>
            <a:ext cx="838006" cy="764114"/>
          </a:xfrm>
          <a:custGeom>
            <a:avLst/>
            <a:gdLst/>
            <a:ahLst/>
            <a:cxnLst/>
            <a:rect l="l" t="t" r="r" b="b"/>
            <a:pathLst>
              <a:path w="838006" h="764114">
                <a:moveTo>
                  <a:pt x="838006" y="764114"/>
                </a:moveTo>
                <a:lnTo>
                  <a:pt x="838006" y="0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3121994" y="3402166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859200" y="378084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3852000" y="381306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3960000" y="38816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6" name="Freeform 305"/>
          <p:cNvSpPr/>
          <p:nvPr/>
        </p:nvSpPr>
        <p:spPr>
          <a:xfrm>
            <a:off x="4071600" y="374124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103786" y="375556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357.3</a:t>
            </a:r>
          </a:p>
        </p:txBody>
      </p:sp>
      <p:sp>
        <p:nvSpPr>
          <p:cNvPr id="308" name="Freeform 307"/>
          <p:cNvSpPr/>
          <p:nvPr/>
        </p:nvSpPr>
        <p:spPr>
          <a:xfrm>
            <a:off x="4089600" y="38816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103786" y="389596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159.3</a:t>
            </a:r>
          </a:p>
        </p:txBody>
      </p:sp>
      <p:sp>
        <p:nvSpPr>
          <p:cNvPr id="310" name="Freeform 309"/>
          <p:cNvSpPr/>
          <p:nvPr/>
        </p:nvSpPr>
        <p:spPr>
          <a:xfrm>
            <a:off x="6210000" y="2448000"/>
            <a:ext cx="1546770" cy="369115"/>
          </a:xfrm>
          <a:custGeom>
            <a:avLst/>
            <a:gdLst/>
            <a:ahLst/>
            <a:cxnLst/>
            <a:rect l="l" t="t" r="r" b="b"/>
            <a:pathLst>
              <a:path w="1546770" h="369115">
                <a:moveTo>
                  <a:pt x="0" y="369115"/>
                </a:moveTo>
                <a:lnTo>
                  <a:pt x="0" y="0"/>
                </a:lnTo>
                <a:lnTo>
                  <a:pt x="1546770" y="0"/>
                </a:lnTo>
                <a:lnTo>
                  <a:pt x="1546770" y="21739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7723650" y="257179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6806727" y="234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799527" y="237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314" name="Connector 313"/>
          <p:cNvCxnSpPr/>
          <p:nvPr/>
        </p:nvCxnSpPr>
        <p:spPr>
          <a:xfrm flipV="1">
            <a:off x="6587534" y="231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5" name="Freeform 314"/>
          <p:cNvSpPr/>
          <p:nvPr/>
        </p:nvSpPr>
        <p:spPr>
          <a:xfrm>
            <a:off x="6414734" y="189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464243" y="191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20.3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6432734" y="203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479534" y="205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6432734" y="217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6464243" y="219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29.6</a:t>
            </a:r>
          </a:p>
        </p:txBody>
      </p:sp>
      <p:sp>
        <p:nvSpPr>
          <p:cNvPr id="321" name="Freeform 320"/>
          <p:cNvSpPr/>
          <p:nvPr/>
        </p:nvSpPr>
        <p:spPr>
          <a:xfrm>
            <a:off x="6048000" y="3518885"/>
            <a:ext cx="472320" cy="1339675"/>
          </a:xfrm>
          <a:custGeom>
            <a:avLst/>
            <a:gdLst/>
            <a:ahLst/>
            <a:cxnLst/>
            <a:rect l="l" t="t" r="r" b="b"/>
            <a:pathLst>
              <a:path w="472320" h="1339675">
                <a:moveTo>
                  <a:pt x="0" y="0"/>
                </a:moveTo>
                <a:lnTo>
                  <a:pt x="0" y="1339675"/>
                </a:lnTo>
                <a:lnTo>
                  <a:pt x="472320" y="133967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6426720" y="482544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5947200" y="432408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5940000" y="435630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6727680" y="4858560"/>
            <a:ext cx="256320" cy="37440"/>
          </a:xfrm>
          <a:custGeom>
            <a:avLst/>
            <a:gdLst/>
            <a:ahLst/>
            <a:cxnLst/>
            <a:rect l="l" t="t" r="r" b="b"/>
            <a:pathLst>
              <a:path w="256320" h="37440">
                <a:moveTo>
                  <a:pt x="0" y="0"/>
                </a:moveTo>
                <a:lnTo>
                  <a:pt x="112320" y="0"/>
                </a:lnTo>
                <a:lnTo>
                  <a:pt x="112320" y="37440"/>
                </a:lnTo>
                <a:lnTo>
                  <a:pt x="256320" y="3744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6890400" y="486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6759821" y="479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752621" y="482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7488000" y="4584600"/>
            <a:ext cx="720000" cy="311400"/>
          </a:xfrm>
          <a:custGeom>
            <a:avLst/>
            <a:gdLst/>
            <a:ahLst/>
            <a:cxnLst/>
            <a:rect l="l" t="t" r="r" b="b"/>
            <a:pathLst>
              <a:path w="720000" h="311400">
                <a:moveTo>
                  <a:pt x="0" y="311400"/>
                </a:moveTo>
                <a:lnTo>
                  <a:pt x="720000" y="311400"/>
                </a:lnTo>
                <a:lnTo>
                  <a:pt x="72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7939230" y="2448000"/>
            <a:ext cx="268770" cy="2039400"/>
          </a:xfrm>
          <a:custGeom>
            <a:avLst/>
            <a:gdLst/>
            <a:ahLst/>
            <a:cxnLst/>
            <a:rect l="l" t="t" r="r" b="b"/>
            <a:pathLst>
              <a:path w="268770" h="2039400">
                <a:moveTo>
                  <a:pt x="268770" y="2039400"/>
                </a:moveTo>
                <a:lnTo>
                  <a:pt x="268770" y="0"/>
                </a:lnTo>
                <a:lnTo>
                  <a:pt x="0" y="0"/>
                </a:lnTo>
                <a:lnTo>
                  <a:pt x="0" y="21739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7906110" y="257179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8143200" y="3998449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8143200" y="4081249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8208000" y="4081249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5" name="Freeform 334"/>
          <p:cNvSpPr/>
          <p:nvPr/>
        </p:nvSpPr>
        <p:spPr>
          <a:xfrm>
            <a:off x="8365320" y="4042369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8107200" y="303036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100000" y="306258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338" name="Connector 337"/>
          <p:cNvCxnSpPr/>
          <p:nvPr/>
        </p:nvCxnSpPr>
        <p:spPr>
          <a:xfrm flipH="1">
            <a:off x="8078400" y="4812083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9" name="Freeform 338"/>
          <p:cNvSpPr/>
          <p:nvPr/>
        </p:nvSpPr>
        <p:spPr>
          <a:xfrm>
            <a:off x="7750800" y="4601483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7800309" y="4615803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20.9</a:t>
            </a:r>
          </a:p>
        </p:txBody>
      </p:sp>
      <p:sp>
        <p:nvSpPr>
          <p:cNvPr id="341" name="Freeform 340"/>
          <p:cNvSpPr/>
          <p:nvPr/>
        </p:nvSpPr>
        <p:spPr>
          <a:xfrm>
            <a:off x="7768800" y="474188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7815600" y="4756203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7768800" y="488228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7800309" y="4896603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29.3</a:t>
            </a:r>
          </a:p>
        </p:txBody>
      </p:sp>
      <p:sp>
        <p:nvSpPr>
          <p:cNvPr id="345" name="Freeform 344"/>
          <p:cNvSpPr/>
          <p:nvPr/>
        </p:nvSpPr>
        <p:spPr>
          <a:xfrm>
            <a:off x="7848000" y="3546094"/>
            <a:ext cx="738000" cy="989906"/>
          </a:xfrm>
          <a:custGeom>
            <a:avLst/>
            <a:gdLst/>
            <a:ahLst/>
            <a:cxnLst/>
            <a:rect l="l" t="t" r="r" b="b"/>
            <a:pathLst>
              <a:path w="738000" h="989906">
                <a:moveTo>
                  <a:pt x="0" y="0"/>
                </a:moveTo>
                <a:lnTo>
                  <a:pt x="0" y="989906"/>
                </a:lnTo>
                <a:lnTo>
                  <a:pt x="738000" y="98990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8492400" y="450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7747200" y="430924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7740000" y="434146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cxnSp>
        <p:nvCxnSpPr>
          <p:cNvPr id="349" name="Connector 348"/>
          <p:cNvCxnSpPr/>
          <p:nvPr/>
        </p:nvCxnSpPr>
        <p:spPr>
          <a:xfrm flipH="1">
            <a:off x="7718400" y="4150861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0" name="Freeform 349"/>
          <p:cNvSpPr/>
          <p:nvPr/>
        </p:nvSpPr>
        <p:spPr>
          <a:xfrm>
            <a:off x="7390800" y="3940261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7440309" y="3954581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41.2</a:t>
            </a:r>
          </a:p>
        </p:txBody>
      </p:sp>
      <p:sp>
        <p:nvSpPr>
          <p:cNvPr id="352" name="Freeform 351"/>
          <p:cNvSpPr/>
          <p:nvPr/>
        </p:nvSpPr>
        <p:spPr>
          <a:xfrm>
            <a:off x="7408800" y="408066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422986" y="4094981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158.6</a:t>
            </a:r>
          </a:p>
        </p:txBody>
      </p:sp>
      <p:sp>
        <p:nvSpPr>
          <p:cNvPr id="354" name="Freeform 353"/>
          <p:cNvSpPr/>
          <p:nvPr/>
        </p:nvSpPr>
        <p:spPr>
          <a:xfrm>
            <a:off x="7408800" y="422106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440309" y="4235381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29.3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8910000" y="3744000"/>
            <a:ext cx="396000" cy="792000"/>
          </a:xfrm>
          <a:custGeom>
            <a:avLst/>
            <a:gdLst/>
            <a:ahLst/>
            <a:cxnLst/>
            <a:rect l="l" t="t" r="r" b="b"/>
            <a:pathLst>
              <a:path w="396000" h="792000">
                <a:moveTo>
                  <a:pt x="0" y="792000"/>
                </a:moveTo>
                <a:lnTo>
                  <a:pt x="162000" y="792000"/>
                </a:lnTo>
                <a:lnTo>
                  <a:pt x="162000" y="0"/>
                </a:lnTo>
                <a:lnTo>
                  <a:pt x="39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9212400" y="371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8971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964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360" name="Freeform 359"/>
          <p:cNvSpPr/>
          <p:nvPr/>
        </p:nvSpPr>
        <p:spPr>
          <a:xfrm>
            <a:off x="8812800" y="936000"/>
            <a:ext cx="612000" cy="2397887"/>
          </a:xfrm>
          <a:custGeom>
            <a:avLst/>
            <a:gdLst/>
            <a:ahLst/>
            <a:cxnLst/>
            <a:rect l="l" t="t" r="r" b="b"/>
            <a:pathLst>
              <a:path w="612000" h="2397887">
                <a:moveTo>
                  <a:pt x="612000" y="2397887"/>
                </a:moveTo>
                <a:lnTo>
                  <a:pt x="612000" y="0"/>
                </a:lnTo>
                <a:lnTo>
                  <a:pt x="0" y="0"/>
                </a:lnTo>
                <a:lnTo>
                  <a:pt x="0" y="221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8779680" y="1063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9324000" y="161744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9316800" y="164966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cxnSp>
        <p:nvCxnSpPr>
          <p:cNvPr id="364" name="Connector 363"/>
          <p:cNvCxnSpPr/>
          <p:nvPr/>
        </p:nvCxnSpPr>
        <p:spPr>
          <a:xfrm flipH="1">
            <a:off x="9295200" y="2202937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5" name="Freeform 364"/>
          <p:cNvSpPr/>
          <p:nvPr/>
        </p:nvSpPr>
        <p:spPr>
          <a:xfrm>
            <a:off x="8967600" y="1992337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017109" y="200665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6.42</a:t>
            </a:r>
          </a:p>
        </p:txBody>
      </p:sp>
      <p:sp>
        <p:nvSpPr>
          <p:cNvPr id="367" name="Freeform 366"/>
          <p:cNvSpPr/>
          <p:nvPr/>
        </p:nvSpPr>
        <p:spPr>
          <a:xfrm>
            <a:off x="8985600" y="213273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9017109" y="214705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44.9</a:t>
            </a:r>
          </a:p>
        </p:txBody>
      </p:sp>
      <p:sp>
        <p:nvSpPr>
          <p:cNvPr id="369" name="Freeform 368"/>
          <p:cNvSpPr/>
          <p:nvPr/>
        </p:nvSpPr>
        <p:spPr>
          <a:xfrm>
            <a:off x="8985600" y="227313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9032400" y="228745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371" name="Freeform 370"/>
          <p:cNvSpPr/>
          <p:nvPr/>
        </p:nvSpPr>
        <p:spPr>
          <a:xfrm>
            <a:off x="9702000" y="2952000"/>
            <a:ext cx="367200" cy="621186"/>
          </a:xfrm>
          <a:custGeom>
            <a:avLst/>
            <a:gdLst/>
            <a:ahLst/>
            <a:cxnLst/>
            <a:rect l="l" t="t" r="r" b="b"/>
            <a:pathLst>
              <a:path w="367200" h="621186">
                <a:moveTo>
                  <a:pt x="367200" y="0"/>
                </a:moveTo>
                <a:lnTo>
                  <a:pt x="162000" y="0"/>
                </a:lnTo>
                <a:lnTo>
                  <a:pt x="162000" y="621186"/>
                </a:lnTo>
                <a:lnTo>
                  <a:pt x="0" y="62118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9702000" y="3540066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9799200" y="3158193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9799200" y="3240993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>
            <a:off x="9864000" y="3240993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6" name="Freeform 375"/>
          <p:cNvSpPr/>
          <p:nvPr/>
        </p:nvSpPr>
        <p:spPr>
          <a:xfrm>
            <a:off x="10021320" y="3202113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9849794" y="285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9842594" y="288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9864000" y="3240993"/>
            <a:ext cx="237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0" name="Freeform 379"/>
          <p:cNvSpPr/>
          <p:nvPr/>
        </p:nvSpPr>
        <p:spPr>
          <a:xfrm>
            <a:off x="10083600" y="3030393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0133109" y="3044713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2.98</a:t>
            </a:r>
          </a:p>
        </p:txBody>
      </p:sp>
      <p:sp>
        <p:nvSpPr>
          <p:cNvPr id="382" name="Freeform 381"/>
          <p:cNvSpPr/>
          <p:nvPr/>
        </p:nvSpPr>
        <p:spPr>
          <a:xfrm>
            <a:off x="10101600" y="317079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10148400" y="3185113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84" name="Freeform 383"/>
          <p:cNvSpPr/>
          <p:nvPr/>
        </p:nvSpPr>
        <p:spPr>
          <a:xfrm>
            <a:off x="10101600" y="331119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0148400" y="3325513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386" name="Freeform 385"/>
          <p:cNvSpPr/>
          <p:nvPr/>
        </p:nvSpPr>
        <p:spPr>
          <a:xfrm>
            <a:off x="9583200" y="936000"/>
            <a:ext cx="486000" cy="2397887"/>
          </a:xfrm>
          <a:custGeom>
            <a:avLst/>
            <a:gdLst/>
            <a:ahLst/>
            <a:cxnLst/>
            <a:rect l="l" t="t" r="r" b="b"/>
            <a:pathLst>
              <a:path w="486000" h="2397887">
                <a:moveTo>
                  <a:pt x="0" y="2397887"/>
                </a:moveTo>
                <a:lnTo>
                  <a:pt x="0" y="0"/>
                </a:lnTo>
                <a:lnTo>
                  <a:pt x="48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9975600" y="90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9518400" y="1809144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9518400" y="1891944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>
            <a:off x="9583200" y="1891944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1" name="Freeform 390"/>
          <p:cNvSpPr/>
          <p:nvPr/>
        </p:nvSpPr>
        <p:spPr>
          <a:xfrm>
            <a:off x="9740520" y="1853064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9482400" y="2310243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9475200" y="2342463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9583200" y="2324527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5" name="Freeform 394"/>
          <p:cNvSpPr/>
          <p:nvPr/>
        </p:nvSpPr>
        <p:spPr>
          <a:xfrm>
            <a:off x="9694800" y="2113927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9744309" y="212824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0.28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9712800" y="225432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744309" y="226864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44.9</a:t>
            </a:r>
          </a:p>
        </p:txBody>
      </p:sp>
      <p:sp>
        <p:nvSpPr>
          <p:cNvPr id="399" name="Freeform 398"/>
          <p:cNvSpPr/>
          <p:nvPr/>
        </p:nvSpPr>
        <p:spPr>
          <a:xfrm>
            <a:off x="9712800" y="239472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9759600" y="240904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401" name="Freeform 400"/>
          <p:cNvSpPr/>
          <p:nvPr/>
        </p:nvSpPr>
        <p:spPr>
          <a:xfrm>
            <a:off x="9504000" y="4171036"/>
            <a:ext cx="565200" cy="1084964"/>
          </a:xfrm>
          <a:custGeom>
            <a:avLst/>
            <a:gdLst/>
            <a:ahLst/>
            <a:cxnLst/>
            <a:rect l="l" t="t" r="r" b="b"/>
            <a:pathLst>
              <a:path w="565200" h="1084964">
                <a:moveTo>
                  <a:pt x="0" y="0"/>
                </a:moveTo>
                <a:lnTo>
                  <a:pt x="0" y="1084964"/>
                </a:lnTo>
                <a:lnTo>
                  <a:pt x="565200" y="108496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9975600" y="52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9439200" y="491331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9439200" y="499611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9504000" y="4996118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06" name="Freeform 405"/>
          <p:cNvSpPr/>
          <p:nvPr/>
        </p:nvSpPr>
        <p:spPr>
          <a:xfrm>
            <a:off x="9661320" y="4957238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9403200" y="4400269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396000" y="4432489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cxnSp>
        <p:nvCxnSpPr>
          <p:cNvPr id="409" name="Connector 408"/>
          <p:cNvCxnSpPr/>
          <p:nvPr/>
        </p:nvCxnSpPr>
        <p:spPr>
          <a:xfrm>
            <a:off x="9504000" y="4748593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0" name="Freeform 409"/>
          <p:cNvSpPr/>
          <p:nvPr/>
        </p:nvSpPr>
        <p:spPr>
          <a:xfrm>
            <a:off x="9615600" y="4537993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9665109" y="4552313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37.5</a:t>
            </a:r>
          </a:p>
        </p:txBody>
      </p:sp>
      <p:sp>
        <p:nvSpPr>
          <p:cNvPr id="412" name="Freeform 411"/>
          <p:cNvSpPr/>
          <p:nvPr/>
        </p:nvSpPr>
        <p:spPr>
          <a:xfrm>
            <a:off x="9633600" y="467839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9665109" y="4692713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44.9</a:t>
            </a:r>
          </a:p>
        </p:txBody>
      </p:sp>
      <p:sp>
        <p:nvSpPr>
          <p:cNvPr id="414" name="Freeform 413"/>
          <p:cNvSpPr/>
          <p:nvPr/>
        </p:nvSpPr>
        <p:spPr>
          <a:xfrm>
            <a:off x="9633600" y="4818793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9680400" y="4833113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416" name="Freeform 415"/>
          <p:cNvSpPr/>
          <p:nvPr/>
        </p:nvSpPr>
        <p:spPr>
          <a:xfrm>
            <a:off x="4971808" y="3888000"/>
            <a:ext cx="345392" cy="293737"/>
          </a:xfrm>
          <a:custGeom>
            <a:avLst/>
            <a:gdLst/>
            <a:ahLst/>
            <a:cxnLst/>
            <a:rect l="l" t="t" r="r" b="b"/>
            <a:pathLst>
              <a:path w="345392" h="293737">
                <a:moveTo>
                  <a:pt x="0" y="293737"/>
                </a:moveTo>
                <a:lnTo>
                  <a:pt x="140192" y="293737"/>
                </a:lnTo>
                <a:lnTo>
                  <a:pt x="140192" y="0"/>
                </a:lnTo>
                <a:lnTo>
                  <a:pt x="345392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5223600" y="385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5011200" y="390156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5004000" y="393378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5112000" y="418132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1" name="Freeform 420"/>
          <p:cNvSpPr/>
          <p:nvPr/>
        </p:nvSpPr>
        <p:spPr>
          <a:xfrm>
            <a:off x="5223600" y="397072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5273109" y="398504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14.7</a:t>
            </a:r>
          </a:p>
        </p:txBody>
      </p:sp>
      <p:sp>
        <p:nvSpPr>
          <p:cNvPr id="423" name="Freeform 422"/>
          <p:cNvSpPr/>
          <p:nvPr/>
        </p:nvSpPr>
        <p:spPr>
          <a:xfrm>
            <a:off x="5241600" y="411112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5255786" y="412544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155.8</a:t>
            </a:r>
          </a:p>
        </p:txBody>
      </p:sp>
      <p:sp>
        <p:nvSpPr>
          <p:cNvPr id="425" name="Freeform 424"/>
          <p:cNvSpPr/>
          <p:nvPr/>
        </p:nvSpPr>
        <p:spPr>
          <a:xfrm>
            <a:off x="5241600" y="425152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5288400" y="426584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427" name="Freeform 426"/>
          <p:cNvSpPr/>
          <p:nvPr/>
        </p:nvSpPr>
        <p:spPr>
          <a:xfrm>
            <a:off x="4971808" y="4314263"/>
            <a:ext cx="345392" cy="149737"/>
          </a:xfrm>
          <a:custGeom>
            <a:avLst/>
            <a:gdLst/>
            <a:ahLst/>
            <a:cxnLst/>
            <a:rect l="l" t="t" r="r" b="b"/>
            <a:pathLst>
              <a:path w="345392" h="149737">
                <a:moveTo>
                  <a:pt x="345392" y="149737"/>
                </a:moveTo>
                <a:lnTo>
                  <a:pt x="140192" y="149737"/>
                </a:lnTo>
                <a:lnTo>
                  <a:pt x="140192" y="0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4971808" y="4281143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5011200" y="432083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5004000" y="435305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5143905" y="4464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32" name="Freeform 431"/>
          <p:cNvSpPr/>
          <p:nvPr/>
        </p:nvSpPr>
        <p:spPr>
          <a:xfrm>
            <a:off x="4971105" y="4593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5020614" y="460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14.9</a:t>
            </a:r>
          </a:p>
        </p:txBody>
      </p:sp>
      <p:sp>
        <p:nvSpPr>
          <p:cNvPr id="434" name="Freeform 433"/>
          <p:cNvSpPr/>
          <p:nvPr/>
        </p:nvSpPr>
        <p:spPr>
          <a:xfrm>
            <a:off x="4989105" y="473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5035905" y="4748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436" name="Freeform 435"/>
          <p:cNvSpPr/>
          <p:nvPr/>
        </p:nvSpPr>
        <p:spPr>
          <a:xfrm>
            <a:off x="4989105" y="4874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5035905" y="48887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38" name="Freeform 437"/>
          <p:cNvSpPr/>
          <p:nvPr/>
        </p:nvSpPr>
        <p:spPr>
          <a:xfrm>
            <a:off x="3528000" y="4248000"/>
            <a:ext cx="702033" cy="486000"/>
          </a:xfrm>
          <a:custGeom>
            <a:avLst/>
            <a:gdLst/>
            <a:ahLst/>
            <a:cxnLst/>
            <a:rect l="l" t="t" r="r" b="b"/>
            <a:pathLst>
              <a:path w="702033" h="486000">
                <a:moveTo>
                  <a:pt x="702033" y="0"/>
                </a:moveTo>
                <a:lnTo>
                  <a:pt x="0" y="0"/>
                </a:lnTo>
                <a:lnTo>
                  <a:pt x="0" y="4860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3494880" y="4640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3528000" y="4413659"/>
            <a:ext cx="1080000" cy="914341"/>
          </a:xfrm>
          <a:custGeom>
            <a:avLst/>
            <a:gdLst/>
            <a:ahLst/>
            <a:cxnLst/>
            <a:rect l="l" t="t" r="r" b="b"/>
            <a:pathLst>
              <a:path w="1080000" h="914341">
                <a:moveTo>
                  <a:pt x="0" y="644341"/>
                </a:moveTo>
                <a:lnTo>
                  <a:pt x="0" y="914341"/>
                </a:lnTo>
                <a:lnTo>
                  <a:pt x="1080000" y="914341"/>
                </a:lnTo>
                <a:lnTo>
                  <a:pt x="1080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4574880" y="441365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6372000" y="3308354"/>
            <a:ext cx="457200" cy="723646"/>
          </a:xfrm>
          <a:custGeom>
            <a:avLst/>
            <a:gdLst/>
            <a:ahLst/>
            <a:cxnLst/>
            <a:rect l="l" t="t" r="r" b="b"/>
            <a:pathLst>
              <a:path w="457200" h="723646">
                <a:moveTo>
                  <a:pt x="457200" y="723646"/>
                </a:moveTo>
                <a:lnTo>
                  <a:pt x="252000" y="723646"/>
                </a:lnTo>
                <a:lnTo>
                  <a:pt x="252000" y="0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6372000" y="3275234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978662" y="318777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P-100 A/B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2186478" y="3583093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3439701" y="156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E-103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3492000" y="1711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972032" y="230803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V-103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2346662" y="505977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3708000" y="509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3132000" y="5095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3891435" y="4446914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D-101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5385402" y="3552140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R-102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6378662" y="505977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P-102 A/B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6990662" y="5127255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F-102 A/B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7281327" y="3579349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R-103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587701" y="473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E-106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640000" y="4879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9720000" y="4204291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8479701" y="163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78357" y="2795702"/>
            <a:ext cx="88595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Benzene from TK-100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9893276" y="2723702"/>
            <a:ext cx="51744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Make-up H2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9705619" y="707702"/>
            <a:ext cx="80406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Purge to Fuel Gas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9199092" y="5372690"/>
            <a:ext cx="133634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Cyclohexane to TK-106 / TK-107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5284583" y="4580690"/>
            <a:ext cx="23083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5182221" y="3659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LP Steam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6407607" y="4148690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MP Steam / CW (jacket)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009243" y="5297702"/>
            <a:ext cx="51744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Recycle H2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3762993" y="2726416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Reflux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