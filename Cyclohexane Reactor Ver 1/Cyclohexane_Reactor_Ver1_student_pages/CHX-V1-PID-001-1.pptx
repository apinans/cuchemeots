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800479"/>
            <a:ext cx="1164945" cy="19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BENZENE 99.9 %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FROM TK-100 (OSBL)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2560320"/>
            <a:ext cx="19842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39496" y="24825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658368" y="237743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89788" y="226771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26947" y="2322576"/>
            <a:ext cx="411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8096" y="2276856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659" y="2280094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6677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0" y="2107247"/>
            <a:ext cx="343916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EIV-100*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429255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6"-P-1001</a:t>
            </a:r>
          </a:p>
        </p:txBody>
      </p:sp>
      <p:sp>
        <p:nvSpPr>
          <p:cNvPr id="15" name="Oval 14"/>
          <p:cNvSpPr/>
          <p:nvPr/>
        </p:nvSpPr>
        <p:spPr>
          <a:xfrm>
            <a:off x="1250442" y="25306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280160" y="2057400"/>
            <a:ext cx="0" cy="502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" y="2057400"/>
            <a:ext cx="164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1209294" y="2203704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886" y="222808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MV-301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0" name="Freeform 19"/>
          <p:cNvSpPr/>
          <p:nvPr/>
        </p:nvSpPr>
        <p:spPr>
          <a:xfrm>
            <a:off x="1460296" y="213512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44752" y="19019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600200" y="188366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73936" y="2148840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P-100A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600200" y="1325880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529791" y="1618030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529791" y="1618030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91640" y="1626108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NRV-100A*</a:t>
            </a:r>
          </a:p>
        </p:txBody>
      </p:sp>
      <p:sp>
        <p:nvSpPr>
          <p:cNvPr id="28" name="Freeform 27"/>
          <p:cNvSpPr/>
          <p:nvPr/>
        </p:nvSpPr>
        <p:spPr>
          <a:xfrm>
            <a:off x="1529334" y="1325879"/>
            <a:ext cx="141732" cy="219457"/>
          </a:xfrm>
          <a:custGeom>
            <a:avLst/>
            <a:gdLst/>
            <a:ahLst/>
            <a:cxnLst/>
            <a:rect l="l" t="t" r="r" b="b"/>
            <a:pathLst>
              <a:path w="141732" h="219457">
                <a:moveTo>
                  <a:pt x="0" y="0"/>
                </a:moveTo>
                <a:lnTo>
                  <a:pt x="141732" y="219457"/>
                </a:lnTo>
                <a:lnTo>
                  <a:pt x="0" y="219457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1350264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MV-302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377440" y="2057400"/>
            <a:ext cx="0" cy="502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2057400"/>
            <a:ext cx="164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2306574" y="2203704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3166" y="222808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MV-303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34" name="Freeform 33"/>
          <p:cNvSpPr/>
          <p:nvPr/>
        </p:nvSpPr>
        <p:spPr>
          <a:xfrm>
            <a:off x="2557576" y="213512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42032" y="19019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2697480" y="188366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871216" y="2148840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P-100B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697480" y="1325880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2627071" y="1618030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27071" y="1618030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091049" y="1626108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NRV-100B*</a:t>
            </a:r>
          </a:p>
        </p:txBody>
      </p:sp>
      <p:sp>
        <p:nvSpPr>
          <p:cNvPr id="42" name="Freeform 41"/>
          <p:cNvSpPr/>
          <p:nvPr/>
        </p:nvSpPr>
        <p:spPr>
          <a:xfrm>
            <a:off x="2626614" y="1325879"/>
            <a:ext cx="141732" cy="219457"/>
          </a:xfrm>
          <a:custGeom>
            <a:avLst/>
            <a:gdLst/>
            <a:ahLst/>
            <a:cxnLst/>
            <a:rect l="l" t="t" r="r" b="b"/>
            <a:pathLst>
              <a:path w="141732" h="219457">
                <a:moveTo>
                  <a:pt x="0" y="0"/>
                </a:moveTo>
                <a:lnTo>
                  <a:pt x="141732" y="219457"/>
                </a:lnTo>
                <a:lnTo>
                  <a:pt x="0" y="219457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3206" y="1350264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MV-304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057400" y="2560320"/>
            <a:ext cx="0" cy="32918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997964" y="2633472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011680" y="2889503"/>
            <a:ext cx="91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112264" y="2796540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3126" y="263956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MV-305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00200" y="1325880"/>
            <a:ext cx="262432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24528" y="1325880"/>
            <a:ext cx="0" cy="198424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224528" y="3310128"/>
            <a:ext cx="30175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667762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84831" y="119481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4"-P-1002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862072" y="12435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16936" y="12435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776118" y="1444752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FE-101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2889504" y="941832"/>
            <a:ext cx="0" cy="3017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724912" y="6126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59" name="Oval 58"/>
          <p:cNvSpPr/>
          <p:nvPr/>
        </p:nvSpPr>
        <p:spPr>
          <a:xfrm>
            <a:off x="3447288" y="6126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447288" y="777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54096" y="777240"/>
            <a:ext cx="39319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079242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85082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3108960" y="13258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108960" y="1709928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114800" y="13258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3182112" y="1255014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78454" y="105460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MV-306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69" name="Freeform 68"/>
          <p:cNvSpPr/>
          <p:nvPr/>
        </p:nvSpPr>
        <p:spPr>
          <a:xfrm>
            <a:off x="3822191" y="1255014"/>
            <a:ext cx="219457" cy="141731"/>
          </a:xfrm>
          <a:custGeom>
            <a:avLst/>
            <a:gdLst/>
            <a:ahLst/>
            <a:cxnLst/>
            <a:rect l="l" t="t" r="r" b="b"/>
            <a:pathLst>
              <a:path w="219457" h="141731">
                <a:moveTo>
                  <a:pt x="0" y="0"/>
                </a:moveTo>
                <a:lnTo>
                  <a:pt x="219457" y="141731"/>
                </a:lnTo>
                <a:lnTo>
                  <a:pt x="219457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18534" y="105460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MV-307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71" name="Freeform 70"/>
          <p:cNvSpPr/>
          <p:nvPr/>
        </p:nvSpPr>
        <p:spPr>
          <a:xfrm>
            <a:off x="3502152" y="1639062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89020" y="168706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98494" y="1810512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MV-308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74" name="Freeform 73"/>
          <p:cNvSpPr/>
          <p:nvPr/>
        </p:nvSpPr>
        <p:spPr>
          <a:xfrm>
            <a:off x="3493008" y="12481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3611880" y="114300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3534156" y="106645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3534156" y="114300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685032" y="113233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30752" y="1444752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611880" y="941832"/>
            <a:ext cx="0" cy="11887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4146804" y="202996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H="1">
            <a:off x="4041648" y="2148840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3931920" y="2080260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3986784" y="2217420"/>
            <a:ext cx="0" cy="411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3941064" y="2258568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54627" y="2261806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25112" y="2247900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5968" y="1860359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XV-101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12" y="2833751"/>
            <a:ext cx="1287881" cy="19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START-UP CYCLOHEXANE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FROM STORAGE (OSBL)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11480" y="3090672"/>
            <a:ext cx="3813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94810" y="3060953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673352" y="3019806"/>
            <a:ext cx="219455" cy="141732"/>
          </a:xfrm>
          <a:custGeom>
            <a:avLst/>
            <a:gdLst/>
            <a:ahLst/>
            <a:cxnLst/>
            <a:rect l="l" t="t" r="r" b="b"/>
            <a:pathLst>
              <a:path w="219455" h="141732">
                <a:moveTo>
                  <a:pt x="0" y="0"/>
                </a:moveTo>
                <a:lnTo>
                  <a:pt x="219455" y="141732"/>
                </a:lnTo>
                <a:lnTo>
                  <a:pt x="219455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69694" y="3191256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HV-116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94" name="Freeform 93"/>
          <p:cNvSpPr/>
          <p:nvPr/>
        </p:nvSpPr>
        <p:spPr>
          <a:xfrm>
            <a:off x="2093976" y="3020263"/>
            <a:ext cx="155905" cy="140817"/>
          </a:xfrm>
          <a:custGeom>
            <a:avLst/>
            <a:gdLst/>
            <a:ahLst/>
            <a:cxnLst/>
            <a:rect l="l" t="t" r="r" b="b"/>
            <a:pathLst>
              <a:path w="155905" h="140817">
                <a:moveTo>
                  <a:pt x="0" y="0"/>
                </a:moveTo>
                <a:lnTo>
                  <a:pt x="155905" y="70409"/>
                </a:lnTo>
                <a:lnTo>
                  <a:pt x="0" y="1408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2249881" y="3020263"/>
            <a:ext cx="0" cy="1408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065324" y="3191256"/>
            <a:ext cx="258470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NRV-301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96312" y="2959607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6"-P-1003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26280" y="2697480"/>
            <a:ext cx="1554480" cy="2560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08576" y="3017520"/>
            <a:ext cx="47762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08576" y="3154679"/>
            <a:ext cx="523443" cy="280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SLURRY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REACTOR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RANEY-Ni</a:t>
            </a:r>
          </a:p>
        </p:txBody>
      </p:sp>
      <p:sp>
        <p:nvSpPr>
          <p:cNvPr id="101" name="Oval 100"/>
          <p:cNvSpPr/>
          <p:nvPr/>
        </p:nvSpPr>
        <p:spPr>
          <a:xfrm>
            <a:off x="5184648" y="2185416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64277" y="2247519"/>
            <a:ext cx="78486" cy="1135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303520" y="2423160"/>
            <a:ext cx="0" cy="219456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047488" y="3840480"/>
            <a:ext cx="512064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047488" y="378561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559552" y="378561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047488" y="4572000"/>
            <a:ext cx="512064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047488" y="451713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559552" y="451713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180457" y="2053590"/>
            <a:ext cx="246126" cy="1135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M-101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846320" y="4956048"/>
            <a:ext cx="1207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937760" y="495604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120640" y="495604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303520" y="495604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486400" y="495604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669280" y="4956048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800600" y="1325880"/>
            <a:ext cx="310896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49724" y="1325626"/>
            <a:ext cx="523443" cy="183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D-102</a:t>
            </a:r>
          </a:p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CAT. POT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956048" y="1737360"/>
            <a:ext cx="0" cy="9692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Freeform 119"/>
          <p:cNvSpPr/>
          <p:nvPr/>
        </p:nvSpPr>
        <p:spPr>
          <a:xfrm>
            <a:off x="4885182" y="2148840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01774" y="2173224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HV-117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92624" y="2395728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4"-SL-1004</a:t>
            </a:r>
          </a:p>
        </p:txBody>
      </p:sp>
      <p:cxnSp>
        <p:nvCxnSpPr>
          <p:cNvPr id="123" name="Connector 122"/>
          <p:cNvCxnSpPr/>
          <p:nvPr/>
        </p:nvCxnSpPr>
        <p:spPr>
          <a:xfrm flipH="1">
            <a:off x="4233672" y="361188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275734" y="3489960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TE-100</a:t>
            </a:r>
          </a:p>
        </p:txBody>
      </p:sp>
      <p:sp>
        <p:nvSpPr>
          <p:cNvPr id="125" name="Oval 124"/>
          <p:cNvSpPr/>
          <p:nvPr/>
        </p:nvSpPr>
        <p:spPr>
          <a:xfrm>
            <a:off x="3904488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26" name="Oval 125"/>
          <p:cNvSpPr/>
          <p:nvPr/>
        </p:nvSpPr>
        <p:spPr>
          <a:xfrm>
            <a:off x="3355848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355848" y="3611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3685032" y="3611880"/>
            <a:ext cx="21945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4233672" y="425196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4275734" y="4130040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TE-101</a:t>
            </a:r>
          </a:p>
        </p:txBody>
      </p:sp>
      <p:sp>
        <p:nvSpPr>
          <p:cNvPr id="131" name="Oval 130"/>
          <p:cNvSpPr/>
          <p:nvPr/>
        </p:nvSpPr>
        <p:spPr>
          <a:xfrm>
            <a:off x="3904488" y="4087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132" name="Oval 131"/>
          <p:cNvSpPr/>
          <p:nvPr/>
        </p:nvSpPr>
        <p:spPr>
          <a:xfrm>
            <a:off x="3355848" y="4087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355848" y="4251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3685032" y="4251960"/>
            <a:ext cx="21945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2807208" y="344728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807208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2807208" y="3611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069080" y="3776472"/>
            <a:ext cx="0" cy="1554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2971800" y="3931920"/>
            <a:ext cx="109728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971800" y="3776472"/>
            <a:ext cx="0" cy="1554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5715000" y="1188720"/>
            <a:ext cx="0" cy="6995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5715000" y="188823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5715000" y="2043684"/>
            <a:ext cx="0" cy="6537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715000" y="1188720"/>
            <a:ext cx="1463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751576" y="2511552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10"-P-1005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035040" y="118872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600532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870448" y="1481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149" name="Oval 148"/>
          <p:cNvSpPr/>
          <p:nvPr/>
        </p:nvSpPr>
        <p:spPr>
          <a:xfrm>
            <a:off x="6327648" y="1481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327648" y="16459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6784848" y="148132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784848" y="1481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6784848" y="16459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199632" y="1645920"/>
            <a:ext cx="12801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035040" y="1810512"/>
            <a:ext cx="0" cy="64007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035040" y="1874519"/>
            <a:ext cx="91440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949440" y="1810512"/>
            <a:ext cx="0" cy="64007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641680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6446520" y="1024128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reeform 159"/>
          <p:cNvSpPr/>
          <p:nvPr/>
        </p:nvSpPr>
        <p:spPr>
          <a:xfrm>
            <a:off x="6373368" y="923544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6336792" y="854964"/>
            <a:ext cx="109728" cy="137160"/>
          </a:xfrm>
          <a:custGeom>
            <a:avLst/>
            <a:gdLst/>
            <a:ahLst/>
            <a:cxnLst/>
            <a:rect l="l" t="t" r="r" b="b"/>
            <a:pathLst>
              <a:path w="109728" h="137160">
                <a:moveTo>
                  <a:pt x="109728" y="68580"/>
                </a:move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6409944" y="713232"/>
            <a:ext cx="73152" cy="210312"/>
          </a:xfrm>
          <a:custGeom>
            <a:avLst/>
            <a:gdLst/>
            <a:ahLst/>
            <a:cxnLst/>
            <a:rect l="l" t="t" r="r" b="b"/>
            <a:pathLst>
              <a:path w="73152" h="210312">
                <a:moveTo>
                  <a:pt x="36576" y="210312"/>
                </a:moveTo>
                <a:lnTo>
                  <a:pt x="0" y="173736"/>
                </a:lnTo>
                <a:lnTo>
                  <a:pt x="73152" y="141732"/>
                </a:lnTo>
                <a:lnTo>
                  <a:pt x="0" y="109727"/>
                </a:lnTo>
                <a:lnTo>
                  <a:pt x="73152" y="77724"/>
                </a:lnTo>
                <a:lnTo>
                  <a:pt x="0" y="45720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H="1">
            <a:off x="5925312" y="923544"/>
            <a:ext cx="4114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6547104" y="627888"/>
            <a:ext cx="667146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PSV-101*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SET 36 bar 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640397" y="838200"/>
            <a:ext cx="1275770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TO FLARE HEADER (V-190*)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6"-FL-1040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178040" y="1005840"/>
            <a:ext cx="1225296" cy="3657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403336" y="1005840"/>
            <a:ext cx="146304" cy="365759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7269479" y="1126540"/>
            <a:ext cx="1133857" cy="124359"/>
          </a:xfrm>
          <a:custGeom>
            <a:avLst/>
            <a:gdLst/>
            <a:ahLst/>
            <a:cxnLst/>
            <a:rect l="l" t="t" r="r" b="b"/>
            <a:pathLst>
              <a:path w="1133857" h="124359">
                <a:moveTo>
                  <a:pt x="1133857" y="0"/>
                </a:moveTo>
                <a:lnTo>
                  <a:pt x="73152" y="0"/>
                </a:lnTo>
                <a:lnTo>
                  <a:pt x="0" y="62180"/>
                </a:lnTo>
                <a:lnTo>
                  <a:pt x="73152" y="124359"/>
                </a:lnTo>
                <a:lnTo>
                  <a:pt x="1133857" y="124359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440263" y="777049"/>
            <a:ext cx="298513" cy="137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E-103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280656" y="671639"/>
            <a:ext cx="61772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REFLUX CONDENSER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8339327" y="457200"/>
            <a:ext cx="0" cy="5486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485632" y="457200"/>
            <a:ext cx="0" cy="5486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8119506" y="391668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CWS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94776" y="391668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8268461" y="731520"/>
            <a:ext cx="141733" cy="219456"/>
          </a:xfrm>
          <a:custGeom>
            <a:avLst/>
            <a:gdLst/>
            <a:ahLst/>
            <a:cxnLst/>
            <a:rect l="l" t="t" r="r" b="b"/>
            <a:pathLst>
              <a:path w="141733" h="219456">
                <a:moveTo>
                  <a:pt x="0" y="0"/>
                </a:moveTo>
                <a:lnTo>
                  <a:pt x="141733" y="219456"/>
                </a:lnTo>
                <a:lnTo>
                  <a:pt x="0" y="219456"/>
                </a:lnTo>
                <a:lnTo>
                  <a:pt x="141733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885054" y="755904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HV-113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177" name="Freeform 176"/>
          <p:cNvSpPr/>
          <p:nvPr/>
        </p:nvSpPr>
        <p:spPr>
          <a:xfrm>
            <a:off x="8414765" y="548640"/>
            <a:ext cx="141733" cy="219456"/>
          </a:xfrm>
          <a:custGeom>
            <a:avLst/>
            <a:gdLst/>
            <a:ahLst/>
            <a:cxnLst/>
            <a:rect l="l" t="t" r="r" b="b"/>
            <a:pathLst>
              <a:path w="141733" h="219456">
                <a:moveTo>
                  <a:pt x="0" y="0"/>
                </a:moveTo>
                <a:lnTo>
                  <a:pt x="141733" y="219456"/>
                </a:lnTo>
                <a:lnTo>
                  <a:pt x="0" y="219456"/>
                </a:lnTo>
                <a:lnTo>
                  <a:pt x="141733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577072" y="573024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MV-309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713756" y="519684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10"-CW-1030</a:t>
            </a:r>
          </a:p>
        </p:txBody>
      </p:sp>
      <p:sp>
        <p:nvSpPr>
          <p:cNvPr id="180" name="Oval 179"/>
          <p:cNvSpPr/>
          <p:nvPr/>
        </p:nvSpPr>
        <p:spPr>
          <a:xfrm>
            <a:off x="8455913" y="86639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8485632" y="896112"/>
            <a:ext cx="4937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Freeform 181"/>
          <p:cNvSpPr/>
          <p:nvPr/>
        </p:nvSpPr>
        <p:spPr>
          <a:xfrm>
            <a:off x="8906256" y="795528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8979408" y="726947"/>
            <a:ext cx="109728" cy="137161"/>
          </a:xfrm>
          <a:custGeom>
            <a:avLst/>
            <a:gdLst/>
            <a:ahLst/>
            <a:cxnLst/>
            <a:rect l="l" t="t" r="r" b="b"/>
            <a:pathLst>
              <a:path w="109728" h="137161">
                <a:moveTo>
                  <a:pt x="0" y="68581"/>
                </a:moveTo>
                <a:lnTo>
                  <a:pt x="109728" y="0"/>
                </a:lnTo>
                <a:lnTo>
                  <a:pt x="109728" y="13716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942832" y="585216"/>
            <a:ext cx="73152" cy="210312"/>
          </a:xfrm>
          <a:custGeom>
            <a:avLst/>
            <a:gdLst/>
            <a:ahLst/>
            <a:cxnLst/>
            <a:rect l="l" t="t" r="r" b="b"/>
            <a:pathLst>
              <a:path w="73152" h="210312">
                <a:moveTo>
                  <a:pt x="36576" y="210312"/>
                </a:moveTo>
                <a:lnTo>
                  <a:pt x="0" y="173736"/>
                </a:lnTo>
                <a:lnTo>
                  <a:pt x="73152" y="141731"/>
                </a:lnTo>
                <a:lnTo>
                  <a:pt x="0" y="109728"/>
                </a:lnTo>
                <a:lnTo>
                  <a:pt x="73152" y="77724"/>
                </a:lnTo>
                <a:lnTo>
                  <a:pt x="0" y="45720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9089136" y="795528"/>
            <a:ext cx="16459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9125712" y="545592"/>
            <a:ext cx="464271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TSV-113*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8183879" y="137160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183879" y="1645920"/>
            <a:ext cx="164592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8229600" y="151485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6"-P-1006</a:t>
            </a:r>
          </a:p>
        </p:txBody>
      </p:sp>
      <p:cxnSp>
        <p:nvCxnSpPr>
          <p:cNvPr id="190" name="Connector 189"/>
          <p:cNvCxnSpPr/>
          <p:nvPr/>
        </p:nvCxnSpPr>
        <p:spPr>
          <a:xfrm flipV="1">
            <a:off x="9281160" y="1444752"/>
            <a:ext cx="0" cy="2011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9116568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sp>
        <p:nvSpPr>
          <p:cNvPr id="192" name="Oval 191"/>
          <p:cNvSpPr/>
          <p:nvPr/>
        </p:nvSpPr>
        <p:spPr>
          <a:xfrm>
            <a:off x="8631936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631936" y="128016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>
            <a:off x="8961120" y="1280160"/>
            <a:ext cx="15544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/>
          <p:cNvSpPr/>
          <p:nvPr/>
        </p:nvSpPr>
        <p:spPr>
          <a:xfrm>
            <a:off x="9829800" y="868680"/>
            <a:ext cx="457200" cy="9601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616184" y="914400"/>
            <a:ext cx="47762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V-103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616184" y="1051560"/>
            <a:ext cx="407212" cy="19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REFLUX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DRUM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10287000" y="1143000"/>
            <a:ext cx="137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0287000" y="1691640"/>
            <a:ext cx="137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10424160" y="1097280"/>
            <a:ext cx="6400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506456" y="1377696"/>
            <a:ext cx="210677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LG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202" name="Connector 201"/>
          <p:cNvCxnSpPr/>
          <p:nvPr/>
        </p:nvCxnSpPr>
        <p:spPr>
          <a:xfrm flipV="1">
            <a:off x="10058400" y="566928"/>
            <a:ext cx="0" cy="30175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058400" y="566928"/>
            <a:ext cx="960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10863072" y="475488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131552" y="603504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6"-G-1008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801136" y="713232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TO R-102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SHT 2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10058400" y="1828800"/>
            <a:ext cx="0" cy="137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5532120" y="1965960"/>
            <a:ext cx="4526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5532120" y="1965960"/>
            <a:ext cx="0" cy="731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9491472" y="1834895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6"-P-1007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8659368" y="1883664"/>
            <a:ext cx="0" cy="16459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714232" y="1883664"/>
            <a:ext cx="0" cy="16459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686800" y="2048255"/>
            <a:ext cx="0" cy="11887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852220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215" name="Oval 214"/>
          <p:cNvSpPr/>
          <p:nvPr/>
        </p:nvSpPr>
        <p:spPr>
          <a:xfrm>
            <a:off x="801928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8019288" y="23317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>
            <a:off x="8348472" y="233172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8573414" y="1770888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FE-105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9829800" y="1965960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Freeform 219"/>
          <p:cNvSpPr/>
          <p:nvPr/>
        </p:nvSpPr>
        <p:spPr>
          <a:xfrm>
            <a:off x="9770364" y="2066543"/>
            <a:ext cx="118872" cy="182881"/>
          </a:xfrm>
          <a:custGeom>
            <a:avLst/>
            <a:gdLst/>
            <a:ahLst/>
            <a:cxnLst/>
            <a:rect l="l" t="t" r="r" b="b"/>
            <a:pathLst>
              <a:path w="118872" h="182881">
                <a:moveTo>
                  <a:pt x="0" y="0"/>
                </a:moveTo>
                <a:lnTo>
                  <a:pt x="118872" y="182881"/>
                </a:lnTo>
                <a:lnTo>
                  <a:pt x="0" y="182881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>
            <a:off x="9784080" y="2350008"/>
            <a:ext cx="91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9884664" y="2257044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375526" y="2072640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MV-310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224" name="Oval 223"/>
          <p:cNvSpPr/>
          <p:nvPr/>
        </p:nvSpPr>
        <p:spPr>
          <a:xfrm>
            <a:off x="619048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JT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225" name="Oval 224"/>
          <p:cNvSpPr/>
          <p:nvPr/>
        </p:nvSpPr>
        <p:spPr>
          <a:xfrm>
            <a:off x="669340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JI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6693408" y="2331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7196328" y="2167127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19632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7196328" y="2331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422392" y="2304288"/>
            <a:ext cx="76809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190488" y="2304288"/>
            <a:ext cx="0" cy="2743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6519672" y="233172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355080" y="2496312"/>
            <a:ext cx="0" cy="10058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6355080" y="2596896"/>
            <a:ext cx="100584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7360920" y="2496312"/>
            <a:ext cx="0" cy="10058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/>
          <p:cNvSpPr/>
          <p:nvPr/>
        </p:nvSpPr>
        <p:spPr>
          <a:xfrm>
            <a:off x="7196328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SSL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101*</a:t>
            </a:r>
          </a:p>
        </p:txBody>
      </p:sp>
      <p:cxnSp>
        <p:nvCxnSpPr>
          <p:cNvPr id="237" name="Connector 236"/>
          <p:cNvCxnSpPr/>
          <p:nvPr/>
        </p:nvCxnSpPr>
        <p:spPr>
          <a:xfrm flipV="1">
            <a:off x="7360920" y="2660904"/>
            <a:ext cx="0" cy="10058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080760" y="3291840"/>
            <a:ext cx="4937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Freeform 238"/>
          <p:cNvSpPr/>
          <p:nvPr/>
        </p:nvSpPr>
        <p:spPr>
          <a:xfrm>
            <a:off x="10863072" y="320040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801136" y="3419856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TO R-102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SHT 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153912" y="3160776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6"-SL-1014</a:t>
            </a:r>
          </a:p>
        </p:txBody>
      </p:sp>
      <p:sp>
        <p:nvSpPr>
          <p:cNvPr id="242" name="Oval 241"/>
          <p:cNvSpPr/>
          <p:nvPr/>
        </p:nvSpPr>
        <p:spPr>
          <a:xfrm>
            <a:off x="8245601" y="3262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251442" y="3262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275319" y="329184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75319" y="3675888"/>
            <a:ext cx="10058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9281160" y="329184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Freeform 246"/>
          <p:cNvSpPr/>
          <p:nvPr/>
        </p:nvSpPr>
        <p:spPr>
          <a:xfrm>
            <a:off x="8348471" y="322097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344814" y="302056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MV-311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49" name="Freeform 248"/>
          <p:cNvSpPr/>
          <p:nvPr/>
        </p:nvSpPr>
        <p:spPr>
          <a:xfrm>
            <a:off x="8988552" y="322097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984894" y="302056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MV-312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51" name="Freeform 250"/>
          <p:cNvSpPr/>
          <p:nvPr/>
        </p:nvSpPr>
        <p:spPr>
          <a:xfrm>
            <a:off x="8668512" y="3605022"/>
            <a:ext cx="219455" cy="141732"/>
          </a:xfrm>
          <a:custGeom>
            <a:avLst/>
            <a:gdLst/>
            <a:ahLst/>
            <a:cxnLst/>
            <a:rect l="l" t="t" r="r" b="b"/>
            <a:pathLst>
              <a:path w="219455" h="141732">
                <a:moveTo>
                  <a:pt x="0" y="0"/>
                </a:moveTo>
                <a:lnTo>
                  <a:pt x="219455" y="141732"/>
                </a:lnTo>
                <a:lnTo>
                  <a:pt x="219455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755380" y="365302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664854" y="3776472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MV-313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8659367" y="321411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 flipV="1">
            <a:off x="8778240" y="310896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Freeform 255"/>
          <p:cNvSpPr/>
          <p:nvPr/>
        </p:nvSpPr>
        <p:spPr>
          <a:xfrm>
            <a:off x="8700515" y="3032416"/>
            <a:ext cx="155449" cy="76544"/>
          </a:xfrm>
          <a:custGeom>
            <a:avLst/>
            <a:gdLst/>
            <a:ahLst/>
            <a:cxnLst/>
            <a:rect l="l" t="t" r="r" b="b"/>
            <a:pathLst>
              <a:path w="155449" h="76544">
                <a:moveTo>
                  <a:pt x="0" y="76544"/>
                </a:moveTo>
                <a:lnTo>
                  <a:pt x="0" y="76544"/>
                </a:lnTo>
                <a:lnTo>
                  <a:pt x="4688" y="49960"/>
                </a:lnTo>
                <a:lnTo>
                  <a:pt x="18184" y="26583"/>
                </a:lnTo>
                <a:lnTo>
                  <a:pt x="38863" y="9233"/>
                </a:lnTo>
                <a:lnTo>
                  <a:pt x="64228" y="0"/>
                </a:lnTo>
                <a:lnTo>
                  <a:pt x="91221" y="0"/>
                </a:lnTo>
                <a:lnTo>
                  <a:pt x="116587" y="9233"/>
                </a:lnTo>
                <a:lnTo>
                  <a:pt x="137265" y="26583"/>
                </a:lnTo>
                <a:lnTo>
                  <a:pt x="150761" y="49960"/>
                </a:lnTo>
                <a:lnTo>
                  <a:pt x="155449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8700515" y="3108960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8851392" y="30982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897112" y="3410712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LV-101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6080760" y="3657600"/>
            <a:ext cx="4572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537960" y="3657600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6080760" y="4754880"/>
            <a:ext cx="4572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6537960" y="4325112"/>
            <a:ext cx="0" cy="4297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Oval 263"/>
          <p:cNvSpPr/>
          <p:nvPr/>
        </p:nvSpPr>
        <p:spPr>
          <a:xfrm>
            <a:off x="6373368" y="3995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265" name="Oval 264"/>
          <p:cNvSpPr/>
          <p:nvPr/>
        </p:nvSpPr>
        <p:spPr>
          <a:xfrm>
            <a:off x="7927848" y="26243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927848" y="27889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6702552" y="4160520"/>
            <a:ext cx="138988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8092440" y="2953512"/>
            <a:ext cx="0" cy="120700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8257031" y="2788920"/>
            <a:ext cx="521209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8778240" y="2788920"/>
            <a:ext cx="0" cy="23774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Freeform 270"/>
          <p:cNvSpPr/>
          <p:nvPr/>
        </p:nvSpPr>
        <p:spPr>
          <a:xfrm>
            <a:off x="10863072" y="489204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384048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80"/>
                </a:lnTo>
                <a:lnTo>
                  <a:pt x="384048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699699" y="4693920"/>
            <a:ext cx="565708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FROM K-101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SHT 2</a:t>
            </a:r>
          </a:p>
        </p:txBody>
      </p:sp>
      <p:cxnSp>
        <p:nvCxnSpPr>
          <p:cNvPr id="273" name="Connector 272"/>
          <p:cNvCxnSpPr/>
          <p:nvPr/>
        </p:nvCxnSpPr>
        <p:spPr>
          <a:xfrm flipH="1">
            <a:off x="6062472" y="4983480"/>
            <a:ext cx="4800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/>
          <p:cNvSpPr txBox="1"/>
          <p:nvPr/>
        </p:nvSpPr>
        <p:spPr>
          <a:xfrm>
            <a:off x="6565392" y="485241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8"-G-1009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9939528" y="4901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994392" y="4901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9853574" y="5102352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FE-103</a:t>
            </a:r>
          </a:p>
        </p:txBody>
      </p:sp>
      <p:cxnSp>
        <p:nvCxnSpPr>
          <p:cNvPr id="278" name="Connector 277"/>
          <p:cNvCxnSpPr/>
          <p:nvPr/>
        </p:nvCxnSpPr>
        <p:spPr>
          <a:xfrm flipV="1">
            <a:off x="9966960" y="4599432"/>
            <a:ext cx="0" cy="3017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Oval 278"/>
          <p:cNvSpPr/>
          <p:nvPr/>
        </p:nvSpPr>
        <p:spPr>
          <a:xfrm>
            <a:off x="9802368" y="4270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sp>
        <p:nvSpPr>
          <p:cNvPr id="280" name="Oval 279"/>
          <p:cNvSpPr/>
          <p:nvPr/>
        </p:nvSpPr>
        <p:spPr>
          <a:xfrm>
            <a:off x="8339328" y="4270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8339328" y="4434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8668512" y="4434840"/>
            <a:ext cx="113385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Oval 282"/>
          <p:cNvSpPr/>
          <p:nvPr/>
        </p:nvSpPr>
        <p:spPr>
          <a:xfrm>
            <a:off x="7971281" y="49537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8977122" y="49537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>
            <a:off x="8001000" y="49834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001000" y="5367528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006840" y="49834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Freeform 287"/>
          <p:cNvSpPr/>
          <p:nvPr/>
        </p:nvSpPr>
        <p:spPr>
          <a:xfrm>
            <a:off x="8074152" y="4912614"/>
            <a:ext cx="219455" cy="141732"/>
          </a:xfrm>
          <a:custGeom>
            <a:avLst/>
            <a:gdLst/>
            <a:ahLst/>
            <a:cxnLst/>
            <a:rect l="l" t="t" r="r" b="b"/>
            <a:pathLst>
              <a:path w="219455" h="141732">
                <a:moveTo>
                  <a:pt x="0" y="0"/>
                </a:moveTo>
                <a:lnTo>
                  <a:pt x="219455" y="141732"/>
                </a:lnTo>
                <a:lnTo>
                  <a:pt x="219455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070494" y="471220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MV-314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90" name="Freeform 289"/>
          <p:cNvSpPr/>
          <p:nvPr/>
        </p:nvSpPr>
        <p:spPr>
          <a:xfrm>
            <a:off x="8714232" y="491261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710574" y="471220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MV-315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92" name="Freeform 291"/>
          <p:cNvSpPr/>
          <p:nvPr/>
        </p:nvSpPr>
        <p:spPr>
          <a:xfrm>
            <a:off x="8394192" y="5296662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8481060" y="534466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8390534" y="5468112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MV-316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295" name="Freeform 294"/>
          <p:cNvSpPr/>
          <p:nvPr/>
        </p:nvSpPr>
        <p:spPr>
          <a:xfrm>
            <a:off x="8385048" y="49057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 flipV="1">
            <a:off x="8503920" y="480060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Freeform 296"/>
          <p:cNvSpPr/>
          <p:nvPr/>
        </p:nvSpPr>
        <p:spPr>
          <a:xfrm>
            <a:off x="8426196" y="472405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8426196" y="480060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8577072" y="478993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8622792" y="5102352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8503920" y="4599432"/>
            <a:ext cx="0" cy="11887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5303520" y="5257800"/>
            <a:ext cx="0" cy="6537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Freeform 302"/>
          <p:cNvSpPr/>
          <p:nvPr/>
        </p:nvSpPr>
        <p:spPr>
          <a:xfrm>
            <a:off x="5303520" y="591159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1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Connector 303"/>
          <p:cNvCxnSpPr/>
          <p:nvPr/>
        </p:nvCxnSpPr>
        <p:spPr>
          <a:xfrm>
            <a:off x="5303520" y="6067044"/>
            <a:ext cx="0" cy="10195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Freeform 304"/>
          <p:cNvSpPr/>
          <p:nvPr/>
        </p:nvSpPr>
        <p:spPr>
          <a:xfrm>
            <a:off x="5225796" y="541324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 flipH="1">
            <a:off x="5120640" y="5532120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ctangle 306"/>
          <p:cNvSpPr/>
          <p:nvPr/>
        </p:nvSpPr>
        <p:spPr>
          <a:xfrm>
            <a:off x="5010912" y="5463540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8" name="Connector 307"/>
          <p:cNvCxnSpPr/>
          <p:nvPr/>
        </p:nvCxnSpPr>
        <p:spPr>
          <a:xfrm>
            <a:off x="5065776" y="5600700"/>
            <a:ext cx="0" cy="411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>
            <a:off x="5020056" y="5641848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5033619" y="5645086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4104" y="5631180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394960" y="5479319"/>
            <a:ext cx="550265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EIV-101*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340096" y="5318760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18"-SL-1010</a:t>
            </a:r>
          </a:p>
        </p:txBody>
      </p:sp>
      <p:cxnSp>
        <p:nvCxnSpPr>
          <p:cNvPr id="314" name="Connector 313"/>
          <p:cNvCxnSpPr/>
          <p:nvPr/>
        </p:nvCxnSpPr>
        <p:spPr>
          <a:xfrm>
            <a:off x="4297680" y="7086600"/>
            <a:ext cx="1463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5273802" y="7056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 flipV="1">
            <a:off x="4297679" y="667512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4297679" y="6675120"/>
            <a:ext cx="21031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Freeform 317"/>
          <p:cNvSpPr/>
          <p:nvPr/>
        </p:nvSpPr>
        <p:spPr>
          <a:xfrm>
            <a:off x="4293107" y="6604254"/>
            <a:ext cx="219457" cy="141732"/>
          </a:xfrm>
          <a:custGeom>
            <a:avLst/>
            <a:gdLst/>
            <a:ahLst/>
            <a:cxnLst/>
            <a:rect l="l" t="t" r="r" b="b"/>
            <a:pathLst>
              <a:path w="219457" h="141732">
                <a:moveTo>
                  <a:pt x="0" y="0"/>
                </a:moveTo>
                <a:lnTo>
                  <a:pt x="219457" y="141732"/>
                </a:lnTo>
                <a:lnTo>
                  <a:pt x="219457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289450" y="640384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MV-317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320" name="Freeform 319"/>
          <p:cNvSpPr/>
          <p:nvPr/>
        </p:nvSpPr>
        <p:spPr>
          <a:xfrm>
            <a:off x="4523536" y="675284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507992" y="65196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 flipV="1">
            <a:off x="4663440" y="650138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4837176" y="6784848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P-101A</a:t>
            </a:r>
          </a:p>
        </p:txBody>
      </p:sp>
      <p:cxnSp>
        <p:nvCxnSpPr>
          <p:cNvPr id="324" name="Connector 323"/>
          <p:cNvCxnSpPr/>
          <p:nvPr/>
        </p:nvCxnSpPr>
        <p:spPr>
          <a:xfrm flipV="1">
            <a:off x="4663440" y="5989320"/>
            <a:ext cx="0" cy="5120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Freeform 324"/>
          <p:cNvSpPr/>
          <p:nvPr/>
        </p:nvSpPr>
        <p:spPr>
          <a:xfrm>
            <a:off x="4593031" y="6254038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4593031" y="6254038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4754880" y="6262115"/>
            <a:ext cx="413552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NRV-302</a:t>
            </a:r>
          </a:p>
        </p:txBody>
      </p:sp>
      <p:sp>
        <p:nvSpPr>
          <p:cNvPr id="328" name="Freeform 327"/>
          <p:cNvSpPr/>
          <p:nvPr/>
        </p:nvSpPr>
        <p:spPr>
          <a:xfrm>
            <a:off x="4592574" y="5998464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4754880" y="6022847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MV-318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30" name="Connector 329"/>
          <p:cNvCxnSpPr/>
          <p:nvPr/>
        </p:nvCxnSpPr>
        <p:spPr>
          <a:xfrm flipV="1">
            <a:off x="5760720" y="667512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5760720" y="6675120"/>
            <a:ext cx="2103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Freeform 331"/>
          <p:cNvSpPr/>
          <p:nvPr/>
        </p:nvSpPr>
        <p:spPr>
          <a:xfrm>
            <a:off x="5756148" y="660425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5752490" y="640384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MV-319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5986576" y="675284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971032" y="65196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 flipV="1">
            <a:off x="6126480" y="650138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/>
          <p:cNvSpPr txBox="1"/>
          <p:nvPr/>
        </p:nvSpPr>
        <p:spPr>
          <a:xfrm>
            <a:off x="6300216" y="6784848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P-101B</a:t>
            </a:r>
          </a:p>
        </p:txBody>
      </p:sp>
      <p:cxnSp>
        <p:nvCxnSpPr>
          <p:cNvPr id="338" name="Connector 337"/>
          <p:cNvCxnSpPr/>
          <p:nvPr/>
        </p:nvCxnSpPr>
        <p:spPr>
          <a:xfrm flipV="1">
            <a:off x="6126480" y="5989320"/>
            <a:ext cx="0" cy="5120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Freeform 338"/>
          <p:cNvSpPr/>
          <p:nvPr/>
        </p:nvSpPr>
        <p:spPr>
          <a:xfrm>
            <a:off x="6056071" y="6254038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6056071" y="6254038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6217920" y="6262115"/>
            <a:ext cx="413552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NRV-303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6055614" y="5998464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217920" y="6022847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MV-320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44" name="Connector 343"/>
          <p:cNvCxnSpPr/>
          <p:nvPr/>
        </p:nvCxnSpPr>
        <p:spPr>
          <a:xfrm>
            <a:off x="4983480" y="7086600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reeform 344"/>
          <p:cNvSpPr/>
          <p:nvPr/>
        </p:nvSpPr>
        <p:spPr>
          <a:xfrm>
            <a:off x="4924044" y="7187184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4937760" y="7470648"/>
            <a:ext cx="91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5038344" y="7377684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529206" y="7193280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MV-321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cxnSp>
        <p:nvCxnSpPr>
          <p:cNvPr id="349" name="Connector 348"/>
          <p:cNvCxnSpPr/>
          <p:nvPr/>
        </p:nvCxnSpPr>
        <p:spPr>
          <a:xfrm>
            <a:off x="4663440" y="5989320"/>
            <a:ext cx="216712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Oval 349"/>
          <p:cNvSpPr/>
          <p:nvPr/>
        </p:nvSpPr>
        <p:spPr>
          <a:xfrm>
            <a:off x="6096762" y="5959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4736592" y="5858256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16"-SL-1011</a:t>
            </a:r>
          </a:p>
        </p:txBody>
      </p:sp>
      <p:sp>
        <p:nvSpPr>
          <p:cNvPr id="352" name="Freeform 351"/>
          <p:cNvSpPr/>
          <p:nvPr/>
        </p:nvSpPr>
        <p:spPr>
          <a:xfrm>
            <a:off x="6830568" y="59115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6871716" y="5989320"/>
            <a:ext cx="155448" cy="118872"/>
          </a:xfrm>
          <a:custGeom>
            <a:avLst/>
            <a:gdLst/>
            <a:ahLst/>
            <a:cxnLst/>
            <a:rect l="l" t="t" r="r" b="b"/>
            <a:pathLst>
              <a:path w="155448" h="118872">
                <a:moveTo>
                  <a:pt x="77724" y="0"/>
                </a:moveTo>
                <a:lnTo>
                  <a:pt x="0" y="118872"/>
                </a:lnTo>
                <a:lnTo>
                  <a:pt x="155448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 flipV="1">
            <a:off x="6949440" y="580644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Freeform 354"/>
          <p:cNvSpPr/>
          <p:nvPr/>
        </p:nvSpPr>
        <p:spPr>
          <a:xfrm>
            <a:off x="6871716" y="572989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1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6871716" y="580644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022592" y="579577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6448958" y="6135624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FV-104</a:t>
            </a:r>
          </a:p>
        </p:txBody>
      </p:sp>
      <p:cxnSp>
        <p:nvCxnSpPr>
          <p:cNvPr id="359" name="Connector 358"/>
          <p:cNvCxnSpPr/>
          <p:nvPr/>
        </p:nvCxnSpPr>
        <p:spPr>
          <a:xfrm>
            <a:off x="7068312" y="598932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7662672" y="598932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7360920" y="590702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7415783" y="590702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7388352" y="6071616"/>
            <a:ext cx="0" cy="2560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Oval 363"/>
          <p:cNvSpPr/>
          <p:nvPr/>
        </p:nvSpPr>
        <p:spPr>
          <a:xfrm>
            <a:off x="7223760" y="6327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sp>
        <p:nvSpPr>
          <p:cNvPr id="365" name="Oval 364"/>
          <p:cNvSpPr/>
          <p:nvPr/>
        </p:nvSpPr>
        <p:spPr>
          <a:xfrm>
            <a:off x="6281928" y="5367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366" name="Connector 365"/>
          <p:cNvCxnSpPr/>
          <p:nvPr/>
        </p:nvCxnSpPr>
        <p:spPr>
          <a:xfrm>
            <a:off x="6281928" y="55321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7388352" y="6656832"/>
            <a:ext cx="0" cy="10972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7178040" y="6766560"/>
            <a:ext cx="21031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7178040" y="5532120"/>
            <a:ext cx="0" cy="123444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6611112" y="5532120"/>
            <a:ext cx="56692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6446520" y="5285232"/>
            <a:ext cx="0" cy="8229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6446520" y="5285232"/>
            <a:ext cx="5029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6949440" y="5285232"/>
            <a:ext cx="0" cy="44348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/>
          <p:cNvSpPr txBox="1"/>
          <p:nvPr/>
        </p:nvSpPr>
        <p:spPr>
          <a:xfrm>
            <a:off x="7699248" y="6123432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12"-SL-1015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3520440" y="4416552"/>
            <a:ext cx="0" cy="141732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3520440" y="5833872"/>
            <a:ext cx="292608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6446520" y="5696712"/>
            <a:ext cx="0" cy="13716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6949440" y="6108192"/>
            <a:ext cx="0" cy="207568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6986016" y="7174992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16"-SL-1013</a:t>
            </a:r>
          </a:p>
        </p:txBody>
      </p:sp>
      <p:cxnSp>
        <p:nvCxnSpPr>
          <p:cNvPr id="380" name="Connector 379"/>
          <p:cNvCxnSpPr/>
          <p:nvPr/>
        </p:nvCxnSpPr>
        <p:spPr>
          <a:xfrm>
            <a:off x="7662672" y="7818120"/>
            <a:ext cx="0" cy="36575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>
            <a:off x="3931920" y="8183879"/>
            <a:ext cx="373075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3931920" y="4709160"/>
            <a:ext cx="0" cy="347471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3931920" y="4709160"/>
            <a:ext cx="594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Oval 383"/>
          <p:cNvSpPr/>
          <p:nvPr/>
        </p:nvSpPr>
        <p:spPr>
          <a:xfrm>
            <a:off x="6919722" y="815416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3968496" y="6169151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16"-SL-1016</a:t>
            </a:r>
          </a:p>
        </p:txBody>
      </p:sp>
      <p:cxnSp>
        <p:nvCxnSpPr>
          <p:cNvPr id="386" name="Connector 385"/>
          <p:cNvCxnSpPr/>
          <p:nvPr/>
        </p:nvCxnSpPr>
        <p:spPr>
          <a:xfrm flipH="1">
            <a:off x="7434072" y="8001000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7632954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7699248" y="7824216"/>
            <a:ext cx="362833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TE-104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7699248" y="8083296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12"-SL-1012</a:t>
            </a:r>
          </a:p>
        </p:txBody>
      </p:sp>
      <p:sp>
        <p:nvSpPr>
          <p:cNvPr id="390" name="Oval 389"/>
          <p:cNvSpPr/>
          <p:nvPr/>
        </p:nvSpPr>
        <p:spPr>
          <a:xfrm>
            <a:off x="7104888" y="7836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sp>
        <p:nvSpPr>
          <p:cNvPr id="391" name="Oval 390"/>
          <p:cNvSpPr/>
          <p:nvPr/>
        </p:nvSpPr>
        <p:spPr>
          <a:xfrm>
            <a:off x="6327648" y="7653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392" name="Connector 391"/>
          <p:cNvCxnSpPr/>
          <p:nvPr/>
        </p:nvCxnSpPr>
        <p:spPr>
          <a:xfrm>
            <a:off x="6327648" y="78181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>
            <a:off x="6492240" y="8001000"/>
            <a:ext cx="61264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6492240" y="7982712"/>
            <a:ext cx="0" cy="1828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Rectangle 394"/>
          <p:cNvSpPr/>
          <p:nvPr/>
        </p:nvSpPr>
        <p:spPr>
          <a:xfrm>
            <a:off x="7589520" y="7360920"/>
            <a:ext cx="146304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7735824" y="7360920"/>
            <a:ext cx="168249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7735824" y="7511796"/>
            <a:ext cx="1568196" cy="155448"/>
          </a:xfrm>
          <a:custGeom>
            <a:avLst/>
            <a:gdLst/>
            <a:ahLst/>
            <a:cxnLst/>
            <a:rect l="l" t="t" r="r" b="b"/>
            <a:pathLst>
              <a:path w="1568196" h="155448">
                <a:moveTo>
                  <a:pt x="0" y="0"/>
                </a:moveTo>
                <a:lnTo>
                  <a:pt x="1476756" y="0"/>
                </a:lnTo>
                <a:lnTo>
                  <a:pt x="1568196" y="77724"/>
                </a:lnTo>
                <a:lnTo>
                  <a:pt x="1476756" y="155448"/>
                </a:lnTo>
                <a:lnTo>
                  <a:pt x="0" y="155448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8165592" y="7872984"/>
            <a:ext cx="47762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8165592" y="8010144"/>
            <a:ext cx="1104595" cy="19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PUMP-AROUND COOLER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LP STEAM GEN.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8229600" y="6126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8284464" y="6181344"/>
            <a:ext cx="47762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D-101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8778240" y="6304661"/>
            <a:ext cx="607974" cy="1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STEAM DRUM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8549640" y="658368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9098280" y="6583680"/>
            <a:ext cx="0" cy="7772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Freeform 404"/>
          <p:cNvSpPr/>
          <p:nvPr/>
        </p:nvSpPr>
        <p:spPr>
          <a:xfrm>
            <a:off x="8471915" y="6967728"/>
            <a:ext cx="155449" cy="237744"/>
          </a:xfrm>
          <a:custGeom>
            <a:avLst/>
            <a:gdLst/>
            <a:ahLst/>
            <a:cxnLst/>
            <a:rect l="l" t="t" r="r" b="b"/>
            <a:pathLst>
              <a:path w="155449" h="237744">
                <a:moveTo>
                  <a:pt x="0" y="0"/>
                </a:moveTo>
                <a:lnTo>
                  <a:pt x="155449" y="237744"/>
                </a:lnTo>
                <a:lnTo>
                  <a:pt x="0" y="237744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 flipH="1">
            <a:off x="8366760" y="7086600"/>
            <a:ext cx="1051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Rectangle 406"/>
          <p:cNvSpPr/>
          <p:nvPr/>
        </p:nvSpPr>
        <p:spPr>
          <a:xfrm>
            <a:off x="8257031" y="7018020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8353348" y="7222236"/>
            <a:ext cx="99974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650224" y="7033799"/>
            <a:ext cx="488797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HY-101A</a:t>
            </a:r>
          </a:p>
        </p:txBody>
      </p:sp>
      <p:sp>
        <p:nvSpPr>
          <p:cNvPr id="410" name="Freeform 409"/>
          <p:cNvSpPr/>
          <p:nvPr/>
        </p:nvSpPr>
        <p:spPr>
          <a:xfrm>
            <a:off x="9020555" y="6693408"/>
            <a:ext cx="155449" cy="237744"/>
          </a:xfrm>
          <a:custGeom>
            <a:avLst/>
            <a:gdLst/>
            <a:ahLst/>
            <a:cxnLst/>
            <a:rect l="l" t="t" r="r" b="b"/>
            <a:pathLst>
              <a:path w="155449" h="237744">
                <a:moveTo>
                  <a:pt x="0" y="0"/>
                </a:moveTo>
                <a:lnTo>
                  <a:pt x="155449" y="237744"/>
                </a:lnTo>
                <a:lnTo>
                  <a:pt x="0" y="237744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 flipH="1">
            <a:off x="8915400" y="6812280"/>
            <a:ext cx="1051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Rectangle 411"/>
          <p:cNvSpPr/>
          <p:nvPr/>
        </p:nvSpPr>
        <p:spPr>
          <a:xfrm>
            <a:off x="8805672" y="6743700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8901988" y="6947916"/>
            <a:ext cx="99974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9198864" y="6759479"/>
            <a:ext cx="488797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HY-101B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7905780" y="6627876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12"-BW-1022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125712" y="7174992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14"-LS-1023</a:t>
            </a:r>
          </a:p>
        </p:txBody>
      </p:sp>
      <p:cxnSp>
        <p:nvCxnSpPr>
          <p:cNvPr id="417" name="Connector 416"/>
          <p:cNvCxnSpPr/>
          <p:nvPr/>
        </p:nvCxnSpPr>
        <p:spPr>
          <a:xfrm flipV="1">
            <a:off x="8641080" y="601675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Freeform 417"/>
          <p:cNvSpPr/>
          <p:nvPr/>
        </p:nvSpPr>
        <p:spPr>
          <a:xfrm>
            <a:off x="8567928" y="5916168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8531352" y="5847588"/>
            <a:ext cx="109728" cy="137160"/>
          </a:xfrm>
          <a:custGeom>
            <a:avLst/>
            <a:gdLst/>
            <a:ahLst/>
            <a:cxnLst/>
            <a:rect l="l" t="t" r="r" b="b"/>
            <a:pathLst>
              <a:path w="109728" h="137160">
                <a:moveTo>
                  <a:pt x="109728" y="68580"/>
                </a:move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8604504" y="5705855"/>
            <a:ext cx="73151" cy="210313"/>
          </a:xfrm>
          <a:custGeom>
            <a:avLst/>
            <a:gdLst/>
            <a:ahLst/>
            <a:cxnLst/>
            <a:rect l="l" t="t" r="r" b="b"/>
            <a:pathLst>
              <a:path w="73151" h="210313">
                <a:moveTo>
                  <a:pt x="36576" y="210313"/>
                </a:moveTo>
                <a:lnTo>
                  <a:pt x="0" y="173737"/>
                </a:lnTo>
                <a:lnTo>
                  <a:pt x="73151" y="141733"/>
                </a:lnTo>
                <a:lnTo>
                  <a:pt x="0" y="109728"/>
                </a:lnTo>
                <a:lnTo>
                  <a:pt x="73151" y="77724"/>
                </a:lnTo>
                <a:lnTo>
                  <a:pt x="0" y="45721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 flipH="1">
            <a:off x="8330183" y="5916168"/>
            <a:ext cx="201169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128650" y="5868924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ATM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8714232" y="5602223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PSV-109*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 bar g</a:t>
            </a:r>
          </a:p>
        </p:txBody>
      </p:sp>
      <p:cxnSp>
        <p:nvCxnSpPr>
          <p:cNvPr id="424" name="Connector 423"/>
          <p:cNvCxnSpPr/>
          <p:nvPr/>
        </p:nvCxnSpPr>
        <p:spPr>
          <a:xfrm flipV="1">
            <a:off x="9555480" y="548640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9555480" y="5486400"/>
            <a:ext cx="1463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Freeform 425"/>
          <p:cNvSpPr/>
          <p:nvPr/>
        </p:nvSpPr>
        <p:spPr>
          <a:xfrm>
            <a:off x="10863072" y="539496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10801136" y="5196840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LP STEAM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HEADER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582912" y="5355336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10"-LS-1021</a:t>
            </a:r>
          </a:p>
        </p:txBody>
      </p:sp>
      <p:sp>
        <p:nvSpPr>
          <p:cNvPr id="429" name="Freeform 428"/>
          <p:cNvSpPr/>
          <p:nvPr/>
        </p:nvSpPr>
        <p:spPr>
          <a:xfrm>
            <a:off x="9939528" y="54086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 flipV="1">
            <a:off x="10058400" y="530352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Freeform 430"/>
          <p:cNvSpPr/>
          <p:nvPr/>
        </p:nvSpPr>
        <p:spPr>
          <a:xfrm>
            <a:off x="9980676" y="522697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9980676" y="530352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10131552" y="529285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924859" y="5596128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PV-110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10488168" y="540410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0543032" y="540410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0515600" y="5568696"/>
            <a:ext cx="0" cy="10058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10351008" y="56692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111</a:t>
            </a:r>
          </a:p>
        </p:txBody>
      </p:sp>
      <p:sp>
        <p:nvSpPr>
          <p:cNvPr id="439" name="Oval 438"/>
          <p:cNvSpPr/>
          <p:nvPr/>
        </p:nvSpPr>
        <p:spPr>
          <a:xfrm>
            <a:off x="10826496" y="56692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111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10826496" y="58338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0680192" y="583387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9555480" y="5943600"/>
            <a:ext cx="2103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9525761" y="5913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65792" y="57790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445" name="Oval 444"/>
          <p:cNvSpPr/>
          <p:nvPr/>
        </p:nvSpPr>
        <p:spPr>
          <a:xfrm>
            <a:off x="9070848" y="56144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9070848" y="57790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9930384" y="5705856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9473184" y="5705856"/>
            <a:ext cx="45720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9473184" y="5705856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9400032" y="5779008"/>
            <a:ext cx="731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9235440" y="5166360"/>
            <a:ext cx="0" cy="44805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9235440" y="5166360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0058400" y="5166360"/>
            <a:ext cx="0" cy="5943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Freeform 453"/>
          <p:cNvSpPr/>
          <p:nvPr/>
        </p:nvSpPr>
        <p:spPr>
          <a:xfrm>
            <a:off x="10863072" y="685800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384048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79"/>
                </a:lnTo>
                <a:lnTo>
                  <a:pt x="384048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10699699" y="7068312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BFW 105 °C</a:t>
            </a:r>
          </a:p>
        </p:txBody>
      </p:sp>
      <p:cxnSp>
        <p:nvCxnSpPr>
          <p:cNvPr id="456" name="Connector 455"/>
          <p:cNvCxnSpPr/>
          <p:nvPr/>
        </p:nvCxnSpPr>
        <p:spPr>
          <a:xfrm flipH="1">
            <a:off x="9692640" y="6949440"/>
            <a:ext cx="117043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9692640" y="658368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/>
          <p:cNvSpPr txBox="1"/>
          <p:nvPr/>
        </p:nvSpPr>
        <p:spPr>
          <a:xfrm>
            <a:off x="9729216" y="6995159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3"-BW-1020</a:t>
            </a:r>
          </a:p>
        </p:txBody>
      </p:sp>
      <p:sp>
        <p:nvSpPr>
          <p:cNvPr id="459" name="Freeform 458"/>
          <p:cNvSpPr/>
          <p:nvPr/>
        </p:nvSpPr>
        <p:spPr>
          <a:xfrm>
            <a:off x="10442448" y="68717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 flipV="1">
            <a:off x="10561320" y="67665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Freeform 460"/>
          <p:cNvSpPr/>
          <p:nvPr/>
        </p:nvSpPr>
        <p:spPr>
          <a:xfrm>
            <a:off x="10483596" y="6690016"/>
            <a:ext cx="155448" cy="76543"/>
          </a:xfrm>
          <a:custGeom>
            <a:avLst/>
            <a:gdLst/>
            <a:ahLst/>
            <a:cxnLst/>
            <a:rect l="l" t="t" r="r" b="b"/>
            <a:pathLst>
              <a:path w="155448" h="76543">
                <a:moveTo>
                  <a:pt x="0" y="76543"/>
                </a:moveTo>
                <a:lnTo>
                  <a:pt x="0" y="76543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Connector 461"/>
          <p:cNvCxnSpPr/>
          <p:nvPr/>
        </p:nvCxnSpPr>
        <p:spPr>
          <a:xfrm>
            <a:off x="10483596" y="6766559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10634472" y="67558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0427779" y="7059168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LV-109</a:t>
            </a:r>
          </a:p>
        </p:txBody>
      </p:sp>
      <p:cxnSp>
        <p:nvCxnSpPr>
          <p:cNvPr id="465" name="Connector 464"/>
          <p:cNvCxnSpPr/>
          <p:nvPr/>
        </p:nvCxnSpPr>
        <p:spPr>
          <a:xfrm>
            <a:off x="10122408" y="68671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0177272" y="68671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0149840" y="7031736"/>
            <a:ext cx="0" cy="1371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Oval 467"/>
          <p:cNvSpPr/>
          <p:nvPr/>
        </p:nvSpPr>
        <p:spPr>
          <a:xfrm>
            <a:off x="9985248" y="7168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469" name="Oval 468"/>
          <p:cNvSpPr/>
          <p:nvPr/>
        </p:nvSpPr>
        <p:spPr>
          <a:xfrm>
            <a:off x="10488168" y="7168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10488168" y="73334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0314432" y="7333488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9939528" y="6291072"/>
            <a:ext cx="5212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Oval 472"/>
          <p:cNvSpPr/>
          <p:nvPr/>
        </p:nvSpPr>
        <p:spPr>
          <a:xfrm>
            <a:off x="10460736" y="61264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474" name="Oval 473"/>
          <p:cNvSpPr/>
          <p:nvPr/>
        </p:nvSpPr>
        <p:spPr>
          <a:xfrm>
            <a:off x="10899648" y="61264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475" name="Connector 474"/>
          <p:cNvCxnSpPr/>
          <p:nvPr/>
        </p:nvCxnSpPr>
        <p:spPr>
          <a:xfrm>
            <a:off x="10899648" y="62910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0789920" y="6291072"/>
            <a:ext cx="10972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1064240" y="6455664"/>
            <a:ext cx="0" cy="16459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>
            <a:off x="10698480" y="6620256"/>
            <a:ext cx="3657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10698480" y="6620256"/>
            <a:ext cx="0" cy="3657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>
            <a:off x="10561320" y="6656832"/>
            <a:ext cx="1371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0561320" y="6656832"/>
            <a:ext cx="0" cy="320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9857232" y="6565392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9857232" y="6784848"/>
            <a:ext cx="402336" cy="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Freeform 483"/>
          <p:cNvSpPr/>
          <p:nvPr/>
        </p:nvSpPr>
        <p:spPr>
          <a:xfrm>
            <a:off x="9948672" y="6725412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9884664" y="6631051"/>
            <a:ext cx="569935" cy="881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MV-322 THR.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68712" y="6737604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BD</a:t>
            </a:r>
          </a:p>
        </p:txBody>
      </p:sp>
      <p:sp>
        <p:nvSpPr>
          <p:cNvPr id="487" name="Freeform 486"/>
          <p:cNvSpPr/>
          <p:nvPr/>
        </p:nvSpPr>
        <p:spPr>
          <a:xfrm>
            <a:off x="10863072" y="763524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384048" y="0"/>
                </a:moveTo>
                <a:lnTo>
                  <a:pt x="91440" y="0"/>
                </a:lnTo>
                <a:lnTo>
                  <a:pt x="0" y="91439"/>
                </a:lnTo>
                <a:lnTo>
                  <a:pt x="91440" y="182879"/>
                </a:lnTo>
                <a:lnTo>
                  <a:pt x="384048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10801136" y="7845552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MP STEAM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10 bar g</a:t>
            </a:r>
          </a:p>
        </p:txBody>
      </p:sp>
      <p:cxnSp>
        <p:nvCxnSpPr>
          <p:cNvPr id="489" name="Connector 488"/>
          <p:cNvCxnSpPr/>
          <p:nvPr/>
        </p:nvCxnSpPr>
        <p:spPr>
          <a:xfrm flipH="1">
            <a:off x="9372600" y="7726679"/>
            <a:ext cx="149047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Freeform 489"/>
          <p:cNvSpPr/>
          <p:nvPr/>
        </p:nvSpPr>
        <p:spPr>
          <a:xfrm>
            <a:off x="10360152" y="7655813"/>
            <a:ext cx="219455" cy="141733"/>
          </a:xfrm>
          <a:custGeom>
            <a:avLst/>
            <a:gdLst/>
            <a:ahLst/>
            <a:cxnLst/>
            <a:rect l="l" t="t" r="r" b="b"/>
            <a:pathLst>
              <a:path w="219455" h="141733">
                <a:moveTo>
                  <a:pt x="0" y="0"/>
                </a:moveTo>
                <a:lnTo>
                  <a:pt x="219455" y="141733"/>
                </a:lnTo>
                <a:lnTo>
                  <a:pt x="219455" y="0"/>
                </a:lnTo>
                <a:lnTo>
                  <a:pt x="0" y="141733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10356494" y="7827263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HV-110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492" name="Freeform 491"/>
          <p:cNvSpPr/>
          <p:nvPr/>
        </p:nvSpPr>
        <p:spPr>
          <a:xfrm>
            <a:off x="9665207" y="7648955"/>
            <a:ext cx="237745" cy="155449"/>
          </a:xfrm>
          <a:custGeom>
            <a:avLst/>
            <a:gdLst/>
            <a:ahLst/>
            <a:cxnLst/>
            <a:rect l="l" t="t" r="r" b="b"/>
            <a:pathLst>
              <a:path w="237745" h="155449">
                <a:moveTo>
                  <a:pt x="0" y="0"/>
                </a:moveTo>
                <a:lnTo>
                  <a:pt x="237745" y="155449"/>
                </a:lnTo>
                <a:lnTo>
                  <a:pt x="237745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9784080" y="754380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ectangle 493"/>
          <p:cNvSpPr/>
          <p:nvPr/>
        </p:nvSpPr>
        <p:spPr>
          <a:xfrm>
            <a:off x="9715500" y="743407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9857232" y="753313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9631330" y="7836407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HY-101D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0021824" y="7595616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8"-MS-1024</a:t>
            </a:r>
          </a:p>
        </p:txBody>
      </p:sp>
      <p:cxnSp>
        <p:nvCxnSpPr>
          <p:cNvPr id="498" name="Connector 497"/>
          <p:cNvCxnSpPr/>
          <p:nvPr/>
        </p:nvCxnSpPr>
        <p:spPr>
          <a:xfrm>
            <a:off x="9052560" y="7818120"/>
            <a:ext cx="0" cy="5486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9052560" y="8366760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Oval 499"/>
          <p:cNvSpPr/>
          <p:nvPr/>
        </p:nvSpPr>
        <p:spPr>
          <a:xfrm>
            <a:off x="8979408" y="7927848"/>
            <a:ext cx="146304" cy="14630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9018555" y="7956137"/>
            <a:ext cx="68008" cy="89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9134856" y="7953756"/>
            <a:ext cx="362833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ST-101</a:t>
            </a:r>
          </a:p>
        </p:txBody>
      </p:sp>
      <p:sp>
        <p:nvSpPr>
          <p:cNvPr id="503" name="Freeform 502"/>
          <p:cNvSpPr/>
          <p:nvPr/>
        </p:nvSpPr>
        <p:spPr>
          <a:xfrm>
            <a:off x="9390888" y="828903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 flipV="1">
            <a:off x="9509760" y="818388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Rectangle 504"/>
          <p:cNvSpPr/>
          <p:nvPr/>
        </p:nvSpPr>
        <p:spPr>
          <a:xfrm>
            <a:off x="9441180" y="807415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9582912" y="817321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9357010" y="8476488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HY-101C</a:t>
            </a:r>
          </a:p>
        </p:txBody>
      </p:sp>
      <p:sp>
        <p:nvSpPr>
          <p:cNvPr id="508" name="Freeform 507"/>
          <p:cNvSpPr/>
          <p:nvPr/>
        </p:nvSpPr>
        <p:spPr>
          <a:xfrm>
            <a:off x="10863072" y="827532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9994392" y="8235695"/>
            <a:ext cx="127577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3"-CD-1025 TO CONDENSATE</a:t>
            </a:r>
          </a:p>
        </p:txBody>
      </p:sp>
      <p:sp>
        <p:nvSpPr>
          <p:cNvPr id="510" name="Oval 509"/>
          <p:cNvSpPr/>
          <p:nvPr/>
        </p:nvSpPr>
        <p:spPr>
          <a:xfrm>
            <a:off x="7882128" y="68031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7882128" y="69677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8211312" y="6967728"/>
            <a:ext cx="45719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8257031" y="6967728"/>
            <a:ext cx="0" cy="5029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7795971" y="7168896"/>
            <a:ext cx="501497" cy="881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TO HY-101A/B/C/D</a:t>
            </a:r>
          </a:p>
        </p:txBody>
      </p:sp>
      <p:cxnSp>
        <p:nvCxnSpPr>
          <p:cNvPr id="515" name="Connector 514"/>
          <p:cNvCxnSpPr/>
          <p:nvPr/>
        </p:nvCxnSpPr>
        <p:spPr>
          <a:xfrm>
            <a:off x="457200" y="6144768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457200" y="6295644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457200" y="6446520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457200" y="6597396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57200" y="6748272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57200" y="6899148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457200" y="7050024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457200" y="7200900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457200" y="7351775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57200" y="7502651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57200" y="7653527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457200" y="7804403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457200" y="7955279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457200" y="8106155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57200" y="8257031"/>
            <a:ext cx="3337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457200" y="6144768"/>
            <a:ext cx="0" cy="21122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1874519" y="6144768"/>
            <a:ext cx="0" cy="21122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2743200" y="6144768"/>
            <a:ext cx="0" cy="21122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3794760" y="6144768"/>
            <a:ext cx="0" cy="211226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493776" y="6144768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DESIGN CASE (OTS MODEL)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911095" y="6144768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2779776" y="6144768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VALUE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493776" y="6295644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BENZENE FEED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911095" y="6295644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FIC-101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2779776" y="6295644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34.8 t/h · 40 °C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493776" y="6446520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H2 TO R-101 SPARGER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911095" y="6446520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FIC-103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2779776" y="6446520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46,000 Nm³/h · 60 °C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493776" y="6597396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R-101 TEMPERATURE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911095" y="6597396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TIC-101 / TI-100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2779776" y="6597396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200.0 °C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493776" y="6748272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R-101 PRESSURE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911095" y="6748272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PI-101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2779776" y="6748272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30.00 bar g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93776" y="6899148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R-101 LEVEL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911095" y="6899148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LIC-101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2779776" y="6899148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65 %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493776" y="7050024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AGITATOR POWER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911095" y="7050024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JI-101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2779776" y="7050024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153 kW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93776" y="7200900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PUMP-AROUND THROUGH E-101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911095" y="7200900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FIC-104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2779776" y="7200900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357 t/h (pump 606)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493776" y="7351775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E-101 RETURN / DUTY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911095" y="7351775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TI-104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2779776" y="7351775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159.3 °C · 9.6 MW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493776" y="7502651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REFLUX / E-103 OUTLET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911095" y="7502651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FI-105 / TI-103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2779776" y="7502651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46.5 t/h · 55.7 °C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493776" y="7653527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OVERFLOW TO R-102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911095" y="7653527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LV-101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2779776" y="7653527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36.5 t/h · 200 °C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93776" y="7804403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D-101 PRESSURE / LEVEL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911095" y="7804403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PIC-110 / LIC-109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2779776" y="7804403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4.50 bar g · 50 %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493776" y="7955279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LP STEAM / BFW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911095" y="7955279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FI-111 / FI-109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2779776" y="7955279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14.7 / 14.9 t/h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493776" y="8106155"/>
            <a:ext cx="1362456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R-101 BOILING POINT AT 30 bar g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1911095" y="8106155"/>
            <a:ext cx="81381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2779776" y="8106155"/>
            <a:ext cx="996695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258 °C (ceiling)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11530584" y="576072"/>
            <a:ext cx="56144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577" name="Connector 576"/>
          <p:cNvCxnSpPr/>
          <p:nvPr/>
        </p:nvCxnSpPr>
        <p:spPr>
          <a:xfrm>
            <a:off x="11567159" y="886968"/>
            <a:ext cx="54864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12234672" y="838136"/>
            <a:ext cx="956665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MAIN PROCESS LINE</a:t>
            </a:r>
          </a:p>
        </p:txBody>
      </p:sp>
      <p:cxnSp>
        <p:nvCxnSpPr>
          <p:cNvPr id="579" name="Connector 578"/>
          <p:cNvCxnSpPr/>
          <p:nvPr/>
        </p:nvCxnSpPr>
        <p:spPr>
          <a:xfrm>
            <a:off x="11567159" y="1197864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TextBox 579"/>
          <p:cNvSpPr txBox="1"/>
          <p:nvPr/>
        </p:nvSpPr>
        <p:spPr>
          <a:xfrm>
            <a:off x="12234672" y="1149032"/>
            <a:ext cx="180197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UTILITY / SECONDARY / BYPASS LINE</a:t>
            </a:r>
          </a:p>
        </p:txBody>
      </p:sp>
      <p:cxnSp>
        <p:nvCxnSpPr>
          <p:cNvPr id="581" name="Connector 580"/>
          <p:cNvCxnSpPr/>
          <p:nvPr/>
        </p:nvCxnSpPr>
        <p:spPr>
          <a:xfrm>
            <a:off x="11567159" y="1508760"/>
            <a:ext cx="54864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12234672" y="1459928"/>
            <a:ext cx="159064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INSTRUMENT PROCESS CONNECTION</a:t>
            </a:r>
          </a:p>
        </p:txBody>
      </p:sp>
      <p:cxnSp>
        <p:nvCxnSpPr>
          <p:cNvPr id="583" name="Connector 582"/>
          <p:cNvCxnSpPr/>
          <p:nvPr/>
        </p:nvCxnSpPr>
        <p:spPr>
          <a:xfrm>
            <a:off x="11567159" y="1819656"/>
            <a:ext cx="548641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12234672" y="1770824"/>
            <a:ext cx="180197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ELECTRONIC SIGNAL (4-20 mA / BUS)</a:t>
            </a:r>
          </a:p>
        </p:txBody>
      </p:sp>
      <p:cxnSp>
        <p:nvCxnSpPr>
          <p:cNvPr id="585" name="Connector 584"/>
          <p:cNvCxnSpPr/>
          <p:nvPr/>
        </p:nvCxnSpPr>
        <p:spPr>
          <a:xfrm>
            <a:off x="11567159" y="2130552"/>
            <a:ext cx="228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1676888" y="2002536"/>
            <a:ext cx="0" cy="502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Freeform 586"/>
          <p:cNvSpPr/>
          <p:nvPr/>
        </p:nvSpPr>
        <p:spPr>
          <a:xfrm>
            <a:off x="11676888" y="2052828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8" name="Connector 587"/>
          <p:cNvCxnSpPr/>
          <p:nvPr/>
        </p:nvCxnSpPr>
        <p:spPr>
          <a:xfrm>
            <a:off x="11676888" y="2208276"/>
            <a:ext cx="0" cy="502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1887200" y="2130552"/>
            <a:ext cx="228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Oval 589"/>
          <p:cNvSpPr/>
          <p:nvPr/>
        </p:nvSpPr>
        <p:spPr>
          <a:xfrm>
            <a:off x="11976353" y="210083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12234672" y="2081720"/>
            <a:ext cx="2700121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CROSSING WITHOUT CONNECTION (VERTICAL JUMPS) / TEE</a:t>
            </a:r>
          </a:p>
        </p:txBody>
      </p:sp>
      <p:sp>
        <p:nvSpPr>
          <p:cNvPr id="592" name="Oval 591"/>
          <p:cNvSpPr/>
          <p:nvPr/>
        </p:nvSpPr>
        <p:spPr>
          <a:xfrm>
            <a:off x="11676888" y="22768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12234672" y="2392616"/>
            <a:ext cx="206613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FIELD INSTRUMENT (TRANSMITTER, SWITCH)</a:t>
            </a:r>
          </a:p>
        </p:txBody>
      </p:sp>
      <p:sp>
        <p:nvSpPr>
          <p:cNvPr id="594" name="Oval 593"/>
          <p:cNvSpPr/>
          <p:nvPr/>
        </p:nvSpPr>
        <p:spPr>
          <a:xfrm>
            <a:off x="11676888" y="2679191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cxnSp>
        <p:nvCxnSpPr>
          <p:cNvPr id="595" name="Connector 594"/>
          <p:cNvCxnSpPr/>
          <p:nvPr/>
        </p:nvCxnSpPr>
        <p:spPr>
          <a:xfrm>
            <a:off x="11676888" y="2843784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TextBox 595"/>
          <p:cNvSpPr txBox="1"/>
          <p:nvPr/>
        </p:nvSpPr>
        <p:spPr>
          <a:xfrm>
            <a:off x="12234672" y="2794952"/>
            <a:ext cx="2224633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DCS FUNCTION (INDICATION, CONTROL, ALARM)</a:t>
            </a:r>
          </a:p>
        </p:txBody>
      </p:sp>
      <p:sp>
        <p:nvSpPr>
          <p:cNvPr id="597" name="Rectangle 596"/>
          <p:cNvSpPr/>
          <p:nvPr/>
        </p:nvSpPr>
        <p:spPr>
          <a:xfrm>
            <a:off x="11676888" y="3081527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1676888" y="30815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nnn</a:t>
            </a:r>
          </a:p>
        </p:txBody>
      </p:sp>
      <p:cxnSp>
        <p:nvCxnSpPr>
          <p:cNvPr id="599" name="Connector 598"/>
          <p:cNvCxnSpPr/>
          <p:nvPr/>
        </p:nvCxnSpPr>
        <p:spPr>
          <a:xfrm>
            <a:off x="11676888" y="32461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TextBox 599"/>
          <p:cNvSpPr txBox="1"/>
          <p:nvPr/>
        </p:nvSpPr>
        <p:spPr>
          <a:xfrm>
            <a:off x="12234672" y="3197288"/>
            <a:ext cx="1907641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SIS FUNCTION (LOGIC SOLVER SIS-100)</a:t>
            </a:r>
          </a:p>
        </p:txBody>
      </p:sp>
      <p:sp>
        <p:nvSpPr>
          <p:cNvPr id="601" name="Freeform 600"/>
          <p:cNvSpPr/>
          <p:nvPr/>
        </p:nvSpPr>
        <p:spPr>
          <a:xfrm>
            <a:off x="11722607" y="3698747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1841480" y="3593591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Freeform 602"/>
          <p:cNvSpPr/>
          <p:nvPr/>
        </p:nvSpPr>
        <p:spPr>
          <a:xfrm>
            <a:off x="11763755" y="3517048"/>
            <a:ext cx="155449" cy="76543"/>
          </a:xfrm>
          <a:custGeom>
            <a:avLst/>
            <a:gdLst/>
            <a:ahLst/>
            <a:cxnLst/>
            <a:rect l="l" t="t" r="r" b="b"/>
            <a:pathLst>
              <a:path w="155449" h="76543">
                <a:moveTo>
                  <a:pt x="0" y="76543"/>
                </a:moveTo>
                <a:lnTo>
                  <a:pt x="0" y="76543"/>
                </a:lnTo>
                <a:lnTo>
                  <a:pt x="4688" y="49960"/>
                </a:lnTo>
                <a:lnTo>
                  <a:pt x="18184" y="26583"/>
                </a:lnTo>
                <a:lnTo>
                  <a:pt x="38862" y="9233"/>
                </a:lnTo>
                <a:lnTo>
                  <a:pt x="64228" y="0"/>
                </a:lnTo>
                <a:lnTo>
                  <a:pt x="91221" y="0"/>
                </a:lnTo>
                <a:lnTo>
                  <a:pt x="116587" y="9233"/>
                </a:lnTo>
                <a:lnTo>
                  <a:pt x="137265" y="26583"/>
                </a:lnTo>
                <a:lnTo>
                  <a:pt x="150761" y="49960"/>
                </a:lnTo>
                <a:lnTo>
                  <a:pt x="155449" y="765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11763755" y="3593591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TextBox 604"/>
          <p:cNvSpPr txBox="1"/>
          <p:nvPr/>
        </p:nvSpPr>
        <p:spPr>
          <a:xfrm>
            <a:off x="11914632" y="3582923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2234672" y="3596512"/>
            <a:ext cx="1854809" cy="177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CONTROL VALVE, DIAPHRAGM ACTUATOR;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FAIL POSITION FC CLOSED / FO OPEN</a:t>
            </a:r>
          </a:p>
        </p:txBody>
      </p:sp>
      <p:sp>
        <p:nvSpPr>
          <p:cNvPr id="607" name="Freeform 606"/>
          <p:cNvSpPr/>
          <p:nvPr/>
        </p:nvSpPr>
        <p:spPr>
          <a:xfrm>
            <a:off x="11667743" y="4101083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11786615" y="3995927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ectangle 608"/>
          <p:cNvSpPr/>
          <p:nvPr/>
        </p:nvSpPr>
        <p:spPr>
          <a:xfrm>
            <a:off x="11718036" y="3886199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>
            <a:off x="11855195" y="3941063"/>
            <a:ext cx="411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1" name="Rectangle 610"/>
          <p:cNvSpPr/>
          <p:nvPr/>
        </p:nvSpPr>
        <p:spPr>
          <a:xfrm>
            <a:off x="11896343" y="3895344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11909907" y="3898582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11859767" y="3985259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12234672" y="4038536"/>
            <a:ext cx="2224633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ON/OFF VALVE WITH SOLENOID (SIS, EIV, HY)</a:t>
            </a:r>
          </a:p>
        </p:txBody>
      </p:sp>
      <p:sp>
        <p:nvSpPr>
          <p:cNvPr id="615" name="Freeform 614"/>
          <p:cNvSpPr/>
          <p:nvPr/>
        </p:nvSpPr>
        <p:spPr>
          <a:xfrm>
            <a:off x="11722607" y="4466844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11763755" y="4544568"/>
            <a:ext cx="155449" cy="118872"/>
          </a:xfrm>
          <a:custGeom>
            <a:avLst/>
            <a:gdLst/>
            <a:ahLst/>
            <a:cxnLst/>
            <a:rect l="l" t="t" r="r" b="b"/>
            <a:pathLst>
              <a:path w="155449" h="118872">
                <a:moveTo>
                  <a:pt x="77725" y="0"/>
                </a:moveTo>
                <a:lnTo>
                  <a:pt x="0" y="118872"/>
                </a:lnTo>
                <a:lnTo>
                  <a:pt x="155449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11841480" y="4361688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Freeform 617"/>
          <p:cNvSpPr/>
          <p:nvPr/>
        </p:nvSpPr>
        <p:spPr>
          <a:xfrm>
            <a:off x="11763755" y="4285144"/>
            <a:ext cx="155449" cy="76544"/>
          </a:xfrm>
          <a:custGeom>
            <a:avLst/>
            <a:gdLst/>
            <a:ahLst/>
            <a:cxnLst/>
            <a:rect l="l" t="t" r="r" b="b"/>
            <a:pathLst>
              <a:path w="155449" h="76544">
                <a:moveTo>
                  <a:pt x="0" y="76544"/>
                </a:moveTo>
                <a:lnTo>
                  <a:pt x="0" y="76544"/>
                </a:lnTo>
                <a:lnTo>
                  <a:pt x="4688" y="49960"/>
                </a:lnTo>
                <a:lnTo>
                  <a:pt x="18184" y="26583"/>
                </a:lnTo>
                <a:lnTo>
                  <a:pt x="38862" y="9233"/>
                </a:lnTo>
                <a:lnTo>
                  <a:pt x="64228" y="0"/>
                </a:lnTo>
                <a:lnTo>
                  <a:pt x="91221" y="0"/>
                </a:lnTo>
                <a:lnTo>
                  <a:pt x="116587" y="9233"/>
                </a:lnTo>
                <a:lnTo>
                  <a:pt x="137265" y="26583"/>
                </a:lnTo>
                <a:lnTo>
                  <a:pt x="150761" y="49960"/>
                </a:lnTo>
                <a:lnTo>
                  <a:pt x="155449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11763755" y="4361688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11914632" y="4351020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12234672" y="4440872"/>
            <a:ext cx="127365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THREE-WAY CONTROL VALVE</a:t>
            </a:r>
          </a:p>
        </p:txBody>
      </p:sp>
      <p:cxnSp>
        <p:nvCxnSpPr>
          <p:cNvPr id="622" name="Connector 621"/>
          <p:cNvCxnSpPr/>
          <p:nvPr/>
        </p:nvCxnSpPr>
        <p:spPr>
          <a:xfrm>
            <a:off x="11567159" y="4892040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3" name="Freeform 622"/>
          <p:cNvSpPr/>
          <p:nvPr/>
        </p:nvSpPr>
        <p:spPr>
          <a:xfrm>
            <a:off x="11731752" y="4821174"/>
            <a:ext cx="219455" cy="141732"/>
          </a:xfrm>
          <a:custGeom>
            <a:avLst/>
            <a:gdLst/>
            <a:ahLst/>
            <a:cxnLst/>
            <a:rect l="l" t="t" r="r" b="b"/>
            <a:pathLst>
              <a:path w="219455" h="141732">
                <a:moveTo>
                  <a:pt x="0" y="0"/>
                </a:moveTo>
                <a:lnTo>
                  <a:pt x="219455" y="141732"/>
                </a:lnTo>
                <a:lnTo>
                  <a:pt x="219455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12234672" y="4803521"/>
            <a:ext cx="2277465" cy="177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MANUAL GATE VALVE (NO / NC / LO = NORMALLY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OPEN / CLOSED / LOCKED OPEN)</a:t>
            </a:r>
          </a:p>
        </p:txBody>
      </p:sp>
      <p:cxnSp>
        <p:nvCxnSpPr>
          <p:cNvPr id="625" name="Connector 624"/>
          <p:cNvCxnSpPr/>
          <p:nvPr/>
        </p:nvCxnSpPr>
        <p:spPr>
          <a:xfrm>
            <a:off x="11567159" y="5202936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6" name="Freeform 625"/>
          <p:cNvSpPr/>
          <p:nvPr/>
        </p:nvSpPr>
        <p:spPr>
          <a:xfrm>
            <a:off x="11731752" y="5132070"/>
            <a:ext cx="219455" cy="141732"/>
          </a:xfrm>
          <a:custGeom>
            <a:avLst/>
            <a:gdLst/>
            <a:ahLst/>
            <a:cxnLst/>
            <a:rect l="l" t="t" r="r" b="b"/>
            <a:pathLst>
              <a:path w="219455" h="141732">
                <a:moveTo>
                  <a:pt x="0" y="0"/>
                </a:moveTo>
                <a:lnTo>
                  <a:pt x="219455" y="141732"/>
                </a:lnTo>
                <a:lnTo>
                  <a:pt x="219455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11818619" y="5180076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12234672" y="5154104"/>
            <a:ext cx="211896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MANUAL GLOBE VALVE (BYPASS, THROTTLING)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11567159" y="5513832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Freeform 629"/>
          <p:cNvSpPr/>
          <p:nvPr/>
        </p:nvSpPr>
        <p:spPr>
          <a:xfrm>
            <a:off x="11740896" y="5443423"/>
            <a:ext cx="155905" cy="140817"/>
          </a:xfrm>
          <a:custGeom>
            <a:avLst/>
            <a:gdLst/>
            <a:ahLst/>
            <a:cxnLst/>
            <a:rect l="l" t="t" r="r" b="b"/>
            <a:pathLst>
              <a:path w="155905" h="140817">
                <a:moveTo>
                  <a:pt x="0" y="0"/>
                </a:moveTo>
                <a:lnTo>
                  <a:pt x="155905" y="70409"/>
                </a:lnTo>
                <a:lnTo>
                  <a:pt x="0" y="1408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>
            <a:off x="11896801" y="5443423"/>
            <a:ext cx="0" cy="1408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2" name="TextBox 631"/>
          <p:cNvSpPr txBox="1"/>
          <p:nvPr/>
        </p:nvSpPr>
        <p:spPr>
          <a:xfrm>
            <a:off x="12234672" y="5465000"/>
            <a:ext cx="1749145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CHECK VALVE (FLOW LEFT TO RIGHT)</a:t>
            </a:r>
          </a:p>
        </p:txBody>
      </p:sp>
      <p:cxnSp>
        <p:nvCxnSpPr>
          <p:cNvPr id="633" name="Connector 632"/>
          <p:cNvCxnSpPr/>
          <p:nvPr/>
        </p:nvCxnSpPr>
        <p:spPr>
          <a:xfrm flipV="1">
            <a:off x="11841480" y="5879592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Freeform 633"/>
          <p:cNvSpPr/>
          <p:nvPr/>
        </p:nvSpPr>
        <p:spPr>
          <a:xfrm>
            <a:off x="11768328" y="5779007"/>
            <a:ext cx="146304" cy="100585"/>
          </a:xfrm>
          <a:custGeom>
            <a:avLst/>
            <a:gdLst/>
            <a:ahLst/>
            <a:cxnLst/>
            <a:rect l="l" t="t" r="r" b="b"/>
            <a:pathLst>
              <a:path w="146304" h="100585">
                <a:moveTo>
                  <a:pt x="0" y="100585"/>
                </a:moveTo>
                <a:lnTo>
                  <a:pt x="146304" y="100585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1841480" y="5710427"/>
            <a:ext cx="109727" cy="137161"/>
          </a:xfrm>
          <a:custGeom>
            <a:avLst/>
            <a:gdLst/>
            <a:ahLst/>
            <a:cxnLst/>
            <a:rect l="l" t="t" r="r" b="b"/>
            <a:pathLst>
              <a:path w="109727" h="137161">
                <a:moveTo>
                  <a:pt x="0" y="68580"/>
                </a:moveTo>
                <a:lnTo>
                  <a:pt x="109727" y="0"/>
                </a:lnTo>
                <a:lnTo>
                  <a:pt x="109727" y="13716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11804904" y="5568695"/>
            <a:ext cx="73151" cy="210312"/>
          </a:xfrm>
          <a:custGeom>
            <a:avLst/>
            <a:gdLst/>
            <a:ahLst/>
            <a:cxnLst/>
            <a:rect l="l" t="t" r="r" b="b"/>
            <a:pathLst>
              <a:path w="73151" h="210312">
                <a:moveTo>
                  <a:pt x="36576" y="210312"/>
                </a:moveTo>
                <a:lnTo>
                  <a:pt x="0" y="173736"/>
                </a:lnTo>
                <a:lnTo>
                  <a:pt x="73151" y="141732"/>
                </a:lnTo>
                <a:lnTo>
                  <a:pt x="0" y="109728"/>
                </a:lnTo>
                <a:lnTo>
                  <a:pt x="73151" y="77724"/>
                </a:lnTo>
                <a:lnTo>
                  <a:pt x="0" y="45721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>
            <a:off x="11951207" y="5779007"/>
            <a:ext cx="182881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TextBox 637"/>
          <p:cNvSpPr txBox="1"/>
          <p:nvPr/>
        </p:nvSpPr>
        <p:spPr>
          <a:xfrm>
            <a:off x="12234672" y="5775896"/>
            <a:ext cx="159064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SAFETY / THERMAL RELIEF VALVE</a:t>
            </a:r>
          </a:p>
        </p:txBody>
      </p:sp>
      <p:cxnSp>
        <p:nvCxnSpPr>
          <p:cNvPr id="639" name="Connector 638"/>
          <p:cNvCxnSpPr/>
          <p:nvPr/>
        </p:nvCxnSpPr>
        <p:spPr>
          <a:xfrm>
            <a:off x="11567159" y="6190488"/>
            <a:ext cx="54864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1814048" y="6108192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11868911" y="6108192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12234672" y="6141656"/>
            <a:ext cx="1220825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FLOW ELEMENT (ORIFICE)</a:t>
            </a:r>
          </a:p>
        </p:txBody>
      </p:sp>
      <p:cxnSp>
        <p:nvCxnSpPr>
          <p:cNvPr id="643" name="Connector 642"/>
          <p:cNvCxnSpPr/>
          <p:nvPr/>
        </p:nvCxnSpPr>
        <p:spPr>
          <a:xfrm>
            <a:off x="11567159" y="6428232"/>
            <a:ext cx="54864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11841480" y="6428232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5" name="Freeform 644"/>
          <p:cNvSpPr/>
          <p:nvPr/>
        </p:nvSpPr>
        <p:spPr>
          <a:xfrm>
            <a:off x="11782044" y="6437376"/>
            <a:ext cx="118871" cy="182880"/>
          </a:xfrm>
          <a:custGeom>
            <a:avLst/>
            <a:gdLst/>
            <a:ahLst/>
            <a:cxnLst/>
            <a:rect l="l" t="t" r="r" b="b"/>
            <a:pathLst>
              <a:path w="118871" h="182880">
                <a:moveTo>
                  <a:pt x="0" y="0"/>
                </a:moveTo>
                <a:lnTo>
                  <a:pt x="118871" y="182880"/>
                </a:lnTo>
                <a:lnTo>
                  <a:pt x="0" y="182880"/>
                </a:lnTo>
                <a:lnTo>
                  <a:pt x="11887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6" name="Connector 645"/>
          <p:cNvCxnSpPr/>
          <p:nvPr/>
        </p:nvCxnSpPr>
        <p:spPr>
          <a:xfrm>
            <a:off x="11795759" y="6611112"/>
            <a:ext cx="91441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12234672" y="6452552"/>
            <a:ext cx="1960473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DRAIN (DR) / VENT (V) VALVE WITH CAP</a:t>
            </a:r>
          </a:p>
        </p:txBody>
      </p:sp>
      <p:sp>
        <p:nvSpPr>
          <p:cNvPr id="648" name="Oval 647"/>
          <p:cNvSpPr/>
          <p:nvPr/>
        </p:nvSpPr>
        <p:spPr>
          <a:xfrm>
            <a:off x="11768328" y="6775704"/>
            <a:ext cx="146304" cy="14630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11807475" y="6803993"/>
            <a:ext cx="68008" cy="89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12234672" y="6800024"/>
            <a:ext cx="586841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STEAM TRAP</a:t>
            </a:r>
          </a:p>
        </p:txBody>
      </p:sp>
      <p:sp>
        <p:nvSpPr>
          <p:cNvPr id="651" name="Freeform 650"/>
          <p:cNvSpPr/>
          <p:nvPr/>
        </p:nvSpPr>
        <p:spPr>
          <a:xfrm>
            <a:off x="11649456" y="7068312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2234672" y="7110920"/>
            <a:ext cx="2488793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OFF-PAGE CONNECTOR (SHEET REFERENCE BESIDE IT)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11548872" y="7467536"/>
            <a:ext cx="2700121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LINE NUMBER:  SIZE"-SERVICE-NNNN  (e.g. 8"-G-1009)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11548872" y="7572692"/>
            <a:ext cx="291144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SERVICE: P PROCESS LIQUID / TWO-PHASE · G HYDROGEN GAS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11548872" y="7677848"/>
            <a:ext cx="3069945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SL SLURRY (Raney-Ni) · BW BOILER FEED WATER · LS LP STEAM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1548872" y="7783004"/>
            <a:ext cx="291144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MS MP STEAM · CD CONDENSATE · BD BLOWDOWN · CW COOLING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11548872" y="7888160"/>
            <a:ext cx="3439769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WATER · FL FLARE · N NITROGEN.  NNNN: 1nnn SHEET 1, 2nnn SHEET 2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11548872" y="7993316"/>
            <a:ext cx="285861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TAGS: MV MANUAL VALVE · NRV CHECK VALVE · HV OPERATOR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1548872" y="8098472"/>
            <a:ext cx="3017113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HAND VALVE OF THE OTS · HY VALVE MOVED BY A DCS SELECTOR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1548872" y="8203628"/>
            <a:ext cx="2805785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* = RECOMMENDED ADDITION (SAFETY LAYERS TAB, SL-Rn);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11548872" y="8308784"/>
            <a:ext cx="2330297" cy="97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NOT IN THE OTS MODEL: HOLD FOR APPROVAL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11475720" y="502920"/>
            <a:ext cx="3246120" cy="8005572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457200" y="8668512"/>
            <a:ext cx="5943600" cy="10501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NOTES: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   DESIGN CASE = OTS MODEL AT DESIGN, NOISE OFF: benzene 34.8 t/h (0.1238 kmol/s), R-101 200 °C / 30.0 bar g, 98 % conversion in R-101,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E-101 9.6 MW raising 14.7 t/h LP steam at 4.5 bar g, boil-up condensed in E-103 and refluxed (46.5 t/h at 55.7 °C). Balances checked in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eng_check.py before drawing: total 37.78 t/h in = out (+0.01 %), H2 and CH4 within 0.01 %, R-101 heat 25.2 MW generated vs 25.1 MW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removed (−0.4 %), D-101 BFW = steam + 1 % blowdown.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   LINE SIZES ARE PRELIMINARY, FROM VELOCITY (liquid suction ≤ 1–2 m/s, discharge ≤ 2–2.5 m/s, gas ≤ 12–15 m/s, steam ≤ 30 m/s; typical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practice). TBC by hydraulic calculation; pipe classes not assigned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   HYDROGEN LOOP DESIGN PRESSURE 36 bar g (assumed, Safety layers tab) = PSV-101 set; R-101 design temperature 250 °C (assumed). Relief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loads not calculated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   FIELD TRANSMITTERS (circle) are wired to the DCS (circle with bar) and, where drawn, separately to the SIS logic solver SIS-100 (circle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in square). SIS outputs to XV / EIV solenoids and motor starters are not drawn: see the interlock schedule on sheet 2.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5   TE-100 / TT-100 (SIS) and TE-101 / TT-101 (BPCS) are separate elements in separate thermowells. TIC-101 is the master of FIC-104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(cascade). FV-104 is three-way: the rest of the P-101 flow bypasses E-101.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6053328" y="8668512"/>
            <a:ext cx="5943600" cy="10501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   HS-101 (DCS selector) COOL: HY-101A/B open (E-101 shell on the D-101 thermosyphon), HY-101C/D shut. HEAT: HY-101A/B shut, HY-101C/D open,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MP steam set by the operator on HV-110. A unit trip forces COOL (HY-101D shuts the MP steam: in the OTS model the trip closes HV-110).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HY-101A-D and ST-101 are new tags of this drawing (HOLD: arrangement TBC).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7   ITEMS MARKED * are recommended additions from the Safety layers tab (SL-Rn), not in the OTS model: HOLD. Further SRS / LOPA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recommendations not drawn: LSLL-101 on LT-101S, FSLL-103 on FT-103S, AT-100B, XV-105B, TSHH-107S on TE-107S, PIAH-101 (32.5 bar g on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PT-101), TDA-101 (TT-100 vs TT-101).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   MV-3nn and NRV-3nn are new numbers of this drawing (sheet 2: MV-4nn, NRV-4nn). Every pump has suction and discharge isolation and a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discharge check valve. Pressure and level instruments c/w root, isolation and test valves (typ., not shown).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9   R-101 has no vent of its own: it is vented through E-103 / V-103 and the R-102 off-gas line to flare (HV-121, EDV-101, sheet 2). No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isolation valve between R-101 and PSV-101.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  Raney-Ni is pyrophoric: D-102 charged under liquid with an N2 blanket (CAT-1); HV-117 is opened only with D-102 full of liquid.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11  THE SCREEN P&amp;ID OF THE OTS PAGE stays the reference for the DCS, the decks and the exercises. Where this drawing places an instrument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differently it is listed as a difference (P&amp;ID tab, alternative version, part 5), not as an error.</a:t>
            </a:r>
          </a:p>
        </p:txBody>
      </p:sp>
      <p:cxnSp>
        <p:nvCxnSpPr>
          <p:cNvPr id="665" name="Connector 664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3" name="TextBox 672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SCREEN P&amp;ID IN OTS PAGE: CURRENT, USED IN DECKS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TEACHING · ALT. VERSION, EPC STD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2026-10-26</a:t>
            </a:r>
          </a:p>
        </p:txBody>
      </p:sp>
      <p:sp>
        <p:nvSpPr>
          <p:cNvPr id="682" name="Rectangle 681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>
            <a:off x="11750040" y="943660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11750040" y="9180576"/>
            <a:ext cx="30540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CYCLOHEXANE REACTOR VER 1 — OTS TEACHING UNIT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11750040" y="9445752"/>
            <a:ext cx="3054096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P&amp;ID — CYCLOHEXANE REACTOR VER 1 · ALTERNATIVE VERSION</a:t>
            </a:r>
          </a:p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SHEET 1: FEED · R-101 · E-101/D-101 · E-103/V-103</a:t>
            </a:r>
          </a:p>
        </p:txBody>
      </p:sp>
      <p:cxnSp>
        <p:nvCxnSpPr>
          <p:cNvPr id="688" name="Connector 687"/>
          <p:cNvCxnSpPr/>
          <p:nvPr/>
        </p:nvCxnSpPr>
        <p:spPr>
          <a:xfrm>
            <a:off x="132313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136885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141457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1" name="TextBox 690"/>
          <p:cNvSpPr txBox="1"/>
          <p:nvPr/>
        </p:nvSpPr>
        <p:spPr>
          <a:xfrm>
            <a:off x="11750040" y="9802367"/>
            <a:ext cx="1481327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DRAWN: Apinan Soottitantawat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13231367" y="9802367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CHK'D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13688567" y="9802367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APP'D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14145767" y="9802367"/>
            <a:ext cx="658367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DATE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2026-10-26</a:t>
            </a:r>
          </a:p>
        </p:txBody>
      </p:sp>
      <p:cxnSp>
        <p:nvCxnSpPr>
          <p:cNvPr id="695" name="Connector 694"/>
          <p:cNvCxnSpPr/>
          <p:nvPr/>
        </p:nvCxnSpPr>
        <p:spPr>
          <a:xfrm>
            <a:off x="12513563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3277088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4040612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8" name="TextBox 697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CHX-V1-PID-001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