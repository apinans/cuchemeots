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703320" y="566928"/>
            <a:ext cx="73152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10863072" y="475488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1136" y="694944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TO FLARE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V-190*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96912" y="435863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8"-FL-2016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3200400"/>
            <a:ext cx="1371599" cy="1572767"/>
          </a:xfrm>
          <a:prstGeom prst="rect">
            <a:avLst/>
          </a:prstGeom>
          <a:noFill/>
          <a:ln w="889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2286000"/>
            <a:ext cx="1188719" cy="237743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70048"/>
            <a:ext cx="477621" cy="13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R-102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07208"/>
            <a:ext cx="581558" cy="36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SLURRY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FINISHING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REACTOR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160 °C</a:t>
            </a:r>
          </a:p>
        </p:txBody>
      </p:sp>
      <p:sp>
        <p:nvSpPr>
          <p:cNvPr id="12" name="Oval 11"/>
          <p:cNvSpPr/>
          <p:nvPr/>
        </p:nvSpPr>
        <p:spPr>
          <a:xfrm>
            <a:off x="2944368" y="1819656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3997" y="1881759"/>
            <a:ext cx="78486" cy="1135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0177" y="1687830"/>
            <a:ext cx="246126" cy="1135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M-102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2057400"/>
            <a:ext cx="0" cy="228600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34640" y="4343400"/>
            <a:ext cx="457200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34640" y="4288536"/>
            <a:ext cx="0" cy="109728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1840" y="4288536"/>
            <a:ext cx="0" cy="109728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58774" y="4800600"/>
            <a:ext cx="362833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JACKET</a:t>
            </a:r>
          </a:p>
        </p:txBody>
      </p:sp>
      <p:sp>
        <p:nvSpPr>
          <p:cNvPr id="20" name="Freeform 19"/>
          <p:cNvSpPr/>
          <p:nvPr/>
        </p:nvSpPr>
        <p:spPr>
          <a:xfrm>
            <a:off x="457200" y="160020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1402080"/>
            <a:ext cx="76858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GAS FROM V-103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SHT 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1691640"/>
            <a:ext cx="194767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88920" y="1691640"/>
            <a:ext cx="0" cy="61264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88920" y="2331720"/>
            <a:ext cx="0" cy="21945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06040" y="4526280"/>
            <a:ext cx="365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41832" y="156057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6"-G-1008</a:t>
            </a:r>
          </a:p>
        </p:txBody>
      </p:sp>
      <p:sp>
        <p:nvSpPr>
          <p:cNvPr id="27" name="Freeform 26"/>
          <p:cNvSpPr/>
          <p:nvPr/>
        </p:nvSpPr>
        <p:spPr>
          <a:xfrm>
            <a:off x="457200" y="265176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2453640"/>
            <a:ext cx="971458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SLURRY FROM LV-101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SHT 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" y="2743200"/>
            <a:ext cx="162763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1832" y="2779776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6"-SL-1014</a:t>
            </a:r>
          </a:p>
        </p:txBody>
      </p:sp>
      <p:sp>
        <p:nvSpPr>
          <p:cNvPr id="31" name="Freeform 30"/>
          <p:cNvSpPr/>
          <p:nvPr/>
        </p:nvSpPr>
        <p:spPr>
          <a:xfrm>
            <a:off x="457200" y="3200400"/>
            <a:ext cx="384047" cy="182880"/>
          </a:xfrm>
          <a:custGeom>
            <a:avLst/>
            <a:gdLst/>
            <a:ahLst/>
            <a:cxnLst/>
            <a:rect l="l" t="t" r="r" b="b"/>
            <a:pathLst>
              <a:path w="384047" h="182880">
                <a:moveTo>
                  <a:pt x="384047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80"/>
                </a:lnTo>
                <a:lnTo>
                  <a:pt x="384047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087624"/>
            <a:ext cx="2106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CWR</a:t>
            </a:r>
          </a:p>
        </p:txBody>
      </p:sp>
      <p:sp>
        <p:nvSpPr>
          <p:cNvPr id="33" name="Freeform 32"/>
          <p:cNvSpPr/>
          <p:nvPr/>
        </p:nvSpPr>
        <p:spPr>
          <a:xfrm>
            <a:off x="457200" y="3611879"/>
            <a:ext cx="384047" cy="182880"/>
          </a:xfrm>
          <a:custGeom>
            <a:avLst/>
            <a:gdLst/>
            <a:ahLst/>
            <a:cxnLst/>
            <a:rect l="l" t="t" r="r" b="b"/>
            <a:pathLst>
              <a:path w="384047" h="182880">
                <a:moveTo>
                  <a:pt x="384047" y="0"/>
                </a:moveTo>
                <a:lnTo>
                  <a:pt x="91440" y="0"/>
                </a:lnTo>
                <a:lnTo>
                  <a:pt x="0" y="91441"/>
                </a:lnTo>
                <a:lnTo>
                  <a:pt x="91440" y="182880"/>
                </a:lnTo>
                <a:lnTo>
                  <a:pt x="384047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499103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CONDENSATE</a:t>
            </a:r>
          </a:p>
        </p:txBody>
      </p:sp>
      <p:sp>
        <p:nvSpPr>
          <p:cNvPr id="35" name="Freeform 34"/>
          <p:cNvSpPr/>
          <p:nvPr/>
        </p:nvSpPr>
        <p:spPr>
          <a:xfrm>
            <a:off x="457200" y="425196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139183"/>
            <a:ext cx="92073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MP STEAM 10 bar g</a:t>
            </a:r>
          </a:p>
        </p:txBody>
      </p:sp>
      <p:sp>
        <p:nvSpPr>
          <p:cNvPr id="37" name="Freeform 36"/>
          <p:cNvSpPr/>
          <p:nvPr/>
        </p:nvSpPr>
        <p:spPr>
          <a:xfrm>
            <a:off x="457200" y="4800600"/>
            <a:ext cx="384048" cy="182879"/>
          </a:xfrm>
          <a:custGeom>
            <a:avLst/>
            <a:gdLst/>
            <a:ahLst/>
            <a:cxnLst/>
            <a:rect l="l" t="t" r="r" b="b"/>
            <a:pathLst>
              <a:path w="384048" h="182879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79"/>
                </a:lnTo>
                <a:lnTo>
                  <a:pt x="0" y="18287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687823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CWS 32 °C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41248" y="3291840"/>
            <a:ext cx="153619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936241" y="32621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965960" y="3291840"/>
            <a:ext cx="0" cy="4114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41248" y="3703320"/>
            <a:ext cx="1124712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886968" y="32141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1005840" y="310896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37260" y="299923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" y="309829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090" y="3401568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HY-102C</a:t>
            </a:r>
          </a:p>
        </p:txBody>
      </p:sp>
      <p:sp>
        <p:nvSpPr>
          <p:cNvPr id="48" name="Oval 47"/>
          <p:cNvSpPr/>
          <p:nvPr/>
        </p:nvSpPr>
        <p:spPr>
          <a:xfrm>
            <a:off x="1591056" y="3630168"/>
            <a:ext cx="146304" cy="14630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30203" y="3658457"/>
            <a:ext cx="68008" cy="89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0822" y="3794759"/>
            <a:ext cx="226771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ST-102</a:t>
            </a:r>
          </a:p>
        </p:txBody>
      </p:sp>
      <p:sp>
        <p:nvSpPr>
          <p:cNvPr id="51" name="Freeform 50"/>
          <p:cNvSpPr/>
          <p:nvPr/>
        </p:nvSpPr>
        <p:spPr>
          <a:xfrm>
            <a:off x="1161288" y="362559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1280160" y="352043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211580" y="341071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53312" y="350977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410" y="3803904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HY-102D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07592" y="3160776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6"-CW-2022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02536" y="3445764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2"-CD-2023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749039" y="3429000"/>
            <a:ext cx="27432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023360" y="3364992"/>
            <a:ext cx="0" cy="640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3950208" y="3264408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0" y="100584"/>
                </a:moveTo>
                <a:lnTo>
                  <a:pt x="146304" y="100584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023360" y="3195828"/>
            <a:ext cx="109728" cy="137160"/>
          </a:xfrm>
          <a:custGeom>
            <a:avLst/>
            <a:gdLst/>
            <a:ahLst/>
            <a:cxnLst/>
            <a:rect l="l" t="t" r="r" b="b"/>
            <a:pathLst>
              <a:path w="109728" h="137160">
                <a:moveTo>
                  <a:pt x="0" y="68580"/>
                </a:moveTo>
                <a:lnTo>
                  <a:pt x="109728" y="0"/>
                </a:lnTo>
                <a:lnTo>
                  <a:pt x="109728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986784" y="3054096"/>
            <a:ext cx="73152" cy="210312"/>
          </a:xfrm>
          <a:custGeom>
            <a:avLst/>
            <a:gdLst/>
            <a:ahLst/>
            <a:cxnLst/>
            <a:rect l="l" t="t" r="r" b="b"/>
            <a:pathLst>
              <a:path w="73152" h="210312">
                <a:moveTo>
                  <a:pt x="36576" y="210312"/>
                </a:moveTo>
                <a:lnTo>
                  <a:pt x="0" y="173736"/>
                </a:lnTo>
                <a:lnTo>
                  <a:pt x="73152" y="141732"/>
                </a:lnTo>
                <a:lnTo>
                  <a:pt x="0" y="109728"/>
                </a:lnTo>
                <a:lnTo>
                  <a:pt x="73152" y="77724"/>
                </a:lnTo>
                <a:lnTo>
                  <a:pt x="0" y="45720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4133088" y="3264408"/>
            <a:ext cx="13716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069080" y="3547872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TSV-102J*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41248" y="4343400"/>
            <a:ext cx="8503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691640" y="4343400"/>
            <a:ext cx="0" cy="5486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41248" y="4892040"/>
            <a:ext cx="8503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661922" y="4542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691640" y="4572000"/>
            <a:ext cx="6858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932688" y="426567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1051560" y="416052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82980" y="405079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4712" y="414985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10" y="4453128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HY-102A</a:t>
            </a:r>
          </a:p>
        </p:txBody>
      </p:sp>
      <p:sp>
        <p:nvSpPr>
          <p:cNvPr id="75" name="Freeform 74"/>
          <p:cNvSpPr/>
          <p:nvPr/>
        </p:nvSpPr>
        <p:spPr>
          <a:xfrm>
            <a:off x="932688" y="481431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051560" y="47091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982980" y="45994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4712" y="469849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10" y="5001768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HY-102B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389888" y="426110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444752" y="426110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17320" y="4425696"/>
            <a:ext cx="0" cy="274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125272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sp>
        <p:nvSpPr>
          <p:cNvPr id="84" name="Oval 83"/>
          <p:cNvSpPr/>
          <p:nvPr/>
        </p:nvSpPr>
        <p:spPr>
          <a:xfrm>
            <a:off x="1252728" y="391363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52728" y="4078224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581912" y="4617720"/>
            <a:ext cx="5486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636776" y="4078224"/>
            <a:ext cx="0" cy="53949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581912" y="4078224"/>
            <a:ext cx="5486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1938528" y="44942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2057400" y="4389120"/>
            <a:ext cx="0" cy="1051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1979676" y="4312576"/>
            <a:ext cx="155448" cy="76544"/>
          </a:xfrm>
          <a:custGeom>
            <a:avLst/>
            <a:gdLst/>
            <a:ahLst/>
            <a:cxnLst/>
            <a:rect l="l" t="t" r="r" b="b"/>
            <a:pathLst>
              <a:path w="155448" h="76544">
                <a:moveTo>
                  <a:pt x="0" y="76544"/>
                </a:moveTo>
                <a:lnTo>
                  <a:pt x="0" y="76544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979676" y="438912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130552" y="437845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23859" y="4681728"/>
            <a:ext cx="267081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TV-102</a:t>
            </a:r>
          </a:p>
        </p:txBody>
      </p:sp>
      <p:sp>
        <p:nvSpPr>
          <p:cNvPr id="95" name="Oval 94"/>
          <p:cNvSpPr/>
          <p:nvPr/>
        </p:nvSpPr>
        <p:spPr>
          <a:xfrm>
            <a:off x="566928" y="5276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66928" y="5440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80771" y="5632704"/>
            <a:ext cx="501497" cy="881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TO HY-102A/B/C/D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3337560" y="123444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337560" y="1234440"/>
            <a:ext cx="3566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903720" y="123444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575303" y="110337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8"-P-2004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337560" y="192024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3307841" y="1890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630168" y="1755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sp>
        <p:nvSpPr>
          <p:cNvPr id="105" name="Oval 104"/>
          <p:cNvSpPr/>
          <p:nvPr/>
        </p:nvSpPr>
        <p:spPr>
          <a:xfrm>
            <a:off x="4133088" y="1755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133088" y="1920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959352" y="1920240"/>
            <a:ext cx="173735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657600" y="2926080"/>
            <a:ext cx="24688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3904488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sp>
        <p:nvSpPr>
          <p:cNvPr id="110" name="Oval 109"/>
          <p:cNvSpPr/>
          <p:nvPr/>
        </p:nvSpPr>
        <p:spPr>
          <a:xfrm>
            <a:off x="4407408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407408" y="2926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233672" y="292608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572000" y="3090672"/>
            <a:ext cx="0" cy="198424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2240280" y="5074920"/>
            <a:ext cx="233172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240280" y="4224528"/>
            <a:ext cx="0" cy="85039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2057400" y="4224528"/>
            <a:ext cx="18288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057400" y="4224528"/>
            <a:ext cx="0" cy="8686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657600" y="2633472"/>
            <a:ext cx="1463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120640" y="2633472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657600" y="4480560"/>
            <a:ext cx="1463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120640" y="4096512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4956048" y="3767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sp>
        <p:nvSpPr>
          <p:cNvPr id="123" name="Oval 122"/>
          <p:cNvSpPr/>
          <p:nvPr/>
        </p:nvSpPr>
        <p:spPr>
          <a:xfrm>
            <a:off x="550468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5504688" y="4617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285232" y="3931920"/>
            <a:ext cx="38404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669280" y="3931920"/>
            <a:ext cx="0" cy="52120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3947922" y="1204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V="1">
            <a:off x="3977639" y="1069848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3904487" y="969263"/>
            <a:ext cx="146304" cy="100585"/>
          </a:xfrm>
          <a:custGeom>
            <a:avLst/>
            <a:gdLst/>
            <a:ahLst/>
            <a:cxnLst/>
            <a:rect l="l" t="t" r="r" b="b"/>
            <a:pathLst>
              <a:path w="146304" h="100585">
                <a:moveTo>
                  <a:pt x="0" y="100585"/>
                </a:moveTo>
                <a:lnTo>
                  <a:pt x="146304" y="100585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3867911" y="900683"/>
            <a:ext cx="109728" cy="137160"/>
          </a:xfrm>
          <a:custGeom>
            <a:avLst/>
            <a:gdLst/>
            <a:ahLst/>
            <a:cxnLst/>
            <a:rect l="l" t="t" r="r" b="b"/>
            <a:pathLst>
              <a:path w="109728" h="137160">
                <a:moveTo>
                  <a:pt x="109728" y="68580"/>
                </a:move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941063" y="758951"/>
            <a:ext cx="73152" cy="210312"/>
          </a:xfrm>
          <a:custGeom>
            <a:avLst/>
            <a:gdLst/>
            <a:ahLst/>
            <a:cxnLst/>
            <a:rect l="l" t="t" r="r" b="b"/>
            <a:pathLst>
              <a:path w="73152" h="210312">
                <a:moveTo>
                  <a:pt x="36576" y="210312"/>
                </a:moveTo>
                <a:lnTo>
                  <a:pt x="0" y="173736"/>
                </a:lnTo>
                <a:lnTo>
                  <a:pt x="73152" y="141732"/>
                </a:lnTo>
                <a:lnTo>
                  <a:pt x="0" y="109728"/>
                </a:lnTo>
                <a:lnTo>
                  <a:pt x="73152" y="77724"/>
                </a:lnTo>
                <a:lnTo>
                  <a:pt x="0" y="45720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 flipH="1">
            <a:off x="3776472" y="969263"/>
            <a:ext cx="9143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776472" y="566928"/>
            <a:ext cx="0" cy="40233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3746754" y="5372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069080" y="847344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PSV-102*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36 bar g</a:t>
            </a:r>
          </a:p>
        </p:txBody>
      </p:sp>
      <p:sp>
        <p:nvSpPr>
          <p:cNvPr id="136" name="Oval 135"/>
          <p:cNvSpPr/>
          <p:nvPr/>
        </p:nvSpPr>
        <p:spPr>
          <a:xfrm>
            <a:off x="4770882" y="1204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V="1">
            <a:off x="4800600" y="566928"/>
            <a:ext cx="0" cy="66751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4770882" y="5372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319522" y="1204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349240" y="566928"/>
            <a:ext cx="0" cy="66751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5319522" y="5372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722876" y="795528"/>
            <a:ext cx="155448" cy="237743"/>
          </a:xfrm>
          <a:custGeom>
            <a:avLst/>
            <a:gdLst/>
            <a:ahLst/>
            <a:cxnLst/>
            <a:rect l="l" t="t" r="r" b="b"/>
            <a:pathLst>
              <a:path w="155448" h="237743">
                <a:moveTo>
                  <a:pt x="0" y="0"/>
                </a:moveTo>
                <a:lnTo>
                  <a:pt x="155448" y="237743"/>
                </a:lnTo>
                <a:lnTo>
                  <a:pt x="0" y="23774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 flipH="1">
            <a:off x="4617720" y="914400"/>
            <a:ext cx="1051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4507992" y="845820"/>
            <a:ext cx="109728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4562856" y="982980"/>
            <a:ext cx="0" cy="411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4517136" y="1024128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530699" y="1027366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901184" y="1013459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92040" y="770159"/>
            <a:ext cx="488797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EDV-101</a:t>
            </a:r>
          </a:p>
        </p:txBody>
      </p:sp>
      <p:sp>
        <p:nvSpPr>
          <p:cNvPr id="150" name="Freeform 149"/>
          <p:cNvSpPr/>
          <p:nvPr/>
        </p:nvSpPr>
        <p:spPr>
          <a:xfrm>
            <a:off x="5278374" y="804672"/>
            <a:ext cx="141731" cy="219456"/>
          </a:xfrm>
          <a:custGeom>
            <a:avLst/>
            <a:gdLst/>
            <a:ahLst/>
            <a:cxnLst/>
            <a:rect l="l" t="t" r="r" b="b"/>
            <a:pathLst>
              <a:path w="141731" h="219456">
                <a:moveTo>
                  <a:pt x="0" y="0"/>
                </a:moveTo>
                <a:lnTo>
                  <a:pt x="141731" y="219456"/>
                </a:lnTo>
                <a:lnTo>
                  <a:pt x="0" y="219456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440680" y="829056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HV-121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28032" y="1271016"/>
            <a:ext cx="10221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4"-FL-2015 TO FLARE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715000" y="1234440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5685282" y="1204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51576" y="1342644"/>
            <a:ext cx="362833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TE-106</a:t>
            </a:r>
          </a:p>
        </p:txBody>
      </p:sp>
      <p:sp>
        <p:nvSpPr>
          <p:cNvPr id="156" name="Oval 155"/>
          <p:cNvSpPr/>
          <p:nvPr/>
        </p:nvSpPr>
        <p:spPr>
          <a:xfrm>
            <a:off x="5550408" y="1481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sp>
        <p:nvSpPr>
          <p:cNvPr id="157" name="Oval 156"/>
          <p:cNvSpPr/>
          <p:nvPr/>
        </p:nvSpPr>
        <p:spPr>
          <a:xfrm>
            <a:off x="5047488" y="1481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5047488" y="16459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5376672" y="164592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063240" y="4663440"/>
            <a:ext cx="0" cy="5166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Freeform 160"/>
          <p:cNvSpPr/>
          <p:nvPr/>
        </p:nvSpPr>
        <p:spPr>
          <a:xfrm>
            <a:off x="3063240" y="518007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3063240" y="5335524"/>
            <a:ext cx="0" cy="9738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reeform 162"/>
          <p:cNvSpPr/>
          <p:nvPr/>
        </p:nvSpPr>
        <p:spPr>
          <a:xfrm>
            <a:off x="2985516" y="4837176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 flipH="1">
            <a:off x="2880360" y="4956048"/>
            <a:ext cx="1051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2770632" y="4887468"/>
            <a:ext cx="109728" cy="1371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2825496" y="5024628"/>
            <a:ext cx="0" cy="411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2779776" y="5065776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793339" y="5069014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163824" y="5055108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154680" y="4903247"/>
            <a:ext cx="550265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EIV-102*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099816" y="5894832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6"-SL-2001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097280" y="6309360"/>
            <a:ext cx="19659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97280" y="5989320"/>
            <a:ext cx="0" cy="320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97280" y="5989320"/>
            <a:ext cx="2103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Freeform 174"/>
          <p:cNvSpPr/>
          <p:nvPr/>
        </p:nvSpPr>
        <p:spPr>
          <a:xfrm>
            <a:off x="1092708" y="591845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89050" y="571804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MV-401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177" name="Freeform 176"/>
          <p:cNvSpPr/>
          <p:nvPr/>
        </p:nvSpPr>
        <p:spPr>
          <a:xfrm>
            <a:off x="1323136" y="6067044"/>
            <a:ext cx="279807" cy="141732"/>
          </a:xfrm>
          <a:custGeom>
            <a:avLst/>
            <a:gdLst/>
            <a:ahLst/>
            <a:cxnLst/>
            <a:rect l="l" t="t" r="r" b="b"/>
            <a:pathLst>
              <a:path w="279807" h="141732">
                <a:moveTo>
                  <a:pt x="0" y="141732"/>
                </a:moveTo>
                <a:lnTo>
                  <a:pt x="279807" y="141732"/>
                </a:lnTo>
                <a:lnTo>
                  <a:pt x="233172" y="0"/>
                </a:lnTo>
                <a:lnTo>
                  <a:pt x="4663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307592" y="58338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 flipV="1">
            <a:off x="1463040" y="5815584"/>
            <a:ext cx="0" cy="1828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1636776" y="6099048"/>
            <a:ext cx="460857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P-102A</a:t>
            </a:r>
          </a:p>
        </p:txBody>
      </p:sp>
      <p:cxnSp>
        <p:nvCxnSpPr>
          <p:cNvPr id="181" name="Connector 180"/>
          <p:cNvCxnSpPr/>
          <p:nvPr/>
        </p:nvCxnSpPr>
        <p:spPr>
          <a:xfrm flipV="1">
            <a:off x="1463040" y="5257800"/>
            <a:ext cx="0" cy="55778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Freeform 181"/>
          <p:cNvSpPr/>
          <p:nvPr/>
        </p:nvSpPr>
        <p:spPr>
          <a:xfrm>
            <a:off x="1392631" y="5568238"/>
            <a:ext cx="140817" cy="155906"/>
          </a:xfrm>
          <a:custGeom>
            <a:avLst/>
            <a:gdLst/>
            <a:ahLst/>
            <a:cxnLst/>
            <a:rect l="l" t="t" r="r" b="b"/>
            <a:pathLst>
              <a:path w="140817" h="155906">
                <a:moveTo>
                  <a:pt x="0" y="155906"/>
                </a:moveTo>
                <a:lnTo>
                  <a:pt x="70409" y="0"/>
                </a:lnTo>
                <a:lnTo>
                  <a:pt x="140817" y="15590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1392631" y="5568238"/>
            <a:ext cx="14081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554480" y="5576315"/>
            <a:ext cx="413552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NRV-401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392174" y="5312664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554480" y="5337047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MV-402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187" name="Oval 186"/>
          <p:cNvSpPr/>
          <p:nvPr/>
        </p:nvSpPr>
        <p:spPr>
          <a:xfrm>
            <a:off x="2256282" y="62796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 flipV="1">
            <a:off x="2286000" y="5989320"/>
            <a:ext cx="0" cy="320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286000" y="5989320"/>
            <a:ext cx="2103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Freeform 189"/>
          <p:cNvSpPr/>
          <p:nvPr/>
        </p:nvSpPr>
        <p:spPr>
          <a:xfrm>
            <a:off x="2281428" y="591845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277770" y="5718048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MV-403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192" name="Freeform 191"/>
          <p:cNvSpPr/>
          <p:nvPr/>
        </p:nvSpPr>
        <p:spPr>
          <a:xfrm>
            <a:off x="2511856" y="6067044"/>
            <a:ext cx="279807" cy="141732"/>
          </a:xfrm>
          <a:custGeom>
            <a:avLst/>
            <a:gdLst/>
            <a:ahLst/>
            <a:cxnLst/>
            <a:rect l="l" t="t" r="r" b="b"/>
            <a:pathLst>
              <a:path w="279807" h="141732">
                <a:moveTo>
                  <a:pt x="0" y="141732"/>
                </a:moveTo>
                <a:lnTo>
                  <a:pt x="279807" y="141732"/>
                </a:lnTo>
                <a:lnTo>
                  <a:pt x="233172" y="0"/>
                </a:lnTo>
                <a:lnTo>
                  <a:pt x="4663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496312" y="583387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 flipV="1">
            <a:off x="2651760" y="5815584"/>
            <a:ext cx="0" cy="1828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2825496" y="6099048"/>
            <a:ext cx="460857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P-102B</a:t>
            </a:r>
          </a:p>
        </p:txBody>
      </p:sp>
      <p:cxnSp>
        <p:nvCxnSpPr>
          <p:cNvPr id="196" name="Connector 195"/>
          <p:cNvCxnSpPr/>
          <p:nvPr/>
        </p:nvCxnSpPr>
        <p:spPr>
          <a:xfrm flipV="1">
            <a:off x="2651760" y="5257800"/>
            <a:ext cx="0" cy="55778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2581351" y="5568238"/>
            <a:ext cx="140817" cy="155906"/>
          </a:xfrm>
          <a:custGeom>
            <a:avLst/>
            <a:gdLst/>
            <a:ahLst/>
            <a:cxnLst/>
            <a:rect l="l" t="t" r="r" b="b"/>
            <a:pathLst>
              <a:path w="140817" h="155906">
                <a:moveTo>
                  <a:pt x="0" y="155906"/>
                </a:moveTo>
                <a:lnTo>
                  <a:pt x="70409" y="0"/>
                </a:lnTo>
                <a:lnTo>
                  <a:pt x="140817" y="15590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>
            <a:off x="2581351" y="5568238"/>
            <a:ext cx="140817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2146767" y="5576315"/>
            <a:ext cx="413552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NRV-402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2580894" y="5312664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197486" y="5337047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MV-404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2057400" y="6309360"/>
            <a:ext cx="0" cy="32918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Freeform 202"/>
          <p:cNvSpPr/>
          <p:nvPr/>
        </p:nvSpPr>
        <p:spPr>
          <a:xfrm>
            <a:off x="1997964" y="6382512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2011680" y="6638544"/>
            <a:ext cx="914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2112264" y="6545580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603126" y="6388608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MV-405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1463040" y="5257800"/>
            <a:ext cx="35204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983480" y="52578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val 208"/>
          <p:cNvSpPr/>
          <p:nvPr/>
        </p:nvSpPr>
        <p:spPr>
          <a:xfrm>
            <a:off x="2622041" y="5228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593592" y="5126736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3"-SL-2002</a:t>
            </a:r>
          </a:p>
        </p:txBody>
      </p:sp>
      <p:sp>
        <p:nvSpPr>
          <p:cNvPr id="211" name="Oval 210"/>
          <p:cNvSpPr/>
          <p:nvPr/>
        </p:nvSpPr>
        <p:spPr>
          <a:xfrm>
            <a:off x="4405122" y="5228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>
            <a:off x="4434840" y="52578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ctangle 212"/>
          <p:cNvSpPr/>
          <p:nvPr/>
        </p:nvSpPr>
        <p:spPr>
          <a:xfrm>
            <a:off x="4297679" y="5806440"/>
            <a:ext cx="27432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4361688" y="5879592"/>
            <a:ext cx="0" cy="5852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4434840" y="5879592"/>
            <a:ext cx="0" cy="5852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507992" y="5879592"/>
            <a:ext cx="0" cy="5852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4363974" y="5468112"/>
            <a:ext cx="141731" cy="219456"/>
          </a:xfrm>
          <a:custGeom>
            <a:avLst/>
            <a:gdLst/>
            <a:ahLst/>
            <a:cxnLst/>
            <a:rect l="l" t="t" r="r" b="b"/>
            <a:pathLst>
              <a:path w="141731" h="219456">
                <a:moveTo>
                  <a:pt x="0" y="0"/>
                </a:moveTo>
                <a:lnTo>
                  <a:pt x="141731" y="219456"/>
                </a:lnTo>
                <a:lnTo>
                  <a:pt x="0" y="219456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980566" y="5492495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MV-406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4434840" y="653796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Freeform 219"/>
          <p:cNvSpPr/>
          <p:nvPr/>
        </p:nvSpPr>
        <p:spPr>
          <a:xfrm>
            <a:off x="4363974" y="6638544"/>
            <a:ext cx="141731" cy="219456"/>
          </a:xfrm>
          <a:custGeom>
            <a:avLst/>
            <a:gdLst/>
            <a:ahLst/>
            <a:cxnLst/>
            <a:rect l="l" t="t" r="r" b="b"/>
            <a:pathLst>
              <a:path w="141731" h="219456">
                <a:moveTo>
                  <a:pt x="0" y="0"/>
                </a:moveTo>
                <a:lnTo>
                  <a:pt x="141731" y="219456"/>
                </a:lnTo>
                <a:lnTo>
                  <a:pt x="0" y="219456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980566" y="6662928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MV-407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846320" y="5806440"/>
            <a:ext cx="27432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>
            <a:off x="4910328" y="5879592"/>
            <a:ext cx="0" cy="5852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4983480" y="5879592"/>
            <a:ext cx="0" cy="5852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056632" y="5879592"/>
            <a:ext cx="0" cy="5852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Freeform 225"/>
          <p:cNvSpPr/>
          <p:nvPr/>
        </p:nvSpPr>
        <p:spPr>
          <a:xfrm>
            <a:off x="4912614" y="5468112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529206" y="5492495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MV-408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4983480" y="6537960"/>
            <a:ext cx="0" cy="411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Freeform 228"/>
          <p:cNvSpPr/>
          <p:nvPr/>
        </p:nvSpPr>
        <p:spPr>
          <a:xfrm>
            <a:off x="4912614" y="6638544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529206" y="6662928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MV-409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913632" y="7168896"/>
            <a:ext cx="594969" cy="113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F-102A/B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4160520" y="5257800"/>
            <a:ext cx="0" cy="7589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Oval 232"/>
          <p:cNvSpPr/>
          <p:nvPr/>
        </p:nvSpPr>
        <p:spPr>
          <a:xfrm>
            <a:off x="4130802" y="5228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 flipV="1">
            <a:off x="4160520" y="6345936"/>
            <a:ext cx="0" cy="60350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234"/>
          <p:cNvSpPr/>
          <p:nvPr/>
        </p:nvSpPr>
        <p:spPr>
          <a:xfrm>
            <a:off x="3995928" y="601675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sp>
        <p:nvSpPr>
          <p:cNvPr id="236" name="Oval 235"/>
          <p:cNvSpPr/>
          <p:nvPr/>
        </p:nvSpPr>
        <p:spPr>
          <a:xfrm>
            <a:off x="3474720" y="6556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3474720" y="6720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3840480" y="6181344"/>
            <a:ext cx="15544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840480" y="6181344"/>
            <a:ext cx="0" cy="53949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3803904" y="6720840"/>
            <a:ext cx="3657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160520" y="6949440"/>
            <a:ext cx="2011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6172200" y="1417320"/>
            <a:ext cx="0" cy="5532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6172200" y="141732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6675120" y="14173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4405122" y="6919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953762" y="6919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072634" y="6919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987034" y="6919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5102352" y="694944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5102352" y="731520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6016752" y="694944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Freeform 251"/>
          <p:cNvSpPr/>
          <p:nvPr/>
        </p:nvSpPr>
        <p:spPr>
          <a:xfrm>
            <a:off x="5175504" y="6878574"/>
            <a:ext cx="219456" cy="141731"/>
          </a:xfrm>
          <a:custGeom>
            <a:avLst/>
            <a:gdLst/>
            <a:ahLst/>
            <a:cxnLst/>
            <a:rect l="l" t="t" r="r" b="b"/>
            <a:pathLst>
              <a:path w="219456" h="141731">
                <a:moveTo>
                  <a:pt x="0" y="0"/>
                </a:moveTo>
                <a:lnTo>
                  <a:pt x="219456" y="141731"/>
                </a:lnTo>
                <a:lnTo>
                  <a:pt x="219456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5171846" y="6678167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MV-410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5724144" y="6878574"/>
            <a:ext cx="219456" cy="141731"/>
          </a:xfrm>
          <a:custGeom>
            <a:avLst/>
            <a:gdLst/>
            <a:ahLst/>
            <a:cxnLst/>
            <a:rect l="l" t="t" r="r" b="b"/>
            <a:pathLst>
              <a:path w="219456" h="141731">
                <a:moveTo>
                  <a:pt x="0" y="0"/>
                </a:moveTo>
                <a:lnTo>
                  <a:pt x="219456" y="141731"/>
                </a:lnTo>
                <a:lnTo>
                  <a:pt x="219456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720486" y="6678167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MV-411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5449824" y="724433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5536692" y="72923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446166" y="7415783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MV-412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259" name="Freeform 258"/>
          <p:cNvSpPr/>
          <p:nvPr/>
        </p:nvSpPr>
        <p:spPr>
          <a:xfrm>
            <a:off x="5440680" y="68717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 flipV="1">
            <a:off x="5559552" y="67665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Freeform 260"/>
          <p:cNvSpPr/>
          <p:nvPr/>
        </p:nvSpPr>
        <p:spPr>
          <a:xfrm>
            <a:off x="5481828" y="6690016"/>
            <a:ext cx="155448" cy="76543"/>
          </a:xfrm>
          <a:custGeom>
            <a:avLst/>
            <a:gdLst/>
            <a:ahLst/>
            <a:cxnLst/>
            <a:rect l="l" t="t" r="r" b="b"/>
            <a:pathLst>
              <a:path w="155448" h="76543">
                <a:moveTo>
                  <a:pt x="0" y="76543"/>
                </a:moveTo>
                <a:lnTo>
                  <a:pt x="0" y="76543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2" name="Connector 261"/>
          <p:cNvCxnSpPr/>
          <p:nvPr/>
        </p:nvCxnSpPr>
        <p:spPr>
          <a:xfrm>
            <a:off x="5481828" y="6766559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5632704" y="675589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678424" y="7068312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LV-102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5669280" y="4782312"/>
            <a:ext cx="0" cy="15544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>
            <a:off x="5230368" y="4937760"/>
            <a:ext cx="43891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5230368" y="4937760"/>
            <a:ext cx="0" cy="157276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5230368" y="6510528"/>
            <a:ext cx="32918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5559552" y="6510528"/>
            <a:ext cx="0" cy="17830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5620633" y="2740152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3"-P-2003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6089904" y="6281928"/>
            <a:ext cx="16459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6089904" y="6336792"/>
            <a:ext cx="16459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6254496" y="6262116"/>
            <a:ext cx="362833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FE-102</a:t>
            </a:r>
          </a:p>
        </p:txBody>
      </p:sp>
      <p:cxnSp>
        <p:nvCxnSpPr>
          <p:cNvPr id="274" name="Connector 273"/>
          <p:cNvCxnSpPr/>
          <p:nvPr/>
        </p:nvCxnSpPr>
        <p:spPr>
          <a:xfrm flipH="1">
            <a:off x="5925312" y="630936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Oval 274"/>
          <p:cNvSpPr/>
          <p:nvPr/>
        </p:nvSpPr>
        <p:spPr>
          <a:xfrm>
            <a:off x="5596128" y="6144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sp>
        <p:nvSpPr>
          <p:cNvPr id="276" name="Oval 275"/>
          <p:cNvSpPr/>
          <p:nvPr/>
        </p:nvSpPr>
        <p:spPr>
          <a:xfrm>
            <a:off x="5596128" y="5596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277" name="Connector 276"/>
          <p:cNvCxnSpPr/>
          <p:nvPr/>
        </p:nvCxnSpPr>
        <p:spPr>
          <a:xfrm>
            <a:off x="5596128" y="5760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5760720" y="5925312"/>
            <a:ext cx="0" cy="21945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3913632" y="7287768"/>
            <a:ext cx="1782958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CANDLE FILTERS; TSV-102F* ON EACH,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SET 36 bar g → CLOSED DRAIN (TYP.)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6492240" y="1600200"/>
            <a:ext cx="640080" cy="38862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Connector 280"/>
          <p:cNvCxnSpPr/>
          <p:nvPr/>
        </p:nvCxnSpPr>
        <p:spPr>
          <a:xfrm>
            <a:off x="6537959" y="1965960"/>
            <a:ext cx="54864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537959" y="5074920"/>
            <a:ext cx="54864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6565392" y="2697480"/>
            <a:ext cx="4937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6565392" y="3337560"/>
            <a:ext cx="4937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6565392" y="3977639"/>
            <a:ext cx="4937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6565392" y="4617720"/>
            <a:ext cx="4937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6663023" y="2802540"/>
            <a:ext cx="298513" cy="137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R-103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61911" y="2971800"/>
            <a:ext cx="300736" cy="2564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TRICKLE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BED</a:t>
            </a:r>
          </a:p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Ni/Al2O3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7132320" y="219456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Oval 289"/>
          <p:cNvSpPr/>
          <p:nvPr/>
        </p:nvSpPr>
        <p:spPr>
          <a:xfrm>
            <a:off x="7424928" y="202996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107A</a:t>
            </a:r>
          </a:p>
        </p:txBody>
      </p:sp>
      <p:sp>
        <p:nvSpPr>
          <p:cNvPr id="291" name="Oval 290"/>
          <p:cNvSpPr/>
          <p:nvPr/>
        </p:nvSpPr>
        <p:spPr>
          <a:xfrm>
            <a:off x="7927848" y="202996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107A</a:t>
            </a:r>
          </a:p>
        </p:txBody>
      </p:sp>
      <p:cxnSp>
        <p:nvCxnSpPr>
          <p:cNvPr id="292" name="Connector 291"/>
          <p:cNvCxnSpPr/>
          <p:nvPr/>
        </p:nvCxnSpPr>
        <p:spPr>
          <a:xfrm>
            <a:off x="7927848" y="219456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754112" y="219456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589520" y="2359152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589520" y="2432304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132320" y="283464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7424928" y="2670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107B</a:t>
            </a:r>
          </a:p>
        </p:txBody>
      </p:sp>
      <p:sp>
        <p:nvSpPr>
          <p:cNvPr id="298" name="Oval 297"/>
          <p:cNvSpPr/>
          <p:nvPr/>
        </p:nvSpPr>
        <p:spPr>
          <a:xfrm>
            <a:off x="7927848" y="2670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107B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7927848" y="283464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7754112" y="283464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7589520" y="2999232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7589520" y="3072384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7132320" y="347472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Oval 303"/>
          <p:cNvSpPr/>
          <p:nvPr/>
        </p:nvSpPr>
        <p:spPr>
          <a:xfrm>
            <a:off x="7424928" y="3310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107C</a:t>
            </a:r>
          </a:p>
        </p:txBody>
      </p:sp>
      <p:sp>
        <p:nvSpPr>
          <p:cNvPr id="305" name="Oval 304"/>
          <p:cNvSpPr/>
          <p:nvPr/>
        </p:nvSpPr>
        <p:spPr>
          <a:xfrm>
            <a:off x="7927848" y="3310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107C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7927848" y="34747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754112" y="347472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589520" y="3639312"/>
            <a:ext cx="0" cy="73151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7589520" y="3712463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7132320" y="411480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7424928" y="3950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107D</a:t>
            </a:r>
          </a:p>
        </p:txBody>
      </p:sp>
      <p:sp>
        <p:nvSpPr>
          <p:cNvPr id="312" name="Oval 311"/>
          <p:cNvSpPr/>
          <p:nvPr/>
        </p:nvSpPr>
        <p:spPr>
          <a:xfrm>
            <a:off x="7927848" y="3950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107D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7927848" y="41148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7754112" y="411480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7589520" y="4279392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7589520" y="4352544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7132320" y="475488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Oval 317"/>
          <p:cNvSpPr/>
          <p:nvPr/>
        </p:nvSpPr>
        <p:spPr>
          <a:xfrm>
            <a:off x="7424928" y="4590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107E</a:t>
            </a:r>
          </a:p>
        </p:txBody>
      </p:sp>
      <p:sp>
        <p:nvSpPr>
          <p:cNvPr id="319" name="Oval 318"/>
          <p:cNvSpPr/>
          <p:nvPr/>
        </p:nvSpPr>
        <p:spPr>
          <a:xfrm>
            <a:off x="7927848" y="4590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107E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7927848" y="475488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7754112" y="475488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7589520" y="4919472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7589520" y="4992624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8412480" y="2432304"/>
            <a:ext cx="0" cy="275234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Rectangle 324"/>
          <p:cNvSpPr/>
          <p:nvPr/>
        </p:nvSpPr>
        <p:spPr>
          <a:xfrm>
            <a:off x="8247888" y="5184648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8247888" y="5184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327" name="Connector 326"/>
          <p:cNvCxnSpPr/>
          <p:nvPr/>
        </p:nvCxnSpPr>
        <p:spPr>
          <a:xfrm>
            <a:off x="8247888" y="5349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TextBox 327"/>
          <p:cNvSpPr txBox="1"/>
          <p:nvPr/>
        </p:nvSpPr>
        <p:spPr>
          <a:xfrm>
            <a:off x="7159752" y="188061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TE-107A…E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6812280" y="54864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6812280" y="6035040"/>
            <a:ext cx="868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7680960" y="603504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6858000" y="5903975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10"-P-2005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086600" y="6263640"/>
            <a:ext cx="274320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ounded Rectangle 333"/>
          <p:cNvSpPr/>
          <p:nvPr/>
        </p:nvSpPr>
        <p:spPr>
          <a:xfrm>
            <a:off x="7360920" y="62636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7360920" y="6384340"/>
            <a:ext cx="914400" cy="124359"/>
          </a:xfrm>
          <a:custGeom>
            <a:avLst/>
            <a:gdLst/>
            <a:ahLst/>
            <a:cxnLst/>
            <a:rect l="l" t="t" r="r" b="b"/>
            <a:pathLst>
              <a:path w="914400" h="124359">
                <a:moveTo>
                  <a:pt x="0" y="0"/>
                </a:moveTo>
                <a:lnTo>
                  <a:pt x="841248" y="0"/>
                </a:lnTo>
                <a:lnTo>
                  <a:pt x="914400" y="62180"/>
                </a:lnTo>
                <a:lnTo>
                  <a:pt x="841248" y="124359"/>
                </a:lnTo>
                <a:lnTo>
                  <a:pt x="0" y="124359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>
            <a:off x="8138160" y="66294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8138160" y="717804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7531703" y="6675120"/>
            <a:ext cx="298513" cy="137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E-106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7431532" y="6812280"/>
            <a:ext cx="498856" cy="97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PRODUCT COOLER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8174736" y="6781799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8"-P-2006</a:t>
            </a:r>
          </a:p>
        </p:txBody>
      </p:sp>
      <p:cxnSp>
        <p:nvCxnSpPr>
          <p:cNvPr id="341" name="Connector 340"/>
          <p:cNvCxnSpPr/>
          <p:nvPr/>
        </p:nvCxnSpPr>
        <p:spPr>
          <a:xfrm flipV="1">
            <a:off x="7159752" y="6629400"/>
            <a:ext cx="0" cy="71323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TextBox 341"/>
          <p:cNvSpPr txBox="1"/>
          <p:nvPr/>
        </p:nvSpPr>
        <p:spPr>
          <a:xfrm>
            <a:off x="6939930" y="7360920"/>
            <a:ext cx="2106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CWS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7088886" y="6793992"/>
            <a:ext cx="141732" cy="219456"/>
          </a:xfrm>
          <a:custGeom>
            <a:avLst/>
            <a:gdLst/>
            <a:ahLst/>
            <a:cxnLst/>
            <a:rect l="l" t="t" r="r" b="b"/>
            <a:pathLst>
              <a:path w="141732" h="219456">
                <a:moveTo>
                  <a:pt x="0" y="0"/>
                </a:moveTo>
                <a:lnTo>
                  <a:pt x="141732" y="219456"/>
                </a:lnTo>
                <a:lnTo>
                  <a:pt x="0" y="219456"/>
                </a:lnTo>
                <a:lnTo>
                  <a:pt x="14173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705478" y="6818375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MV-413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45" name="Connector 344"/>
          <p:cNvCxnSpPr/>
          <p:nvPr/>
        </p:nvCxnSpPr>
        <p:spPr>
          <a:xfrm>
            <a:off x="7287768" y="6629400"/>
            <a:ext cx="0" cy="71323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7296912" y="7360920"/>
            <a:ext cx="21067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CWR</a:t>
            </a:r>
          </a:p>
        </p:txBody>
      </p:sp>
      <p:sp>
        <p:nvSpPr>
          <p:cNvPr id="347" name="Freeform 346"/>
          <p:cNvSpPr/>
          <p:nvPr/>
        </p:nvSpPr>
        <p:spPr>
          <a:xfrm>
            <a:off x="7216902" y="7068312"/>
            <a:ext cx="141731" cy="219456"/>
          </a:xfrm>
          <a:custGeom>
            <a:avLst/>
            <a:gdLst/>
            <a:ahLst/>
            <a:cxnLst/>
            <a:rect l="l" t="t" r="r" b="b"/>
            <a:pathLst>
              <a:path w="141731" h="219456">
                <a:moveTo>
                  <a:pt x="0" y="0"/>
                </a:moveTo>
                <a:lnTo>
                  <a:pt x="141731" y="219456"/>
                </a:lnTo>
                <a:lnTo>
                  <a:pt x="0" y="219456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7379208" y="7092695"/>
            <a:ext cx="362833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MV-414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LO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442740" y="6675120"/>
            <a:ext cx="616427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10"-CW-2030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080719" y="7059168"/>
            <a:ext cx="941872" cy="157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TSV-106* (10 bar g)</a:t>
            </a:r>
          </a:p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ON CW OUTLET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8503920" y="6903720"/>
            <a:ext cx="2011679" cy="5943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9863423" y="7063644"/>
            <a:ext cx="298513" cy="137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9796272" y="7260336"/>
            <a:ext cx="432816" cy="97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HP SEPARATOR</a:t>
            </a:r>
          </a:p>
        </p:txBody>
      </p:sp>
      <p:cxnSp>
        <p:nvCxnSpPr>
          <p:cNvPr id="354" name="Connector 353"/>
          <p:cNvCxnSpPr/>
          <p:nvPr/>
        </p:nvCxnSpPr>
        <p:spPr>
          <a:xfrm flipV="1">
            <a:off x="8732520" y="6739128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Freeform 354"/>
          <p:cNvSpPr/>
          <p:nvPr/>
        </p:nvSpPr>
        <p:spPr>
          <a:xfrm>
            <a:off x="8659368" y="6638544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0" y="100584"/>
                </a:moveTo>
                <a:lnTo>
                  <a:pt x="146304" y="100584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8732520" y="6569964"/>
            <a:ext cx="109728" cy="137160"/>
          </a:xfrm>
          <a:custGeom>
            <a:avLst/>
            <a:gdLst/>
            <a:ahLst/>
            <a:cxnLst/>
            <a:rect l="l" t="t" r="r" b="b"/>
            <a:pathLst>
              <a:path w="109728" h="137160">
                <a:moveTo>
                  <a:pt x="0" y="68580"/>
                </a:moveTo>
                <a:lnTo>
                  <a:pt x="109728" y="0"/>
                </a:lnTo>
                <a:lnTo>
                  <a:pt x="109728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8695944" y="6428231"/>
            <a:ext cx="73152" cy="210313"/>
          </a:xfrm>
          <a:custGeom>
            <a:avLst/>
            <a:gdLst/>
            <a:ahLst/>
            <a:cxnLst/>
            <a:rect l="l" t="t" r="r" b="b"/>
            <a:pathLst>
              <a:path w="73152" h="210313">
                <a:moveTo>
                  <a:pt x="36576" y="210313"/>
                </a:moveTo>
                <a:lnTo>
                  <a:pt x="0" y="173737"/>
                </a:lnTo>
                <a:lnTo>
                  <a:pt x="73152" y="141733"/>
                </a:lnTo>
                <a:lnTo>
                  <a:pt x="0" y="109728"/>
                </a:lnTo>
                <a:lnTo>
                  <a:pt x="73152" y="77724"/>
                </a:lnTo>
                <a:lnTo>
                  <a:pt x="0" y="45721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>
            <a:off x="8842248" y="6638544"/>
            <a:ext cx="10972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8951976" y="566928"/>
            <a:ext cx="0" cy="60716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Oval 359"/>
          <p:cNvSpPr/>
          <p:nvPr/>
        </p:nvSpPr>
        <p:spPr>
          <a:xfrm>
            <a:off x="8922258" y="5372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8222528" y="6470904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PSV-104*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36 bar g</a:t>
            </a:r>
          </a:p>
        </p:txBody>
      </p:sp>
      <p:cxnSp>
        <p:nvCxnSpPr>
          <p:cNvPr id="362" name="Connector 361"/>
          <p:cNvCxnSpPr/>
          <p:nvPr/>
        </p:nvCxnSpPr>
        <p:spPr>
          <a:xfrm flipV="1">
            <a:off x="9098280" y="3566160"/>
            <a:ext cx="0" cy="3337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9098280" y="3566160"/>
            <a:ext cx="2286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TextBox 363"/>
          <p:cNvSpPr txBox="1"/>
          <p:nvPr/>
        </p:nvSpPr>
        <p:spPr>
          <a:xfrm>
            <a:off x="9134856" y="6580632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10"-G-2007</a:t>
            </a:r>
          </a:p>
        </p:txBody>
      </p:sp>
      <p:sp>
        <p:nvSpPr>
          <p:cNvPr id="365" name="Freeform 364"/>
          <p:cNvSpPr/>
          <p:nvPr/>
        </p:nvSpPr>
        <p:spPr>
          <a:xfrm>
            <a:off x="10863072" y="4572000"/>
            <a:ext cx="384048" cy="182879"/>
          </a:xfrm>
          <a:custGeom>
            <a:avLst/>
            <a:gdLst/>
            <a:ahLst/>
            <a:cxnLst/>
            <a:rect l="l" t="t" r="r" b="b"/>
            <a:pathLst>
              <a:path w="384048" h="182879">
                <a:moveTo>
                  <a:pt x="384048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79"/>
                </a:lnTo>
                <a:lnTo>
                  <a:pt x="384048" y="18287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10699699" y="4782312"/>
            <a:ext cx="565708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MAKE-UP H2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35 bar g</a:t>
            </a:r>
          </a:p>
        </p:txBody>
      </p:sp>
      <p:cxnSp>
        <p:nvCxnSpPr>
          <p:cNvPr id="367" name="Connector 366"/>
          <p:cNvCxnSpPr/>
          <p:nvPr/>
        </p:nvCxnSpPr>
        <p:spPr>
          <a:xfrm flipH="1">
            <a:off x="9098280" y="4663440"/>
            <a:ext cx="17647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Oval 367"/>
          <p:cNvSpPr/>
          <p:nvPr/>
        </p:nvSpPr>
        <p:spPr>
          <a:xfrm>
            <a:off x="9068561" y="4633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0506455" y="458571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 flipV="1">
            <a:off x="10625328" y="44805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Rectangle 370"/>
          <p:cNvSpPr/>
          <p:nvPr/>
        </p:nvSpPr>
        <p:spPr>
          <a:xfrm>
            <a:off x="10556748" y="43708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2" name="Connector 371"/>
          <p:cNvCxnSpPr/>
          <p:nvPr/>
        </p:nvCxnSpPr>
        <p:spPr>
          <a:xfrm>
            <a:off x="10693907" y="4425696"/>
            <a:ext cx="411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10735055" y="4379976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10748619" y="4383214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0698480" y="446989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0491787" y="4773168"/>
            <a:ext cx="267081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XV-105</a:t>
            </a:r>
          </a:p>
        </p:txBody>
      </p:sp>
      <p:cxnSp>
        <p:nvCxnSpPr>
          <p:cNvPr id="377" name="Connector 376"/>
          <p:cNvCxnSpPr/>
          <p:nvPr/>
        </p:nvCxnSpPr>
        <p:spPr>
          <a:xfrm>
            <a:off x="10305288" y="45811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10360152" y="45811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0332720" y="4370832"/>
            <a:ext cx="0" cy="2103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Oval 379"/>
          <p:cNvSpPr/>
          <p:nvPr/>
        </p:nvSpPr>
        <p:spPr>
          <a:xfrm>
            <a:off x="10168128" y="4041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sp>
        <p:nvSpPr>
          <p:cNvPr id="381" name="Oval 380"/>
          <p:cNvSpPr/>
          <p:nvPr/>
        </p:nvSpPr>
        <p:spPr>
          <a:xfrm>
            <a:off x="10762488" y="3721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cxnSp>
        <p:nvCxnSpPr>
          <p:cNvPr id="382" name="Connector 381"/>
          <p:cNvCxnSpPr/>
          <p:nvPr/>
        </p:nvCxnSpPr>
        <p:spPr>
          <a:xfrm>
            <a:off x="10762488" y="38862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0497312" y="4206240"/>
            <a:ext cx="42976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10927080" y="4050791"/>
            <a:ext cx="0" cy="155449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Oval 384"/>
          <p:cNvSpPr/>
          <p:nvPr/>
        </p:nvSpPr>
        <p:spPr>
          <a:xfrm>
            <a:off x="9224009" y="4633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138409" y="4633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Connector 386"/>
          <p:cNvCxnSpPr/>
          <p:nvPr/>
        </p:nvCxnSpPr>
        <p:spPr>
          <a:xfrm>
            <a:off x="9253728" y="4663440"/>
            <a:ext cx="0" cy="34747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9253728" y="5010912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0168128" y="4663440"/>
            <a:ext cx="0" cy="34747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Freeform 389"/>
          <p:cNvSpPr/>
          <p:nvPr/>
        </p:nvSpPr>
        <p:spPr>
          <a:xfrm>
            <a:off x="9326880" y="4592574"/>
            <a:ext cx="219455" cy="141731"/>
          </a:xfrm>
          <a:custGeom>
            <a:avLst/>
            <a:gdLst/>
            <a:ahLst/>
            <a:cxnLst/>
            <a:rect l="l" t="t" r="r" b="b"/>
            <a:pathLst>
              <a:path w="219455" h="141731">
                <a:moveTo>
                  <a:pt x="0" y="0"/>
                </a:moveTo>
                <a:lnTo>
                  <a:pt x="219455" y="141731"/>
                </a:lnTo>
                <a:lnTo>
                  <a:pt x="219455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9323222" y="4392167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MV-415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392" name="Freeform 391"/>
          <p:cNvSpPr/>
          <p:nvPr/>
        </p:nvSpPr>
        <p:spPr>
          <a:xfrm>
            <a:off x="9875520" y="4592574"/>
            <a:ext cx="219456" cy="141731"/>
          </a:xfrm>
          <a:custGeom>
            <a:avLst/>
            <a:gdLst/>
            <a:ahLst/>
            <a:cxnLst/>
            <a:rect l="l" t="t" r="r" b="b"/>
            <a:pathLst>
              <a:path w="219456" h="141731">
                <a:moveTo>
                  <a:pt x="0" y="0"/>
                </a:moveTo>
                <a:lnTo>
                  <a:pt x="219456" y="141731"/>
                </a:lnTo>
                <a:lnTo>
                  <a:pt x="219456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9871862" y="4392167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MV-416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394" name="Freeform 393"/>
          <p:cNvSpPr/>
          <p:nvPr/>
        </p:nvSpPr>
        <p:spPr>
          <a:xfrm>
            <a:off x="9601200" y="4940046"/>
            <a:ext cx="219455" cy="141731"/>
          </a:xfrm>
          <a:custGeom>
            <a:avLst/>
            <a:gdLst/>
            <a:ahLst/>
            <a:cxnLst/>
            <a:rect l="l" t="t" r="r" b="b"/>
            <a:pathLst>
              <a:path w="219455" h="141731">
                <a:moveTo>
                  <a:pt x="0" y="0"/>
                </a:moveTo>
                <a:lnTo>
                  <a:pt x="219455" y="141731"/>
                </a:lnTo>
                <a:lnTo>
                  <a:pt x="219455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688067" y="4988051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9597542" y="5111496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MV-417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9592055" y="458571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8" name="Connector 397"/>
          <p:cNvCxnSpPr/>
          <p:nvPr/>
        </p:nvCxnSpPr>
        <p:spPr>
          <a:xfrm flipV="1">
            <a:off x="9710928" y="44805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Freeform 398"/>
          <p:cNvSpPr/>
          <p:nvPr/>
        </p:nvSpPr>
        <p:spPr>
          <a:xfrm>
            <a:off x="9633203" y="4404016"/>
            <a:ext cx="155449" cy="76543"/>
          </a:xfrm>
          <a:custGeom>
            <a:avLst/>
            <a:gdLst/>
            <a:ahLst/>
            <a:cxnLst/>
            <a:rect l="l" t="t" r="r" b="b"/>
            <a:pathLst>
              <a:path w="155449" h="76543">
                <a:moveTo>
                  <a:pt x="0" y="76543"/>
                </a:moveTo>
                <a:lnTo>
                  <a:pt x="0" y="76543"/>
                </a:lnTo>
                <a:lnTo>
                  <a:pt x="4688" y="49960"/>
                </a:lnTo>
                <a:lnTo>
                  <a:pt x="18184" y="26583"/>
                </a:lnTo>
                <a:lnTo>
                  <a:pt x="38862" y="9233"/>
                </a:lnTo>
                <a:lnTo>
                  <a:pt x="64228" y="0"/>
                </a:lnTo>
                <a:lnTo>
                  <a:pt x="91221" y="0"/>
                </a:lnTo>
                <a:lnTo>
                  <a:pt x="116587" y="9233"/>
                </a:lnTo>
                <a:lnTo>
                  <a:pt x="137265" y="26583"/>
                </a:lnTo>
                <a:lnTo>
                  <a:pt x="150761" y="49960"/>
                </a:lnTo>
                <a:lnTo>
                  <a:pt x="155449" y="7654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0" name="Connector 399"/>
          <p:cNvCxnSpPr/>
          <p:nvPr/>
        </p:nvCxnSpPr>
        <p:spPr>
          <a:xfrm>
            <a:off x="9633203" y="4480559"/>
            <a:ext cx="15544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TextBox 400"/>
          <p:cNvSpPr txBox="1"/>
          <p:nvPr/>
        </p:nvSpPr>
        <p:spPr>
          <a:xfrm>
            <a:off x="9784080" y="446989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9829800" y="4782312"/>
            <a:ext cx="427329" cy="10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PV-105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391265" y="4532375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8"-G-2009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9098280" y="4114800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9068561" y="4085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9171432" y="3950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407" name="Oval 406"/>
          <p:cNvSpPr/>
          <p:nvPr/>
        </p:nvSpPr>
        <p:spPr>
          <a:xfrm>
            <a:off x="9692640" y="3995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9692640" y="4160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9500616" y="4114800"/>
            <a:ext cx="19202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9857232" y="4325112"/>
            <a:ext cx="0" cy="4572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H="1">
            <a:off x="9710928" y="4370832"/>
            <a:ext cx="146304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9710928" y="4370832"/>
            <a:ext cx="0" cy="3200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Freeform 412"/>
          <p:cNvSpPr/>
          <p:nvPr/>
        </p:nvSpPr>
        <p:spPr>
          <a:xfrm>
            <a:off x="10863072" y="5257800"/>
            <a:ext cx="384048" cy="182879"/>
          </a:xfrm>
          <a:custGeom>
            <a:avLst/>
            <a:gdLst/>
            <a:ahLst/>
            <a:cxnLst/>
            <a:rect l="l" t="t" r="r" b="b"/>
            <a:pathLst>
              <a:path w="384048" h="182879">
                <a:moveTo>
                  <a:pt x="384048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79"/>
                </a:lnTo>
                <a:lnTo>
                  <a:pt x="384048" y="18287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0699699" y="5145023"/>
            <a:ext cx="565708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N2 8 bar g</a:t>
            </a:r>
          </a:p>
        </p:txBody>
      </p:sp>
      <p:cxnSp>
        <p:nvCxnSpPr>
          <p:cNvPr id="415" name="Connector 414"/>
          <p:cNvCxnSpPr/>
          <p:nvPr/>
        </p:nvCxnSpPr>
        <p:spPr>
          <a:xfrm flipH="1">
            <a:off x="9098280" y="5349240"/>
            <a:ext cx="17647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Oval 415"/>
          <p:cNvSpPr/>
          <p:nvPr/>
        </p:nvSpPr>
        <p:spPr>
          <a:xfrm>
            <a:off x="9068561" y="5319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10405872" y="5278374"/>
            <a:ext cx="219456" cy="141731"/>
          </a:xfrm>
          <a:custGeom>
            <a:avLst/>
            <a:gdLst/>
            <a:ahLst/>
            <a:cxnLst/>
            <a:rect l="l" t="t" r="r" b="b"/>
            <a:pathLst>
              <a:path w="219456" h="141731">
                <a:moveTo>
                  <a:pt x="0" y="0"/>
                </a:moveTo>
                <a:lnTo>
                  <a:pt x="219456" y="141731"/>
                </a:lnTo>
                <a:lnTo>
                  <a:pt x="219456" y="0"/>
                </a:lnTo>
                <a:lnTo>
                  <a:pt x="0" y="14173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0402214" y="5077967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HV-120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419" name="Freeform 418"/>
          <p:cNvSpPr/>
          <p:nvPr/>
        </p:nvSpPr>
        <p:spPr>
          <a:xfrm>
            <a:off x="10048798" y="5278831"/>
            <a:ext cx="155906" cy="140817"/>
          </a:xfrm>
          <a:custGeom>
            <a:avLst/>
            <a:gdLst/>
            <a:ahLst/>
            <a:cxnLst/>
            <a:rect l="l" t="t" r="r" b="b"/>
            <a:pathLst>
              <a:path w="155906" h="140817">
                <a:moveTo>
                  <a:pt x="155906" y="0"/>
                </a:moveTo>
                <a:lnTo>
                  <a:pt x="0" y="70409"/>
                </a:lnTo>
                <a:lnTo>
                  <a:pt x="155906" y="1408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>
            <a:off x="10048798" y="5278831"/>
            <a:ext cx="0" cy="1408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9974884" y="5449824"/>
            <a:ext cx="258470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NRV-403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144000" y="5218175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2"-N-2014</a:t>
            </a:r>
          </a:p>
        </p:txBody>
      </p:sp>
      <p:cxnSp>
        <p:nvCxnSpPr>
          <p:cNvPr id="423" name="Connector 422"/>
          <p:cNvCxnSpPr/>
          <p:nvPr/>
        </p:nvCxnSpPr>
        <p:spPr>
          <a:xfrm flipV="1">
            <a:off x="9601200" y="6035040"/>
            <a:ext cx="0" cy="8686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9601200" y="6035040"/>
            <a:ext cx="126187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Freeform 424"/>
          <p:cNvSpPr/>
          <p:nvPr/>
        </p:nvSpPr>
        <p:spPr>
          <a:xfrm>
            <a:off x="10863072" y="5943600"/>
            <a:ext cx="384048" cy="182879"/>
          </a:xfrm>
          <a:custGeom>
            <a:avLst/>
            <a:gdLst/>
            <a:ahLst/>
            <a:cxnLst/>
            <a:rect l="l" t="t" r="r" b="b"/>
            <a:pathLst>
              <a:path w="384048" h="182879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79"/>
                </a:lnTo>
                <a:lnTo>
                  <a:pt x="0" y="18287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10801136" y="6153912"/>
            <a:ext cx="464271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FUEL GAS</a:t>
            </a:r>
          </a:p>
        </p:txBody>
      </p:sp>
      <p:sp>
        <p:nvSpPr>
          <p:cNvPr id="427" name="Freeform 426"/>
          <p:cNvSpPr/>
          <p:nvPr/>
        </p:nvSpPr>
        <p:spPr>
          <a:xfrm>
            <a:off x="9939528" y="595731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 flipV="1">
            <a:off x="10058400" y="5852159"/>
            <a:ext cx="0" cy="1051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Freeform 428"/>
          <p:cNvSpPr/>
          <p:nvPr/>
        </p:nvSpPr>
        <p:spPr>
          <a:xfrm>
            <a:off x="9980676" y="5775616"/>
            <a:ext cx="155448" cy="76543"/>
          </a:xfrm>
          <a:custGeom>
            <a:avLst/>
            <a:gdLst/>
            <a:ahLst/>
            <a:cxnLst/>
            <a:rect l="l" t="t" r="r" b="b"/>
            <a:pathLst>
              <a:path w="155448" h="76543">
                <a:moveTo>
                  <a:pt x="0" y="76543"/>
                </a:moveTo>
                <a:lnTo>
                  <a:pt x="0" y="76543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>
            <a:off x="9980676" y="5852159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10131552" y="5841491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924859" y="6144768"/>
            <a:ext cx="267081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HV-107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10488168" y="59527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0543032" y="59527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10515600" y="5879592"/>
            <a:ext cx="0" cy="73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6" name="Oval 435"/>
          <p:cNvSpPr/>
          <p:nvPr/>
        </p:nvSpPr>
        <p:spPr>
          <a:xfrm>
            <a:off x="10351008" y="5550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sp>
        <p:nvSpPr>
          <p:cNvPr id="437" name="Oval 436"/>
          <p:cNvSpPr/>
          <p:nvPr/>
        </p:nvSpPr>
        <p:spPr>
          <a:xfrm>
            <a:off x="10853928" y="5550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10853928" y="5715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0680192" y="571500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9390888" y="5550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441" name="Connector 440"/>
          <p:cNvCxnSpPr/>
          <p:nvPr/>
        </p:nvCxnSpPr>
        <p:spPr>
          <a:xfrm>
            <a:off x="9390888" y="5715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9720072" y="5715000"/>
            <a:ext cx="15544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9875520" y="5669280"/>
            <a:ext cx="0" cy="4572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9875520" y="5669280"/>
            <a:ext cx="18288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0058400" y="5669280"/>
            <a:ext cx="0" cy="10515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/>
          <p:cNvSpPr txBox="1"/>
          <p:nvPr/>
        </p:nvSpPr>
        <p:spPr>
          <a:xfrm>
            <a:off x="9637776" y="607161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2"-G-2010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9326880" y="3291840"/>
            <a:ext cx="640080" cy="548640"/>
          </a:xfrm>
          <a:custGeom>
            <a:avLst/>
            <a:gdLst/>
            <a:ahLst/>
            <a:cxnLst/>
            <a:rect l="l" t="t" r="r" b="b"/>
            <a:pathLst>
              <a:path w="640080" h="548640">
                <a:moveTo>
                  <a:pt x="0" y="0"/>
                </a:moveTo>
                <a:lnTo>
                  <a:pt x="640080" y="137160"/>
                </a:lnTo>
                <a:lnTo>
                  <a:pt x="640080" y="41148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9470231" y="3497484"/>
            <a:ext cx="298513" cy="137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K-101</a:t>
            </a:r>
          </a:p>
        </p:txBody>
      </p:sp>
      <p:cxnSp>
        <p:nvCxnSpPr>
          <p:cNvPr id="449" name="Connector 448"/>
          <p:cNvCxnSpPr/>
          <p:nvPr/>
        </p:nvCxnSpPr>
        <p:spPr>
          <a:xfrm flipV="1">
            <a:off x="9646920" y="3090672"/>
            <a:ext cx="0" cy="274319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Oval 449"/>
          <p:cNvSpPr/>
          <p:nvPr/>
        </p:nvSpPr>
        <p:spPr>
          <a:xfrm>
            <a:off x="9528048" y="285292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9607677" y="2915031"/>
            <a:ext cx="78486" cy="1135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8319414" y="3310128"/>
            <a:ext cx="586841" cy="177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RECYCLE H2</a:t>
            </a:r>
          </a:p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COMPRESSOR</a:t>
            </a:r>
          </a:p>
        </p:txBody>
      </p:sp>
      <p:sp>
        <p:nvSpPr>
          <p:cNvPr id="453" name="Rectangle 452"/>
          <p:cNvSpPr/>
          <p:nvPr/>
        </p:nvSpPr>
        <p:spPr>
          <a:xfrm>
            <a:off x="8933688" y="2258568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8933688" y="2258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455" name="Connector 454"/>
          <p:cNvCxnSpPr/>
          <p:nvPr/>
        </p:nvCxnSpPr>
        <p:spPr>
          <a:xfrm>
            <a:off x="8933688" y="2423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H="1">
            <a:off x="9098280" y="2971800"/>
            <a:ext cx="42976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9098280" y="2587752"/>
            <a:ext cx="0" cy="38404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9966960" y="3566160"/>
            <a:ext cx="640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10607040" y="1234440"/>
            <a:ext cx="0" cy="2331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0607040" y="1234440"/>
            <a:ext cx="25603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Freeform 460"/>
          <p:cNvSpPr/>
          <p:nvPr/>
        </p:nvSpPr>
        <p:spPr>
          <a:xfrm>
            <a:off x="10049256" y="3495751"/>
            <a:ext cx="155905" cy="140817"/>
          </a:xfrm>
          <a:custGeom>
            <a:avLst/>
            <a:gdLst/>
            <a:ahLst/>
            <a:cxnLst/>
            <a:rect l="l" t="t" r="r" b="b"/>
            <a:pathLst>
              <a:path w="155905" h="140817">
                <a:moveTo>
                  <a:pt x="0" y="0"/>
                </a:moveTo>
                <a:lnTo>
                  <a:pt x="155905" y="70409"/>
                </a:lnTo>
                <a:lnTo>
                  <a:pt x="0" y="1408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2" name="Connector 461"/>
          <p:cNvCxnSpPr/>
          <p:nvPr/>
        </p:nvCxnSpPr>
        <p:spPr>
          <a:xfrm>
            <a:off x="10205161" y="3495751"/>
            <a:ext cx="0" cy="1408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10004755" y="3371088"/>
            <a:ext cx="290169" cy="94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NRV-112*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10314432" y="3495294"/>
            <a:ext cx="219456" cy="141732"/>
          </a:xfrm>
          <a:custGeom>
            <a:avLst/>
            <a:gdLst/>
            <a:ahLst/>
            <a:cxnLst/>
            <a:rect l="l" t="t" r="r" b="b"/>
            <a:pathLst>
              <a:path w="219456" h="141732">
                <a:moveTo>
                  <a:pt x="0" y="0"/>
                </a:moveTo>
                <a:lnTo>
                  <a:pt x="219456" y="141732"/>
                </a:lnTo>
                <a:lnTo>
                  <a:pt x="219456" y="0"/>
                </a:lnTo>
                <a:lnTo>
                  <a:pt x="0" y="14173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10310774" y="3666744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MV-418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10863072" y="1143000"/>
            <a:ext cx="384048" cy="182880"/>
          </a:xfrm>
          <a:custGeom>
            <a:avLst/>
            <a:gdLst/>
            <a:ahLst/>
            <a:cxnLst/>
            <a:rect l="l" t="t" r="r" b="b"/>
            <a:pathLst>
              <a:path w="384048" h="182880">
                <a:moveTo>
                  <a:pt x="0" y="0"/>
                </a:moveTo>
                <a:lnTo>
                  <a:pt x="292608" y="0"/>
                </a:lnTo>
                <a:lnTo>
                  <a:pt x="384048" y="91440"/>
                </a:lnTo>
                <a:lnTo>
                  <a:pt x="292608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10750417" y="1362456"/>
            <a:ext cx="514990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TO FV-103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SHT 1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0055473" y="1386840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8"-G-2008</a:t>
            </a:r>
          </a:p>
        </p:txBody>
      </p:sp>
      <p:cxnSp>
        <p:nvCxnSpPr>
          <p:cNvPr id="469" name="Connector 468"/>
          <p:cNvCxnSpPr/>
          <p:nvPr/>
        </p:nvCxnSpPr>
        <p:spPr>
          <a:xfrm>
            <a:off x="10607040" y="301752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Oval 469"/>
          <p:cNvSpPr/>
          <p:nvPr/>
        </p:nvSpPr>
        <p:spPr>
          <a:xfrm>
            <a:off x="1057732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10762488" y="28529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sp>
        <p:nvSpPr>
          <p:cNvPr id="472" name="Oval 471"/>
          <p:cNvSpPr/>
          <p:nvPr/>
        </p:nvSpPr>
        <p:spPr>
          <a:xfrm>
            <a:off x="9939528" y="28529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cxnSp>
        <p:nvCxnSpPr>
          <p:cNvPr id="473" name="Connector 472"/>
          <p:cNvCxnSpPr/>
          <p:nvPr/>
        </p:nvCxnSpPr>
        <p:spPr>
          <a:xfrm>
            <a:off x="9939528" y="3017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10927080" y="2798063"/>
            <a:ext cx="0" cy="5486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>
            <a:off x="10104120" y="2798063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0104120" y="2798063"/>
            <a:ext cx="0" cy="5486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0607040" y="251460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Oval 477"/>
          <p:cNvSpPr/>
          <p:nvPr/>
        </p:nvSpPr>
        <p:spPr>
          <a:xfrm>
            <a:off x="10577322" y="2484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0762488" y="23500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80" name="Oval 479"/>
          <p:cNvSpPr/>
          <p:nvPr/>
        </p:nvSpPr>
        <p:spPr>
          <a:xfrm>
            <a:off x="9939528" y="23500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81" name="Connector 480"/>
          <p:cNvCxnSpPr/>
          <p:nvPr/>
        </p:nvCxnSpPr>
        <p:spPr>
          <a:xfrm>
            <a:off x="9939528" y="25146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10927080" y="2295144"/>
            <a:ext cx="0" cy="5486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>
            <a:off x="10104120" y="2295144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10104120" y="2295144"/>
            <a:ext cx="0" cy="5486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10607040" y="201168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Oval 485"/>
          <p:cNvSpPr/>
          <p:nvPr/>
        </p:nvSpPr>
        <p:spPr>
          <a:xfrm>
            <a:off x="10577322" y="1981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0762488" y="1847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488" name="Oval 487"/>
          <p:cNvSpPr/>
          <p:nvPr/>
        </p:nvSpPr>
        <p:spPr>
          <a:xfrm>
            <a:off x="9939528" y="1847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489" name="Connector 488"/>
          <p:cNvCxnSpPr/>
          <p:nvPr/>
        </p:nvCxnSpPr>
        <p:spPr>
          <a:xfrm>
            <a:off x="9939528" y="2011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10927080" y="1792224"/>
            <a:ext cx="0" cy="5486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>
            <a:off x="10104120" y="1792224"/>
            <a:ext cx="82296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10104120" y="1792224"/>
            <a:ext cx="0" cy="54864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Oval 492"/>
          <p:cNvSpPr/>
          <p:nvPr/>
        </p:nvSpPr>
        <p:spPr>
          <a:xfrm>
            <a:off x="10577322" y="16619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 flipH="1">
            <a:off x="10012680" y="1691640"/>
            <a:ext cx="5943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10012680" y="1572768"/>
            <a:ext cx="0" cy="11887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Freeform 495"/>
          <p:cNvSpPr/>
          <p:nvPr/>
        </p:nvSpPr>
        <p:spPr>
          <a:xfrm>
            <a:off x="9939528" y="1472184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0" y="100584"/>
                </a:moveTo>
                <a:lnTo>
                  <a:pt x="146304" y="100584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9902952" y="1403604"/>
            <a:ext cx="109728" cy="137159"/>
          </a:xfrm>
          <a:custGeom>
            <a:avLst/>
            <a:gdLst/>
            <a:ahLst/>
            <a:cxnLst/>
            <a:rect l="l" t="t" r="r" b="b"/>
            <a:pathLst>
              <a:path w="109728" h="137159">
                <a:moveTo>
                  <a:pt x="109728" y="68580"/>
                </a:moveTo>
                <a:lnTo>
                  <a:pt x="0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9976104" y="1261872"/>
            <a:ext cx="73151" cy="210312"/>
          </a:xfrm>
          <a:custGeom>
            <a:avLst/>
            <a:gdLst/>
            <a:ahLst/>
            <a:cxnLst/>
            <a:rect l="l" t="t" r="r" b="b"/>
            <a:pathLst>
              <a:path w="73151" h="210312">
                <a:moveTo>
                  <a:pt x="36576" y="210312"/>
                </a:moveTo>
                <a:lnTo>
                  <a:pt x="0" y="173735"/>
                </a:lnTo>
                <a:lnTo>
                  <a:pt x="73151" y="141732"/>
                </a:lnTo>
                <a:lnTo>
                  <a:pt x="0" y="109727"/>
                </a:lnTo>
                <a:lnTo>
                  <a:pt x="73151" y="77723"/>
                </a:lnTo>
                <a:lnTo>
                  <a:pt x="0" y="45719"/>
                </a:lnTo>
                <a:lnTo>
                  <a:pt x="36576" y="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9" name="Connector 498"/>
          <p:cNvCxnSpPr/>
          <p:nvPr/>
        </p:nvCxnSpPr>
        <p:spPr>
          <a:xfrm flipH="1">
            <a:off x="9793224" y="1472184"/>
            <a:ext cx="10972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9793224" y="566928"/>
            <a:ext cx="0" cy="9052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1" name="Oval 500"/>
          <p:cNvSpPr/>
          <p:nvPr/>
        </p:nvSpPr>
        <p:spPr>
          <a:xfrm>
            <a:off x="9763505" y="5372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9246656" y="1103376"/>
            <a:ext cx="464271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PSV-112*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42 bar g</a:t>
            </a:r>
          </a:p>
        </p:txBody>
      </p:sp>
      <p:cxnSp>
        <p:nvCxnSpPr>
          <p:cNvPr id="503" name="Connector 502"/>
          <p:cNvCxnSpPr/>
          <p:nvPr/>
        </p:nvCxnSpPr>
        <p:spPr>
          <a:xfrm>
            <a:off x="10479024" y="7059168"/>
            <a:ext cx="28346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Oval 503"/>
          <p:cNvSpPr/>
          <p:nvPr/>
        </p:nvSpPr>
        <p:spPr>
          <a:xfrm>
            <a:off x="10762488" y="68945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505" name="Connector 504"/>
          <p:cNvCxnSpPr/>
          <p:nvPr/>
        </p:nvCxnSpPr>
        <p:spPr>
          <a:xfrm>
            <a:off x="10479024" y="7424927"/>
            <a:ext cx="28346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Oval 505"/>
          <p:cNvSpPr/>
          <p:nvPr/>
        </p:nvSpPr>
        <p:spPr>
          <a:xfrm>
            <a:off x="10762488" y="72603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104S</a:t>
            </a:r>
          </a:p>
        </p:txBody>
      </p:sp>
      <p:sp>
        <p:nvSpPr>
          <p:cNvPr id="507" name="Oval 506"/>
          <p:cNvSpPr/>
          <p:nvPr/>
        </p:nvSpPr>
        <p:spPr>
          <a:xfrm>
            <a:off x="9756648" y="7836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508" name="Connector 507"/>
          <p:cNvCxnSpPr/>
          <p:nvPr/>
        </p:nvCxnSpPr>
        <p:spPr>
          <a:xfrm>
            <a:off x="9756648" y="8001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Rectangle 508"/>
          <p:cNvSpPr/>
          <p:nvPr/>
        </p:nvSpPr>
        <p:spPr>
          <a:xfrm>
            <a:off x="10259568" y="7836408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259568" y="7836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0259568" y="8001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Rectangle 511"/>
          <p:cNvSpPr/>
          <p:nvPr/>
        </p:nvSpPr>
        <p:spPr>
          <a:xfrm>
            <a:off x="10762488" y="7836408"/>
            <a:ext cx="329184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762488" y="7836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104*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10762488" y="8001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0927080" y="7589520"/>
            <a:ext cx="0" cy="24688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>
            <a:off x="10424160" y="7680960"/>
            <a:ext cx="50292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0424160" y="7680960"/>
            <a:ext cx="0" cy="15544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10680192" y="7132320"/>
            <a:ext cx="8229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0680192" y="7132320"/>
            <a:ext cx="0" cy="45720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H="1">
            <a:off x="9921240" y="7589520"/>
            <a:ext cx="758952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9921240" y="7589520"/>
            <a:ext cx="0" cy="246888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9144000" y="7498079"/>
            <a:ext cx="0" cy="21945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Oval 522"/>
          <p:cNvSpPr/>
          <p:nvPr/>
        </p:nvSpPr>
        <p:spPr>
          <a:xfrm>
            <a:off x="8979408" y="77175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524" name="Oval 523"/>
          <p:cNvSpPr/>
          <p:nvPr/>
        </p:nvSpPr>
        <p:spPr>
          <a:xfrm>
            <a:off x="8979408" y="81747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525" name="Connector 524"/>
          <p:cNvCxnSpPr/>
          <p:nvPr/>
        </p:nvCxnSpPr>
        <p:spPr>
          <a:xfrm>
            <a:off x="8979408" y="8339327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9144000" y="8046720"/>
            <a:ext cx="0" cy="128016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8823960" y="7498079"/>
            <a:ext cx="0" cy="82296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H="1">
            <a:off x="841248" y="8321040"/>
            <a:ext cx="798271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Freeform 528"/>
          <p:cNvSpPr/>
          <p:nvPr/>
        </p:nvSpPr>
        <p:spPr>
          <a:xfrm>
            <a:off x="8385048" y="824331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8503920" y="8138160"/>
            <a:ext cx="0" cy="1051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Rectangle 530"/>
          <p:cNvSpPr/>
          <p:nvPr/>
        </p:nvSpPr>
        <p:spPr>
          <a:xfrm>
            <a:off x="8435340" y="80284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>
            <a:off x="8572500" y="8083296"/>
            <a:ext cx="411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Rectangle 532"/>
          <p:cNvSpPr/>
          <p:nvPr/>
        </p:nvSpPr>
        <p:spPr>
          <a:xfrm>
            <a:off x="8613648" y="8037575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TextBox 533"/>
          <p:cNvSpPr txBox="1"/>
          <p:nvPr/>
        </p:nvSpPr>
        <p:spPr>
          <a:xfrm>
            <a:off x="8627211" y="8040814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577072" y="812749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331962" y="8421624"/>
            <a:ext cx="343916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EIV-104*</a:t>
            </a:r>
          </a:p>
        </p:txBody>
      </p:sp>
      <p:sp>
        <p:nvSpPr>
          <p:cNvPr id="537" name="Freeform 536"/>
          <p:cNvSpPr/>
          <p:nvPr/>
        </p:nvSpPr>
        <p:spPr>
          <a:xfrm>
            <a:off x="7927848" y="824331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 flipV="1">
            <a:off x="8046720" y="8138160"/>
            <a:ext cx="0" cy="1051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Rectangle 538"/>
          <p:cNvSpPr/>
          <p:nvPr/>
        </p:nvSpPr>
        <p:spPr>
          <a:xfrm>
            <a:off x="7978140" y="80284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0" name="Connector 539"/>
          <p:cNvCxnSpPr/>
          <p:nvPr/>
        </p:nvCxnSpPr>
        <p:spPr>
          <a:xfrm>
            <a:off x="8115300" y="8083296"/>
            <a:ext cx="411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Rectangle 540"/>
          <p:cNvSpPr/>
          <p:nvPr/>
        </p:nvSpPr>
        <p:spPr>
          <a:xfrm>
            <a:off x="8156448" y="8037575"/>
            <a:ext cx="91440" cy="9144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170011" y="8040814"/>
            <a:ext cx="64312" cy="849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119872" y="812749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7893970" y="8421624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XV-104*</a:t>
            </a:r>
          </a:p>
        </p:txBody>
      </p:sp>
      <p:sp>
        <p:nvSpPr>
          <p:cNvPr id="545" name="Oval 544"/>
          <p:cNvSpPr/>
          <p:nvPr/>
        </p:nvSpPr>
        <p:spPr>
          <a:xfrm>
            <a:off x="6645402" y="82913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7559802" y="82913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7" name="Connector 546"/>
          <p:cNvCxnSpPr/>
          <p:nvPr/>
        </p:nvCxnSpPr>
        <p:spPr>
          <a:xfrm flipV="1">
            <a:off x="6675120" y="7818119"/>
            <a:ext cx="0" cy="50292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6675120" y="7818119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7589520" y="7818119"/>
            <a:ext cx="0" cy="50292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Freeform 549"/>
          <p:cNvSpPr/>
          <p:nvPr/>
        </p:nvSpPr>
        <p:spPr>
          <a:xfrm>
            <a:off x="6748272" y="8250173"/>
            <a:ext cx="219456" cy="141733"/>
          </a:xfrm>
          <a:custGeom>
            <a:avLst/>
            <a:gdLst/>
            <a:ahLst/>
            <a:cxnLst/>
            <a:rect l="l" t="t" r="r" b="b"/>
            <a:pathLst>
              <a:path w="219456" h="141733">
                <a:moveTo>
                  <a:pt x="0" y="0"/>
                </a:moveTo>
                <a:lnTo>
                  <a:pt x="219456" y="141733"/>
                </a:lnTo>
                <a:lnTo>
                  <a:pt x="219456" y="0"/>
                </a:lnTo>
                <a:lnTo>
                  <a:pt x="0" y="141733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6744614" y="8421624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MV-419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552" name="Freeform 551"/>
          <p:cNvSpPr/>
          <p:nvPr/>
        </p:nvSpPr>
        <p:spPr>
          <a:xfrm>
            <a:off x="7296912" y="8250173"/>
            <a:ext cx="219456" cy="141733"/>
          </a:xfrm>
          <a:custGeom>
            <a:avLst/>
            <a:gdLst/>
            <a:ahLst/>
            <a:cxnLst/>
            <a:rect l="l" t="t" r="r" b="b"/>
            <a:pathLst>
              <a:path w="219456" h="141733">
                <a:moveTo>
                  <a:pt x="0" y="0"/>
                </a:moveTo>
                <a:lnTo>
                  <a:pt x="219456" y="141733"/>
                </a:lnTo>
                <a:lnTo>
                  <a:pt x="219456" y="0"/>
                </a:lnTo>
                <a:lnTo>
                  <a:pt x="0" y="141733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TextBox 552"/>
          <p:cNvSpPr txBox="1"/>
          <p:nvPr/>
        </p:nvSpPr>
        <p:spPr>
          <a:xfrm>
            <a:off x="7293254" y="8421624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MV-420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sp>
        <p:nvSpPr>
          <p:cNvPr id="554" name="Freeform 553"/>
          <p:cNvSpPr/>
          <p:nvPr/>
        </p:nvSpPr>
        <p:spPr>
          <a:xfrm>
            <a:off x="7022592" y="7747253"/>
            <a:ext cx="219456" cy="141733"/>
          </a:xfrm>
          <a:custGeom>
            <a:avLst/>
            <a:gdLst/>
            <a:ahLst/>
            <a:cxnLst/>
            <a:rect l="l" t="t" r="r" b="b"/>
            <a:pathLst>
              <a:path w="219456" h="141733">
                <a:moveTo>
                  <a:pt x="0" y="0"/>
                </a:moveTo>
                <a:lnTo>
                  <a:pt x="219456" y="141733"/>
                </a:lnTo>
                <a:lnTo>
                  <a:pt x="219456" y="0"/>
                </a:lnTo>
                <a:lnTo>
                  <a:pt x="0" y="141733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7109459" y="779525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7018934" y="7546847"/>
            <a:ext cx="226771" cy="170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MV-421</a:t>
            </a:r>
          </a:p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NC</a:t>
            </a:r>
          </a:p>
        </p:txBody>
      </p:sp>
      <p:sp>
        <p:nvSpPr>
          <p:cNvPr id="557" name="Freeform 556"/>
          <p:cNvSpPr/>
          <p:nvPr/>
        </p:nvSpPr>
        <p:spPr>
          <a:xfrm>
            <a:off x="7013448" y="824331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 flipV="1">
            <a:off x="7132320" y="8138160"/>
            <a:ext cx="0" cy="1051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Freeform 558"/>
          <p:cNvSpPr/>
          <p:nvPr/>
        </p:nvSpPr>
        <p:spPr>
          <a:xfrm>
            <a:off x="7054596" y="8061616"/>
            <a:ext cx="155448" cy="76544"/>
          </a:xfrm>
          <a:custGeom>
            <a:avLst/>
            <a:gdLst/>
            <a:ahLst/>
            <a:cxnLst/>
            <a:rect l="l" t="t" r="r" b="b"/>
            <a:pathLst>
              <a:path w="155448" h="76544">
                <a:moveTo>
                  <a:pt x="0" y="76544"/>
                </a:moveTo>
                <a:lnTo>
                  <a:pt x="0" y="76544"/>
                </a:lnTo>
                <a:lnTo>
                  <a:pt x="4687" y="49960"/>
                </a:lnTo>
                <a:lnTo>
                  <a:pt x="18183" y="26583"/>
                </a:lnTo>
                <a:lnTo>
                  <a:pt x="38862" y="9233"/>
                </a:lnTo>
                <a:lnTo>
                  <a:pt x="64227" y="0"/>
                </a:lnTo>
                <a:lnTo>
                  <a:pt x="91220" y="0"/>
                </a:lnTo>
                <a:lnTo>
                  <a:pt x="116586" y="9233"/>
                </a:lnTo>
                <a:lnTo>
                  <a:pt x="137264" y="26583"/>
                </a:lnTo>
                <a:lnTo>
                  <a:pt x="150760" y="49960"/>
                </a:lnTo>
                <a:lnTo>
                  <a:pt x="155448" y="765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0" name="Connector 559"/>
          <p:cNvCxnSpPr/>
          <p:nvPr/>
        </p:nvCxnSpPr>
        <p:spPr>
          <a:xfrm>
            <a:off x="7054596" y="8138160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1" name="TextBox 560"/>
          <p:cNvSpPr txBox="1"/>
          <p:nvPr/>
        </p:nvSpPr>
        <p:spPr>
          <a:xfrm>
            <a:off x="7205472" y="812749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6998779" y="8430767"/>
            <a:ext cx="267081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LV-104</a:t>
            </a:r>
          </a:p>
        </p:txBody>
      </p:sp>
      <p:cxnSp>
        <p:nvCxnSpPr>
          <p:cNvPr id="563" name="Connector 562"/>
          <p:cNvCxnSpPr/>
          <p:nvPr/>
        </p:nvCxnSpPr>
        <p:spPr>
          <a:xfrm flipH="1">
            <a:off x="9509760" y="8001000"/>
            <a:ext cx="246888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9509760" y="7644383"/>
            <a:ext cx="0" cy="356617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7726679" y="7644383"/>
            <a:ext cx="1783081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7726679" y="7644383"/>
            <a:ext cx="0" cy="301753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7132320" y="7946136"/>
            <a:ext cx="594359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7132320" y="7946136"/>
            <a:ext cx="0" cy="11430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6373368" y="82387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6428232" y="823874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6400800" y="8028431"/>
            <a:ext cx="0" cy="21031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Oval 571"/>
          <p:cNvSpPr/>
          <p:nvPr/>
        </p:nvSpPr>
        <p:spPr>
          <a:xfrm>
            <a:off x="6236208" y="7699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573" name="Oval 572"/>
          <p:cNvSpPr/>
          <p:nvPr/>
        </p:nvSpPr>
        <p:spPr>
          <a:xfrm>
            <a:off x="5733288" y="7699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574" name="Connector 573"/>
          <p:cNvCxnSpPr/>
          <p:nvPr/>
        </p:nvCxnSpPr>
        <p:spPr>
          <a:xfrm>
            <a:off x="5733288" y="7863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6062472" y="786384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5440680" y="8028431"/>
            <a:ext cx="0" cy="29260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Oval 576"/>
          <p:cNvSpPr/>
          <p:nvPr/>
        </p:nvSpPr>
        <p:spPr>
          <a:xfrm>
            <a:off x="5410962" y="82913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5276088" y="7699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sp>
        <p:nvSpPr>
          <p:cNvPr id="579" name="Oval 578"/>
          <p:cNvSpPr/>
          <p:nvPr/>
        </p:nvSpPr>
        <p:spPr>
          <a:xfrm>
            <a:off x="4773168" y="7699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4773168" y="7863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Oval 580"/>
          <p:cNvSpPr/>
          <p:nvPr/>
        </p:nvSpPr>
        <p:spPr>
          <a:xfrm>
            <a:off x="4270248" y="7699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582" name="Connector 581"/>
          <p:cNvCxnSpPr/>
          <p:nvPr/>
        </p:nvCxnSpPr>
        <p:spPr>
          <a:xfrm>
            <a:off x="4270248" y="786384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>
            <a:off x="5102352" y="7863840"/>
            <a:ext cx="173736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5440680" y="7626096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4434840" y="7626096"/>
            <a:ext cx="1005840" cy="0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4434840" y="7626096"/>
            <a:ext cx="0" cy="73152"/>
          </a:xfrm>
          <a:prstGeom prst="line">
            <a:avLst/>
          </a:prstGeom>
          <a:ln w="76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TextBox 586"/>
          <p:cNvSpPr txBox="1"/>
          <p:nvPr/>
        </p:nvSpPr>
        <p:spPr>
          <a:xfrm>
            <a:off x="3822192" y="818997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6"-P-2011</a:t>
            </a:r>
          </a:p>
        </p:txBody>
      </p:sp>
      <p:sp>
        <p:nvSpPr>
          <p:cNvPr id="588" name="Oval 587"/>
          <p:cNvSpPr/>
          <p:nvPr/>
        </p:nvSpPr>
        <p:spPr>
          <a:xfrm>
            <a:off x="3079241" y="82913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 flipV="1">
            <a:off x="3108960" y="77724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841248" y="7772400"/>
            <a:ext cx="226771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Freeform 590"/>
          <p:cNvSpPr/>
          <p:nvPr/>
        </p:nvSpPr>
        <p:spPr>
          <a:xfrm>
            <a:off x="2075688" y="824331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2194560" y="8138160"/>
            <a:ext cx="0" cy="1051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ectangle 592"/>
          <p:cNvSpPr/>
          <p:nvPr/>
        </p:nvSpPr>
        <p:spPr>
          <a:xfrm>
            <a:off x="2125979" y="8028431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267712" y="812749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2041810" y="8430767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HY-115A</a:t>
            </a:r>
          </a:p>
        </p:txBody>
      </p:sp>
      <p:sp>
        <p:nvSpPr>
          <p:cNvPr id="596" name="Freeform 595"/>
          <p:cNvSpPr/>
          <p:nvPr/>
        </p:nvSpPr>
        <p:spPr>
          <a:xfrm>
            <a:off x="2075688" y="769467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7" name="Connector 596"/>
          <p:cNvCxnSpPr/>
          <p:nvPr/>
        </p:nvCxnSpPr>
        <p:spPr>
          <a:xfrm flipV="1">
            <a:off x="2194560" y="7589520"/>
            <a:ext cx="0" cy="1051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8" name="Rectangle 597"/>
          <p:cNvSpPr/>
          <p:nvPr/>
        </p:nvSpPr>
        <p:spPr>
          <a:xfrm>
            <a:off x="2125979" y="7479792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2267712" y="7578852"/>
            <a:ext cx="159959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2041810" y="7882127"/>
            <a:ext cx="305498" cy="10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HY-115B</a:t>
            </a:r>
          </a:p>
        </p:txBody>
      </p:sp>
      <p:sp>
        <p:nvSpPr>
          <p:cNvPr id="601" name="Freeform 600"/>
          <p:cNvSpPr/>
          <p:nvPr/>
        </p:nvSpPr>
        <p:spPr>
          <a:xfrm>
            <a:off x="457200" y="8229600"/>
            <a:ext cx="384047" cy="182880"/>
          </a:xfrm>
          <a:custGeom>
            <a:avLst/>
            <a:gdLst/>
            <a:ahLst/>
            <a:cxnLst/>
            <a:rect l="l" t="t" r="r" b="b"/>
            <a:pathLst>
              <a:path w="384047" h="182880">
                <a:moveTo>
                  <a:pt x="384047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80"/>
                </a:lnTo>
                <a:lnTo>
                  <a:pt x="384047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457200" y="7680960"/>
            <a:ext cx="384047" cy="182880"/>
          </a:xfrm>
          <a:custGeom>
            <a:avLst/>
            <a:gdLst/>
            <a:ahLst/>
            <a:cxnLst/>
            <a:rect l="l" t="t" r="r" b="b"/>
            <a:pathLst>
              <a:path w="384047" h="182880">
                <a:moveTo>
                  <a:pt x="384047" y="0"/>
                </a:moveTo>
                <a:lnTo>
                  <a:pt x="91440" y="0"/>
                </a:lnTo>
                <a:lnTo>
                  <a:pt x="0" y="91440"/>
                </a:lnTo>
                <a:lnTo>
                  <a:pt x="91440" y="182880"/>
                </a:lnTo>
                <a:lnTo>
                  <a:pt x="384047" y="18288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850392" y="8113776"/>
            <a:ext cx="514990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TO TK-106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(ON SPEC)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850392" y="7565136"/>
            <a:ext cx="514990" cy="170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TO TK-107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(SLOP)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1536192" y="818997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6"-P-2012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536192" y="7641336"/>
            <a:ext cx="514990" cy="94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6"-P-2013</a:t>
            </a:r>
          </a:p>
        </p:txBody>
      </p:sp>
      <p:sp>
        <p:nvSpPr>
          <p:cNvPr id="607" name="Oval 606"/>
          <p:cNvSpPr/>
          <p:nvPr/>
        </p:nvSpPr>
        <p:spPr>
          <a:xfrm>
            <a:off x="2624327" y="7196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115</a:t>
            </a:r>
          </a:p>
        </p:txBody>
      </p:sp>
      <p:cxnSp>
        <p:nvCxnSpPr>
          <p:cNvPr id="608" name="Connector 607"/>
          <p:cNvCxnSpPr/>
          <p:nvPr/>
        </p:nvCxnSpPr>
        <p:spPr>
          <a:xfrm>
            <a:off x="2624327" y="736092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TextBox 608"/>
          <p:cNvSpPr txBox="1"/>
          <p:nvPr/>
        </p:nvSpPr>
        <p:spPr>
          <a:xfrm>
            <a:off x="2596286" y="7543800"/>
            <a:ext cx="385267" cy="8813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TO HY-115A/B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1530584" y="576072"/>
            <a:ext cx="2249017" cy="1294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INTERLOCK SCHEDULE (SIS-100)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11530584" y="722376"/>
            <a:ext cx="3946956" cy="913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from model.js: tripConditions(), TRIPDLY, bmsTrip(), bmsCmd(); legend on sheet 1</a:t>
            </a:r>
          </a:p>
        </p:txBody>
      </p:sp>
      <p:cxnSp>
        <p:nvCxnSpPr>
          <p:cNvPr id="612" name="Connector 611"/>
          <p:cNvCxnSpPr/>
          <p:nvPr/>
        </p:nvCxnSpPr>
        <p:spPr>
          <a:xfrm>
            <a:off x="11521440" y="914400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11521440" y="1069848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11521440" y="1261617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1521440" y="1453387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1521440" y="160883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1521440" y="180060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1521440" y="199237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1521440" y="218414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1521440" y="237591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1521440" y="256768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1521440" y="2759455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1521440" y="914400"/>
            <a:ext cx="0" cy="18450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2070080" y="914400"/>
            <a:ext cx="0" cy="18450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3094208" y="914400"/>
            <a:ext cx="0" cy="18450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3597128" y="914400"/>
            <a:ext cx="0" cy="18450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13944600" y="914400"/>
            <a:ext cx="0" cy="18450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14676120" y="914400"/>
            <a:ext cx="0" cy="184505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11558016" y="914400"/>
            <a:ext cx="4937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TRIP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12106656" y="914400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CAUSE / SENSOR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13130784" y="914400"/>
            <a:ext cx="44805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13633704" y="914400"/>
            <a:ext cx="29260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DELAY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13981176" y="914400"/>
            <a:ext cx="67665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11558016" y="1069848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TSHH-100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12106656" y="1069848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R-101 temperature,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TE-100 / TT-100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13130784" y="1069848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&gt; 220 °C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13633704" y="1069848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13981176" y="1069848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11558016" y="1261617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TSHH-107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12106656" y="1261617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R-103 bed, hottest of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TE-107A…E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13130784" y="1261617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&gt; 220 °C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13633704" y="1261617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13981176" y="1261617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11558016" y="1453387"/>
            <a:ext cx="4937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PSHH-101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12106656" y="1453387"/>
            <a:ext cx="9692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R-101 pressure, PT-101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13130784" y="1453387"/>
            <a:ext cx="44805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&gt; 33.5 bar g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13633704" y="1453387"/>
            <a:ext cx="29260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13981176" y="1453387"/>
            <a:ext cx="67665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1558016" y="1608835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XS-101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12106656" y="1608835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M-101 stopped while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XV-101 open (run signal)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13130784" y="1608835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motor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stopped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13633704" y="1608835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10 s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13981176" y="1608835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11558016" y="1800605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XS-102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12106656" y="1800605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K-101 stopped while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XV-101 open (run signal)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13130784" y="1800605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motor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stopped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13633704" y="1800605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10 s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13981176" y="1800605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11558016" y="1992375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LSHH-104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12106656" y="1992375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V-104 level, LT-104S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(liquid toward K-101)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13130784" y="1992375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&gt; 90 %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13633704" y="1992375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13981176" y="1992375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STOP K-101 ONLY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(not latched)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11558016" y="2184145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HS-100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12106656" y="2184145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ESD pushbutton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(operator)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13130784" y="2184145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13633704" y="2184145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13981176" y="2184145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 +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EDV-101 OPENS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11558016" y="2375915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LSLL-104*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12106656" y="2375915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V-104 level, LT-104S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(gas blow-by)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13130784" y="2375915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5 %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(assumed)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13633704" y="2375915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TBC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13981176" y="2375915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XV-104* SHUTS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(SL-R6, HOLD)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11558016" y="2567685"/>
            <a:ext cx="49377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LSLL-109*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12106656" y="2567685"/>
            <a:ext cx="969264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D-101 level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(own element, HOLD)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13130784" y="2567685"/>
            <a:ext cx="4480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10 %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(assumed)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13633704" y="2567685"/>
            <a:ext cx="292608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TBC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13981176" y="2567685"/>
            <a:ext cx="676656" cy="191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UNIT TRIP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(SL-R3, HOLD)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11530584" y="2869184"/>
            <a:ext cx="3371088" cy="1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UNIT TRIP ACTIONS (bmsTrip, latched, first-out recorded):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11548872" y="2988055"/>
            <a:ext cx="2988584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XV-101 benzene and XV-105 make-up H2 close (de-energise).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11548872" y="3077667"/>
            <a:ext cx="753790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K-101 stops.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11548872" y="3167278"/>
            <a:ext cx="3187232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FIC-101, FIC-103, PIC-105 to MAN, output 0 %: FV-101, FV-103,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11548872" y="3256889"/>
            <a:ext cx="1896018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  PV-105 close behind the SIS valves.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11548872" y="3346500"/>
            <a:ext cx="3187232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HS-101 → COOL: HY-101A/B open, HY-101C/D shut (MP steam off);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11548872" y="3436111"/>
            <a:ext cx="2789936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  FV-104 forced 100 % (full pump-around through E-101).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11548872" y="3525723"/>
            <a:ext cx="3137570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HS-102 → COOL: HY-102B/C open, HY-102A/D shut; TV-102 100 %.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11548872" y="3615334"/>
            <a:ext cx="2243653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ESD (HS-100) only: EDV-101 opens to flare.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11548872" y="3704945"/>
            <a:ext cx="2839598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Recommended (SL-R7, HOLD): stop P-100A/B on unit trip.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11530584" y="3849420"/>
            <a:ext cx="1278940" cy="1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RESET (bmsCmd reset):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11548872" y="3968292"/>
            <a:ext cx="3534867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Blocked while a process trip condition is active or TI-100 &gt; 210 °C.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11548872" y="4057903"/>
            <a:ext cx="3236894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After reset H2 and benzene stay isolated until admitted again.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11530584" y="4202379"/>
            <a:ext cx="2906166" cy="1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PERMISSIVES (purgePermissives, bmsCmd h2 / feed):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11548872" y="4321251"/>
            <a:ext cx="2740273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XV-105 (H2) may open only with loop O2 AI-100 &lt; 1 %.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11548872" y="4410862"/>
            <a:ext cx="2293315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XV-101 (benzene) may open only with ALL of: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11548872" y="4500473"/>
            <a:ext cx="3137570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  SIS reset, no trip latched · XV-105 open and AI-105 ≥ 80 % ·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11548872" y="4590084"/>
            <a:ext cx="2640949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  LIC-101 ≥ 40 % · M-101 running · K-101 running and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11548872" y="4679695"/>
            <a:ext cx="2839598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  FIC-103 ≥ 15 000 Nm³/h · TI-100 ≥ 140 °C (light-off) ·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11548872" y="4769307"/>
            <a:ext cx="1449059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  E-103 on CW (HV-113 open).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11530584" y="4913782"/>
            <a:ext cx="3487318" cy="100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FAIL POSITIONS ON INSTRUMENT AIR FAILURE (step() FAIL map):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11548872" y="5032654"/>
            <a:ext cx="3485205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FC: FV-101, FV-103, PV-105, LV-101, TV-102, LV-102, LV-104, HV-107.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11548872" y="5122265"/>
            <a:ext cx="3634191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FO: FV-104 (full flow through E-101), LV-109 (BFW), PV-110 (LP steam).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11548872" y="5211876"/>
            <a:ext cx="3634191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SIS valves XV-101, XV-105, XV-104*, EIV-1nn* FC; EDV-101 FO (assumed).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1548872" y="5301487"/>
            <a:ext cx="3236894" cy="9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• HY valves: fail to the COOL line-up (HY-101A/B, HY-102B/C FO).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11475720" y="502920"/>
            <a:ext cx="3246120" cy="4961331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457200" y="8668512"/>
            <a:ext cx="5943600" cy="10501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NOTES: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   DESIGN CASE (OTS model at design): R-102 160 °C / 29.60 bar g, level 55 %, jacket on MP steam 2.33 t/h (HS-102 HEAT); liquid to R-103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20.9 t/h, F-102 ΔP 0.26 bar (alarm 0.8); R-103 bed 158.5-158.6 °C; V-104 29.0 bar g / 44.9 °C, level 50 %; product 37.5 t/h, benzene 2.0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ppm, MCP 60 ppm; recycle 46,000 Nm³/h at 92.1 % H2; make-up 31,974 Nm³/h; purge 2,017 Nm³/h (HIC-107 25 %); K-101 discharge 32.0 bar g.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   Loop pressure profile (model): K-101 32.0 → R-101 30.0 → R-102 29.6 → R-103 29.25 → V-104 29.0 bar g. K-101 discharge 57 °C by isentropic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compression (η 0.70 assumed) vs 60 °C in the model.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   PSV-102*, PSV-104* set 36 bar g = loop design pressure (assumed); PSV-112* set 42 bar g (K-101 deadhead 35 × 1.154 = 40.4 bar g);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TSV-102J*, TSV-106* 10 bar g; TSV-102F* 36 bar g. Relief loads and flare header size: HOLD. V-190* flare knock-out drum is off this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drawing.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   Line sizes preliminary (see sheet 1 note 2). Instrument and SIS conventions, MV / NRV numbering and the * mark: see sheet 1 legend and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notes.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5   PT-105 is on the V-104 gas outlet to K-101 (same pressure as V-104). TT-109 is on V-104. TE-107A…E are shared by TI-107A…E and TSHH-107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(separate SIS elements TE-107S: SRS recommendation, HOLD).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6053328" y="8668512"/>
            <a:ext cx="5943600" cy="970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   F-102A in service (inlet / outlet MVs open), F-102B on stand-by (shut, drained). Change-over: open B outlet, then B inlet, shut A inlet,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then A outlet; A is drained under N2 and kept wet (spent Raney-Ni is pyrophoric, CAT-2).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7   HS-102 (DCS selector) HEAT: HY-102A (MP steam) and HY-102D (condensate) open; COOL: HY-102B (CWS) and HY-102C (CWR) open. TIC-102 acts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reverse in HEAT and direct in COOL (model). HY-102A-D and ST-102 are new tags of this drawing (HOLD).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   HS-115 (DCS) selects HY-115A to TK-106 (on spec) or HY-115B to TK-107 (slop). New tags; fail positions TBC (drawn: TK-107 open on air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failure).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9   K-101 minimum-flow / anti-surge protection and seal system not drawn (HOLD: vendor package). The OTS alarms "K-101 LOFL" when FV-103 is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shut with K-101 running.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  N2 (HV-120) purges the loop below 1 % O2 before XV-105 opens; HV-121 vents to flare. EDV-101 is opened only by the ESD (HS-100) or by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hand from the SIS page.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11  TI-120 (CW supply temperature, page indicator) is measured on the CW header OSBL and is not drawn; TI-107 (hottest bed temperature) is a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     DCS calculation from TT-107A…E.</a:t>
            </a:r>
          </a:p>
        </p:txBody>
      </p:sp>
      <p:cxnSp>
        <p:nvCxnSpPr>
          <p:cNvPr id="707" name="Connector 706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5" name="TextBox 714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SCREEN P&amp;ID IN OTS PAGE: CURRENT, USED IN DECKS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TEACHING · ALT. VERSION, EPC STD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2026-10-26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>
            <a:off x="11750040" y="943660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11750040" y="9180576"/>
            <a:ext cx="305409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CYCLOHEXANE REACTOR VER 1 — OTS TEACHING UNIT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11750040" y="9445752"/>
            <a:ext cx="3054096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P&amp;ID — CYCLOHEXANE REACTOR VER 1 · ALTERNATIVE VERSION</a:t>
            </a:r>
          </a:p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SHEET 2: R-102 · R-103 · V-104 · K-101 · INTERLOCKS</a:t>
            </a:r>
          </a:p>
        </p:txBody>
      </p:sp>
      <p:cxnSp>
        <p:nvCxnSpPr>
          <p:cNvPr id="730" name="Connector 729"/>
          <p:cNvCxnSpPr/>
          <p:nvPr/>
        </p:nvCxnSpPr>
        <p:spPr>
          <a:xfrm>
            <a:off x="13231367" y="9802367"/>
            <a:ext cx="0" cy="2743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13688567" y="9802367"/>
            <a:ext cx="0" cy="2743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14145767" y="9802367"/>
            <a:ext cx="0" cy="2743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TextBox 732"/>
          <p:cNvSpPr txBox="1"/>
          <p:nvPr/>
        </p:nvSpPr>
        <p:spPr>
          <a:xfrm>
            <a:off x="11750040" y="9802367"/>
            <a:ext cx="1481327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DRAWN: Apinan Soottitantawat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13231367" y="9802367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CHK'D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13688567" y="9802367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APP'D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14145767" y="9802367"/>
            <a:ext cx="658367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DATE</a:t>
            </a:r>
          </a:p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2026-10-26</a:t>
            </a:r>
          </a:p>
        </p:txBody>
      </p:sp>
      <p:cxnSp>
        <p:nvCxnSpPr>
          <p:cNvPr id="737" name="Connector 736"/>
          <p:cNvCxnSpPr/>
          <p:nvPr/>
        </p:nvCxnSpPr>
        <p:spPr>
          <a:xfrm>
            <a:off x="12513563" y="1007668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13277088" y="1007668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14040612" y="10076688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CHX-V1-PID-001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