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11480" y="2331720"/>
            <a:ext cx="1600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11680" y="2331720"/>
            <a:ext cx="0" cy="694944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093976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FROM TANK FARM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8686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DN100-GO-200</a:t>
            </a:r>
          </a:p>
        </p:txBody>
      </p:sp>
      <p:sp>
        <p:nvSpPr>
          <p:cNvPr id="8" name="Oval 7"/>
          <p:cNvSpPr/>
          <p:nvPr/>
        </p:nvSpPr>
        <p:spPr>
          <a:xfrm>
            <a:off x="1433322" y="23020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463040" y="199339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98448" y="1664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199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98448" y="1828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82496" y="176479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HIC-199 (TANK FARM)</a:t>
            </a:r>
          </a:p>
        </p:txBody>
      </p:sp>
      <p:sp>
        <p:nvSpPr>
          <p:cNvPr id="13" name="Freeform 12"/>
          <p:cNvSpPr/>
          <p:nvPr/>
        </p:nvSpPr>
        <p:spPr>
          <a:xfrm>
            <a:off x="822960" y="2788920"/>
            <a:ext cx="1371600" cy="320040"/>
          </a:xfrm>
          <a:custGeom>
            <a:avLst/>
            <a:gdLst/>
            <a:ahLst/>
            <a:cxnLst/>
            <a:rect l="l" t="t" r="r" b="b"/>
            <a:pathLst>
              <a:path w="1371600" h="320040">
                <a:moveTo>
                  <a:pt x="0" y="320040"/>
                </a:moveTo>
                <a:lnTo>
                  <a:pt x="685800" y="0"/>
                </a:lnTo>
                <a:lnTo>
                  <a:pt x="1371600" y="320040"/>
                </a:lnTo>
              </a:path>
            </a:pathLst>
          </a:cu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371600" cy="2651760"/>
          </a:xfrm>
          <a:prstGeom prst="rect">
            <a:avLst/>
          </a:pr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188720" y="2615184"/>
            <a:ext cx="0" cy="3200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43584" y="2560320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VENT (TBC)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3716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000000"/>
                </a:solidFill>
                <a:latin typeface="Arial"/>
              </a:rPr>
              <a:t>FEED STORAGE TANK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33087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CONE ROOF, ATM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Ø12.0 × 10.0 m (TBC)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70832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GAS OIL, 60 °C</a:t>
            </a:r>
          </a:p>
        </p:txBody>
      </p:sp>
      <p:sp>
        <p:nvSpPr>
          <p:cNvPr id="22" name="Oval 21"/>
          <p:cNvSpPr/>
          <p:nvPr/>
        </p:nvSpPr>
        <p:spPr>
          <a:xfrm>
            <a:off x="2164841" y="3627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94560" y="3657600"/>
            <a:ext cx="3383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532888" y="34930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32888" y="36576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164841" y="4725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194560" y="47548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505456" y="45628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32888" y="4590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32888" y="4754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26080" y="470001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08760" y="5760720"/>
            <a:ext cx="0" cy="5029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1449324" y="5897880"/>
            <a:ext cx="118871" cy="182879"/>
          </a:xfrm>
          <a:custGeom>
            <a:avLst/>
            <a:gdLst/>
            <a:ahLst/>
            <a:cxnLst/>
            <a:rect l="l" t="t" r="r" b="b"/>
            <a:pathLst>
              <a:path w="118871" h="182879">
                <a:moveTo>
                  <a:pt x="0" y="0"/>
                </a:moveTo>
                <a:lnTo>
                  <a:pt x="118871" y="182879"/>
                </a:lnTo>
                <a:lnTo>
                  <a:pt x="0" y="182879"/>
                </a:lnTo>
                <a:lnTo>
                  <a:pt x="11887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6144768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94560" y="5486400"/>
            <a:ext cx="1737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532888" y="54086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525780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V200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5394960"/>
            <a:ext cx="274320" cy="1828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3081528" y="5413248"/>
            <a:ext cx="237744" cy="1463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26080" y="525780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S-200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5559552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DN150-GO-201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31920" y="2926080"/>
            <a:ext cx="0" cy="3840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902202" y="54566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0220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3593592" y="4206240"/>
            <a:ext cx="3383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264408" y="4041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931920" y="292608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4270248" y="28483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269748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V202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5120640" y="201168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120640" y="2011680"/>
            <a:ext cx="2560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548122" y="1981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5577840" y="167335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413248" y="1344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210</a:t>
            </a:r>
          </a:p>
        </p:txBody>
      </p:sp>
      <p:sp>
        <p:nvSpPr>
          <p:cNvPr id="55" name="Freeform 54"/>
          <p:cNvSpPr/>
          <p:nvPr/>
        </p:nvSpPr>
        <p:spPr>
          <a:xfrm>
            <a:off x="6099048" y="192846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283299" y="192846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989320" y="1773936"/>
            <a:ext cx="4572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NRV-210</a:t>
            </a:r>
          </a:p>
        </p:txBody>
      </p:sp>
      <p:sp>
        <p:nvSpPr>
          <p:cNvPr id="58" name="Freeform 57"/>
          <p:cNvSpPr/>
          <p:nvPr/>
        </p:nvSpPr>
        <p:spPr>
          <a:xfrm>
            <a:off x="6739128" y="19339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178308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V201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2084832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DN100-GO-202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4919472" y="2359152"/>
            <a:ext cx="0" cy="37490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4869180" y="2450592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0559" y="2322576"/>
            <a:ext cx="38404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64" name="Freeform 63"/>
          <p:cNvSpPr/>
          <p:nvPr/>
        </p:nvSpPr>
        <p:spPr>
          <a:xfrm>
            <a:off x="4901183" y="3145536"/>
            <a:ext cx="438913" cy="201168"/>
          </a:xfrm>
          <a:custGeom>
            <a:avLst/>
            <a:gdLst/>
            <a:ahLst/>
            <a:cxnLst/>
            <a:rect l="l" t="t" r="r" b="b"/>
            <a:pathLst>
              <a:path w="438913" h="201168">
                <a:moveTo>
                  <a:pt x="0" y="201168"/>
                </a:moveTo>
                <a:lnTo>
                  <a:pt x="438913" y="201168"/>
                </a:lnTo>
                <a:lnTo>
                  <a:pt x="338329" y="0"/>
                </a:lnTo>
                <a:lnTo>
                  <a:pt x="10058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46320" y="2651760"/>
            <a:ext cx="548640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5394959" y="2926080"/>
            <a:ext cx="182881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577840" y="2788920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77840" y="278892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3657600"/>
            <a:ext cx="18288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P-200A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3785616"/>
            <a:ext cx="18288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FEED PUMP A (DUTY)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3895344"/>
            <a:ext cx="18288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14 L/s @ 33.5 m · 3600 rpm · 10 kW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52159" y="2926080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007608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II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07608" y="2926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853178" y="3042666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4690872" y="3072384"/>
            <a:ext cx="192024" cy="31089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4361688" y="3218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361688" y="3383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206240" y="3575304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TSHH-212 (I-2)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931920" y="676656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4270248" y="668883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0" y="653796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V206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5120640" y="585216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120640" y="5852160"/>
            <a:ext cx="25603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548122" y="5822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5577840" y="551383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5413248" y="5184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88" name="Freeform 87"/>
          <p:cNvSpPr/>
          <p:nvPr/>
        </p:nvSpPr>
        <p:spPr>
          <a:xfrm>
            <a:off x="6099048" y="576894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6283299" y="576894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989320" y="5614416"/>
            <a:ext cx="4572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NRV-220</a:t>
            </a:r>
          </a:p>
        </p:txBody>
      </p:sp>
      <p:sp>
        <p:nvSpPr>
          <p:cNvPr id="91" name="Freeform 90"/>
          <p:cNvSpPr/>
          <p:nvPr/>
        </p:nvSpPr>
        <p:spPr>
          <a:xfrm>
            <a:off x="6739128" y="577443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0" y="5623560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V205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720" y="5925312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DN100-GO-203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4919472" y="6199632"/>
            <a:ext cx="0" cy="37490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4869180" y="6291072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80559" y="6163056"/>
            <a:ext cx="38404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97" name="Freeform 96"/>
          <p:cNvSpPr/>
          <p:nvPr/>
        </p:nvSpPr>
        <p:spPr>
          <a:xfrm>
            <a:off x="4901183" y="6986016"/>
            <a:ext cx="438913" cy="201168"/>
          </a:xfrm>
          <a:custGeom>
            <a:avLst/>
            <a:gdLst/>
            <a:ahLst/>
            <a:cxnLst/>
            <a:rect l="l" t="t" r="r" b="b"/>
            <a:pathLst>
              <a:path w="438913" h="201168">
                <a:moveTo>
                  <a:pt x="0" y="201168"/>
                </a:moveTo>
                <a:lnTo>
                  <a:pt x="438913" y="201168"/>
                </a:lnTo>
                <a:lnTo>
                  <a:pt x="338329" y="0"/>
                </a:lnTo>
                <a:lnTo>
                  <a:pt x="10058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846320" y="6492240"/>
            <a:ext cx="548640" cy="54864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5394959" y="6766560"/>
            <a:ext cx="182881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5577840" y="6629400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77840" y="66294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06240" y="7498080"/>
            <a:ext cx="18288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P-200B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6240" y="7626096"/>
            <a:ext cx="18288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FEED PUMP B (SPARE)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06240" y="7735824"/>
            <a:ext cx="18288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14 L/s @ 33.5 m · 3600 rpm · 10 kW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852159" y="6766560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007608" y="66019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II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007608" y="67665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4853178" y="6883146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H="1">
            <a:off x="4690872" y="6912864"/>
            <a:ext cx="192024" cy="31089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4361688" y="7059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222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361688" y="72237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206240" y="7415783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TSHH-222 (I-2)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680960" y="1371600"/>
            <a:ext cx="0" cy="4480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7651242" y="1981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54112" y="3474720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COMMON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54112" y="3584448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DISCHARGE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754112" y="3694176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DN100-GO-204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680960" y="5852160"/>
            <a:ext cx="0" cy="5486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7630668" y="6071616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90688" y="6089904"/>
            <a:ext cx="6400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LOW-POINT DR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60920" y="6437376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TO OWS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80960" y="1371600"/>
            <a:ext cx="1828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110728" y="126187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165592" y="126187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863840" y="1499616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FE-100</a:t>
            </a:r>
          </a:p>
        </p:txBody>
      </p:sp>
      <p:cxnSp>
        <p:nvCxnSpPr>
          <p:cNvPr id="126" name="Connector 125"/>
          <p:cNvCxnSpPr/>
          <p:nvPr/>
        </p:nvCxnSpPr>
        <p:spPr>
          <a:xfrm flipV="1">
            <a:off x="8138160" y="1033271"/>
            <a:ext cx="0" cy="22860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7973568" y="704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FRC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973568" y="868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7269480" y="813816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REMOTE SP (FCC)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8750807" y="129387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869680" y="11704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Freeform 131"/>
          <p:cNvSpPr/>
          <p:nvPr/>
        </p:nvSpPr>
        <p:spPr>
          <a:xfrm>
            <a:off x="8741663" y="1053365"/>
            <a:ext cx="256033" cy="117067"/>
          </a:xfrm>
          <a:custGeom>
            <a:avLst/>
            <a:gdLst/>
            <a:ahLst/>
            <a:cxnLst/>
            <a:rect l="l" t="t" r="r" b="b"/>
            <a:pathLst>
              <a:path w="256033" h="117067">
                <a:moveTo>
                  <a:pt x="0" y="117067"/>
                </a:moveTo>
                <a:lnTo>
                  <a:pt x="7721" y="76410"/>
                </a:lnTo>
                <a:lnTo>
                  <a:pt x="29951" y="40657"/>
                </a:lnTo>
                <a:lnTo>
                  <a:pt x="64009" y="14120"/>
                </a:lnTo>
                <a:lnTo>
                  <a:pt x="105787" y="0"/>
                </a:lnTo>
                <a:lnTo>
                  <a:pt x="150246" y="0"/>
                </a:lnTo>
                <a:lnTo>
                  <a:pt x="192025" y="14120"/>
                </a:lnTo>
                <a:lnTo>
                  <a:pt x="226082" y="40657"/>
                </a:lnTo>
                <a:lnTo>
                  <a:pt x="248312" y="76410"/>
                </a:lnTo>
                <a:lnTo>
                  <a:pt x="256033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025128" y="1042416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95359" y="148132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V100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8302752" y="868680"/>
            <a:ext cx="5669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869680" y="868680"/>
            <a:ext cx="0" cy="18288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9052560" y="1444752"/>
            <a:ext cx="4572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DN100-GO-205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509760" y="11430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9692640" y="1371600"/>
            <a:ext cx="9144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9829800" y="1664208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>
                <a:solidFill>
                  <a:srgbClr val="000000"/>
                </a:solidFill>
                <a:latin typeface="Arial"/>
              </a:rPr>
              <a:t>E-100 FEED PREHEATER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29800" y="1792224"/>
            <a:ext cx="10058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SHELL STEAM · TUBES FEED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829800" y="1892807"/>
            <a:ext cx="10058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2.3 MW, 60 → 150 °C (TBC)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424160" y="411480"/>
            <a:ext cx="0" cy="7315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0479024" y="365760"/>
            <a:ext cx="6400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MP STEAM 11 bar a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10346436" y="74980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10501884" y="86868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10625328" y="740664"/>
            <a:ext cx="117066" cy="256031"/>
          </a:xfrm>
          <a:custGeom>
            <a:avLst/>
            <a:gdLst/>
            <a:ahLst/>
            <a:cxnLst/>
            <a:rect l="l" t="t" r="r" b="b"/>
            <a:pathLst>
              <a:path w="117066" h="256031">
                <a:moveTo>
                  <a:pt x="0" y="0"/>
                </a:moveTo>
                <a:lnTo>
                  <a:pt x="40656" y="7720"/>
                </a:lnTo>
                <a:lnTo>
                  <a:pt x="76409" y="29950"/>
                </a:lnTo>
                <a:lnTo>
                  <a:pt x="102946" y="64007"/>
                </a:lnTo>
                <a:lnTo>
                  <a:pt x="117066" y="105786"/>
                </a:lnTo>
                <a:lnTo>
                  <a:pt x="117066" y="150245"/>
                </a:lnTo>
                <a:lnTo>
                  <a:pt x="102946" y="192024"/>
                </a:lnTo>
                <a:lnTo>
                  <a:pt x="76409" y="226081"/>
                </a:lnTo>
                <a:lnTo>
                  <a:pt x="40656" y="248311"/>
                </a:lnTo>
                <a:lnTo>
                  <a:pt x="0" y="256031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65792" y="80467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TV-110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765792" y="932688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50" name="Oval 149"/>
          <p:cNvSpPr/>
          <p:nvPr/>
        </p:nvSpPr>
        <p:spPr>
          <a:xfrm>
            <a:off x="10394442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 flipH="1">
            <a:off x="10222992" y="566928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9893808" y="4023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9893808" y="5669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9626346" y="113157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V="1">
            <a:off x="9656064" y="1005840"/>
            <a:ext cx="0" cy="1554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9491472" y="676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111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9491472" y="8412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710928" y="1600200"/>
            <a:ext cx="0" cy="53035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9619488" y="2130552"/>
            <a:ext cx="182880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19488" y="2130552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ST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9710928" y="2267712"/>
            <a:ext cx="0" cy="24688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8503920" y="2514600"/>
            <a:ext cx="120700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8503920" y="2578608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CONDENSATE RETURN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0789920" y="137160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1155680" y="1371600"/>
            <a:ext cx="0" cy="286207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1155680" y="896112"/>
            <a:ext cx="0" cy="4754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11125961" y="1341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991088" y="566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10991088" y="731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0771632" y="731520"/>
            <a:ext cx="21945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771632" y="731520"/>
            <a:ext cx="0" cy="1371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10744200" y="868680"/>
            <a:ext cx="2743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0497311" y="2926080"/>
            <a:ext cx="603504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DN100-GO-206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692640" y="4206240"/>
            <a:ext cx="169163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692640" y="4416552"/>
            <a:ext cx="1691639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D-150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692640" y="4572000"/>
            <a:ext cx="1691639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CAT-CRACKER FEED DRUM, 30 m³</a:t>
            </a:r>
          </a:p>
        </p:txBody>
      </p:sp>
      <p:sp>
        <p:nvSpPr>
          <p:cNvPr id="177" name="Oval 176"/>
          <p:cNvSpPr/>
          <p:nvPr/>
        </p:nvSpPr>
        <p:spPr>
          <a:xfrm>
            <a:off x="9662922" y="4542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 flipH="1">
            <a:off x="9354312" y="4572000"/>
            <a:ext cx="3383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9025128" y="4407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9025128" y="4572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149840" y="4023360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1012012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H="1">
            <a:off x="9381744" y="4023360"/>
            <a:ext cx="7680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tangle 183"/>
          <p:cNvSpPr/>
          <p:nvPr/>
        </p:nvSpPr>
        <p:spPr>
          <a:xfrm>
            <a:off x="8997696" y="38313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025128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9025128" y="4023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8778240" y="396849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I-4</a:t>
            </a:r>
          </a:p>
        </p:txBody>
      </p:sp>
      <p:cxnSp>
        <p:nvCxnSpPr>
          <p:cNvPr id="188" name="Connector 187"/>
          <p:cNvCxnSpPr/>
          <p:nvPr/>
        </p:nvCxnSpPr>
        <p:spPr>
          <a:xfrm flipV="1">
            <a:off x="10698480" y="3566160"/>
            <a:ext cx="0" cy="6400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Freeform 188"/>
          <p:cNvSpPr/>
          <p:nvPr/>
        </p:nvSpPr>
        <p:spPr>
          <a:xfrm>
            <a:off x="10643615" y="3803904"/>
            <a:ext cx="109729" cy="164592"/>
          </a:xfrm>
          <a:custGeom>
            <a:avLst/>
            <a:gdLst/>
            <a:ahLst/>
            <a:cxnLst/>
            <a:rect l="l" t="t" r="r" b="b"/>
            <a:pathLst>
              <a:path w="109729" h="164592">
                <a:moveTo>
                  <a:pt x="0" y="0"/>
                </a:moveTo>
                <a:lnTo>
                  <a:pt x="109729" y="164592"/>
                </a:lnTo>
                <a:lnTo>
                  <a:pt x="0" y="164592"/>
                </a:lnTo>
                <a:lnTo>
                  <a:pt x="10972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241280" y="3566160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PSV-150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241280" y="3685032"/>
            <a:ext cx="4114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SET HOLD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753344" y="3511296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FLARE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0332720" y="4937760"/>
            <a:ext cx="0" cy="2926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0332720" y="7863840"/>
            <a:ext cx="21031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11292840" y="7644383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TO CAT-CRACKER CHARGE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292840" y="7927848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PUMPS (BY OTHERS)</a:t>
            </a:r>
          </a:p>
        </p:txBody>
      </p:sp>
      <p:sp>
        <p:nvSpPr>
          <p:cNvPr id="197" name="Oval 196"/>
          <p:cNvSpPr/>
          <p:nvPr/>
        </p:nvSpPr>
        <p:spPr>
          <a:xfrm>
            <a:off x="10943082" y="78341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 flipV="1">
            <a:off x="10972800" y="752551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10808208" y="7196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151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10808208" y="7360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10396728" y="6949440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DN100-GO-207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396728" y="7059168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LALL-150 (FCC SIDE)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1521440" y="502920"/>
            <a:ext cx="3154680" cy="667512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521440" y="548640"/>
            <a:ext cx="31546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11612880" y="86868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Freeform 205"/>
          <p:cNvSpPr/>
          <p:nvPr/>
        </p:nvSpPr>
        <p:spPr>
          <a:xfrm>
            <a:off x="11722607" y="7909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2207240" y="80467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HAND GATE VALVE (V200, V201, V202, V205, V206)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11612880" y="1197864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1722607" y="1114653"/>
            <a:ext cx="184252" cy="166421"/>
          </a:xfrm>
          <a:custGeom>
            <a:avLst/>
            <a:gdLst/>
            <a:ahLst/>
            <a:cxnLst/>
            <a:rect l="l" t="t" r="r" b="b"/>
            <a:pathLst>
              <a:path w="184252" h="166421">
                <a:moveTo>
                  <a:pt x="0" y="0"/>
                </a:moveTo>
                <a:lnTo>
                  <a:pt x="184252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11906859" y="1114653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12207240" y="1133856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SWING CHECK VALVE, FLOW → (NRV-210/220)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1612880" y="157276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reeform 212"/>
          <p:cNvSpPr/>
          <p:nvPr/>
        </p:nvSpPr>
        <p:spPr>
          <a:xfrm>
            <a:off x="11722607" y="1495044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 flipV="1">
            <a:off x="11841480" y="1417319"/>
            <a:ext cx="0" cy="7772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Freeform 214"/>
          <p:cNvSpPr/>
          <p:nvPr/>
        </p:nvSpPr>
        <p:spPr>
          <a:xfrm>
            <a:off x="11731752" y="1327269"/>
            <a:ext cx="219455" cy="90050"/>
          </a:xfrm>
          <a:custGeom>
            <a:avLst/>
            <a:gdLst/>
            <a:ahLst/>
            <a:cxnLst/>
            <a:rect l="l" t="t" r="r" b="b"/>
            <a:pathLst>
              <a:path w="219455" h="90050">
                <a:moveTo>
                  <a:pt x="0" y="90050"/>
                </a:moveTo>
                <a:lnTo>
                  <a:pt x="6617" y="58776"/>
                </a:lnTo>
                <a:lnTo>
                  <a:pt x="25671" y="31274"/>
                </a:lnTo>
                <a:lnTo>
                  <a:pt x="54863" y="10861"/>
                </a:lnTo>
                <a:lnTo>
                  <a:pt x="90673" y="0"/>
                </a:lnTo>
                <a:lnTo>
                  <a:pt x="128782" y="0"/>
                </a:lnTo>
                <a:lnTo>
                  <a:pt x="164592" y="10861"/>
                </a:lnTo>
                <a:lnTo>
                  <a:pt x="193784" y="31274"/>
                </a:lnTo>
                <a:lnTo>
                  <a:pt x="212838" y="58776"/>
                </a:lnTo>
                <a:lnTo>
                  <a:pt x="219455" y="9005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2207240" y="1463039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CONTROL VALVE, DIAPHRAGM, FC = FAIL CLOSED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11612880" y="1856231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ectangle 217"/>
          <p:cNvSpPr/>
          <p:nvPr/>
        </p:nvSpPr>
        <p:spPr>
          <a:xfrm>
            <a:off x="11731752" y="1783079"/>
            <a:ext cx="219456" cy="146304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 flipV="1">
            <a:off x="11750040" y="1801367"/>
            <a:ext cx="182879" cy="1097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12207240" y="1792223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STRAINER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11612880" y="2185415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1814048" y="2093975"/>
            <a:ext cx="0" cy="182881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1868911" y="2093975"/>
            <a:ext cx="0" cy="182881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2207240" y="2121408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RESTRICTION ORIFICE / FLOW ELEMENT</a:t>
            </a:r>
          </a:p>
        </p:txBody>
      </p:sp>
      <p:sp>
        <p:nvSpPr>
          <p:cNvPr id="225" name="Oval 224"/>
          <p:cNvSpPr/>
          <p:nvPr/>
        </p:nvSpPr>
        <p:spPr>
          <a:xfrm>
            <a:off x="11704319" y="2377439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704319" y="237743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2207240" y="2450591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ELECTRIC MOTOR DRIVER (PUMP: CIRCLE + BASE)</a:t>
            </a:r>
          </a:p>
        </p:txBody>
      </p:sp>
      <p:sp>
        <p:nvSpPr>
          <p:cNvPr id="228" name="Oval 227"/>
          <p:cNvSpPr/>
          <p:nvPr/>
        </p:nvSpPr>
        <p:spPr>
          <a:xfrm>
            <a:off x="11704319" y="2706623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2207240" y="2779775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LOCAL INSTRUMENT (NO DCS SIGNAL)</a:t>
            </a:r>
          </a:p>
        </p:txBody>
      </p:sp>
      <p:sp>
        <p:nvSpPr>
          <p:cNvPr id="230" name="Oval 229"/>
          <p:cNvSpPr/>
          <p:nvPr/>
        </p:nvSpPr>
        <p:spPr>
          <a:xfrm>
            <a:off x="11704319" y="3035807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FRC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11704319" y="3172967"/>
            <a:ext cx="27432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12207240" y="3108959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DCS INSTRUMENT (SHARED DISPLAY)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1676888" y="3337559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1704319" y="3364991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11704319" y="3502151"/>
            <a:ext cx="27432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12207240" y="3438143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SIS / TRIP FUNCTION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11612880" y="3831335"/>
            <a:ext cx="457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12207240" y="3767327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INSTRUMENT SIGNAL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11612880" y="416052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12207240" y="4096511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PROCESS LINE, FLOW DIRECTION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11612880" y="4489704"/>
            <a:ext cx="4572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12207240" y="4425696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UTILITY / DRAIN / VENT LINE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11612880" y="4818888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Oval 243"/>
          <p:cNvSpPr/>
          <p:nvPr/>
        </p:nvSpPr>
        <p:spPr>
          <a:xfrm>
            <a:off x="11811761" y="478917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2207240" y="475488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000000"/>
                </a:solidFill>
                <a:latin typeface="Arial"/>
              </a:rPr>
              <a:t>CONNECTION (TEE)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1658600" y="5193792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LINE NUMBER: DNxxx-SVC-nnn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1658600" y="535838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0">
                <a:solidFill>
                  <a:srgbClr val="000000"/>
                </a:solidFill>
                <a:latin typeface="Arial"/>
              </a:rPr>
              <a:t>GO = GAS-OIL FEED  ·  SIZES INDICATIVE (TBC)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658600" y="549554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0">
                <a:solidFill>
                  <a:srgbClr val="000000"/>
                </a:solidFill>
                <a:latin typeface="Arial"/>
              </a:rPr>
              <a:t>MP STEAM / CONDENSATE: UTILITY LINES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1658600" y="563270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1658600" y="57698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PUMP DATA (CASE)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11658600" y="5934456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1658600" y="6183172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1658600" y="6431889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1658600" y="6680606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1658600" y="6929323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1658600" y="7178040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1658600" y="7426756"/>
            <a:ext cx="2651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1658600" y="5934456"/>
            <a:ext cx="0" cy="14923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2755880" y="5934456"/>
            <a:ext cx="0" cy="14923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3533119" y="5934456"/>
            <a:ext cx="0" cy="14923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4310359" y="5934456"/>
            <a:ext cx="0" cy="14923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11704320" y="5934456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2755880" y="5934456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P-200A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3533119" y="5934456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P-200B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1704320" y="6183172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SPEED, rpm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2755880" y="6183172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3600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3533119" y="6183172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3600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704320" y="6431889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MOTOR, kW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2755880" y="6431889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3533119" y="6431889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1704320" y="6680606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SHUT-OFF HEAD, m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2755880" y="6680606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45.0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3533119" y="6680606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46.5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1704320" y="6929323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RATED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2755880" y="6929323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14 L/s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3533119" y="6929323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14 L/s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704320" y="7178040"/>
            <a:ext cx="1005839" cy="2487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ΔH @ 14 L/s, m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2755880" y="7178040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32.0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3533119" y="7178040"/>
            <a:ext cx="777240" cy="2487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>
                <a:solidFill>
                  <a:srgbClr val="000000"/>
                </a:solidFill>
                <a:latin typeface="Arial"/>
              </a:rPr>
              <a:t>33.5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57200" y="8686800"/>
            <a:ext cx="55778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GENERAL NOTES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1. DESIGN BASIS: 14 L/s TO THE CAT CRACKER; P-200A/B IDENTICAL, 3600 rpm, 10 kW (UPRATED FROM 1800 rpm).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   SHUT-OFF HEAD A 45.0 m, B 46.5 m. B RUNNING: PI-220 34 m, IDLE PI-210 0.5 m, V100 OUTPUT ≈ 80 %.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2. FLUID GAS OIL, 870 kg/m³, 60 °C, Pv 0.3 kPa: ASSUMED FOR THE OTS (TBC). HEADS ON THIS SHEET ARE IN METRES OF LIQUID (1 m = 8.5 kPa).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3. T200 SIZE, SUCTION LOSSES (3.5 m AT 14 L/s), DELIVERY STATIC + BACK PRESSURE (24 m), E-100 AND D-150 DATA: ASSUMED (TBC).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4. PI-209, PI-210, PI-220 ARE LOCAL GAUGES ONLY. PI-210/220 SIT BETWEEN PUMP AND CHECK VALVE: THEY READ THE CASING, NOT THE HEADER.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5. PRESSURE INSTRUMENTS C/W ROOT &amp; TEST VALVES (TYP., NOT SHOWN). PUMP CASING DRAINS TO CLOSED DRAIN (TYP., NOT SHOWN).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6. V100 AND TV-110 FAIL CLOSED. NO BLOCK / BYPASS AROUND V100 ON THE AS-FOUND DRAWING (TBC).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7. FRC-100 SET POINT IS REMOTE FROM THE CAT CRACKER (14 L/s). TIC-110 NORMALLY IN MAN.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8. LINE SIZES INDICATIVE ONLY (TBC). PSV-150 SET PRESSURE AND FLARE TIE-IN: HOLD.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9. DESIGN POINT (A RUNNING): PI-209 0.5 m, PI-210 32.4 m, FRC-100 14 L/s, V100 84 %, II-210 13.2 A, TI-110 150 °C.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172200" y="8686800"/>
            <a:ext cx="54406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INTERLOCKS AND OPERATING NOTES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I-1  LSLL-200 (10 %, 5 s) TRIPS P-200A AND P-200B (LATCHED). LSL-200 (15 %) BLOCKS PUMP STARTS.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I-2  TSHH-212 / TSHH-222 (110 °C, 5 s, ON THE TI-212 / TI-222 ELEMENT) TRIP THEIR OWN MOTOR.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I-3  MOTOR OVERLOAD 49-210 / 49-220 AT THE MCC (21.7 A, 10 s) TRIP THEIR OWN MOTOR.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I-4  LSHH-150 (95 %) FORCES V100 CLOSED (LATCHED UNTIL RESET BELOW 90 %). ESD STOPS BOTH PUMPS, CLOSES V100 AND TV-110.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A.  START-UP: SUCTION OPEN, CASING VENTED FULL, DISCHARGE CLOSED; CONFIRM SHUT-OFF HEAD ON THE LOCAL GAUGE; OPEN DISCHARGE WITHIN 2 min.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B.  REV A (AS FOUND): SPARE P-200B LINED UP WITH ITS SUCTION V206 AND DISCHARGE V205 OPEN.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C.  PROPOSED UPGRADES (REV C, SEE SIS TAB): PIT-210/220 TO DCS WITH PAH ON THE IDLE CASING; MOV DISCHARGE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    VALVES INTERLOCKED WITH THE MOTORS. NOT SHOWN ON THIS SHEET.</a:t>
            </a:r>
          </a:p>
          <a:p>
            <a:pPr algn="l"/>
            <a:r>
              <a:rPr sz="540" b="0">
                <a:solidFill>
                  <a:srgbClr val="000000"/>
                </a:solidFill>
                <a:latin typeface="Arial"/>
              </a:rPr>
              <a:t>D.  THE SIMULATOR SCREEN P&amp;ID IS THE REFERENCE FOR THE DCS, DECKS AND EXERCISES; THIS SHEET IS AN ALTERNATIVE VERSION.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320040" y="8595360"/>
            <a:ext cx="11338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AS FOUND · ISSUED FOR OTS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 · EPC STANDARD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09-OCT-26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CHEM ENG CHULALONGKORN UNIVERSITY · OTS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P-200A/B · ALTERNATIVE VERSION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TextBox 308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DRAWN: </a:t>
            </a:r>
          </a:p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09-OCT-26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PPS-PID-001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