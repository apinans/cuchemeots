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52000"/>
            <a:ext cx="10188000" cy="7056000"/>
          </a:xfrm>
          <a:prstGeom prst="rect">
            <a:avLst/>
          </a:prstGeom>
          <a:noFill/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7709" y="32803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T200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4639" y="393968"/>
            <a:ext cx="111272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Feed Storage Tank (cone roof)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4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S-200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3835" y="393968"/>
            <a:ext cx="66233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Suction Strainer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1063" y="328030"/>
            <a:ext cx="31587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P-200A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1221" y="393968"/>
            <a:ext cx="83555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Feed Pump A (running)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5063" y="328030"/>
            <a:ext cx="31587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P-200B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9867" y="393968"/>
            <a:ext cx="76626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Feed Pump B (spare)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6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1898" y="393968"/>
            <a:ext cx="870203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Feed Preheater (steam)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0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D-150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3221" y="393968"/>
            <a:ext cx="83555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Cat-Cracker Feed Drum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509877"/>
            <a:ext cx="10188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7056000" y="6192000"/>
            <a:ext cx="3384000" cy="11160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056000" y="6357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7056000" y="6753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7056000" y="7005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7128000" y="6222817"/>
            <a:ext cx="1858390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PARALLEL PUMP STATION VER 1 · OPERATOR TRAINING SIMULATOR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316" y="6432180"/>
            <a:ext cx="1147368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000000"/>
                </a:solidFill>
                <a:latin typeface="Arial"/>
              </a:rPr>
              <a:t>PROCESS FLOW DIAGRAM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860" y="6616400"/>
            <a:ext cx="184028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PARALLEL PUMP STATION — CAT-CRACKER FEED, T200 TO D-150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6400" y="6779122"/>
            <a:ext cx="393826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DRAWING No.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6400" y="6878390"/>
            <a:ext cx="471779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PPS-PFD-100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7728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852768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REV.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768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8640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913680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680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62784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9678240" y="6779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SHEET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8240" y="687839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064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6400" y="7130390"/>
            <a:ext cx="802487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47728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8527680" y="7031122"/>
            <a:ext cx="289889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CHECKED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768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8640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91368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3680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NTS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2784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9678240" y="7031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78240" y="7130390"/>
            <a:ext cx="438708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2026-10-08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2000" y="6292800"/>
            <a:ext cx="6768000" cy="1015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4000" y="6350195"/>
            <a:ext cx="32532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sp>
        <p:nvSpPr>
          <p:cNvPr id="47" name="Freeform 46"/>
          <p:cNvSpPr/>
          <p:nvPr/>
        </p:nvSpPr>
        <p:spPr>
          <a:xfrm>
            <a:off x="34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198000" y="57600"/>
                </a:lnTo>
                <a:lnTo>
                  <a:pt x="252000" y="115200"/>
                </a:lnTo>
                <a:lnTo>
                  <a:pt x="0" y="115200"/>
                </a:lnTo>
                <a:lnTo>
                  <a:pt x="54000" y="576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8000" y="6512082"/>
            <a:ext cx="603275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Liquid Flow (L/s)</a:t>
            </a:r>
          </a:p>
        </p:txBody>
      </p:sp>
      <p:sp>
        <p:nvSpPr>
          <p:cNvPr id="50" name="Freeform 49"/>
          <p:cNvSpPr/>
          <p:nvPr/>
        </p:nvSpPr>
        <p:spPr>
          <a:xfrm>
            <a:off x="1434000" y="6501472"/>
            <a:ext cx="288000" cy="115200"/>
          </a:xfrm>
          <a:custGeom>
            <a:avLst/>
            <a:gdLst/>
            <a:ahLst/>
            <a:cxnLst/>
            <a:rect l="l" t="t" r="r" b="b"/>
            <a:pathLst>
              <a:path w="288000" h="115200">
                <a:moveTo>
                  <a:pt x="68400" y="0"/>
                </a:moveTo>
                <a:lnTo>
                  <a:pt x="288000" y="0"/>
                </a:lnTo>
                <a:lnTo>
                  <a:pt x="2196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7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58000" y="6512082"/>
            <a:ext cx="545007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Mass Flow (t/h)</a:t>
            </a:r>
          </a:p>
        </p:txBody>
      </p:sp>
      <p:sp>
        <p:nvSpPr>
          <p:cNvPr id="53" name="Freeform 52"/>
          <p:cNvSpPr/>
          <p:nvPr/>
        </p:nvSpPr>
        <p:spPr>
          <a:xfrm>
            <a:off x="256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58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6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Temperature (°C)</a:t>
            </a:r>
          </a:p>
        </p:txBody>
      </p:sp>
      <p:sp>
        <p:nvSpPr>
          <p:cNvPr id="56" name="Freeform 55"/>
          <p:cNvSpPr/>
          <p:nvPr/>
        </p:nvSpPr>
        <p:spPr>
          <a:xfrm>
            <a:off x="3672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0400" y="0"/>
                </a:moveTo>
                <a:lnTo>
                  <a:pt x="2016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9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78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Pressure (bar g)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778400" y="65590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5088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888400" y="6559072"/>
            <a:ext cx="259200" cy="0"/>
          </a:xfrm>
          <a:prstGeom prst="line">
            <a:avLst/>
          </a:prstGeom>
          <a:ln w="6480">
            <a:solidFill>
              <a:srgbClr val="000000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6198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sp>
        <p:nvSpPr>
          <p:cNvPr id="63" name="Freeform 62"/>
          <p:cNvSpPr/>
          <p:nvPr/>
        </p:nvSpPr>
        <p:spPr>
          <a:xfrm>
            <a:off x="385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68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468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413568" y="6668152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67" name="TextBox 66"/>
          <p:cNvSpPr txBox="1"/>
          <p:nvPr/>
        </p:nvSpPr>
        <p:spPr>
          <a:xfrm>
            <a:off x="648000" y="6778482"/>
            <a:ext cx="428472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Block Valve</a:t>
            </a:r>
          </a:p>
        </p:txBody>
      </p:sp>
      <p:sp>
        <p:nvSpPr>
          <p:cNvPr id="68" name="Freeform 67"/>
          <p:cNvSpPr/>
          <p:nvPr/>
        </p:nvSpPr>
        <p:spPr>
          <a:xfrm>
            <a:off x="1495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578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1578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71" name="Freeform 70"/>
          <p:cNvSpPr/>
          <p:nvPr/>
        </p:nvSpPr>
        <p:spPr>
          <a:xfrm>
            <a:off x="1539120" y="6613720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75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Control Valve</a:t>
            </a:r>
          </a:p>
        </p:txBody>
      </p:sp>
      <p:sp>
        <p:nvSpPr>
          <p:cNvPr id="73" name="Oval 72"/>
          <p:cNvSpPr/>
          <p:nvPr/>
        </p:nvSpPr>
        <p:spPr>
          <a:xfrm>
            <a:off x="2623200" y="6760672"/>
            <a:ext cx="129600" cy="129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623200" y="6760672"/>
            <a:ext cx="64800" cy="129600"/>
          </a:xfrm>
          <a:custGeom>
            <a:avLst/>
            <a:gdLst/>
            <a:ahLst/>
            <a:cxnLst/>
            <a:rect l="l" t="t" r="r" b="b"/>
            <a:pathLst>
              <a:path w="64800" h="129600">
                <a:moveTo>
                  <a:pt x="64800" y="64800"/>
                </a:moveTo>
                <a:lnTo>
                  <a:pt x="64800" y="129600"/>
                </a:lnTo>
                <a:lnTo>
                  <a:pt x="56342" y="129046"/>
                </a:lnTo>
                <a:lnTo>
                  <a:pt x="48029" y="127392"/>
                </a:lnTo>
                <a:lnTo>
                  <a:pt x="40002" y="124667"/>
                </a:lnTo>
                <a:lnTo>
                  <a:pt x="32400" y="120918"/>
                </a:lnTo>
                <a:lnTo>
                  <a:pt x="25352" y="116209"/>
                </a:lnTo>
                <a:lnTo>
                  <a:pt x="18979" y="110621"/>
                </a:lnTo>
                <a:lnTo>
                  <a:pt x="13391" y="104248"/>
                </a:lnTo>
                <a:lnTo>
                  <a:pt x="8682" y="97200"/>
                </a:lnTo>
                <a:lnTo>
                  <a:pt x="4933" y="89598"/>
                </a:lnTo>
                <a:lnTo>
                  <a:pt x="2208" y="81571"/>
                </a:lnTo>
                <a:lnTo>
                  <a:pt x="554" y="73258"/>
                </a:lnTo>
                <a:lnTo>
                  <a:pt x="0" y="64800"/>
                </a:lnTo>
                <a:lnTo>
                  <a:pt x="554" y="56342"/>
                </a:lnTo>
                <a:lnTo>
                  <a:pt x="2208" y="48029"/>
                </a:lnTo>
                <a:lnTo>
                  <a:pt x="4933" y="40002"/>
                </a:lnTo>
                <a:lnTo>
                  <a:pt x="8682" y="32400"/>
                </a:lnTo>
                <a:lnTo>
                  <a:pt x="13391" y="25352"/>
                </a:lnTo>
                <a:lnTo>
                  <a:pt x="18979" y="18979"/>
                </a:lnTo>
                <a:lnTo>
                  <a:pt x="25352" y="13391"/>
                </a:lnTo>
                <a:lnTo>
                  <a:pt x="32400" y="8682"/>
                </a:lnTo>
                <a:lnTo>
                  <a:pt x="40002" y="4933"/>
                </a:lnTo>
                <a:lnTo>
                  <a:pt x="48029" y="2208"/>
                </a:lnTo>
                <a:lnTo>
                  <a:pt x="56342" y="554"/>
                </a:lnTo>
                <a:lnTo>
                  <a:pt x="64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868000" y="6778482"/>
            <a:ext cx="74894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Input / Output</a:t>
            </a:r>
          </a:p>
        </p:txBody>
      </p:sp>
      <p:sp>
        <p:nvSpPr>
          <p:cNvPr id="76" name="Freeform 75"/>
          <p:cNvSpPr/>
          <p:nvPr/>
        </p:nvSpPr>
        <p:spPr>
          <a:xfrm>
            <a:off x="3711600" y="6739072"/>
            <a:ext cx="172800" cy="172800"/>
          </a:xfrm>
          <a:custGeom>
            <a:avLst/>
            <a:gdLst/>
            <a:ahLst/>
            <a:cxnLst/>
            <a:rect l="l" t="t" r="r" b="b"/>
            <a:pathLst>
              <a:path w="172800" h="172800">
                <a:moveTo>
                  <a:pt x="86400" y="0"/>
                </a:moveTo>
                <a:lnTo>
                  <a:pt x="172800" y="86400"/>
                </a:lnTo>
                <a:lnTo>
                  <a:pt x="86400" y="172800"/>
                </a:lnTo>
                <a:lnTo>
                  <a:pt x="0" y="864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90000" y="675689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7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Stream Number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778400" y="68254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80" name="Connector 79"/>
          <p:cNvCxnSpPr/>
          <p:nvPr/>
        </p:nvCxnSpPr>
        <p:spPr>
          <a:xfrm>
            <a:off x="4908000" y="67174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81" name="Connector 80"/>
          <p:cNvCxnSpPr/>
          <p:nvPr/>
        </p:nvCxnSpPr>
        <p:spPr>
          <a:xfrm>
            <a:off x="4908000" y="68722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82" name="TextBox 81"/>
          <p:cNvSpPr txBox="1"/>
          <p:nvPr/>
        </p:nvSpPr>
        <p:spPr>
          <a:xfrm>
            <a:off x="5088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Line Crossing</a:t>
            </a:r>
          </a:p>
        </p:txBody>
      </p:sp>
      <p:sp>
        <p:nvSpPr>
          <p:cNvPr id="83" name="Freeform 82"/>
          <p:cNvSpPr/>
          <p:nvPr/>
        </p:nvSpPr>
        <p:spPr>
          <a:xfrm>
            <a:off x="5902800" y="6749872"/>
            <a:ext cx="230400" cy="151200"/>
          </a:xfrm>
          <a:custGeom>
            <a:avLst/>
            <a:gdLst/>
            <a:ahLst/>
            <a:cxnLst/>
            <a:rect l="l" t="t" r="r" b="b"/>
            <a:pathLst>
              <a:path w="230400" h="151200">
                <a:moveTo>
                  <a:pt x="0" y="18144"/>
                </a:moveTo>
                <a:lnTo>
                  <a:pt x="115200" y="0"/>
                </a:lnTo>
                <a:lnTo>
                  <a:pt x="230400" y="18144"/>
                </a:lnTo>
                <a:lnTo>
                  <a:pt x="230400" y="151200"/>
                </a:lnTo>
                <a:lnTo>
                  <a:pt x="0" y="1512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98000" y="67784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Storage Tank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70800" y="7016272"/>
            <a:ext cx="194400" cy="151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V="1">
            <a:off x="370800" y="7016272"/>
            <a:ext cx="194400" cy="1512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87" name="TextBox 86"/>
          <p:cNvSpPr txBox="1"/>
          <p:nvPr/>
        </p:nvSpPr>
        <p:spPr>
          <a:xfrm>
            <a:off x="648000" y="7044882"/>
            <a:ext cx="28280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Filter</a:t>
            </a:r>
          </a:p>
        </p:txBody>
      </p:sp>
      <p:sp>
        <p:nvSpPr>
          <p:cNvPr id="88" name="Oval 87"/>
          <p:cNvSpPr/>
          <p:nvPr/>
        </p:nvSpPr>
        <p:spPr>
          <a:xfrm>
            <a:off x="1518384" y="7010728"/>
            <a:ext cx="119232" cy="119232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1518384" y="7070344"/>
            <a:ext cx="59616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0" name="Connector 89"/>
          <p:cNvCxnSpPr/>
          <p:nvPr/>
        </p:nvCxnSpPr>
        <p:spPr>
          <a:xfrm flipH="1">
            <a:off x="150944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1" name="Connector 90"/>
          <p:cNvCxnSpPr/>
          <p:nvPr/>
        </p:nvCxnSpPr>
        <p:spPr>
          <a:xfrm>
            <a:off x="161496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92" name="Connector 91"/>
          <p:cNvCxnSpPr/>
          <p:nvPr/>
        </p:nvCxnSpPr>
        <p:spPr>
          <a:xfrm>
            <a:off x="1503480" y="7162749"/>
            <a:ext cx="14904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93" name="TextBox 92"/>
          <p:cNvSpPr txBox="1"/>
          <p:nvPr/>
        </p:nvSpPr>
        <p:spPr>
          <a:xfrm>
            <a:off x="1758000" y="70448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Centrifugal Pump</a:t>
            </a:r>
          </a:p>
        </p:txBody>
      </p:sp>
      <p:sp>
        <p:nvSpPr>
          <p:cNvPr id="94" name="Oval 93"/>
          <p:cNvSpPr/>
          <p:nvPr/>
        </p:nvSpPr>
        <p:spPr>
          <a:xfrm>
            <a:off x="2598000" y="7001872"/>
            <a:ext cx="180000" cy="180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2646600" y="7045072"/>
            <a:ext cx="82800" cy="93600"/>
          </a:xfrm>
          <a:custGeom>
            <a:avLst/>
            <a:gdLst/>
            <a:ahLst/>
            <a:cxnLst/>
            <a:rect l="l" t="t" r="r" b="b"/>
            <a:pathLst>
              <a:path w="82800" h="93600">
                <a:moveTo>
                  <a:pt x="41400" y="0"/>
                </a:moveTo>
                <a:lnTo>
                  <a:pt x="82800" y="18720"/>
                </a:lnTo>
                <a:lnTo>
                  <a:pt x="0" y="46800"/>
                </a:lnTo>
                <a:lnTo>
                  <a:pt x="82800" y="74880"/>
                </a:lnTo>
                <a:lnTo>
                  <a:pt x="41400" y="9360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868000" y="7044882"/>
            <a:ext cx="51587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Heat Exchanger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72000" y="7030672"/>
            <a:ext cx="252000" cy="12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978000" y="70448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Vessel / Drum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52000" y="5580000"/>
            <a:ext cx="6732000" cy="676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4000" y="5637395"/>
            <a:ext cx="28910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4000" y="5733089"/>
            <a:ext cx="3578072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1. Flags: OTS design state — P-200A running, P-200B spare lined up (idle), FRC-100 AUTO 14 L/s, TIC-110 MAN 50 %.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4000" y="5825384"/>
            <a:ext cx="3977284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2. Gas oil 870 kg/m3, 60 °C in T200. Pressures in bar g from the model heads (m of liquid); steam in bar g in the E-100 shell.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4000" y="5917679"/>
            <a:ext cx="3946575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3. Suction and discharge block valves, check valves NRV-210/220, local gauges, drains, vents and trips: see P&amp;ID PPS-PID-001.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24000" y="6009974"/>
            <a:ext cx="2349728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4. Sizes: T200 Ø12 x 10 m, D-150 30 m3 (model); other symbols indicative.</a:t>
            </a:r>
          </a:p>
        </p:txBody>
      </p:sp>
      <p:sp>
        <p:nvSpPr>
          <p:cNvPr id="105" name="Freeform 104"/>
          <p:cNvSpPr/>
          <p:nvPr/>
        </p:nvSpPr>
        <p:spPr>
          <a:xfrm>
            <a:off x="1404000" y="2239273"/>
            <a:ext cx="936000" cy="705454"/>
          </a:xfrm>
          <a:custGeom>
            <a:avLst/>
            <a:gdLst/>
            <a:ahLst/>
            <a:cxnLst/>
            <a:rect l="l" t="t" r="r" b="b"/>
            <a:pathLst>
              <a:path w="936000" h="705454">
                <a:moveTo>
                  <a:pt x="0" y="84655"/>
                </a:moveTo>
                <a:lnTo>
                  <a:pt x="468000" y="0"/>
                </a:lnTo>
                <a:lnTo>
                  <a:pt x="936000" y="84655"/>
                </a:lnTo>
                <a:lnTo>
                  <a:pt x="936000" y="705454"/>
                </a:lnTo>
                <a:lnTo>
                  <a:pt x="0" y="705454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966400" y="3873600"/>
            <a:ext cx="403200" cy="316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 flipV="1">
            <a:off x="2966400" y="3873600"/>
            <a:ext cx="403200" cy="3168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08" name="Oval 107"/>
          <p:cNvSpPr/>
          <p:nvPr/>
        </p:nvSpPr>
        <p:spPr>
          <a:xfrm>
            <a:off x="4766400" y="28476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4766400" y="29772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0" name="Connector 109"/>
          <p:cNvCxnSpPr/>
          <p:nvPr/>
        </p:nvCxnSpPr>
        <p:spPr>
          <a:xfrm flipH="1">
            <a:off x="4746960" y="3078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1" name="Connector 110"/>
          <p:cNvCxnSpPr/>
          <p:nvPr/>
        </p:nvCxnSpPr>
        <p:spPr>
          <a:xfrm>
            <a:off x="4976352" y="3078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2" name="Connector 111"/>
          <p:cNvCxnSpPr/>
          <p:nvPr/>
        </p:nvCxnSpPr>
        <p:spPr>
          <a:xfrm>
            <a:off x="4734000" y="31780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13" name="Oval 112"/>
          <p:cNvSpPr/>
          <p:nvPr/>
        </p:nvSpPr>
        <p:spPr>
          <a:xfrm>
            <a:off x="4766400" y="47196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4766400" y="48492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5" name="Connector 114"/>
          <p:cNvCxnSpPr/>
          <p:nvPr/>
        </p:nvCxnSpPr>
        <p:spPr>
          <a:xfrm flipH="1">
            <a:off x="4746960" y="4950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6" name="Connector 115"/>
          <p:cNvCxnSpPr/>
          <p:nvPr/>
        </p:nvCxnSpPr>
        <p:spPr>
          <a:xfrm>
            <a:off x="4976352" y="4950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17" name="Connector 116"/>
          <p:cNvCxnSpPr/>
          <p:nvPr/>
        </p:nvCxnSpPr>
        <p:spPr>
          <a:xfrm>
            <a:off x="4734000" y="50500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18" name="Oval 117"/>
          <p:cNvSpPr/>
          <p:nvPr/>
        </p:nvSpPr>
        <p:spPr>
          <a:xfrm>
            <a:off x="7470000" y="3798000"/>
            <a:ext cx="324000" cy="324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7557480" y="3875760"/>
            <a:ext cx="149040" cy="168480"/>
          </a:xfrm>
          <a:custGeom>
            <a:avLst/>
            <a:gdLst/>
            <a:ahLst/>
            <a:cxnLst/>
            <a:rect l="l" t="t" r="r" b="b"/>
            <a:pathLst>
              <a:path w="149040" h="168480">
                <a:moveTo>
                  <a:pt x="74520" y="0"/>
                </a:moveTo>
                <a:lnTo>
                  <a:pt x="149040" y="33696"/>
                </a:lnTo>
                <a:lnTo>
                  <a:pt x="0" y="84240"/>
                </a:lnTo>
                <a:lnTo>
                  <a:pt x="149040" y="134784"/>
                </a:lnTo>
                <a:lnTo>
                  <a:pt x="74520" y="16848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>
            <a:off x="7632000" y="379800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21" name="Connector 120"/>
          <p:cNvCxnSpPr/>
          <p:nvPr/>
        </p:nvCxnSpPr>
        <p:spPr>
          <a:xfrm flipV="1">
            <a:off x="7632000" y="4044240"/>
            <a:ext cx="0" cy="7776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22" name="Rounded Rectangle 121"/>
          <p:cNvSpPr/>
          <p:nvPr/>
        </p:nvSpPr>
        <p:spPr>
          <a:xfrm>
            <a:off x="8604000" y="2946629"/>
            <a:ext cx="936000" cy="4427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457200" y="135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457200" y="135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549200" y="99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7549200" y="99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549200" y="531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7549200" y="531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0069200" y="452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0069200" y="452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005000" y="4005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733000" y="3933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622800" y="1440000"/>
            <a:ext cx="1249200" cy="799273"/>
          </a:xfrm>
          <a:custGeom>
            <a:avLst/>
            <a:gdLst/>
            <a:ahLst/>
            <a:cxnLst/>
            <a:rect l="l" t="t" r="r" b="b"/>
            <a:pathLst>
              <a:path w="1249200" h="799273">
                <a:moveTo>
                  <a:pt x="0" y="0"/>
                </a:moveTo>
                <a:lnTo>
                  <a:pt x="1249200" y="0"/>
                </a:lnTo>
                <a:lnTo>
                  <a:pt x="1249200" y="799273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838880" y="2145673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256966" y="137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1339766" y="137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 flipV="1">
            <a:off x="1339766" y="128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38" name="Freeform 137"/>
          <p:cNvSpPr/>
          <p:nvPr/>
        </p:nvSpPr>
        <p:spPr>
          <a:xfrm>
            <a:off x="1300886" y="1228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771200" y="1482962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764000" y="151518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1872000" y="1932002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2" name="Freeform 141"/>
          <p:cNvSpPr/>
          <p:nvPr/>
        </p:nvSpPr>
        <p:spPr>
          <a:xfrm>
            <a:off x="2001600" y="1791602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033109" y="1805922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14.0</a:t>
            </a:r>
          </a:p>
        </p:txBody>
      </p:sp>
      <p:sp>
        <p:nvSpPr>
          <p:cNvPr id="144" name="Freeform 143"/>
          <p:cNvSpPr/>
          <p:nvPr/>
        </p:nvSpPr>
        <p:spPr>
          <a:xfrm>
            <a:off x="2001600" y="1932002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033109" y="1946322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60.0</a:t>
            </a:r>
          </a:p>
        </p:txBody>
      </p:sp>
      <p:sp>
        <p:nvSpPr>
          <p:cNvPr id="146" name="Freeform 145"/>
          <p:cNvSpPr/>
          <p:nvPr/>
        </p:nvSpPr>
        <p:spPr>
          <a:xfrm>
            <a:off x="2340000" y="2874181"/>
            <a:ext cx="626400" cy="1157819"/>
          </a:xfrm>
          <a:custGeom>
            <a:avLst/>
            <a:gdLst/>
            <a:ahLst/>
            <a:cxnLst/>
            <a:rect l="l" t="t" r="r" b="b"/>
            <a:pathLst>
              <a:path w="626400" h="1157819">
                <a:moveTo>
                  <a:pt x="0" y="0"/>
                </a:moveTo>
                <a:lnTo>
                  <a:pt x="324000" y="0"/>
                </a:lnTo>
                <a:lnTo>
                  <a:pt x="324000" y="1157819"/>
                </a:lnTo>
                <a:lnTo>
                  <a:pt x="626400" y="1157819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872800" y="3998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2599200" y="3448702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2599200" y="3531502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2664000" y="3531502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51" name="Connector 150"/>
          <p:cNvCxnSpPr/>
          <p:nvPr/>
        </p:nvCxnSpPr>
        <p:spPr>
          <a:xfrm>
            <a:off x="2821320" y="3477070"/>
            <a:ext cx="0" cy="1088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52" name="Freeform 151"/>
          <p:cNvSpPr/>
          <p:nvPr/>
        </p:nvSpPr>
        <p:spPr>
          <a:xfrm>
            <a:off x="2563200" y="3020331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556000" y="3052551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54" name="Freeform 153"/>
          <p:cNvSpPr/>
          <p:nvPr/>
        </p:nvSpPr>
        <p:spPr>
          <a:xfrm>
            <a:off x="3369600" y="4032000"/>
            <a:ext cx="662400" cy="0"/>
          </a:xfrm>
          <a:custGeom>
            <a:avLst/>
            <a:gdLst/>
            <a:ahLst/>
            <a:cxnLst/>
            <a:rect l="l" t="t" r="r" b="b"/>
            <a:pathLst>
              <a:path w="662400" h="0">
                <a:moveTo>
                  <a:pt x="0" y="0"/>
                </a:moveTo>
                <a:lnTo>
                  <a:pt x="6624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3600000" y="3931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592800" y="3963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157" name="Connector 156"/>
          <p:cNvCxnSpPr/>
          <p:nvPr/>
        </p:nvCxnSpPr>
        <p:spPr>
          <a:xfrm flipV="1">
            <a:off x="3601440" y="3902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58" name="Freeform 157"/>
          <p:cNvSpPr/>
          <p:nvPr/>
        </p:nvSpPr>
        <p:spPr>
          <a:xfrm>
            <a:off x="3446640" y="3621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478149" y="3635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14.0</a:t>
            </a:r>
          </a:p>
        </p:txBody>
      </p:sp>
      <p:sp>
        <p:nvSpPr>
          <p:cNvPr id="160" name="Freeform 159"/>
          <p:cNvSpPr/>
          <p:nvPr/>
        </p:nvSpPr>
        <p:spPr>
          <a:xfrm>
            <a:off x="3446640" y="3762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478149" y="3776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0.04</a:t>
            </a:r>
          </a:p>
        </p:txBody>
      </p:sp>
      <p:sp>
        <p:nvSpPr>
          <p:cNvPr id="162" name="Freeform 161"/>
          <p:cNvSpPr/>
          <p:nvPr/>
        </p:nvSpPr>
        <p:spPr>
          <a:xfrm>
            <a:off x="4032000" y="2977200"/>
            <a:ext cx="734400" cy="1054800"/>
          </a:xfrm>
          <a:custGeom>
            <a:avLst/>
            <a:gdLst/>
            <a:ahLst/>
            <a:cxnLst/>
            <a:rect l="l" t="t" r="r" b="b"/>
            <a:pathLst>
              <a:path w="734400" h="1054800">
                <a:moveTo>
                  <a:pt x="0" y="1054800"/>
                </a:moveTo>
                <a:lnTo>
                  <a:pt x="0" y="0"/>
                </a:lnTo>
                <a:lnTo>
                  <a:pt x="7344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4672800" y="2944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3931200" y="30366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924000" y="30688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66" name="Freeform 165"/>
          <p:cNvSpPr/>
          <p:nvPr/>
        </p:nvSpPr>
        <p:spPr>
          <a:xfrm>
            <a:off x="4032000" y="4032000"/>
            <a:ext cx="734400" cy="817200"/>
          </a:xfrm>
          <a:custGeom>
            <a:avLst/>
            <a:gdLst/>
            <a:ahLst/>
            <a:cxnLst/>
            <a:rect l="l" t="t" r="r" b="b"/>
            <a:pathLst>
              <a:path w="734400" h="817200">
                <a:moveTo>
                  <a:pt x="0" y="0"/>
                </a:moveTo>
                <a:lnTo>
                  <a:pt x="0" y="817200"/>
                </a:lnTo>
                <a:lnTo>
                  <a:pt x="734400" y="8172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4672800" y="4816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3931200" y="47070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924000" y="47392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70" name="Freeform 169"/>
          <p:cNvSpPr/>
          <p:nvPr/>
        </p:nvSpPr>
        <p:spPr>
          <a:xfrm>
            <a:off x="5025600" y="2977200"/>
            <a:ext cx="734400" cy="982800"/>
          </a:xfrm>
          <a:custGeom>
            <a:avLst/>
            <a:gdLst/>
            <a:ahLst/>
            <a:cxnLst/>
            <a:rect l="l" t="t" r="r" b="b"/>
            <a:pathLst>
              <a:path w="734400" h="982800">
                <a:moveTo>
                  <a:pt x="0" y="0"/>
                </a:moveTo>
                <a:lnTo>
                  <a:pt x="734400" y="0"/>
                </a:lnTo>
                <a:lnTo>
                  <a:pt x="734400" y="9828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5659200" y="30006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5652000" y="30328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173" name="Connector 172"/>
          <p:cNvCxnSpPr/>
          <p:nvPr/>
        </p:nvCxnSpPr>
        <p:spPr>
          <a:xfrm flipV="1">
            <a:off x="5626620" y="28476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4" name="Freeform 173"/>
          <p:cNvSpPr/>
          <p:nvPr/>
        </p:nvSpPr>
        <p:spPr>
          <a:xfrm>
            <a:off x="5471820" y="24264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503329" y="24407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14.0</a:t>
            </a:r>
          </a:p>
        </p:txBody>
      </p:sp>
      <p:sp>
        <p:nvSpPr>
          <p:cNvPr id="176" name="Freeform 175"/>
          <p:cNvSpPr/>
          <p:nvPr/>
        </p:nvSpPr>
        <p:spPr>
          <a:xfrm>
            <a:off x="5471820" y="25668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503329" y="25811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60.1</a:t>
            </a:r>
          </a:p>
        </p:txBody>
      </p:sp>
      <p:sp>
        <p:nvSpPr>
          <p:cNvPr id="178" name="Freeform 177"/>
          <p:cNvSpPr/>
          <p:nvPr/>
        </p:nvSpPr>
        <p:spPr>
          <a:xfrm>
            <a:off x="5471820" y="27072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5503329" y="2721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2.77</a:t>
            </a:r>
          </a:p>
        </p:txBody>
      </p:sp>
      <p:sp>
        <p:nvSpPr>
          <p:cNvPr id="180" name="Freeform 179"/>
          <p:cNvSpPr/>
          <p:nvPr/>
        </p:nvSpPr>
        <p:spPr>
          <a:xfrm>
            <a:off x="5025600" y="3960000"/>
            <a:ext cx="734400" cy="889200"/>
          </a:xfrm>
          <a:custGeom>
            <a:avLst/>
            <a:gdLst/>
            <a:ahLst/>
            <a:cxnLst/>
            <a:rect l="l" t="t" r="r" b="b"/>
            <a:pathLst>
              <a:path w="734400" h="889200">
                <a:moveTo>
                  <a:pt x="0" y="889200"/>
                </a:moveTo>
                <a:lnTo>
                  <a:pt x="734400" y="889200"/>
                </a:lnTo>
                <a:lnTo>
                  <a:pt x="7344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5659200" y="46710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652000" y="47032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183" name="Freeform 182"/>
          <p:cNvSpPr/>
          <p:nvPr/>
        </p:nvSpPr>
        <p:spPr>
          <a:xfrm>
            <a:off x="5760000" y="3960000"/>
            <a:ext cx="1710000" cy="0"/>
          </a:xfrm>
          <a:custGeom>
            <a:avLst/>
            <a:gdLst/>
            <a:ahLst/>
            <a:cxnLst/>
            <a:rect l="l" t="t" r="r" b="b"/>
            <a:pathLst>
              <a:path w="1710000" h="0">
                <a:moveTo>
                  <a:pt x="0" y="0"/>
                </a:moveTo>
                <a:lnTo>
                  <a:pt x="17100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7376400" y="392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6737400" y="389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Freeform 185"/>
          <p:cNvSpPr/>
          <p:nvPr/>
        </p:nvSpPr>
        <p:spPr>
          <a:xfrm>
            <a:off x="6820200" y="389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6820200" y="380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8" name="Freeform 187"/>
          <p:cNvSpPr/>
          <p:nvPr/>
        </p:nvSpPr>
        <p:spPr>
          <a:xfrm>
            <a:off x="6781320" y="3748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6206400" y="385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199200" y="389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cxnSp>
        <p:nvCxnSpPr>
          <p:cNvPr id="191" name="Connector 190"/>
          <p:cNvCxnSpPr/>
          <p:nvPr/>
        </p:nvCxnSpPr>
        <p:spPr>
          <a:xfrm flipV="1">
            <a:off x="6102000" y="3830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92" name="Freeform 191"/>
          <p:cNvSpPr/>
          <p:nvPr/>
        </p:nvSpPr>
        <p:spPr>
          <a:xfrm>
            <a:off x="5947200" y="3549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5978709" y="35639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14.0</a:t>
            </a:r>
          </a:p>
        </p:txBody>
      </p:sp>
      <p:sp>
        <p:nvSpPr>
          <p:cNvPr id="194" name="Freeform 193"/>
          <p:cNvSpPr/>
          <p:nvPr/>
        </p:nvSpPr>
        <p:spPr>
          <a:xfrm>
            <a:off x="5947200" y="3690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978709" y="37043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2.73</a:t>
            </a:r>
          </a:p>
        </p:txBody>
      </p:sp>
      <p:sp>
        <p:nvSpPr>
          <p:cNvPr id="196" name="Freeform 195"/>
          <p:cNvSpPr/>
          <p:nvPr/>
        </p:nvSpPr>
        <p:spPr>
          <a:xfrm>
            <a:off x="7794000" y="3168000"/>
            <a:ext cx="815550" cy="792000"/>
          </a:xfrm>
          <a:custGeom>
            <a:avLst/>
            <a:gdLst/>
            <a:ahLst/>
            <a:cxnLst/>
            <a:rect l="l" t="t" r="r" b="b"/>
            <a:pathLst>
              <a:path w="815550" h="792000">
                <a:moveTo>
                  <a:pt x="0" y="792000"/>
                </a:moveTo>
                <a:lnTo>
                  <a:pt x="414000" y="792000"/>
                </a:lnTo>
                <a:lnTo>
                  <a:pt x="414000" y="0"/>
                </a:lnTo>
                <a:lnTo>
                  <a:pt x="81555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8515950" y="313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8107200" y="3469425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100000" y="3501645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8208000" y="3811357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01" name="Freeform 200"/>
          <p:cNvSpPr/>
          <p:nvPr/>
        </p:nvSpPr>
        <p:spPr>
          <a:xfrm>
            <a:off x="8337600" y="367095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369109" y="3685277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14.0</a:t>
            </a:r>
          </a:p>
        </p:txBody>
      </p:sp>
      <p:sp>
        <p:nvSpPr>
          <p:cNvPr id="203" name="Freeform 202"/>
          <p:cNvSpPr/>
          <p:nvPr/>
        </p:nvSpPr>
        <p:spPr>
          <a:xfrm>
            <a:off x="8337600" y="3811357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8351786" y="3825677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150.1</a:t>
            </a:r>
          </a:p>
        </p:txBody>
      </p:sp>
      <p:sp>
        <p:nvSpPr>
          <p:cNvPr id="205" name="Freeform 204"/>
          <p:cNvSpPr/>
          <p:nvPr/>
        </p:nvSpPr>
        <p:spPr>
          <a:xfrm>
            <a:off x="9072000" y="3389371"/>
            <a:ext cx="997200" cy="1218629"/>
          </a:xfrm>
          <a:custGeom>
            <a:avLst/>
            <a:gdLst/>
            <a:ahLst/>
            <a:cxnLst/>
            <a:rect l="l" t="t" r="r" b="b"/>
            <a:pathLst>
              <a:path w="997200" h="1218629">
                <a:moveTo>
                  <a:pt x="0" y="0"/>
                </a:moveTo>
                <a:lnTo>
                  <a:pt x="0" y="1218629"/>
                </a:lnTo>
                <a:lnTo>
                  <a:pt x="997200" y="1218629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9975600" y="457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8971200" y="4396485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8964000" y="4428705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209" name="Connector 208"/>
          <p:cNvCxnSpPr/>
          <p:nvPr/>
        </p:nvCxnSpPr>
        <p:spPr>
          <a:xfrm>
            <a:off x="9072000" y="4164911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10" name="Freeform 209"/>
          <p:cNvSpPr/>
          <p:nvPr/>
        </p:nvSpPr>
        <p:spPr>
          <a:xfrm>
            <a:off x="9201600" y="4024511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255600" y="70200"/>
                </a:lnTo>
                <a:lnTo>
                  <a:pt x="309600" y="140400"/>
                </a:lnTo>
                <a:lnTo>
                  <a:pt x="0" y="140400"/>
                </a:lnTo>
                <a:lnTo>
                  <a:pt x="54000" y="70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233109" y="4038831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14.0</a:t>
            </a:r>
          </a:p>
        </p:txBody>
      </p:sp>
      <p:sp>
        <p:nvSpPr>
          <p:cNvPr id="212" name="Freeform 211"/>
          <p:cNvSpPr/>
          <p:nvPr/>
        </p:nvSpPr>
        <p:spPr>
          <a:xfrm>
            <a:off x="9201600" y="4164911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9215786" y="4179231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150.1</a:t>
            </a:r>
          </a:p>
        </p:txBody>
      </p:sp>
      <p:sp>
        <p:nvSpPr>
          <p:cNvPr id="214" name="Freeform 213"/>
          <p:cNvSpPr/>
          <p:nvPr/>
        </p:nvSpPr>
        <p:spPr>
          <a:xfrm>
            <a:off x="7632000" y="1162800"/>
            <a:ext cx="0" cy="2635200"/>
          </a:xfrm>
          <a:custGeom>
            <a:avLst/>
            <a:gdLst/>
            <a:ahLst/>
            <a:cxnLst/>
            <a:rect l="l" t="t" r="r" b="b"/>
            <a:pathLst>
              <a:path w="0" h="2635200">
                <a:moveTo>
                  <a:pt x="0" y="0"/>
                </a:moveTo>
                <a:lnTo>
                  <a:pt x="0" y="263520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Freeform 214"/>
          <p:cNvSpPr/>
          <p:nvPr/>
        </p:nvSpPr>
        <p:spPr>
          <a:xfrm>
            <a:off x="7598880" y="37044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7567200" y="213408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7567200" y="2216880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>
            <a:off x="7632000" y="2216880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19" name="Freeform 218"/>
          <p:cNvSpPr/>
          <p:nvPr/>
        </p:nvSpPr>
        <p:spPr>
          <a:xfrm>
            <a:off x="7789320" y="2178000"/>
            <a:ext cx="54432" cy="77760"/>
          </a:xfrm>
          <a:custGeom>
            <a:avLst/>
            <a:gdLst/>
            <a:ahLst/>
            <a:cxnLst/>
            <a:rect l="l" t="t" r="r" b="b"/>
            <a:pathLst>
              <a:path w="54432" h="77760">
                <a:moveTo>
                  <a:pt x="0" y="0"/>
                </a:moveTo>
                <a:lnTo>
                  <a:pt x="0" y="77760"/>
                </a:lnTo>
                <a:lnTo>
                  <a:pt x="54432" y="64800"/>
                </a:lnTo>
                <a:lnTo>
                  <a:pt x="54432" y="1296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0" name="Connector 219"/>
          <p:cNvCxnSpPr/>
          <p:nvPr/>
        </p:nvCxnSpPr>
        <p:spPr>
          <a:xfrm flipH="1">
            <a:off x="7502400" y="31392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21" name="Freeform 220"/>
          <p:cNvSpPr/>
          <p:nvPr/>
        </p:nvSpPr>
        <p:spPr>
          <a:xfrm>
            <a:off x="7174800" y="29988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7224309" y="30131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4.03</a:t>
            </a:r>
          </a:p>
        </p:txBody>
      </p:sp>
      <p:sp>
        <p:nvSpPr>
          <p:cNvPr id="223" name="Freeform 222"/>
          <p:cNvSpPr/>
          <p:nvPr/>
        </p:nvSpPr>
        <p:spPr>
          <a:xfrm>
            <a:off x="7192800" y="31392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7224309" y="3153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4.96</a:t>
            </a:r>
          </a:p>
        </p:txBody>
      </p:sp>
      <p:sp>
        <p:nvSpPr>
          <p:cNvPr id="225" name="Freeform 224"/>
          <p:cNvSpPr/>
          <p:nvPr/>
        </p:nvSpPr>
        <p:spPr>
          <a:xfrm>
            <a:off x="7632000" y="4122000"/>
            <a:ext cx="0" cy="1195200"/>
          </a:xfrm>
          <a:custGeom>
            <a:avLst/>
            <a:gdLst/>
            <a:ahLst/>
            <a:cxnLst/>
            <a:rect l="l" t="t" r="r" b="b"/>
            <a:pathLst>
              <a:path w="0" h="1195200">
                <a:moveTo>
                  <a:pt x="0" y="0"/>
                </a:moveTo>
                <a:lnTo>
                  <a:pt x="0" y="119520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7598880" y="52236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1732961" y="2977982"/>
            <a:ext cx="27807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T200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007701" y="42236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S-200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714441" y="3220407"/>
            <a:ext cx="36311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P-200A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714441" y="5092407"/>
            <a:ext cx="36311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P-200B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131402" y="41552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E-100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812000" y="4159065"/>
            <a:ext cx="273354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steam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8270952" y="3422626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1" i="0">
                <a:solidFill>
                  <a:srgbClr val="000000"/>
                </a:solidFill>
                <a:latin typeface="Arial"/>
              </a:rPr>
              <a:t>D-150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72414" y="1211702"/>
            <a:ext cx="1008786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Gas Oil from Tank Farm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772400" y="1013960"/>
            <a:ext cx="68122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Steam 11 bar a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772400" y="5333960"/>
            <a:ext cx="517448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Condensate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9549764" y="4379702"/>
            <a:ext cx="96784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Charge to Cat Cracker</a:t>
            </a:r>
          </a:p>
        </p:txBody>
      </p:sp>
      <p:sp>
        <p:nvSpPr>
          <p:cNvPr id="238" name="Oval 237"/>
          <p:cNvSpPr/>
          <p:nvPr/>
        </p:nvSpPr>
        <p:spPr>
          <a:xfrm>
            <a:off x="6699600" y="3441600"/>
            <a:ext cx="208800" cy="2088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6696000" y="3495200"/>
            <a:ext cx="216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FRC</a:t>
            </a:r>
          </a:p>
        </p:txBody>
      </p:sp>
      <p:sp>
        <p:nvSpPr>
          <p:cNvPr id="240" name="Oval 239"/>
          <p:cNvSpPr/>
          <p:nvPr/>
        </p:nvSpPr>
        <p:spPr>
          <a:xfrm>
            <a:off x="1227600" y="1011600"/>
            <a:ext cx="208800" cy="2088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224000" y="1065200"/>
            <a:ext cx="216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HIC</a:t>
            </a:r>
          </a:p>
        </p:txBody>
      </p:sp>
      <p:sp>
        <p:nvSpPr>
          <p:cNvPr id="242" name="Oval 241"/>
          <p:cNvSpPr/>
          <p:nvPr/>
        </p:nvSpPr>
        <p:spPr>
          <a:xfrm>
            <a:off x="7905600" y="2113200"/>
            <a:ext cx="208800" cy="2088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902000" y="2166800"/>
            <a:ext cx="216000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