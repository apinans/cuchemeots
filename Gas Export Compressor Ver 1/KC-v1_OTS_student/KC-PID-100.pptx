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5124176" cy="10689336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2880" y="182880"/>
            <a:ext cx="14758416" cy="10323576"/>
          </a:xfrm>
          <a:prstGeom prst="rect">
            <a:avLst/>
          </a:prstGeom>
          <a:noFill/>
          <a:ln w="279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320040"/>
            <a:ext cx="14484096" cy="10049256"/>
          </a:xfrm>
          <a:prstGeom prst="rect">
            <a:avLst/>
          </a:prstGeom>
          <a:noFill/>
          <a:ln w="1143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1481328" y="731520"/>
            <a:ext cx="9720072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V="1">
            <a:off x="11201400" y="502920"/>
            <a:ext cx="0" cy="22860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058400" y="429768"/>
            <a:ext cx="1097280" cy="1005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50" b="1">
                <a:solidFill>
                  <a:srgbClr val="000000"/>
                </a:solidFill>
                <a:latin typeface="Arial"/>
              </a:rPr>
              <a:t>TO FLARE KO DRUM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539496"/>
            <a:ext cx="1097280" cy="1005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20" b="0">
                <a:solidFill>
                  <a:srgbClr val="000000"/>
                </a:solidFill>
                <a:latin typeface="Arial"/>
              </a:rPr>
              <a:t>AND FLARE (PID-900)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603504"/>
            <a:ext cx="1554480" cy="1005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DN500-FL-100 (SIZE HOLD) · STREAM 13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0533888" y="621792"/>
            <a:ext cx="0" cy="219456"/>
          </a:xfrm>
          <a:prstGeom prst="line">
            <a:avLst/>
          </a:prstGeom>
          <a:ln w="2032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0588752" y="621792"/>
            <a:ext cx="0" cy="219456"/>
          </a:xfrm>
          <a:prstGeom prst="line">
            <a:avLst/>
          </a:prstGeom>
          <a:ln w="2032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0561320" y="841248"/>
            <a:ext cx="0" cy="27432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10396728" y="868680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FI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109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0396728" y="1033271"/>
            <a:ext cx="329184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755648" y="932688"/>
            <a:ext cx="365760" cy="1005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59" b="0">
                <a:solidFill>
                  <a:srgbClr val="000000"/>
                </a:solidFill>
                <a:latin typeface="Arial"/>
              </a:rPr>
              <a:t>FL-115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932688"/>
            <a:ext cx="457200" cy="1005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459" b="0">
                <a:solidFill>
                  <a:srgbClr val="000000"/>
                </a:solidFill>
                <a:latin typeface="Arial"/>
              </a:rPr>
              <a:t>FL-116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11480" y="4297680"/>
            <a:ext cx="2240280" cy="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75488" y="5760720"/>
            <a:ext cx="1188720" cy="1005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20" b="1">
                <a:solidFill>
                  <a:srgbClr val="000000"/>
                </a:solidFill>
                <a:latin typeface="Arial"/>
              </a:rPr>
              <a:t>PRODUCTION GAS FROM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" y="5870448"/>
            <a:ext cx="1188720" cy="1005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HP SEPARATOR (PID-001)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" y="5980176"/>
            <a:ext cx="1188720" cy="1005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200 MMSCFD · 30.3 barg · 35 °C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" y="6089904"/>
            <a:ext cx="1188720" cy="1005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DN500-PG-101 · STREAM 1</a:t>
            </a:r>
          </a:p>
        </p:txBody>
      </p:sp>
      <p:sp>
        <p:nvSpPr>
          <p:cNvPr id="21" name="Freeform 20"/>
          <p:cNvSpPr/>
          <p:nvPr/>
        </p:nvSpPr>
        <p:spPr>
          <a:xfrm>
            <a:off x="521207" y="4219956"/>
            <a:ext cx="237745" cy="155448"/>
          </a:xfrm>
          <a:custGeom>
            <a:avLst/>
            <a:gdLst/>
            <a:ahLst/>
            <a:cxnLst/>
            <a:rect l="l" t="t" r="r" b="b"/>
            <a:pathLst>
              <a:path w="237745" h="155448">
                <a:moveTo>
                  <a:pt x="0" y="0"/>
                </a:moveTo>
                <a:lnTo>
                  <a:pt x="237745" y="155448"/>
                </a:lnTo>
                <a:lnTo>
                  <a:pt x="237745" y="0"/>
                </a:lnTo>
                <a:lnTo>
                  <a:pt x="0" y="155448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 flipV="1">
            <a:off x="640080" y="4096512"/>
            <a:ext cx="0" cy="123444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571500" y="3986784"/>
            <a:ext cx="137160" cy="109728"/>
          </a:xfrm>
          <a:prstGeom prst="rect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59" y="4425696"/>
            <a:ext cx="548640" cy="1097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XV-001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19" y="3968496"/>
            <a:ext cx="228600" cy="914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1">
                <a:solidFill>
                  <a:srgbClr val="000000"/>
                </a:solidFill>
                <a:latin typeface="Arial"/>
              </a:rPr>
              <a:t>FC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48056" y="3054096"/>
            <a:ext cx="384048" cy="384048"/>
          </a:xfrm>
          <a:prstGeom prst="rect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75488" y="3081527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XY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001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75488" y="3246120"/>
            <a:ext cx="329183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640080" y="3438144"/>
            <a:ext cx="0" cy="548640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932688" y="4187952"/>
            <a:ext cx="0" cy="219456"/>
          </a:xfrm>
          <a:prstGeom prst="line">
            <a:avLst/>
          </a:prstGeom>
          <a:ln w="2032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987552" y="4187952"/>
            <a:ext cx="0" cy="219456"/>
          </a:xfrm>
          <a:prstGeom prst="line">
            <a:avLst/>
          </a:prstGeom>
          <a:ln w="2032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960120" y="4407408"/>
            <a:ext cx="0" cy="347472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795528" y="4754880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FI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001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795528" y="4919472"/>
            <a:ext cx="329184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Oval 34"/>
          <p:cNvSpPr/>
          <p:nvPr/>
        </p:nvSpPr>
        <p:spPr>
          <a:xfrm>
            <a:off x="1296162" y="4267962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6" name="Connector 35"/>
          <p:cNvCxnSpPr/>
          <p:nvPr/>
        </p:nvCxnSpPr>
        <p:spPr>
          <a:xfrm>
            <a:off x="1325880" y="4297680"/>
            <a:ext cx="0" cy="45720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Oval 36"/>
          <p:cNvSpPr/>
          <p:nvPr/>
        </p:nvSpPr>
        <p:spPr>
          <a:xfrm>
            <a:off x="1161288" y="4754880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PIC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102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1161288" y="4919472"/>
            <a:ext cx="329184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1325880" y="5084064"/>
            <a:ext cx="0" cy="164592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1133856" y="5248656"/>
            <a:ext cx="384048" cy="384048"/>
          </a:xfrm>
          <a:prstGeom prst="rect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161288" y="5276088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PSHH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001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1161288" y="5440680"/>
            <a:ext cx="329184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H="1">
            <a:off x="411480" y="5440680"/>
            <a:ext cx="722376" cy="0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411480" y="3246120"/>
            <a:ext cx="0" cy="2194560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11480" y="3246120"/>
            <a:ext cx="36576" cy="0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Oval 45"/>
          <p:cNvSpPr/>
          <p:nvPr/>
        </p:nvSpPr>
        <p:spPr>
          <a:xfrm>
            <a:off x="1661922" y="4267962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7" name="Connector 46"/>
          <p:cNvCxnSpPr/>
          <p:nvPr/>
        </p:nvCxnSpPr>
        <p:spPr>
          <a:xfrm flipV="1">
            <a:off x="1691640" y="731520"/>
            <a:ext cx="0" cy="356616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Freeform 47"/>
          <p:cNvSpPr/>
          <p:nvPr/>
        </p:nvSpPr>
        <p:spPr>
          <a:xfrm>
            <a:off x="1613916" y="2167128"/>
            <a:ext cx="155448" cy="237744"/>
          </a:xfrm>
          <a:custGeom>
            <a:avLst/>
            <a:gdLst/>
            <a:ahLst/>
            <a:cxnLst/>
            <a:rect l="l" t="t" r="r" b="b"/>
            <a:pathLst>
              <a:path w="155448" h="237744">
                <a:moveTo>
                  <a:pt x="0" y="0"/>
                </a:moveTo>
                <a:lnTo>
                  <a:pt x="155448" y="237744"/>
                </a:lnTo>
                <a:lnTo>
                  <a:pt x="0" y="237744"/>
                </a:lnTo>
                <a:lnTo>
                  <a:pt x="155448" y="0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9" name="Connector 48"/>
          <p:cNvCxnSpPr/>
          <p:nvPr/>
        </p:nvCxnSpPr>
        <p:spPr>
          <a:xfrm>
            <a:off x="1769364" y="2286000"/>
            <a:ext cx="123444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Freeform 49"/>
          <p:cNvSpPr/>
          <p:nvPr/>
        </p:nvSpPr>
        <p:spPr>
          <a:xfrm>
            <a:off x="1892808" y="2157984"/>
            <a:ext cx="117066" cy="256032"/>
          </a:xfrm>
          <a:custGeom>
            <a:avLst/>
            <a:gdLst/>
            <a:ahLst/>
            <a:cxnLst/>
            <a:rect l="l" t="t" r="r" b="b"/>
            <a:pathLst>
              <a:path w="117066" h="256032">
                <a:moveTo>
                  <a:pt x="0" y="0"/>
                </a:moveTo>
                <a:lnTo>
                  <a:pt x="40656" y="7720"/>
                </a:lnTo>
                <a:lnTo>
                  <a:pt x="76409" y="29950"/>
                </a:lnTo>
                <a:lnTo>
                  <a:pt x="102946" y="64008"/>
                </a:lnTo>
                <a:lnTo>
                  <a:pt x="117066" y="105786"/>
                </a:lnTo>
                <a:lnTo>
                  <a:pt x="117066" y="150245"/>
                </a:lnTo>
                <a:lnTo>
                  <a:pt x="102946" y="192024"/>
                </a:lnTo>
                <a:lnTo>
                  <a:pt x="76409" y="226081"/>
                </a:lnTo>
                <a:lnTo>
                  <a:pt x="40656" y="248311"/>
                </a:lnTo>
                <a:lnTo>
                  <a:pt x="0" y="256032"/>
                </a:lnTo>
                <a:close/>
              </a:path>
            </a:pathLst>
          </a:cu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057400" y="2212848"/>
            <a:ext cx="548640" cy="1188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50" b="1">
                <a:solidFill>
                  <a:srgbClr val="000000"/>
                </a:solidFill>
                <a:latin typeface="Arial"/>
              </a:rPr>
              <a:t>PV-102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057400" y="2331720"/>
            <a:ext cx="548640" cy="1005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1">
                <a:solidFill>
                  <a:srgbClr val="000000"/>
                </a:solidFill>
                <a:latin typeface="Arial"/>
              </a:rPr>
              <a:t>FO</a:t>
            </a:r>
          </a:p>
        </p:txBody>
      </p:sp>
      <p:sp>
        <p:nvSpPr>
          <p:cNvPr id="53" name="Oval 52"/>
          <p:cNvSpPr/>
          <p:nvPr/>
        </p:nvSpPr>
        <p:spPr>
          <a:xfrm>
            <a:off x="1661922" y="701802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1451610" y="4267962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5" name="Connector 54"/>
          <p:cNvCxnSpPr/>
          <p:nvPr/>
        </p:nvCxnSpPr>
        <p:spPr>
          <a:xfrm flipV="1">
            <a:off x="1481328" y="731520"/>
            <a:ext cx="0" cy="356616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Freeform 55"/>
          <p:cNvSpPr/>
          <p:nvPr/>
        </p:nvSpPr>
        <p:spPr>
          <a:xfrm>
            <a:off x="1421892" y="2423160"/>
            <a:ext cx="118872" cy="182880"/>
          </a:xfrm>
          <a:custGeom>
            <a:avLst/>
            <a:gdLst/>
            <a:ahLst/>
            <a:cxnLst/>
            <a:rect l="l" t="t" r="r" b="b"/>
            <a:pathLst>
              <a:path w="118872" h="182880">
                <a:moveTo>
                  <a:pt x="0" y="0"/>
                </a:moveTo>
                <a:lnTo>
                  <a:pt x="118872" y="182880"/>
                </a:lnTo>
                <a:lnTo>
                  <a:pt x="0" y="182880"/>
                </a:lnTo>
                <a:lnTo>
                  <a:pt x="118872" y="0"/>
                </a:lnTo>
                <a:close/>
              </a:path>
            </a:pathLst>
          </a:cu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572768" y="2395728"/>
            <a:ext cx="548640" cy="1005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20" b="1">
                <a:solidFill>
                  <a:srgbClr val="000000"/>
                </a:solidFill>
                <a:latin typeface="Arial"/>
              </a:rPr>
              <a:t/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572768" y="2505456"/>
            <a:ext cx="548640" cy="1005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/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14400" y="2414016"/>
            <a:ext cx="502920" cy="1005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20" b="1">
                <a:solidFill>
                  <a:srgbClr val="000000"/>
                </a:solidFill>
                <a:latin typeface="Arial"/>
              </a:rPr>
              <a:t>PSV-001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14400" y="2523744"/>
            <a:ext cx="502920" cy="1005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00" b="0">
                <a:solidFill>
                  <a:srgbClr val="000000"/>
                </a:solidFill>
                <a:latin typeface="Arial"/>
              </a:rPr>
              <a:t>36 barg</a:t>
            </a:r>
          </a:p>
        </p:txBody>
      </p:sp>
      <p:sp>
        <p:nvSpPr>
          <p:cNvPr id="61" name="Oval 60"/>
          <p:cNvSpPr/>
          <p:nvPr/>
        </p:nvSpPr>
        <p:spPr>
          <a:xfrm>
            <a:off x="1451610" y="701802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Freeform 61"/>
          <p:cNvSpPr/>
          <p:nvPr/>
        </p:nvSpPr>
        <p:spPr>
          <a:xfrm>
            <a:off x="1984248" y="4219956"/>
            <a:ext cx="237743" cy="155448"/>
          </a:xfrm>
          <a:custGeom>
            <a:avLst/>
            <a:gdLst/>
            <a:ahLst/>
            <a:cxnLst/>
            <a:rect l="l" t="t" r="r" b="b"/>
            <a:pathLst>
              <a:path w="237743" h="155448">
                <a:moveTo>
                  <a:pt x="0" y="0"/>
                </a:moveTo>
                <a:lnTo>
                  <a:pt x="237743" y="155448"/>
                </a:lnTo>
                <a:lnTo>
                  <a:pt x="237743" y="0"/>
                </a:lnTo>
                <a:lnTo>
                  <a:pt x="0" y="155448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3" name="Connector 62"/>
          <p:cNvCxnSpPr/>
          <p:nvPr/>
        </p:nvCxnSpPr>
        <p:spPr>
          <a:xfrm flipV="1">
            <a:off x="2103120" y="4096512"/>
            <a:ext cx="0" cy="123444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Rectangle 63"/>
          <p:cNvSpPr/>
          <p:nvPr/>
        </p:nvSpPr>
        <p:spPr>
          <a:xfrm>
            <a:off x="2034539" y="3986784"/>
            <a:ext cx="137160" cy="109728"/>
          </a:xfrm>
          <a:prstGeom prst="rect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828799" y="4425696"/>
            <a:ext cx="548640" cy="1097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ESDV-101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194560" y="3968496"/>
            <a:ext cx="228600" cy="914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1">
                <a:solidFill>
                  <a:srgbClr val="000000"/>
                </a:solidFill>
                <a:latin typeface="Arial"/>
              </a:rPr>
              <a:t>FC</a:t>
            </a:r>
          </a:p>
        </p:txBody>
      </p:sp>
      <p:sp>
        <p:nvSpPr>
          <p:cNvPr id="67" name="Oval 66"/>
          <p:cNvSpPr/>
          <p:nvPr/>
        </p:nvSpPr>
        <p:spPr>
          <a:xfrm>
            <a:off x="1844801" y="4267962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2302001" y="4267962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9" name="Connector 68"/>
          <p:cNvCxnSpPr/>
          <p:nvPr/>
        </p:nvCxnSpPr>
        <p:spPr>
          <a:xfrm>
            <a:off x="1874519" y="4297680"/>
            <a:ext cx="0" cy="566928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1874519" y="4864608"/>
            <a:ext cx="457201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2331720" y="4297680"/>
            <a:ext cx="0" cy="566928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Freeform 71"/>
          <p:cNvSpPr/>
          <p:nvPr/>
        </p:nvSpPr>
        <p:spPr>
          <a:xfrm>
            <a:off x="2011679" y="4805172"/>
            <a:ext cx="182881" cy="118872"/>
          </a:xfrm>
          <a:custGeom>
            <a:avLst/>
            <a:gdLst/>
            <a:ahLst/>
            <a:cxnLst/>
            <a:rect l="l" t="t" r="r" b="b"/>
            <a:pathLst>
              <a:path w="182881" h="118872">
                <a:moveTo>
                  <a:pt x="0" y="0"/>
                </a:moveTo>
                <a:lnTo>
                  <a:pt x="182881" y="118872"/>
                </a:lnTo>
                <a:lnTo>
                  <a:pt x="182881" y="0"/>
                </a:lnTo>
                <a:lnTo>
                  <a:pt x="0" y="118872"/>
                </a:lnTo>
                <a:close/>
              </a:path>
            </a:pathLst>
          </a:cu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3" name="Connector 72"/>
          <p:cNvCxnSpPr/>
          <p:nvPr/>
        </p:nvCxnSpPr>
        <p:spPr>
          <a:xfrm flipV="1">
            <a:off x="2103120" y="4709160"/>
            <a:ext cx="0" cy="96012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Rectangle 73"/>
          <p:cNvSpPr/>
          <p:nvPr/>
        </p:nvSpPr>
        <p:spPr>
          <a:xfrm>
            <a:off x="2048255" y="4636008"/>
            <a:ext cx="109728" cy="73152"/>
          </a:xfrm>
          <a:prstGeom prst="rect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2185415" y="4626864"/>
            <a:ext cx="219456" cy="914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80" b="1">
                <a:solidFill>
                  <a:srgbClr val="000000"/>
                </a:solidFill>
                <a:latin typeface="Arial"/>
              </a:rPr>
              <a:t>FC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737360" y="4937760"/>
            <a:ext cx="731520" cy="1005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HV-101 (HIC-101)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737360" y="5056632"/>
            <a:ext cx="731520" cy="914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9" b="0">
                <a:solidFill>
                  <a:srgbClr val="000000"/>
                </a:solidFill>
                <a:latin typeface="Arial"/>
              </a:rPr>
              <a:t>DN50-PG-114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819656" y="3209544"/>
            <a:ext cx="384048" cy="384048"/>
          </a:xfrm>
          <a:prstGeom prst="rect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1847088" y="3236976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XY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101</a:t>
            </a:r>
          </a:p>
        </p:txBody>
      </p:sp>
      <p:cxnSp>
        <p:nvCxnSpPr>
          <p:cNvPr id="80" name="Connector 79"/>
          <p:cNvCxnSpPr/>
          <p:nvPr/>
        </p:nvCxnSpPr>
        <p:spPr>
          <a:xfrm>
            <a:off x="1847088" y="3401568"/>
            <a:ext cx="329184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2011680" y="3593592"/>
            <a:ext cx="0" cy="265176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2011680" y="3858768"/>
            <a:ext cx="91440" cy="0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2103120" y="3858768"/>
            <a:ext cx="0" cy="128016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Rounded Rectangle 83"/>
          <p:cNvSpPr/>
          <p:nvPr/>
        </p:nvSpPr>
        <p:spPr>
          <a:xfrm>
            <a:off x="2651760" y="3337560"/>
            <a:ext cx="548640" cy="21945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5" name="Connector 84"/>
          <p:cNvCxnSpPr/>
          <p:nvPr/>
        </p:nvCxnSpPr>
        <p:spPr>
          <a:xfrm>
            <a:off x="2706624" y="3611880"/>
            <a:ext cx="438912" cy="0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TextBox 85"/>
          <p:cNvSpPr txBox="1"/>
          <p:nvPr/>
        </p:nvSpPr>
        <p:spPr>
          <a:xfrm>
            <a:off x="2651760" y="3648456"/>
            <a:ext cx="548640" cy="914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9" b="0">
                <a:solidFill>
                  <a:srgbClr val="000000"/>
                </a:solidFill>
                <a:latin typeface="Arial"/>
              </a:rPr>
              <a:t>MESH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2633472" y="4572000"/>
            <a:ext cx="585216" cy="1005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00" b="1">
                <a:solidFill>
                  <a:srgbClr val="000000"/>
                </a:solidFill>
                <a:latin typeface="Arial"/>
              </a:rPr>
              <a:t>V-101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2633472" y="4690872"/>
            <a:ext cx="585216" cy="1005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80" b="0">
                <a:solidFill>
                  <a:srgbClr val="000000"/>
                </a:solidFill>
                <a:latin typeface="Arial"/>
              </a:rPr>
              <a:t>INLET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633472" y="4791456"/>
            <a:ext cx="585216" cy="1005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80" b="0">
                <a:solidFill>
                  <a:srgbClr val="000000"/>
                </a:solidFill>
                <a:latin typeface="Arial"/>
              </a:rPr>
              <a:t>SCRUBBER</a:t>
            </a:r>
          </a:p>
        </p:txBody>
      </p:sp>
      <p:cxnSp>
        <p:nvCxnSpPr>
          <p:cNvPr id="90" name="Connector 89"/>
          <p:cNvCxnSpPr/>
          <p:nvPr/>
        </p:nvCxnSpPr>
        <p:spPr>
          <a:xfrm>
            <a:off x="2706624" y="5120640"/>
            <a:ext cx="438912" cy="0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V="1">
            <a:off x="2926080" y="3017520"/>
            <a:ext cx="0" cy="32004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2926080" y="3017520"/>
            <a:ext cx="114300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4069080" y="3017520"/>
            <a:ext cx="0" cy="2862072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TextBox 93"/>
          <p:cNvSpPr txBox="1"/>
          <p:nvPr/>
        </p:nvSpPr>
        <p:spPr>
          <a:xfrm>
            <a:off x="3246120" y="3063239"/>
            <a:ext cx="475488" cy="1005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59" b="0">
                <a:solidFill>
                  <a:srgbClr val="000000"/>
                </a:solidFill>
                <a:latin typeface="Arial"/>
              </a:rPr>
              <a:t>DN500-PG-102</a:t>
            </a:r>
          </a:p>
        </p:txBody>
      </p:sp>
      <p:sp>
        <p:nvSpPr>
          <p:cNvPr id="95" name="Oval 94"/>
          <p:cNvSpPr/>
          <p:nvPr/>
        </p:nvSpPr>
        <p:spPr>
          <a:xfrm>
            <a:off x="3170682" y="4908042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6" name="Connector 95"/>
          <p:cNvCxnSpPr/>
          <p:nvPr/>
        </p:nvCxnSpPr>
        <p:spPr>
          <a:xfrm>
            <a:off x="3200400" y="4937760"/>
            <a:ext cx="201168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Oval 96"/>
          <p:cNvSpPr/>
          <p:nvPr/>
        </p:nvSpPr>
        <p:spPr>
          <a:xfrm>
            <a:off x="3401568" y="4773168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LIC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101</a:t>
            </a:r>
          </a:p>
        </p:txBody>
      </p:sp>
      <p:cxnSp>
        <p:nvCxnSpPr>
          <p:cNvPr id="98" name="Connector 97"/>
          <p:cNvCxnSpPr/>
          <p:nvPr/>
        </p:nvCxnSpPr>
        <p:spPr>
          <a:xfrm>
            <a:off x="3401568" y="4937760"/>
            <a:ext cx="329184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Oval 98"/>
          <p:cNvSpPr/>
          <p:nvPr/>
        </p:nvSpPr>
        <p:spPr>
          <a:xfrm>
            <a:off x="3170682" y="5319522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0" name="Connector 99"/>
          <p:cNvCxnSpPr/>
          <p:nvPr/>
        </p:nvCxnSpPr>
        <p:spPr>
          <a:xfrm>
            <a:off x="3200400" y="5349240"/>
            <a:ext cx="173736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Rectangle 100"/>
          <p:cNvSpPr/>
          <p:nvPr/>
        </p:nvSpPr>
        <p:spPr>
          <a:xfrm>
            <a:off x="3374136" y="5248656"/>
            <a:ext cx="384048" cy="384048"/>
          </a:xfrm>
          <a:prstGeom prst="rect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3401568" y="5276088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LSHH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101</a:t>
            </a:r>
          </a:p>
        </p:txBody>
      </p:sp>
      <p:cxnSp>
        <p:nvCxnSpPr>
          <p:cNvPr id="103" name="Connector 102"/>
          <p:cNvCxnSpPr/>
          <p:nvPr/>
        </p:nvCxnSpPr>
        <p:spPr>
          <a:xfrm>
            <a:off x="3401568" y="5440680"/>
            <a:ext cx="329184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2926080" y="5532120"/>
            <a:ext cx="0" cy="50292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H="1">
            <a:off x="2103120" y="6035040"/>
            <a:ext cx="82296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>
            <a:off x="2103120" y="6035040"/>
            <a:ext cx="0" cy="384048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" name="Freeform 106"/>
          <p:cNvSpPr/>
          <p:nvPr/>
        </p:nvSpPr>
        <p:spPr>
          <a:xfrm>
            <a:off x="2441448" y="5957316"/>
            <a:ext cx="237743" cy="155448"/>
          </a:xfrm>
          <a:custGeom>
            <a:avLst/>
            <a:gdLst/>
            <a:ahLst/>
            <a:cxnLst/>
            <a:rect l="l" t="t" r="r" b="b"/>
            <a:pathLst>
              <a:path w="237743" h="155448">
                <a:moveTo>
                  <a:pt x="0" y="0"/>
                </a:moveTo>
                <a:lnTo>
                  <a:pt x="237743" y="155448"/>
                </a:lnTo>
                <a:lnTo>
                  <a:pt x="237743" y="0"/>
                </a:lnTo>
                <a:lnTo>
                  <a:pt x="0" y="155448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8" name="Connector 107"/>
          <p:cNvCxnSpPr/>
          <p:nvPr/>
        </p:nvCxnSpPr>
        <p:spPr>
          <a:xfrm flipV="1">
            <a:off x="2560320" y="5833872"/>
            <a:ext cx="0" cy="123444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Freeform 108"/>
          <p:cNvSpPr/>
          <p:nvPr/>
        </p:nvSpPr>
        <p:spPr>
          <a:xfrm>
            <a:off x="2432303" y="5716805"/>
            <a:ext cx="256033" cy="117067"/>
          </a:xfrm>
          <a:custGeom>
            <a:avLst/>
            <a:gdLst/>
            <a:ahLst/>
            <a:cxnLst/>
            <a:rect l="l" t="t" r="r" b="b"/>
            <a:pathLst>
              <a:path w="256033" h="117067">
                <a:moveTo>
                  <a:pt x="0" y="117067"/>
                </a:moveTo>
                <a:lnTo>
                  <a:pt x="7721" y="76410"/>
                </a:lnTo>
                <a:lnTo>
                  <a:pt x="29951" y="40657"/>
                </a:lnTo>
                <a:lnTo>
                  <a:pt x="64009" y="14120"/>
                </a:lnTo>
                <a:lnTo>
                  <a:pt x="105787" y="0"/>
                </a:lnTo>
                <a:lnTo>
                  <a:pt x="150246" y="0"/>
                </a:lnTo>
                <a:lnTo>
                  <a:pt x="192024" y="14120"/>
                </a:lnTo>
                <a:lnTo>
                  <a:pt x="226082" y="40657"/>
                </a:lnTo>
                <a:lnTo>
                  <a:pt x="248312" y="76410"/>
                </a:lnTo>
                <a:lnTo>
                  <a:pt x="256033" y="117067"/>
                </a:lnTo>
                <a:close/>
              </a:path>
            </a:pathLst>
          </a:cu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2194560" y="5705855"/>
            <a:ext cx="201168" cy="914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00" b="1">
                <a:solidFill>
                  <a:srgbClr val="000000"/>
                </a:solidFill>
                <a:latin typeface="Arial"/>
              </a:rPr>
              <a:t>FC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2286000" y="6144768"/>
            <a:ext cx="548640" cy="1097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LV-101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1554480" y="6446520"/>
            <a:ext cx="1097280" cy="1005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TO CLOSED DRAIN (CD)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1554480" y="6556248"/>
            <a:ext cx="1097280" cy="1005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80" b="0">
                <a:solidFill>
                  <a:srgbClr val="000000"/>
                </a:solidFill>
                <a:latin typeface="Arial"/>
              </a:rPr>
              <a:t>STREAM 14 · DN50-CD-110</a:t>
            </a:r>
          </a:p>
        </p:txBody>
      </p:sp>
      <p:sp>
        <p:nvSpPr>
          <p:cNvPr id="114" name="Oval 113"/>
          <p:cNvSpPr/>
          <p:nvPr/>
        </p:nvSpPr>
        <p:spPr>
          <a:xfrm>
            <a:off x="2896362" y="5749290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5" name="Connector 114"/>
          <p:cNvCxnSpPr/>
          <p:nvPr/>
        </p:nvCxnSpPr>
        <p:spPr>
          <a:xfrm>
            <a:off x="2926080" y="5779008"/>
            <a:ext cx="384048" cy="0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Freeform 115"/>
          <p:cNvSpPr/>
          <p:nvPr/>
        </p:nvSpPr>
        <p:spPr>
          <a:xfrm>
            <a:off x="3026664" y="5724144"/>
            <a:ext cx="164592" cy="109728"/>
          </a:xfrm>
          <a:custGeom>
            <a:avLst/>
            <a:gdLst/>
            <a:ahLst/>
            <a:cxnLst/>
            <a:rect l="l" t="t" r="r" b="b"/>
            <a:pathLst>
              <a:path w="164592" h="109728">
                <a:moveTo>
                  <a:pt x="0" y="0"/>
                </a:moveTo>
                <a:lnTo>
                  <a:pt x="164592" y="109728"/>
                </a:lnTo>
                <a:lnTo>
                  <a:pt x="164592" y="0"/>
                </a:lnTo>
                <a:lnTo>
                  <a:pt x="0" y="109728"/>
                </a:lnTo>
                <a:close/>
              </a:path>
            </a:pathLst>
          </a:cu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2971800" y="5852160"/>
            <a:ext cx="365760" cy="914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9" b="1">
                <a:solidFill>
                  <a:srgbClr val="000000"/>
                </a:solidFill>
                <a:latin typeface="Arial"/>
              </a:rPr>
              <a:t>MV-130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3337560" y="5733288"/>
            <a:ext cx="228600" cy="914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59" b="1">
                <a:solidFill>
                  <a:srgbClr val="000000"/>
                </a:solidFill>
                <a:latin typeface="Arial"/>
              </a:rPr>
              <a:t>CD</a:t>
            </a:r>
          </a:p>
        </p:txBody>
      </p:sp>
      <p:sp>
        <p:nvSpPr>
          <p:cNvPr id="119" name="Oval 118"/>
          <p:cNvSpPr/>
          <p:nvPr/>
        </p:nvSpPr>
        <p:spPr>
          <a:xfrm>
            <a:off x="3079241" y="2987801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0" name="Connector 119"/>
          <p:cNvCxnSpPr/>
          <p:nvPr/>
        </p:nvCxnSpPr>
        <p:spPr>
          <a:xfrm flipV="1">
            <a:off x="3108960" y="2798064"/>
            <a:ext cx="0" cy="219456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1" name="Freeform 120"/>
          <p:cNvSpPr/>
          <p:nvPr/>
        </p:nvSpPr>
        <p:spPr>
          <a:xfrm>
            <a:off x="3054096" y="2816352"/>
            <a:ext cx="109728" cy="164592"/>
          </a:xfrm>
          <a:custGeom>
            <a:avLst/>
            <a:gdLst/>
            <a:ahLst/>
            <a:cxnLst/>
            <a:rect l="l" t="t" r="r" b="b"/>
            <a:pathLst>
              <a:path w="109728" h="164592">
                <a:moveTo>
                  <a:pt x="0" y="0"/>
                </a:moveTo>
                <a:lnTo>
                  <a:pt x="109728" y="164592"/>
                </a:lnTo>
                <a:lnTo>
                  <a:pt x="0" y="164592"/>
                </a:lnTo>
                <a:lnTo>
                  <a:pt x="109728" y="0"/>
                </a:lnTo>
                <a:close/>
              </a:path>
            </a:pathLst>
          </a:cu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2" name="Connector 121"/>
          <p:cNvCxnSpPr/>
          <p:nvPr/>
        </p:nvCxnSpPr>
        <p:spPr>
          <a:xfrm>
            <a:off x="3054096" y="2802636"/>
            <a:ext cx="109728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" name="TextBox 122"/>
          <p:cNvSpPr txBox="1"/>
          <p:nvPr/>
        </p:nvSpPr>
        <p:spPr>
          <a:xfrm>
            <a:off x="2770632" y="2770632"/>
            <a:ext cx="274320" cy="914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440" b="1">
                <a:solidFill>
                  <a:srgbClr val="000000"/>
                </a:solidFill>
                <a:latin typeface="Arial"/>
              </a:rPr>
              <a:t>MV-135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2770632" y="2871216"/>
            <a:ext cx="274320" cy="914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440" b="1">
                <a:solidFill>
                  <a:srgbClr val="000000"/>
                </a:solidFill>
                <a:latin typeface="Arial"/>
              </a:rPr>
              <a:t>VENT</a:t>
            </a:r>
          </a:p>
        </p:txBody>
      </p:sp>
      <p:sp>
        <p:nvSpPr>
          <p:cNvPr id="125" name="Oval 124"/>
          <p:cNvSpPr/>
          <p:nvPr/>
        </p:nvSpPr>
        <p:spPr>
          <a:xfrm>
            <a:off x="2622041" y="3719322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6" name="Connector 125"/>
          <p:cNvCxnSpPr/>
          <p:nvPr/>
        </p:nvCxnSpPr>
        <p:spPr>
          <a:xfrm flipH="1">
            <a:off x="2587752" y="3749039"/>
            <a:ext cx="64008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7" name="Oval 126"/>
          <p:cNvSpPr/>
          <p:nvPr/>
        </p:nvSpPr>
        <p:spPr>
          <a:xfrm>
            <a:off x="2258568" y="3584447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PIC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101</a:t>
            </a:r>
          </a:p>
        </p:txBody>
      </p:sp>
      <p:cxnSp>
        <p:nvCxnSpPr>
          <p:cNvPr id="128" name="Connector 127"/>
          <p:cNvCxnSpPr/>
          <p:nvPr/>
        </p:nvCxnSpPr>
        <p:spPr>
          <a:xfrm>
            <a:off x="2258568" y="3749039"/>
            <a:ext cx="329184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 flipV="1">
            <a:off x="2423160" y="3209544"/>
            <a:ext cx="0" cy="374904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0" name="Rectangle 129"/>
          <p:cNvSpPr/>
          <p:nvPr/>
        </p:nvSpPr>
        <p:spPr>
          <a:xfrm>
            <a:off x="2231136" y="2825496"/>
            <a:ext cx="384048" cy="384048"/>
          </a:xfrm>
          <a:prstGeom prst="rect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Oval 130"/>
          <p:cNvSpPr/>
          <p:nvPr/>
        </p:nvSpPr>
        <p:spPr>
          <a:xfrm>
            <a:off x="2258568" y="2852927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PSLL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101</a:t>
            </a:r>
          </a:p>
        </p:txBody>
      </p:sp>
      <p:cxnSp>
        <p:nvCxnSpPr>
          <p:cNvPr id="132" name="Connector 131"/>
          <p:cNvCxnSpPr/>
          <p:nvPr/>
        </p:nvCxnSpPr>
        <p:spPr>
          <a:xfrm>
            <a:off x="2258568" y="3017520"/>
            <a:ext cx="329184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Oval 132"/>
          <p:cNvSpPr/>
          <p:nvPr/>
        </p:nvSpPr>
        <p:spPr>
          <a:xfrm>
            <a:off x="4039362" y="3582162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4" name="Connector 133"/>
          <p:cNvCxnSpPr/>
          <p:nvPr/>
        </p:nvCxnSpPr>
        <p:spPr>
          <a:xfrm flipH="1">
            <a:off x="3867912" y="3611880"/>
            <a:ext cx="201168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5" name="Oval 134"/>
          <p:cNvSpPr/>
          <p:nvPr/>
        </p:nvSpPr>
        <p:spPr>
          <a:xfrm>
            <a:off x="3538727" y="3447288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TI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101</a:t>
            </a:r>
          </a:p>
        </p:txBody>
      </p:sp>
      <p:cxnSp>
        <p:nvCxnSpPr>
          <p:cNvPr id="136" name="Connector 135"/>
          <p:cNvCxnSpPr/>
          <p:nvPr/>
        </p:nvCxnSpPr>
        <p:spPr>
          <a:xfrm>
            <a:off x="3538727" y="3611880"/>
            <a:ext cx="329184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7" name="Oval 136"/>
          <p:cNvSpPr/>
          <p:nvPr/>
        </p:nvSpPr>
        <p:spPr>
          <a:xfrm>
            <a:off x="3262122" y="2987801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8" name="Connector 137"/>
          <p:cNvCxnSpPr/>
          <p:nvPr/>
        </p:nvCxnSpPr>
        <p:spPr>
          <a:xfrm>
            <a:off x="3291840" y="731520"/>
            <a:ext cx="0" cy="1888236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9" name="Freeform 138"/>
          <p:cNvSpPr/>
          <p:nvPr/>
        </p:nvSpPr>
        <p:spPr>
          <a:xfrm>
            <a:off x="3291840" y="2619756"/>
            <a:ext cx="77724" cy="155448"/>
          </a:xfrm>
          <a:custGeom>
            <a:avLst/>
            <a:gdLst/>
            <a:ahLst/>
            <a:cxnLst/>
            <a:rect l="l" t="t" r="r" b="b"/>
            <a:pathLst>
              <a:path w="77724" h="155448">
                <a:moveTo>
                  <a:pt x="0" y="155448"/>
                </a:moveTo>
                <a:lnTo>
                  <a:pt x="38862" y="145034"/>
                </a:lnTo>
                <a:lnTo>
                  <a:pt x="67310" y="116586"/>
                </a:lnTo>
                <a:lnTo>
                  <a:pt x="77724" y="77724"/>
                </a:lnTo>
                <a:lnTo>
                  <a:pt x="67310" y="38862"/>
                </a:lnTo>
                <a:lnTo>
                  <a:pt x="38862" y="10413"/>
                </a:lnTo>
                <a:lnTo>
                  <a:pt x="0" y="0"/>
                </a:lnTo>
              </a:path>
            </a:pathLst>
          </a:custGeom>
          <a:noFill/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0" name="Connector 139"/>
          <p:cNvCxnSpPr/>
          <p:nvPr/>
        </p:nvCxnSpPr>
        <p:spPr>
          <a:xfrm>
            <a:off x="3291840" y="2775204"/>
            <a:ext cx="0" cy="242316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1" name="Freeform 140"/>
          <p:cNvSpPr/>
          <p:nvPr/>
        </p:nvSpPr>
        <p:spPr>
          <a:xfrm>
            <a:off x="3214116" y="1481328"/>
            <a:ext cx="155448" cy="237744"/>
          </a:xfrm>
          <a:custGeom>
            <a:avLst/>
            <a:gdLst/>
            <a:ahLst/>
            <a:cxnLst/>
            <a:rect l="l" t="t" r="r" b="b"/>
            <a:pathLst>
              <a:path w="155448" h="237744">
                <a:moveTo>
                  <a:pt x="0" y="0"/>
                </a:moveTo>
                <a:lnTo>
                  <a:pt x="155448" y="237744"/>
                </a:lnTo>
                <a:lnTo>
                  <a:pt x="0" y="237744"/>
                </a:lnTo>
                <a:lnTo>
                  <a:pt x="155448" y="0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2" name="Connector 141"/>
          <p:cNvCxnSpPr/>
          <p:nvPr/>
        </p:nvCxnSpPr>
        <p:spPr>
          <a:xfrm flipH="1">
            <a:off x="3072384" y="1600200"/>
            <a:ext cx="141732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3" name="Rectangle 142"/>
          <p:cNvSpPr/>
          <p:nvPr/>
        </p:nvSpPr>
        <p:spPr>
          <a:xfrm>
            <a:off x="2935224" y="1545336"/>
            <a:ext cx="137160" cy="109728"/>
          </a:xfrm>
          <a:prstGeom prst="rect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3392424" y="1536192"/>
            <a:ext cx="502920" cy="1280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50" b="1">
                <a:solidFill>
                  <a:srgbClr val="000000"/>
                </a:solidFill>
                <a:latin typeface="Arial"/>
              </a:rPr>
              <a:t>BDV-101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3392424" y="1655064"/>
            <a:ext cx="274320" cy="914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1">
                <a:solidFill>
                  <a:srgbClr val="000000"/>
                </a:solidFill>
                <a:latin typeface="Arial"/>
              </a:rPr>
              <a:t>FO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401568" y="1810512"/>
            <a:ext cx="329184" cy="914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RO 45 mm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3364992" y="1280160"/>
            <a:ext cx="365760" cy="1005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59" b="0">
                <a:solidFill>
                  <a:srgbClr val="000000"/>
                </a:solidFill>
                <a:latin typeface="Arial"/>
              </a:rPr>
              <a:t>FL-117</a:t>
            </a:r>
          </a:p>
        </p:txBody>
      </p:sp>
      <p:sp>
        <p:nvSpPr>
          <p:cNvPr id="148" name="Oval 147"/>
          <p:cNvSpPr/>
          <p:nvPr/>
        </p:nvSpPr>
        <p:spPr>
          <a:xfrm>
            <a:off x="3262122" y="701802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Oval 148"/>
          <p:cNvSpPr/>
          <p:nvPr/>
        </p:nvSpPr>
        <p:spPr>
          <a:xfrm>
            <a:off x="3719322" y="2987801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0" name="Connector 149"/>
          <p:cNvCxnSpPr/>
          <p:nvPr/>
        </p:nvCxnSpPr>
        <p:spPr>
          <a:xfrm>
            <a:off x="3749039" y="731520"/>
            <a:ext cx="0" cy="1888236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1" name="Freeform 150"/>
          <p:cNvSpPr/>
          <p:nvPr/>
        </p:nvSpPr>
        <p:spPr>
          <a:xfrm>
            <a:off x="3749039" y="2619756"/>
            <a:ext cx="77724" cy="155448"/>
          </a:xfrm>
          <a:custGeom>
            <a:avLst/>
            <a:gdLst/>
            <a:ahLst/>
            <a:cxnLst/>
            <a:rect l="l" t="t" r="r" b="b"/>
            <a:pathLst>
              <a:path w="77724" h="155448">
                <a:moveTo>
                  <a:pt x="0" y="155448"/>
                </a:moveTo>
                <a:lnTo>
                  <a:pt x="38863" y="145034"/>
                </a:lnTo>
                <a:lnTo>
                  <a:pt x="67311" y="116586"/>
                </a:lnTo>
                <a:lnTo>
                  <a:pt x="77724" y="77724"/>
                </a:lnTo>
                <a:lnTo>
                  <a:pt x="67311" y="38862"/>
                </a:lnTo>
                <a:lnTo>
                  <a:pt x="38863" y="10413"/>
                </a:lnTo>
                <a:lnTo>
                  <a:pt x="0" y="0"/>
                </a:lnTo>
              </a:path>
            </a:pathLst>
          </a:custGeom>
          <a:noFill/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2" name="Connector 151"/>
          <p:cNvCxnSpPr/>
          <p:nvPr/>
        </p:nvCxnSpPr>
        <p:spPr>
          <a:xfrm>
            <a:off x="3749039" y="2775204"/>
            <a:ext cx="0" cy="242316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" name="Freeform 152"/>
          <p:cNvSpPr/>
          <p:nvPr/>
        </p:nvSpPr>
        <p:spPr>
          <a:xfrm>
            <a:off x="3689603" y="2057400"/>
            <a:ext cx="118873" cy="182880"/>
          </a:xfrm>
          <a:custGeom>
            <a:avLst/>
            <a:gdLst/>
            <a:ahLst/>
            <a:cxnLst/>
            <a:rect l="l" t="t" r="r" b="b"/>
            <a:pathLst>
              <a:path w="118873" h="182880">
                <a:moveTo>
                  <a:pt x="0" y="0"/>
                </a:moveTo>
                <a:lnTo>
                  <a:pt x="118873" y="182880"/>
                </a:lnTo>
                <a:lnTo>
                  <a:pt x="0" y="182880"/>
                </a:lnTo>
                <a:lnTo>
                  <a:pt x="118873" y="0"/>
                </a:lnTo>
                <a:close/>
              </a:path>
            </a:pathLst>
          </a:cu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4" name="Connector 153"/>
          <p:cNvCxnSpPr/>
          <p:nvPr/>
        </p:nvCxnSpPr>
        <p:spPr>
          <a:xfrm flipH="1">
            <a:off x="3593591" y="2148840"/>
            <a:ext cx="96012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5" name="Rectangle 154"/>
          <p:cNvSpPr/>
          <p:nvPr/>
        </p:nvSpPr>
        <p:spPr>
          <a:xfrm>
            <a:off x="3520439" y="2093976"/>
            <a:ext cx="73152" cy="109728"/>
          </a:xfrm>
          <a:prstGeom prst="rect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3831335" y="2039112"/>
            <a:ext cx="731520" cy="1005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1">
                <a:solidFill>
                  <a:srgbClr val="000000"/>
                </a:solidFill>
                <a:latin typeface="Arial"/>
              </a:rPr>
              <a:t>HV-102 (HIC-102)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3831335" y="2148840"/>
            <a:ext cx="274320" cy="914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80" b="1">
                <a:solidFill>
                  <a:srgbClr val="000000"/>
                </a:solidFill>
                <a:latin typeface="Arial"/>
              </a:rPr>
              <a:t>FC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3813048" y="1755648"/>
            <a:ext cx="502920" cy="1005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59" b="0">
                <a:solidFill>
                  <a:srgbClr val="000000"/>
                </a:solidFill>
                <a:latin typeface="Arial"/>
              </a:rPr>
              <a:t>DN50-FL-118</a:t>
            </a:r>
          </a:p>
        </p:txBody>
      </p:sp>
      <p:sp>
        <p:nvSpPr>
          <p:cNvPr id="159" name="Oval 158"/>
          <p:cNvSpPr/>
          <p:nvPr/>
        </p:nvSpPr>
        <p:spPr>
          <a:xfrm>
            <a:off x="3719322" y="701802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3794760" y="5760720"/>
            <a:ext cx="4800600" cy="1005840"/>
          </a:xfrm>
          <a:prstGeom prst="rect">
            <a:avLst/>
          </a:prstGeom>
          <a:noFill/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4892040" y="5788152"/>
            <a:ext cx="2651760" cy="1097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1">
                <a:solidFill>
                  <a:srgbClr val="000000"/>
                </a:solidFill>
                <a:latin typeface="Arial"/>
              </a:rPr>
              <a:t>K-100 EXPORT GAS COMPRESSOR (1 CASING · 2 SECTIONS · 1 SHAFT)</a:t>
            </a:r>
          </a:p>
        </p:txBody>
      </p:sp>
      <p:cxnSp>
        <p:nvCxnSpPr>
          <p:cNvPr id="162" name="Connector 161"/>
          <p:cNvCxnSpPr/>
          <p:nvPr/>
        </p:nvCxnSpPr>
        <p:spPr>
          <a:xfrm>
            <a:off x="3794760" y="6263640"/>
            <a:ext cx="5440680" cy="0"/>
          </a:xfrm>
          <a:prstGeom prst="line">
            <a:avLst/>
          </a:prstGeom>
          <a:ln w="1397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3" name="Freeform 162"/>
          <p:cNvSpPr/>
          <p:nvPr/>
        </p:nvSpPr>
        <p:spPr>
          <a:xfrm>
            <a:off x="3977639" y="5897880"/>
            <a:ext cx="822961" cy="731520"/>
          </a:xfrm>
          <a:custGeom>
            <a:avLst/>
            <a:gdLst/>
            <a:ahLst/>
            <a:cxnLst/>
            <a:rect l="l" t="t" r="r" b="b"/>
            <a:pathLst>
              <a:path w="822961" h="731520">
                <a:moveTo>
                  <a:pt x="0" y="0"/>
                </a:moveTo>
                <a:lnTo>
                  <a:pt x="822961" y="155448"/>
                </a:lnTo>
                <a:lnTo>
                  <a:pt x="822961" y="576072"/>
                </a:lnTo>
                <a:lnTo>
                  <a:pt x="0" y="731520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Freeform 163"/>
          <p:cNvSpPr/>
          <p:nvPr/>
        </p:nvSpPr>
        <p:spPr>
          <a:xfrm>
            <a:off x="7635240" y="5897880"/>
            <a:ext cx="822960" cy="731520"/>
          </a:xfrm>
          <a:custGeom>
            <a:avLst/>
            <a:gdLst/>
            <a:ahLst/>
            <a:cxnLst/>
            <a:rect l="l" t="t" r="r" b="b"/>
            <a:pathLst>
              <a:path w="822960" h="731520">
                <a:moveTo>
                  <a:pt x="0" y="0"/>
                </a:moveTo>
                <a:lnTo>
                  <a:pt x="822960" y="155448"/>
                </a:lnTo>
                <a:lnTo>
                  <a:pt x="822960" y="576072"/>
                </a:lnTo>
                <a:lnTo>
                  <a:pt x="0" y="731520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4023360" y="6089904"/>
            <a:ext cx="731520" cy="1005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20" b="1">
                <a:solidFill>
                  <a:srgbClr val="000000"/>
                </a:solidFill>
                <a:latin typeface="Arial"/>
              </a:rPr>
              <a:t>SECTION 1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4023360" y="6336792"/>
            <a:ext cx="731520" cy="1005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80" b="0">
                <a:solidFill>
                  <a:srgbClr val="000000"/>
                </a:solidFill>
                <a:latin typeface="Arial"/>
              </a:rPr>
              <a:t>r 2.0 · 4 IMP.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7680960" y="6089904"/>
            <a:ext cx="731520" cy="1005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20" b="1">
                <a:solidFill>
                  <a:srgbClr val="000000"/>
                </a:solidFill>
                <a:latin typeface="Arial"/>
              </a:rPr>
              <a:t>SECTION 2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7680960" y="6336792"/>
            <a:ext cx="731520" cy="1005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80" b="0">
                <a:solidFill>
                  <a:srgbClr val="000000"/>
                </a:solidFill>
                <a:latin typeface="Arial"/>
              </a:rPr>
              <a:t>r 2.0 · 4 IMP.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5074920" y="5925312"/>
            <a:ext cx="2377440" cy="1005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SECTION 1: 7.95 MW · Ep 0.685 · 105 °C OUT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5074920" y="6035040"/>
            <a:ext cx="2377440" cy="1005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SECTION 2: 8.30 MW · Ep 0.655 · 116 °C OUT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5074920" y="6492240"/>
            <a:ext cx="2468880" cy="1005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DESIGN 9 500 rpm · SETTLE-OUT ≈ 69 barg (NOTE 3)</a:t>
            </a:r>
          </a:p>
        </p:txBody>
      </p:sp>
      <p:cxnSp>
        <p:nvCxnSpPr>
          <p:cNvPr id="172" name="Connector 171"/>
          <p:cNvCxnSpPr/>
          <p:nvPr/>
        </p:nvCxnSpPr>
        <p:spPr>
          <a:xfrm>
            <a:off x="4617720" y="2103120"/>
            <a:ext cx="0" cy="516636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3" name="Freeform 172"/>
          <p:cNvSpPr/>
          <p:nvPr/>
        </p:nvSpPr>
        <p:spPr>
          <a:xfrm>
            <a:off x="4617720" y="2619756"/>
            <a:ext cx="77724" cy="155448"/>
          </a:xfrm>
          <a:custGeom>
            <a:avLst/>
            <a:gdLst/>
            <a:ahLst/>
            <a:cxnLst/>
            <a:rect l="l" t="t" r="r" b="b"/>
            <a:pathLst>
              <a:path w="77724" h="155448">
                <a:moveTo>
                  <a:pt x="0" y="155448"/>
                </a:moveTo>
                <a:lnTo>
                  <a:pt x="38862" y="145034"/>
                </a:lnTo>
                <a:lnTo>
                  <a:pt x="67310" y="116586"/>
                </a:lnTo>
                <a:lnTo>
                  <a:pt x="77724" y="77724"/>
                </a:lnTo>
                <a:lnTo>
                  <a:pt x="67310" y="38862"/>
                </a:lnTo>
                <a:lnTo>
                  <a:pt x="38862" y="10413"/>
                </a:lnTo>
                <a:lnTo>
                  <a:pt x="0" y="0"/>
                </a:lnTo>
              </a:path>
            </a:pathLst>
          </a:custGeom>
          <a:noFill/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4" name="Connector 173"/>
          <p:cNvCxnSpPr/>
          <p:nvPr/>
        </p:nvCxnSpPr>
        <p:spPr>
          <a:xfrm>
            <a:off x="4617720" y="2775204"/>
            <a:ext cx="0" cy="164592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5" name="Freeform 174"/>
          <p:cNvSpPr/>
          <p:nvPr/>
        </p:nvSpPr>
        <p:spPr>
          <a:xfrm>
            <a:off x="4617720" y="2939796"/>
            <a:ext cx="77724" cy="155448"/>
          </a:xfrm>
          <a:custGeom>
            <a:avLst/>
            <a:gdLst/>
            <a:ahLst/>
            <a:cxnLst/>
            <a:rect l="l" t="t" r="r" b="b"/>
            <a:pathLst>
              <a:path w="77724" h="155448">
                <a:moveTo>
                  <a:pt x="0" y="155448"/>
                </a:moveTo>
                <a:lnTo>
                  <a:pt x="38862" y="145034"/>
                </a:lnTo>
                <a:lnTo>
                  <a:pt x="67310" y="116586"/>
                </a:lnTo>
                <a:lnTo>
                  <a:pt x="77724" y="77724"/>
                </a:lnTo>
                <a:lnTo>
                  <a:pt x="67310" y="38862"/>
                </a:lnTo>
                <a:lnTo>
                  <a:pt x="38862" y="10413"/>
                </a:lnTo>
                <a:lnTo>
                  <a:pt x="0" y="0"/>
                </a:lnTo>
              </a:path>
            </a:pathLst>
          </a:custGeom>
          <a:noFill/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6" name="Connector 175"/>
          <p:cNvCxnSpPr/>
          <p:nvPr/>
        </p:nvCxnSpPr>
        <p:spPr>
          <a:xfrm>
            <a:off x="4617720" y="3095244"/>
            <a:ext cx="0" cy="2894076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>
            <a:off x="4617720" y="2103120"/>
            <a:ext cx="502920" cy="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8" name="TextBox 177"/>
          <p:cNvSpPr txBox="1"/>
          <p:nvPr/>
        </p:nvSpPr>
        <p:spPr>
          <a:xfrm>
            <a:off x="4663440" y="3611880"/>
            <a:ext cx="685800" cy="1005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DN400-PG-103</a:t>
            </a:r>
          </a:p>
        </p:txBody>
      </p:sp>
      <p:sp>
        <p:nvSpPr>
          <p:cNvPr id="179" name="Oval 178"/>
          <p:cNvSpPr/>
          <p:nvPr/>
        </p:nvSpPr>
        <p:spPr>
          <a:xfrm>
            <a:off x="4588002" y="5410962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0" name="Connector 179"/>
          <p:cNvCxnSpPr/>
          <p:nvPr/>
        </p:nvCxnSpPr>
        <p:spPr>
          <a:xfrm>
            <a:off x="4617720" y="5440680"/>
            <a:ext cx="228600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1" name="Oval 180"/>
          <p:cNvSpPr/>
          <p:nvPr/>
        </p:nvSpPr>
        <p:spPr>
          <a:xfrm>
            <a:off x="4846320" y="5276088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TI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104</a:t>
            </a:r>
          </a:p>
        </p:txBody>
      </p:sp>
      <p:cxnSp>
        <p:nvCxnSpPr>
          <p:cNvPr id="182" name="Connector 181"/>
          <p:cNvCxnSpPr/>
          <p:nvPr/>
        </p:nvCxnSpPr>
        <p:spPr>
          <a:xfrm>
            <a:off x="4846320" y="5440680"/>
            <a:ext cx="329184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Connector 182"/>
          <p:cNvCxnSpPr/>
          <p:nvPr/>
        </p:nvCxnSpPr>
        <p:spPr>
          <a:xfrm>
            <a:off x="5175504" y="5440680"/>
            <a:ext cx="64008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4" name="Rectangle 183"/>
          <p:cNvSpPr/>
          <p:nvPr/>
        </p:nvSpPr>
        <p:spPr>
          <a:xfrm>
            <a:off x="5239512" y="5248656"/>
            <a:ext cx="384048" cy="384048"/>
          </a:xfrm>
          <a:prstGeom prst="rect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Oval 184"/>
          <p:cNvSpPr/>
          <p:nvPr/>
        </p:nvSpPr>
        <p:spPr>
          <a:xfrm>
            <a:off x="5266944" y="5276088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TSHH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104</a:t>
            </a:r>
          </a:p>
        </p:txBody>
      </p:sp>
      <p:cxnSp>
        <p:nvCxnSpPr>
          <p:cNvPr id="186" name="Connector 185"/>
          <p:cNvCxnSpPr/>
          <p:nvPr/>
        </p:nvCxnSpPr>
        <p:spPr>
          <a:xfrm>
            <a:off x="5266944" y="5440680"/>
            <a:ext cx="329184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7" name="Oval 186"/>
          <p:cNvSpPr/>
          <p:nvPr/>
        </p:nvSpPr>
        <p:spPr>
          <a:xfrm>
            <a:off x="4588002" y="4816602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8" name="Connector 187"/>
          <p:cNvCxnSpPr/>
          <p:nvPr/>
        </p:nvCxnSpPr>
        <p:spPr>
          <a:xfrm>
            <a:off x="4617720" y="4846320"/>
            <a:ext cx="228600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9" name="Oval 188"/>
          <p:cNvSpPr/>
          <p:nvPr/>
        </p:nvSpPr>
        <p:spPr>
          <a:xfrm>
            <a:off x="4846320" y="4681728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PI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104</a:t>
            </a:r>
          </a:p>
        </p:txBody>
      </p:sp>
      <p:cxnSp>
        <p:nvCxnSpPr>
          <p:cNvPr id="190" name="Connector 189"/>
          <p:cNvCxnSpPr/>
          <p:nvPr/>
        </p:nvCxnSpPr>
        <p:spPr>
          <a:xfrm>
            <a:off x="4846320" y="4846320"/>
            <a:ext cx="329184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Connector 190"/>
          <p:cNvCxnSpPr/>
          <p:nvPr/>
        </p:nvCxnSpPr>
        <p:spPr>
          <a:xfrm>
            <a:off x="4297680" y="6629400"/>
            <a:ext cx="0" cy="50292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2" name="Oval 191"/>
          <p:cNvSpPr/>
          <p:nvPr/>
        </p:nvSpPr>
        <p:spPr>
          <a:xfrm>
            <a:off x="4133088" y="7132320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VI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105</a:t>
            </a:r>
          </a:p>
        </p:txBody>
      </p:sp>
      <p:cxnSp>
        <p:nvCxnSpPr>
          <p:cNvPr id="193" name="Connector 192"/>
          <p:cNvCxnSpPr/>
          <p:nvPr/>
        </p:nvCxnSpPr>
        <p:spPr>
          <a:xfrm>
            <a:off x="4133088" y="7296912"/>
            <a:ext cx="329184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Connector 193"/>
          <p:cNvCxnSpPr/>
          <p:nvPr/>
        </p:nvCxnSpPr>
        <p:spPr>
          <a:xfrm>
            <a:off x="4462272" y="7296912"/>
            <a:ext cx="109728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5" name="Rectangle 194"/>
          <p:cNvSpPr/>
          <p:nvPr/>
        </p:nvSpPr>
        <p:spPr>
          <a:xfrm>
            <a:off x="4572000" y="7104888"/>
            <a:ext cx="384048" cy="384048"/>
          </a:xfrm>
          <a:prstGeom prst="rect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Oval 195"/>
          <p:cNvSpPr/>
          <p:nvPr/>
        </p:nvSpPr>
        <p:spPr>
          <a:xfrm>
            <a:off x="4599432" y="7132320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VSHH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105</a:t>
            </a:r>
          </a:p>
        </p:txBody>
      </p:sp>
      <p:cxnSp>
        <p:nvCxnSpPr>
          <p:cNvPr id="197" name="Connector 196"/>
          <p:cNvCxnSpPr/>
          <p:nvPr/>
        </p:nvCxnSpPr>
        <p:spPr>
          <a:xfrm>
            <a:off x="4599432" y="7296912"/>
            <a:ext cx="329184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Connector 197"/>
          <p:cNvCxnSpPr/>
          <p:nvPr/>
        </p:nvCxnSpPr>
        <p:spPr>
          <a:xfrm>
            <a:off x="3959352" y="3995928"/>
            <a:ext cx="219456" cy="0"/>
          </a:xfrm>
          <a:prstGeom prst="line">
            <a:avLst/>
          </a:prstGeom>
          <a:ln w="2032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Connector 198"/>
          <p:cNvCxnSpPr/>
          <p:nvPr/>
        </p:nvCxnSpPr>
        <p:spPr>
          <a:xfrm>
            <a:off x="3959352" y="4050792"/>
            <a:ext cx="219456" cy="0"/>
          </a:xfrm>
          <a:prstGeom prst="line">
            <a:avLst/>
          </a:prstGeom>
          <a:ln w="2032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Connector 199"/>
          <p:cNvCxnSpPr/>
          <p:nvPr/>
        </p:nvCxnSpPr>
        <p:spPr>
          <a:xfrm flipH="1">
            <a:off x="3886200" y="4023360"/>
            <a:ext cx="73152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1" name="Oval 200"/>
          <p:cNvSpPr/>
          <p:nvPr/>
        </p:nvSpPr>
        <p:spPr>
          <a:xfrm>
            <a:off x="3557016" y="3858768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FI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103</a:t>
            </a:r>
          </a:p>
        </p:txBody>
      </p:sp>
      <p:cxnSp>
        <p:nvCxnSpPr>
          <p:cNvPr id="202" name="Connector 201"/>
          <p:cNvCxnSpPr/>
          <p:nvPr/>
        </p:nvCxnSpPr>
        <p:spPr>
          <a:xfrm>
            <a:off x="3557016" y="4023360"/>
            <a:ext cx="329184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3" name="Oval 202"/>
          <p:cNvSpPr/>
          <p:nvPr/>
        </p:nvSpPr>
        <p:spPr>
          <a:xfrm>
            <a:off x="3557016" y="4361688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UIC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103</a:t>
            </a:r>
          </a:p>
        </p:txBody>
      </p:sp>
      <p:cxnSp>
        <p:nvCxnSpPr>
          <p:cNvPr id="204" name="Connector 203"/>
          <p:cNvCxnSpPr/>
          <p:nvPr/>
        </p:nvCxnSpPr>
        <p:spPr>
          <a:xfrm>
            <a:off x="3557016" y="4526280"/>
            <a:ext cx="329184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Connector 204"/>
          <p:cNvCxnSpPr/>
          <p:nvPr/>
        </p:nvCxnSpPr>
        <p:spPr>
          <a:xfrm>
            <a:off x="3721608" y="4187952"/>
            <a:ext cx="0" cy="173736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Connector 205"/>
          <p:cNvCxnSpPr/>
          <p:nvPr/>
        </p:nvCxnSpPr>
        <p:spPr>
          <a:xfrm flipV="1">
            <a:off x="6766560" y="2697480"/>
            <a:ext cx="0" cy="32004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7" name="Oval 206"/>
          <p:cNvSpPr/>
          <p:nvPr/>
        </p:nvSpPr>
        <p:spPr>
          <a:xfrm>
            <a:off x="6736842" y="2987801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8" name="Connector 207"/>
          <p:cNvCxnSpPr/>
          <p:nvPr/>
        </p:nvCxnSpPr>
        <p:spPr>
          <a:xfrm flipH="1">
            <a:off x="2743200" y="2697480"/>
            <a:ext cx="402336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Connector 208"/>
          <p:cNvCxnSpPr/>
          <p:nvPr/>
        </p:nvCxnSpPr>
        <p:spPr>
          <a:xfrm>
            <a:off x="2743200" y="2697480"/>
            <a:ext cx="0" cy="713232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0" name="Freeform 209"/>
          <p:cNvSpPr/>
          <p:nvPr/>
        </p:nvSpPr>
        <p:spPr>
          <a:xfrm>
            <a:off x="5641848" y="2619756"/>
            <a:ext cx="237744" cy="155448"/>
          </a:xfrm>
          <a:custGeom>
            <a:avLst/>
            <a:gdLst/>
            <a:ahLst/>
            <a:cxnLst/>
            <a:rect l="l" t="t" r="r" b="b"/>
            <a:pathLst>
              <a:path w="237744" h="155448">
                <a:moveTo>
                  <a:pt x="0" y="0"/>
                </a:moveTo>
                <a:lnTo>
                  <a:pt x="237744" y="155448"/>
                </a:lnTo>
                <a:lnTo>
                  <a:pt x="237744" y="0"/>
                </a:lnTo>
                <a:lnTo>
                  <a:pt x="0" y="155448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1" name="Connector 210"/>
          <p:cNvCxnSpPr/>
          <p:nvPr/>
        </p:nvCxnSpPr>
        <p:spPr>
          <a:xfrm flipV="1">
            <a:off x="5760720" y="2496312"/>
            <a:ext cx="0" cy="123444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2" name="Freeform 211"/>
          <p:cNvSpPr/>
          <p:nvPr/>
        </p:nvSpPr>
        <p:spPr>
          <a:xfrm>
            <a:off x="5632704" y="2379245"/>
            <a:ext cx="256032" cy="117067"/>
          </a:xfrm>
          <a:custGeom>
            <a:avLst/>
            <a:gdLst/>
            <a:ahLst/>
            <a:cxnLst/>
            <a:rect l="l" t="t" r="r" b="b"/>
            <a:pathLst>
              <a:path w="256032" h="117067">
                <a:moveTo>
                  <a:pt x="0" y="117067"/>
                </a:moveTo>
                <a:lnTo>
                  <a:pt x="7720" y="76410"/>
                </a:lnTo>
                <a:lnTo>
                  <a:pt x="29950" y="40657"/>
                </a:lnTo>
                <a:lnTo>
                  <a:pt x="64008" y="14120"/>
                </a:lnTo>
                <a:lnTo>
                  <a:pt x="105786" y="0"/>
                </a:lnTo>
                <a:lnTo>
                  <a:pt x="150245" y="0"/>
                </a:lnTo>
                <a:lnTo>
                  <a:pt x="192024" y="14120"/>
                </a:lnTo>
                <a:lnTo>
                  <a:pt x="226081" y="40657"/>
                </a:lnTo>
                <a:lnTo>
                  <a:pt x="248311" y="76410"/>
                </a:lnTo>
                <a:lnTo>
                  <a:pt x="256032" y="117067"/>
                </a:lnTo>
                <a:close/>
              </a:path>
            </a:pathLst>
          </a:cu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TextBox 212"/>
          <p:cNvSpPr txBox="1"/>
          <p:nvPr/>
        </p:nvSpPr>
        <p:spPr>
          <a:xfrm>
            <a:off x="5916168" y="2368296"/>
            <a:ext cx="201168" cy="914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1">
                <a:solidFill>
                  <a:srgbClr val="000000"/>
                </a:solidFill>
                <a:latin typeface="Arial"/>
              </a:rPr>
              <a:t>FO</a:t>
            </a:r>
          </a:p>
        </p:txBody>
      </p:sp>
      <p:sp>
        <p:nvSpPr>
          <p:cNvPr id="214" name="TextBox 213"/>
          <p:cNvSpPr txBox="1"/>
          <p:nvPr/>
        </p:nvSpPr>
        <p:spPr>
          <a:xfrm>
            <a:off x="5486400" y="2807208"/>
            <a:ext cx="548640" cy="1097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UV-103</a:t>
            </a:r>
          </a:p>
        </p:txBody>
      </p:sp>
      <p:sp>
        <p:nvSpPr>
          <p:cNvPr id="215" name="TextBox 214"/>
          <p:cNvSpPr txBox="1"/>
          <p:nvPr/>
        </p:nvSpPr>
        <p:spPr>
          <a:xfrm>
            <a:off x="5074920" y="2743200"/>
            <a:ext cx="566928" cy="1005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DN300-PG-104</a:t>
            </a:r>
          </a:p>
        </p:txBody>
      </p:sp>
      <p:sp>
        <p:nvSpPr>
          <p:cNvPr id="216" name="TextBox 215"/>
          <p:cNvSpPr txBox="1"/>
          <p:nvPr/>
        </p:nvSpPr>
        <p:spPr>
          <a:xfrm>
            <a:off x="2788920" y="2578608"/>
            <a:ext cx="502920" cy="1005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LP RECYCLE</a:t>
            </a:r>
          </a:p>
        </p:txBody>
      </p:sp>
      <p:sp>
        <p:nvSpPr>
          <p:cNvPr id="217" name="Rectangle 216"/>
          <p:cNvSpPr/>
          <p:nvPr/>
        </p:nvSpPr>
        <p:spPr>
          <a:xfrm>
            <a:off x="5120640" y="1920239"/>
            <a:ext cx="1097280" cy="365760"/>
          </a:xfrm>
          <a:prstGeom prst="rect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8" name="Connector 217"/>
          <p:cNvCxnSpPr/>
          <p:nvPr/>
        </p:nvCxnSpPr>
        <p:spPr>
          <a:xfrm>
            <a:off x="5257800" y="1975103"/>
            <a:ext cx="68580" cy="256033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9" name="Connector 218"/>
          <p:cNvCxnSpPr/>
          <p:nvPr/>
        </p:nvCxnSpPr>
        <p:spPr>
          <a:xfrm flipV="1">
            <a:off x="5326380" y="1975103"/>
            <a:ext cx="68580" cy="256033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0" name="Connector 219"/>
          <p:cNvCxnSpPr/>
          <p:nvPr/>
        </p:nvCxnSpPr>
        <p:spPr>
          <a:xfrm>
            <a:off x="5394960" y="1975103"/>
            <a:ext cx="68580" cy="256033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1" name="Connector 220"/>
          <p:cNvCxnSpPr/>
          <p:nvPr/>
        </p:nvCxnSpPr>
        <p:spPr>
          <a:xfrm flipV="1">
            <a:off x="5463540" y="1975103"/>
            <a:ext cx="68580" cy="256033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2" name="Connector 221"/>
          <p:cNvCxnSpPr/>
          <p:nvPr/>
        </p:nvCxnSpPr>
        <p:spPr>
          <a:xfrm>
            <a:off x="5532120" y="1975103"/>
            <a:ext cx="68580" cy="256033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3" name="Connector 222"/>
          <p:cNvCxnSpPr/>
          <p:nvPr/>
        </p:nvCxnSpPr>
        <p:spPr>
          <a:xfrm flipV="1">
            <a:off x="5600700" y="1975103"/>
            <a:ext cx="68580" cy="256033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4" name="Connector 223"/>
          <p:cNvCxnSpPr/>
          <p:nvPr/>
        </p:nvCxnSpPr>
        <p:spPr>
          <a:xfrm>
            <a:off x="5669280" y="1975103"/>
            <a:ext cx="68580" cy="256033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5" name="Connector 224"/>
          <p:cNvCxnSpPr/>
          <p:nvPr/>
        </p:nvCxnSpPr>
        <p:spPr>
          <a:xfrm flipV="1">
            <a:off x="5737860" y="1975103"/>
            <a:ext cx="68580" cy="256033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6" name="Connector 225"/>
          <p:cNvCxnSpPr/>
          <p:nvPr/>
        </p:nvCxnSpPr>
        <p:spPr>
          <a:xfrm>
            <a:off x="5806440" y="1975103"/>
            <a:ext cx="68580" cy="256033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7" name="Connector 226"/>
          <p:cNvCxnSpPr/>
          <p:nvPr/>
        </p:nvCxnSpPr>
        <p:spPr>
          <a:xfrm flipV="1">
            <a:off x="5875020" y="1975103"/>
            <a:ext cx="68580" cy="256033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8" name="Connector 227"/>
          <p:cNvCxnSpPr/>
          <p:nvPr/>
        </p:nvCxnSpPr>
        <p:spPr>
          <a:xfrm>
            <a:off x="5943600" y="1975103"/>
            <a:ext cx="68580" cy="256033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9" name="Connector 228"/>
          <p:cNvCxnSpPr/>
          <p:nvPr/>
        </p:nvCxnSpPr>
        <p:spPr>
          <a:xfrm flipV="1">
            <a:off x="6012180" y="1975103"/>
            <a:ext cx="68580" cy="256033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0" name="TextBox 229"/>
          <p:cNvSpPr txBox="1"/>
          <p:nvPr/>
        </p:nvSpPr>
        <p:spPr>
          <a:xfrm>
            <a:off x="5394959" y="1655063"/>
            <a:ext cx="566928" cy="1005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60" b="1">
                <a:solidFill>
                  <a:srgbClr val="000000"/>
                </a:solidFill>
                <a:latin typeface="Arial"/>
              </a:rPr>
              <a:t>E-101</a:t>
            </a:r>
          </a:p>
        </p:txBody>
      </p:sp>
      <p:sp>
        <p:nvSpPr>
          <p:cNvPr id="231" name="TextBox 230"/>
          <p:cNvSpPr txBox="1"/>
          <p:nvPr/>
        </p:nvSpPr>
        <p:spPr>
          <a:xfrm>
            <a:off x="5394959" y="1764791"/>
            <a:ext cx="566928" cy="914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9" b="0">
                <a:solidFill>
                  <a:srgbClr val="000000"/>
                </a:solidFill>
                <a:latin typeface="Arial"/>
              </a:rPr>
              <a:t>INTERCOOLER</a:t>
            </a:r>
          </a:p>
        </p:txBody>
      </p:sp>
      <p:cxnSp>
        <p:nvCxnSpPr>
          <p:cNvPr id="232" name="Connector 231"/>
          <p:cNvCxnSpPr/>
          <p:nvPr/>
        </p:nvCxnSpPr>
        <p:spPr>
          <a:xfrm flipH="1">
            <a:off x="5989320" y="1572768"/>
            <a:ext cx="41148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3" name="Connector 232"/>
          <p:cNvCxnSpPr/>
          <p:nvPr/>
        </p:nvCxnSpPr>
        <p:spPr>
          <a:xfrm>
            <a:off x="5989320" y="1572768"/>
            <a:ext cx="0" cy="347471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4" name="Freeform 233"/>
          <p:cNvSpPr/>
          <p:nvPr/>
        </p:nvSpPr>
        <p:spPr>
          <a:xfrm>
            <a:off x="6144768" y="1495044"/>
            <a:ext cx="237744" cy="155448"/>
          </a:xfrm>
          <a:custGeom>
            <a:avLst/>
            <a:gdLst/>
            <a:ahLst/>
            <a:cxnLst/>
            <a:rect l="l" t="t" r="r" b="b"/>
            <a:pathLst>
              <a:path w="237744" h="155448">
                <a:moveTo>
                  <a:pt x="0" y="0"/>
                </a:moveTo>
                <a:lnTo>
                  <a:pt x="237744" y="155448"/>
                </a:lnTo>
                <a:lnTo>
                  <a:pt x="237744" y="0"/>
                </a:lnTo>
                <a:lnTo>
                  <a:pt x="0" y="155448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5" name="Connector 234"/>
          <p:cNvCxnSpPr/>
          <p:nvPr/>
        </p:nvCxnSpPr>
        <p:spPr>
          <a:xfrm flipV="1">
            <a:off x="6263640" y="1371600"/>
            <a:ext cx="0" cy="123444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6" name="Freeform 235"/>
          <p:cNvSpPr/>
          <p:nvPr/>
        </p:nvSpPr>
        <p:spPr>
          <a:xfrm>
            <a:off x="6135624" y="1254533"/>
            <a:ext cx="256031" cy="117067"/>
          </a:xfrm>
          <a:custGeom>
            <a:avLst/>
            <a:gdLst/>
            <a:ahLst/>
            <a:cxnLst/>
            <a:rect l="l" t="t" r="r" b="b"/>
            <a:pathLst>
              <a:path w="256031" h="117067">
                <a:moveTo>
                  <a:pt x="0" y="117067"/>
                </a:moveTo>
                <a:lnTo>
                  <a:pt x="7720" y="76410"/>
                </a:lnTo>
                <a:lnTo>
                  <a:pt x="29950" y="40657"/>
                </a:lnTo>
                <a:lnTo>
                  <a:pt x="64007" y="14120"/>
                </a:lnTo>
                <a:lnTo>
                  <a:pt x="105786" y="0"/>
                </a:lnTo>
                <a:lnTo>
                  <a:pt x="150245" y="0"/>
                </a:lnTo>
                <a:lnTo>
                  <a:pt x="192024" y="14120"/>
                </a:lnTo>
                <a:lnTo>
                  <a:pt x="226081" y="40657"/>
                </a:lnTo>
                <a:lnTo>
                  <a:pt x="248311" y="76410"/>
                </a:lnTo>
                <a:lnTo>
                  <a:pt x="256031" y="117067"/>
                </a:lnTo>
                <a:close/>
              </a:path>
            </a:pathLst>
          </a:cu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TextBox 236"/>
          <p:cNvSpPr txBox="1"/>
          <p:nvPr/>
        </p:nvSpPr>
        <p:spPr>
          <a:xfrm>
            <a:off x="6419088" y="1243584"/>
            <a:ext cx="201168" cy="914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1">
                <a:solidFill>
                  <a:srgbClr val="000000"/>
                </a:solidFill>
                <a:latin typeface="Arial"/>
              </a:rPr>
              <a:t>FO</a:t>
            </a:r>
          </a:p>
        </p:txBody>
      </p:sp>
      <p:sp>
        <p:nvSpPr>
          <p:cNvPr id="238" name="TextBox 237"/>
          <p:cNvSpPr txBox="1"/>
          <p:nvPr/>
        </p:nvSpPr>
        <p:spPr>
          <a:xfrm>
            <a:off x="5989320" y="1682495"/>
            <a:ext cx="548640" cy="1097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/>
            </a:r>
          </a:p>
        </p:txBody>
      </p:sp>
      <p:sp>
        <p:nvSpPr>
          <p:cNvPr id="239" name="TextBox 238"/>
          <p:cNvSpPr txBox="1"/>
          <p:nvPr/>
        </p:nvSpPr>
        <p:spPr>
          <a:xfrm>
            <a:off x="6428232" y="1517904"/>
            <a:ext cx="365760" cy="1005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1">
                <a:solidFill>
                  <a:srgbClr val="000000"/>
                </a:solidFill>
                <a:latin typeface="Arial"/>
              </a:rPr>
              <a:t>CMS</a:t>
            </a:r>
          </a:p>
        </p:txBody>
      </p:sp>
      <p:cxnSp>
        <p:nvCxnSpPr>
          <p:cNvPr id="240" name="Connector 239"/>
          <p:cNvCxnSpPr/>
          <p:nvPr/>
        </p:nvCxnSpPr>
        <p:spPr>
          <a:xfrm flipV="1">
            <a:off x="5349240" y="1572768"/>
            <a:ext cx="0" cy="347471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1" name="Connector 240"/>
          <p:cNvCxnSpPr/>
          <p:nvPr/>
        </p:nvCxnSpPr>
        <p:spPr>
          <a:xfrm flipH="1">
            <a:off x="5120640" y="1572768"/>
            <a:ext cx="228600" cy="0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2" name="TextBox 241"/>
          <p:cNvSpPr txBox="1"/>
          <p:nvPr/>
        </p:nvSpPr>
        <p:spPr>
          <a:xfrm>
            <a:off x="4736592" y="1517904"/>
            <a:ext cx="365760" cy="1005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00" b="1">
                <a:solidFill>
                  <a:srgbClr val="000000"/>
                </a:solidFill>
                <a:latin typeface="Arial"/>
              </a:rPr>
              <a:t>CMR</a:t>
            </a:r>
          </a:p>
        </p:txBody>
      </p:sp>
      <p:sp>
        <p:nvSpPr>
          <p:cNvPr id="243" name="TextBox 242"/>
          <p:cNvSpPr txBox="1"/>
          <p:nvPr/>
        </p:nvSpPr>
        <p:spPr>
          <a:xfrm>
            <a:off x="6126480" y="1636776"/>
            <a:ext cx="274320" cy="1005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20" b="1">
                <a:solidFill>
                  <a:srgbClr val="000000"/>
                </a:solidFill>
                <a:latin typeface="Arial"/>
              </a:rPr>
              <a:t>TV-106</a:t>
            </a:r>
          </a:p>
        </p:txBody>
      </p:sp>
      <p:sp>
        <p:nvSpPr>
          <p:cNvPr id="244" name="TextBox 243"/>
          <p:cNvSpPr txBox="1"/>
          <p:nvPr/>
        </p:nvSpPr>
        <p:spPr>
          <a:xfrm>
            <a:off x="6428232" y="1645920"/>
            <a:ext cx="320040" cy="1005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40" b="0">
                <a:solidFill>
                  <a:srgbClr val="000000"/>
                </a:solidFill>
                <a:latin typeface="Arial"/>
              </a:rPr>
              <a:t>CM-120</a:t>
            </a:r>
          </a:p>
        </p:txBody>
      </p:sp>
      <p:sp>
        <p:nvSpPr>
          <p:cNvPr id="245" name="TextBox 244"/>
          <p:cNvSpPr txBox="1"/>
          <p:nvPr/>
        </p:nvSpPr>
        <p:spPr>
          <a:xfrm>
            <a:off x="4754880" y="1645920"/>
            <a:ext cx="365760" cy="1005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440" b="0">
                <a:solidFill>
                  <a:srgbClr val="000000"/>
                </a:solidFill>
                <a:latin typeface="Arial"/>
              </a:rPr>
              <a:t>CM-121</a:t>
            </a:r>
          </a:p>
        </p:txBody>
      </p:sp>
      <p:cxnSp>
        <p:nvCxnSpPr>
          <p:cNvPr id="246" name="Connector 245"/>
          <p:cNvCxnSpPr/>
          <p:nvPr/>
        </p:nvCxnSpPr>
        <p:spPr>
          <a:xfrm>
            <a:off x="6217920" y="2103120"/>
            <a:ext cx="18288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7" name="Connector 246"/>
          <p:cNvCxnSpPr/>
          <p:nvPr/>
        </p:nvCxnSpPr>
        <p:spPr>
          <a:xfrm>
            <a:off x="6400800" y="2103120"/>
            <a:ext cx="0" cy="516636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8" name="Freeform 247"/>
          <p:cNvSpPr/>
          <p:nvPr/>
        </p:nvSpPr>
        <p:spPr>
          <a:xfrm>
            <a:off x="6400800" y="2619756"/>
            <a:ext cx="77724" cy="155448"/>
          </a:xfrm>
          <a:custGeom>
            <a:avLst/>
            <a:gdLst/>
            <a:ahLst/>
            <a:cxnLst/>
            <a:rect l="l" t="t" r="r" b="b"/>
            <a:pathLst>
              <a:path w="77724" h="155448">
                <a:moveTo>
                  <a:pt x="0" y="155448"/>
                </a:moveTo>
                <a:lnTo>
                  <a:pt x="38862" y="145034"/>
                </a:lnTo>
                <a:lnTo>
                  <a:pt x="67310" y="116586"/>
                </a:lnTo>
                <a:lnTo>
                  <a:pt x="77724" y="77724"/>
                </a:lnTo>
                <a:lnTo>
                  <a:pt x="67310" y="38862"/>
                </a:lnTo>
                <a:lnTo>
                  <a:pt x="38862" y="10413"/>
                </a:lnTo>
                <a:lnTo>
                  <a:pt x="0" y="0"/>
                </a:lnTo>
              </a:path>
            </a:pathLst>
          </a:custGeom>
          <a:noFill/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9" name="Connector 248"/>
          <p:cNvCxnSpPr/>
          <p:nvPr/>
        </p:nvCxnSpPr>
        <p:spPr>
          <a:xfrm>
            <a:off x="6400800" y="2775204"/>
            <a:ext cx="0" cy="973835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0" name="Connector 249"/>
          <p:cNvCxnSpPr/>
          <p:nvPr/>
        </p:nvCxnSpPr>
        <p:spPr>
          <a:xfrm>
            <a:off x="6400800" y="3749039"/>
            <a:ext cx="91440" cy="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1" name="TextBox 250"/>
          <p:cNvSpPr txBox="1"/>
          <p:nvPr/>
        </p:nvSpPr>
        <p:spPr>
          <a:xfrm>
            <a:off x="6446520" y="2377440"/>
            <a:ext cx="502920" cy="1005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59" b="0">
                <a:solidFill>
                  <a:srgbClr val="000000"/>
                </a:solidFill>
                <a:latin typeface="Arial"/>
              </a:rPr>
              <a:t>DN350-PG-112</a:t>
            </a:r>
          </a:p>
        </p:txBody>
      </p:sp>
      <p:sp>
        <p:nvSpPr>
          <p:cNvPr id="252" name="Oval 251"/>
          <p:cNvSpPr/>
          <p:nvPr/>
        </p:nvSpPr>
        <p:spPr>
          <a:xfrm>
            <a:off x="6371082" y="3353562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3" name="Connector 252"/>
          <p:cNvCxnSpPr/>
          <p:nvPr/>
        </p:nvCxnSpPr>
        <p:spPr>
          <a:xfrm flipH="1">
            <a:off x="6144768" y="3383280"/>
            <a:ext cx="256032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4" name="Oval 253"/>
          <p:cNvSpPr/>
          <p:nvPr/>
        </p:nvSpPr>
        <p:spPr>
          <a:xfrm>
            <a:off x="5815584" y="3218688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TIC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106</a:t>
            </a:r>
          </a:p>
        </p:txBody>
      </p:sp>
      <p:cxnSp>
        <p:nvCxnSpPr>
          <p:cNvPr id="255" name="Connector 254"/>
          <p:cNvCxnSpPr/>
          <p:nvPr/>
        </p:nvCxnSpPr>
        <p:spPr>
          <a:xfrm>
            <a:off x="5815584" y="3383280"/>
            <a:ext cx="329184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6" name="Rounded Rectangle 255"/>
          <p:cNvSpPr/>
          <p:nvPr/>
        </p:nvSpPr>
        <p:spPr>
          <a:xfrm>
            <a:off x="6492240" y="3337560"/>
            <a:ext cx="548640" cy="21945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7" name="Connector 256"/>
          <p:cNvCxnSpPr/>
          <p:nvPr/>
        </p:nvCxnSpPr>
        <p:spPr>
          <a:xfrm>
            <a:off x="6547103" y="3611880"/>
            <a:ext cx="438913" cy="0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8" name="TextBox 257"/>
          <p:cNvSpPr txBox="1"/>
          <p:nvPr/>
        </p:nvSpPr>
        <p:spPr>
          <a:xfrm>
            <a:off x="6492240" y="3648456"/>
            <a:ext cx="548640" cy="914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9" b="0">
                <a:solidFill>
                  <a:srgbClr val="000000"/>
                </a:solidFill>
                <a:latin typeface="Arial"/>
              </a:rPr>
              <a:t>MESH</a:t>
            </a:r>
          </a:p>
        </p:txBody>
      </p:sp>
      <p:sp>
        <p:nvSpPr>
          <p:cNvPr id="259" name="TextBox 258"/>
          <p:cNvSpPr txBox="1"/>
          <p:nvPr/>
        </p:nvSpPr>
        <p:spPr>
          <a:xfrm>
            <a:off x="6473952" y="4572000"/>
            <a:ext cx="585216" cy="1005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00" b="1">
                <a:solidFill>
                  <a:srgbClr val="000000"/>
                </a:solidFill>
                <a:latin typeface="Arial"/>
              </a:rPr>
              <a:t>V-102</a:t>
            </a:r>
          </a:p>
        </p:txBody>
      </p:sp>
      <p:sp>
        <p:nvSpPr>
          <p:cNvPr id="260" name="TextBox 259"/>
          <p:cNvSpPr txBox="1"/>
          <p:nvPr/>
        </p:nvSpPr>
        <p:spPr>
          <a:xfrm>
            <a:off x="6473952" y="4690872"/>
            <a:ext cx="585216" cy="1005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9" b="0">
                <a:solidFill>
                  <a:srgbClr val="000000"/>
                </a:solidFill>
                <a:latin typeface="Arial"/>
              </a:rPr>
              <a:t>INTERSTAGE</a:t>
            </a:r>
          </a:p>
        </p:txBody>
      </p:sp>
      <p:sp>
        <p:nvSpPr>
          <p:cNvPr id="261" name="TextBox 260"/>
          <p:cNvSpPr txBox="1"/>
          <p:nvPr/>
        </p:nvSpPr>
        <p:spPr>
          <a:xfrm>
            <a:off x="6473952" y="4791456"/>
            <a:ext cx="585216" cy="1005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80" b="0">
                <a:solidFill>
                  <a:srgbClr val="000000"/>
                </a:solidFill>
                <a:latin typeface="Arial"/>
              </a:rPr>
              <a:t>SCRUBBER</a:t>
            </a:r>
          </a:p>
        </p:txBody>
      </p:sp>
      <p:cxnSp>
        <p:nvCxnSpPr>
          <p:cNvPr id="262" name="Connector 261"/>
          <p:cNvCxnSpPr/>
          <p:nvPr/>
        </p:nvCxnSpPr>
        <p:spPr>
          <a:xfrm>
            <a:off x="6547103" y="5120640"/>
            <a:ext cx="438913" cy="0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3" name="Connector 262"/>
          <p:cNvCxnSpPr/>
          <p:nvPr/>
        </p:nvCxnSpPr>
        <p:spPr>
          <a:xfrm flipV="1">
            <a:off x="6766560" y="3017520"/>
            <a:ext cx="0" cy="32004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4" name="Connector 263"/>
          <p:cNvCxnSpPr/>
          <p:nvPr/>
        </p:nvCxnSpPr>
        <p:spPr>
          <a:xfrm>
            <a:off x="6766560" y="3017520"/>
            <a:ext cx="960119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5" name="Connector 264"/>
          <p:cNvCxnSpPr/>
          <p:nvPr/>
        </p:nvCxnSpPr>
        <p:spPr>
          <a:xfrm>
            <a:off x="7726679" y="3017520"/>
            <a:ext cx="0" cy="2162556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6" name="Freeform 265"/>
          <p:cNvSpPr/>
          <p:nvPr/>
        </p:nvSpPr>
        <p:spPr>
          <a:xfrm>
            <a:off x="7726679" y="5180076"/>
            <a:ext cx="77725" cy="155448"/>
          </a:xfrm>
          <a:custGeom>
            <a:avLst/>
            <a:gdLst/>
            <a:ahLst/>
            <a:cxnLst/>
            <a:rect l="l" t="t" r="r" b="b"/>
            <a:pathLst>
              <a:path w="77725" h="155448">
                <a:moveTo>
                  <a:pt x="0" y="155448"/>
                </a:moveTo>
                <a:lnTo>
                  <a:pt x="38863" y="145034"/>
                </a:lnTo>
                <a:lnTo>
                  <a:pt x="67311" y="116586"/>
                </a:lnTo>
                <a:lnTo>
                  <a:pt x="77725" y="77724"/>
                </a:lnTo>
                <a:lnTo>
                  <a:pt x="67311" y="38862"/>
                </a:lnTo>
                <a:lnTo>
                  <a:pt x="38863" y="10413"/>
                </a:lnTo>
                <a:lnTo>
                  <a:pt x="0" y="0"/>
                </a:lnTo>
              </a:path>
            </a:pathLst>
          </a:custGeom>
          <a:noFill/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7" name="Connector 266"/>
          <p:cNvCxnSpPr/>
          <p:nvPr/>
        </p:nvCxnSpPr>
        <p:spPr>
          <a:xfrm>
            <a:off x="7726679" y="5335524"/>
            <a:ext cx="0" cy="256032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8" name="Freeform 267"/>
          <p:cNvSpPr/>
          <p:nvPr/>
        </p:nvSpPr>
        <p:spPr>
          <a:xfrm>
            <a:off x="7726679" y="5591556"/>
            <a:ext cx="77725" cy="155448"/>
          </a:xfrm>
          <a:custGeom>
            <a:avLst/>
            <a:gdLst/>
            <a:ahLst/>
            <a:cxnLst/>
            <a:rect l="l" t="t" r="r" b="b"/>
            <a:pathLst>
              <a:path w="77725" h="155448">
                <a:moveTo>
                  <a:pt x="0" y="155448"/>
                </a:moveTo>
                <a:lnTo>
                  <a:pt x="38863" y="145034"/>
                </a:lnTo>
                <a:lnTo>
                  <a:pt x="67311" y="116586"/>
                </a:lnTo>
                <a:lnTo>
                  <a:pt x="77725" y="77724"/>
                </a:lnTo>
                <a:lnTo>
                  <a:pt x="67311" y="38862"/>
                </a:lnTo>
                <a:lnTo>
                  <a:pt x="38863" y="10413"/>
                </a:lnTo>
                <a:lnTo>
                  <a:pt x="0" y="0"/>
                </a:lnTo>
              </a:path>
            </a:pathLst>
          </a:custGeom>
          <a:noFill/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9" name="Connector 268"/>
          <p:cNvCxnSpPr/>
          <p:nvPr/>
        </p:nvCxnSpPr>
        <p:spPr>
          <a:xfrm>
            <a:off x="7726679" y="5747004"/>
            <a:ext cx="0" cy="132588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0" name="TextBox 269"/>
          <p:cNvSpPr txBox="1"/>
          <p:nvPr/>
        </p:nvSpPr>
        <p:spPr>
          <a:xfrm>
            <a:off x="7754112" y="3200400"/>
            <a:ext cx="658368" cy="1005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59" b="0">
                <a:solidFill>
                  <a:srgbClr val="000000"/>
                </a:solidFill>
                <a:latin typeface="Arial"/>
              </a:rPr>
              <a:t>DN350-PG-105</a:t>
            </a:r>
          </a:p>
        </p:txBody>
      </p:sp>
      <p:sp>
        <p:nvSpPr>
          <p:cNvPr id="271" name="Oval 270"/>
          <p:cNvSpPr/>
          <p:nvPr/>
        </p:nvSpPr>
        <p:spPr>
          <a:xfrm>
            <a:off x="7239762" y="2987801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2" name="Connector 271"/>
          <p:cNvCxnSpPr/>
          <p:nvPr/>
        </p:nvCxnSpPr>
        <p:spPr>
          <a:xfrm flipV="1">
            <a:off x="7269480" y="2798064"/>
            <a:ext cx="0" cy="219456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3" name="Freeform 272"/>
          <p:cNvSpPr/>
          <p:nvPr/>
        </p:nvSpPr>
        <p:spPr>
          <a:xfrm>
            <a:off x="7214616" y="2798064"/>
            <a:ext cx="109728" cy="164592"/>
          </a:xfrm>
          <a:custGeom>
            <a:avLst/>
            <a:gdLst/>
            <a:ahLst/>
            <a:cxnLst/>
            <a:rect l="l" t="t" r="r" b="b"/>
            <a:pathLst>
              <a:path w="109728" h="164592">
                <a:moveTo>
                  <a:pt x="0" y="0"/>
                </a:moveTo>
                <a:lnTo>
                  <a:pt x="109728" y="164592"/>
                </a:lnTo>
                <a:lnTo>
                  <a:pt x="0" y="164592"/>
                </a:lnTo>
                <a:lnTo>
                  <a:pt x="109728" y="0"/>
                </a:lnTo>
                <a:close/>
              </a:path>
            </a:pathLst>
          </a:cu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4" name="Connector 273"/>
          <p:cNvCxnSpPr/>
          <p:nvPr/>
        </p:nvCxnSpPr>
        <p:spPr>
          <a:xfrm>
            <a:off x="7214616" y="2784348"/>
            <a:ext cx="109728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5" name="TextBox 274"/>
          <p:cNvSpPr txBox="1"/>
          <p:nvPr/>
        </p:nvSpPr>
        <p:spPr>
          <a:xfrm>
            <a:off x="7333488" y="2770632"/>
            <a:ext cx="457200" cy="914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40" b="1">
                <a:solidFill>
                  <a:srgbClr val="000000"/>
                </a:solidFill>
                <a:latin typeface="Arial"/>
              </a:rPr>
              <a:t>MV-134 VENT</a:t>
            </a:r>
          </a:p>
        </p:txBody>
      </p:sp>
      <p:sp>
        <p:nvSpPr>
          <p:cNvPr id="276" name="Oval 275"/>
          <p:cNvSpPr/>
          <p:nvPr/>
        </p:nvSpPr>
        <p:spPr>
          <a:xfrm>
            <a:off x="6462522" y="4679442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7" name="Connector 276"/>
          <p:cNvCxnSpPr/>
          <p:nvPr/>
        </p:nvCxnSpPr>
        <p:spPr>
          <a:xfrm flipH="1">
            <a:off x="6291072" y="4709160"/>
            <a:ext cx="201168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8" name="Oval 277"/>
          <p:cNvSpPr/>
          <p:nvPr/>
        </p:nvSpPr>
        <p:spPr>
          <a:xfrm>
            <a:off x="5961888" y="4544568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LIC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107</a:t>
            </a:r>
          </a:p>
        </p:txBody>
      </p:sp>
      <p:cxnSp>
        <p:nvCxnSpPr>
          <p:cNvPr id="279" name="Connector 278"/>
          <p:cNvCxnSpPr/>
          <p:nvPr/>
        </p:nvCxnSpPr>
        <p:spPr>
          <a:xfrm>
            <a:off x="5961888" y="4709160"/>
            <a:ext cx="329184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0" name="Oval 279"/>
          <p:cNvSpPr/>
          <p:nvPr/>
        </p:nvSpPr>
        <p:spPr>
          <a:xfrm>
            <a:off x="6462522" y="5136642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1" name="Connector 280"/>
          <p:cNvCxnSpPr/>
          <p:nvPr/>
        </p:nvCxnSpPr>
        <p:spPr>
          <a:xfrm flipH="1">
            <a:off x="6318504" y="5166360"/>
            <a:ext cx="173736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2" name="Rectangle 281"/>
          <p:cNvSpPr/>
          <p:nvPr/>
        </p:nvSpPr>
        <p:spPr>
          <a:xfrm>
            <a:off x="5934456" y="4974336"/>
            <a:ext cx="384048" cy="384048"/>
          </a:xfrm>
          <a:prstGeom prst="rect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Oval 282"/>
          <p:cNvSpPr/>
          <p:nvPr/>
        </p:nvSpPr>
        <p:spPr>
          <a:xfrm>
            <a:off x="5961888" y="5001768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LSHH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107</a:t>
            </a:r>
          </a:p>
        </p:txBody>
      </p:sp>
      <p:cxnSp>
        <p:nvCxnSpPr>
          <p:cNvPr id="284" name="Connector 283"/>
          <p:cNvCxnSpPr/>
          <p:nvPr/>
        </p:nvCxnSpPr>
        <p:spPr>
          <a:xfrm>
            <a:off x="5961888" y="5166360"/>
            <a:ext cx="329184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5" name="Connector 284"/>
          <p:cNvCxnSpPr/>
          <p:nvPr/>
        </p:nvCxnSpPr>
        <p:spPr>
          <a:xfrm>
            <a:off x="6766560" y="5532120"/>
            <a:ext cx="0" cy="13716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6" name="Connector 285"/>
          <p:cNvCxnSpPr/>
          <p:nvPr/>
        </p:nvCxnSpPr>
        <p:spPr>
          <a:xfrm>
            <a:off x="6766560" y="5669280"/>
            <a:ext cx="1325880" cy="0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7" name="Freeform 286"/>
          <p:cNvSpPr/>
          <p:nvPr/>
        </p:nvSpPr>
        <p:spPr>
          <a:xfrm>
            <a:off x="6967728" y="5591556"/>
            <a:ext cx="237744" cy="155448"/>
          </a:xfrm>
          <a:custGeom>
            <a:avLst/>
            <a:gdLst/>
            <a:ahLst/>
            <a:cxnLst/>
            <a:rect l="l" t="t" r="r" b="b"/>
            <a:pathLst>
              <a:path w="237744" h="155448">
                <a:moveTo>
                  <a:pt x="0" y="0"/>
                </a:moveTo>
                <a:lnTo>
                  <a:pt x="237744" y="155448"/>
                </a:lnTo>
                <a:lnTo>
                  <a:pt x="237744" y="0"/>
                </a:lnTo>
                <a:lnTo>
                  <a:pt x="0" y="155448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8" name="Connector 287"/>
          <p:cNvCxnSpPr/>
          <p:nvPr/>
        </p:nvCxnSpPr>
        <p:spPr>
          <a:xfrm flipV="1">
            <a:off x="7086600" y="5468112"/>
            <a:ext cx="0" cy="123444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9" name="Freeform 288"/>
          <p:cNvSpPr/>
          <p:nvPr/>
        </p:nvSpPr>
        <p:spPr>
          <a:xfrm>
            <a:off x="6958584" y="5351045"/>
            <a:ext cx="256032" cy="117067"/>
          </a:xfrm>
          <a:custGeom>
            <a:avLst/>
            <a:gdLst/>
            <a:ahLst/>
            <a:cxnLst/>
            <a:rect l="l" t="t" r="r" b="b"/>
            <a:pathLst>
              <a:path w="256032" h="117067">
                <a:moveTo>
                  <a:pt x="0" y="117067"/>
                </a:moveTo>
                <a:lnTo>
                  <a:pt x="7720" y="76410"/>
                </a:lnTo>
                <a:lnTo>
                  <a:pt x="29950" y="40657"/>
                </a:lnTo>
                <a:lnTo>
                  <a:pt x="64008" y="14120"/>
                </a:lnTo>
                <a:lnTo>
                  <a:pt x="105786" y="0"/>
                </a:lnTo>
                <a:lnTo>
                  <a:pt x="150245" y="0"/>
                </a:lnTo>
                <a:lnTo>
                  <a:pt x="192024" y="14120"/>
                </a:lnTo>
                <a:lnTo>
                  <a:pt x="226081" y="40657"/>
                </a:lnTo>
                <a:lnTo>
                  <a:pt x="248311" y="76410"/>
                </a:lnTo>
                <a:lnTo>
                  <a:pt x="256032" y="117067"/>
                </a:lnTo>
                <a:close/>
              </a:path>
            </a:pathLst>
          </a:cu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TextBox 289"/>
          <p:cNvSpPr txBox="1"/>
          <p:nvPr/>
        </p:nvSpPr>
        <p:spPr>
          <a:xfrm>
            <a:off x="7242048" y="5340096"/>
            <a:ext cx="201168" cy="914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1">
                <a:solidFill>
                  <a:srgbClr val="000000"/>
                </a:solidFill>
                <a:latin typeface="Arial"/>
              </a:rPr>
              <a:t>FC</a:t>
            </a:r>
          </a:p>
        </p:txBody>
      </p:sp>
      <p:sp>
        <p:nvSpPr>
          <p:cNvPr id="291" name="TextBox 290"/>
          <p:cNvSpPr txBox="1"/>
          <p:nvPr/>
        </p:nvSpPr>
        <p:spPr>
          <a:xfrm>
            <a:off x="6812280" y="5779008"/>
            <a:ext cx="548640" cy="1097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/>
            </a:r>
          </a:p>
        </p:txBody>
      </p:sp>
      <p:sp>
        <p:nvSpPr>
          <p:cNvPr id="292" name="TextBox 291"/>
          <p:cNvSpPr txBox="1"/>
          <p:nvPr/>
        </p:nvSpPr>
        <p:spPr>
          <a:xfrm>
            <a:off x="6720840" y="5358384"/>
            <a:ext cx="228600" cy="1005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20" b="1">
                <a:solidFill>
                  <a:srgbClr val="000000"/>
                </a:solidFill>
                <a:latin typeface="Arial"/>
              </a:rPr>
              <a:t>LV-107</a:t>
            </a:r>
          </a:p>
        </p:txBody>
      </p:sp>
      <p:sp>
        <p:nvSpPr>
          <p:cNvPr id="293" name="TextBox 292"/>
          <p:cNvSpPr txBox="1"/>
          <p:nvPr/>
        </p:nvSpPr>
        <p:spPr>
          <a:xfrm>
            <a:off x="8119872" y="5614416"/>
            <a:ext cx="137160" cy="1005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80" b="1">
                <a:solidFill>
                  <a:srgbClr val="000000"/>
                </a:solidFill>
                <a:latin typeface="Arial"/>
              </a:rPr>
              <a:t>CD</a:t>
            </a:r>
          </a:p>
        </p:txBody>
      </p:sp>
      <p:sp>
        <p:nvSpPr>
          <p:cNvPr id="294" name="TextBox 293"/>
          <p:cNvSpPr txBox="1"/>
          <p:nvPr/>
        </p:nvSpPr>
        <p:spPr>
          <a:xfrm>
            <a:off x="7424927" y="5532120"/>
            <a:ext cx="274320" cy="914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40" b="0">
                <a:solidFill>
                  <a:srgbClr val="000000"/>
                </a:solidFill>
                <a:latin typeface="Arial"/>
              </a:rPr>
              <a:t>STR. 10</a:t>
            </a:r>
          </a:p>
        </p:txBody>
      </p:sp>
      <p:sp>
        <p:nvSpPr>
          <p:cNvPr id="295" name="TextBox 294"/>
          <p:cNvSpPr txBox="1"/>
          <p:nvPr/>
        </p:nvSpPr>
        <p:spPr>
          <a:xfrm>
            <a:off x="7836408" y="5532120"/>
            <a:ext cx="411480" cy="914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40" b="0">
                <a:solidFill>
                  <a:srgbClr val="000000"/>
                </a:solidFill>
                <a:latin typeface="Arial"/>
              </a:rPr>
              <a:t>DN50-CD-111</a:t>
            </a:r>
          </a:p>
        </p:txBody>
      </p:sp>
      <p:sp>
        <p:nvSpPr>
          <p:cNvPr id="296" name="Oval 295"/>
          <p:cNvSpPr/>
          <p:nvPr/>
        </p:nvSpPr>
        <p:spPr>
          <a:xfrm>
            <a:off x="6736842" y="5575554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7" name="Connector 296"/>
          <p:cNvCxnSpPr/>
          <p:nvPr/>
        </p:nvCxnSpPr>
        <p:spPr>
          <a:xfrm flipH="1">
            <a:off x="6473952" y="5605272"/>
            <a:ext cx="292608" cy="0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8" name="Freeform 297"/>
          <p:cNvSpPr/>
          <p:nvPr/>
        </p:nvSpPr>
        <p:spPr>
          <a:xfrm>
            <a:off x="6537960" y="5550408"/>
            <a:ext cx="164592" cy="109728"/>
          </a:xfrm>
          <a:custGeom>
            <a:avLst/>
            <a:gdLst/>
            <a:ahLst/>
            <a:cxnLst/>
            <a:rect l="l" t="t" r="r" b="b"/>
            <a:pathLst>
              <a:path w="164592" h="109728">
                <a:moveTo>
                  <a:pt x="0" y="0"/>
                </a:moveTo>
                <a:lnTo>
                  <a:pt x="164592" y="109728"/>
                </a:lnTo>
                <a:lnTo>
                  <a:pt x="164592" y="0"/>
                </a:lnTo>
                <a:lnTo>
                  <a:pt x="0" y="109728"/>
                </a:lnTo>
                <a:close/>
              </a:path>
            </a:pathLst>
          </a:cu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TextBox 298"/>
          <p:cNvSpPr txBox="1"/>
          <p:nvPr/>
        </p:nvSpPr>
        <p:spPr>
          <a:xfrm>
            <a:off x="6217920" y="5559552"/>
            <a:ext cx="237744" cy="914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459" b="1">
                <a:solidFill>
                  <a:srgbClr val="000000"/>
                </a:solidFill>
                <a:latin typeface="Arial"/>
              </a:rPr>
              <a:t>CD</a:t>
            </a:r>
          </a:p>
        </p:txBody>
      </p:sp>
      <p:sp>
        <p:nvSpPr>
          <p:cNvPr id="300" name="TextBox 299"/>
          <p:cNvSpPr txBox="1"/>
          <p:nvPr/>
        </p:nvSpPr>
        <p:spPr>
          <a:xfrm>
            <a:off x="6437376" y="5660136"/>
            <a:ext cx="310896" cy="914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1">
                <a:solidFill>
                  <a:srgbClr val="000000"/>
                </a:solidFill>
                <a:latin typeface="Arial"/>
              </a:rPr>
              <a:t>MV-131</a:t>
            </a:r>
          </a:p>
        </p:txBody>
      </p:sp>
      <p:sp>
        <p:nvSpPr>
          <p:cNvPr id="301" name="Oval 300"/>
          <p:cNvSpPr/>
          <p:nvPr/>
        </p:nvSpPr>
        <p:spPr>
          <a:xfrm>
            <a:off x="7011162" y="3902202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2" name="Connector 301"/>
          <p:cNvCxnSpPr/>
          <p:nvPr/>
        </p:nvCxnSpPr>
        <p:spPr>
          <a:xfrm>
            <a:off x="7040880" y="3931920"/>
            <a:ext cx="64008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3" name="Oval 302"/>
          <p:cNvSpPr/>
          <p:nvPr/>
        </p:nvSpPr>
        <p:spPr>
          <a:xfrm>
            <a:off x="7104888" y="3767328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PI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107</a:t>
            </a:r>
          </a:p>
        </p:txBody>
      </p:sp>
      <p:cxnSp>
        <p:nvCxnSpPr>
          <p:cNvPr id="304" name="Connector 303"/>
          <p:cNvCxnSpPr/>
          <p:nvPr/>
        </p:nvCxnSpPr>
        <p:spPr>
          <a:xfrm>
            <a:off x="7104888" y="3931920"/>
            <a:ext cx="329184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5" name="Connector 304"/>
          <p:cNvCxnSpPr/>
          <p:nvPr/>
        </p:nvCxnSpPr>
        <p:spPr>
          <a:xfrm>
            <a:off x="7616952" y="4498848"/>
            <a:ext cx="219455" cy="0"/>
          </a:xfrm>
          <a:prstGeom prst="line">
            <a:avLst/>
          </a:prstGeom>
          <a:ln w="2032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6" name="Connector 305"/>
          <p:cNvCxnSpPr/>
          <p:nvPr/>
        </p:nvCxnSpPr>
        <p:spPr>
          <a:xfrm>
            <a:off x="7616952" y="4553712"/>
            <a:ext cx="219455" cy="0"/>
          </a:xfrm>
          <a:prstGeom prst="line">
            <a:avLst/>
          </a:prstGeom>
          <a:ln w="2032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7" name="Connector 306"/>
          <p:cNvCxnSpPr/>
          <p:nvPr/>
        </p:nvCxnSpPr>
        <p:spPr>
          <a:xfrm>
            <a:off x="7836407" y="4526280"/>
            <a:ext cx="45720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8" name="Oval 307"/>
          <p:cNvSpPr/>
          <p:nvPr/>
        </p:nvSpPr>
        <p:spPr>
          <a:xfrm>
            <a:off x="7882128" y="4361688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FI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108</a:t>
            </a:r>
          </a:p>
        </p:txBody>
      </p:sp>
      <p:cxnSp>
        <p:nvCxnSpPr>
          <p:cNvPr id="309" name="Connector 308"/>
          <p:cNvCxnSpPr/>
          <p:nvPr/>
        </p:nvCxnSpPr>
        <p:spPr>
          <a:xfrm>
            <a:off x="7882128" y="4526280"/>
            <a:ext cx="329184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0" name="Oval 309"/>
          <p:cNvSpPr/>
          <p:nvPr/>
        </p:nvSpPr>
        <p:spPr>
          <a:xfrm>
            <a:off x="7882128" y="4773168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UIC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108</a:t>
            </a:r>
          </a:p>
        </p:txBody>
      </p:sp>
      <p:cxnSp>
        <p:nvCxnSpPr>
          <p:cNvPr id="311" name="Connector 310"/>
          <p:cNvCxnSpPr/>
          <p:nvPr/>
        </p:nvCxnSpPr>
        <p:spPr>
          <a:xfrm>
            <a:off x="7882128" y="4937760"/>
            <a:ext cx="329184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2" name="Connector 311"/>
          <p:cNvCxnSpPr/>
          <p:nvPr/>
        </p:nvCxnSpPr>
        <p:spPr>
          <a:xfrm>
            <a:off x="8046720" y="4690872"/>
            <a:ext cx="0" cy="82296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3" name="Connector 312"/>
          <p:cNvCxnSpPr/>
          <p:nvPr/>
        </p:nvCxnSpPr>
        <p:spPr>
          <a:xfrm>
            <a:off x="8275320" y="2103120"/>
            <a:ext cx="0" cy="3076956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4" name="Freeform 313"/>
          <p:cNvSpPr/>
          <p:nvPr/>
        </p:nvSpPr>
        <p:spPr>
          <a:xfrm>
            <a:off x="8275320" y="5180076"/>
            <a:ext cx="77724" cy="155448"/>
          </a:xfrm>
          <a:custGeom>
            <a:avLst/>
            <a:gdLst/>
            <a:ahLst/>
            <a:cxnLst/>
            <a:rect l="l" t="t" r="r" b="b"/>
            <a:pathLst>
              <a:path w="77724" h="155448">
                <a:moveTo>
                  <a:pt x="0" y="155448"/>
                </a:moveTo>
                <a:lnTo>
                  <a:pt x="38862" y="145034"/>
                </a:lnTo>
                <a:lnTo>
                  <a:pt x="67310" y="116586"/>
                </a:lnTo>
                <a:lnTo>
                  <a:pt x="77724" y="77724"/>
                </a:lnTo>
                <a:lnTo>
                  <a:pt x="67310" y="38862"/>
                </a:lnTo>
                <a:lnTo>
                  <a:pt x="38862" y="10413"/>
                </a:lnTo>
                <a:lnTo>
                  <a:pt x="0" y="0"/>
                </a:lnTo>
              </a:path>
            </a:pathLst>
          </a:custGeom>
          <a:noFill/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15" name="Connector 314"/>
          <p:cNvCxnSpPr/>
          <p:nvPr/>
        </p:nvCxnSpPr>
        <p:spPr>
          <a:xfrm>
            <a:off x="8275320" y="5335524"/>
            <a:ext cx="0" cy="653796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6" name="Connector 315"/>
          <p:cNvCxnSpPr/>
          <p:nvPr/>
        </p:nvCxnSpPr>
        <p:spPr>
          <a:xfrm>
            <a:off x="8275320" y="2103120"/>
            <a:ext cx="502920" cy="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7" name="TextBox 316"/>
          <p:cNvSpPr txBox="1"/>
          <p:nvPr/>
        </p:nvSpPr>
        <p:spPr>
          <a:xfrm>
            <a:off x="8321040" y="3611880"/>
            <a:ext cx="658368" cy="1005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DN300-PG-106</a:t>
            </a:r>
          </a:p>
        </p:txBody>
      </p:sp>
      <p:sp>
        <p:nvSpPr>
          <p:cNvPr id="318" name="TextBox 317"/>
          <p:cNvSpPr txBox="1"/>
          <p:nvPr/>
        </p:nvSpPr>
        <p:spPr>
          <a:xfrm>
            <a:off x="10131552" y="3246120"/>
            <a:ext cx="566928" cy="1005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59" b="0">
                <a:solidFill>
                  <a:srgbClr val="000000"/>
                </a:solidFill>
                <a:latin typeface="Arial"/>
              </a:rPr>
              <a:t>DN300-PG-113</a:t>
            </a:r>
          </a:p>
        </p:txBody>
      </p:sp>
      <p:sp>
        <p:nvSpPr>
          <p:cNvPr id="319" name="Oval 318"/>
          <p:cNvSpPr/>
          <p:nvPr/>
        </p:nvSpPr>
        <p:spPr>
          <a:xfrm>
            <a:off x="8245602" y="3079241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20" name="Connector 319"/>
          <p:cNvCxnSpPr/>
          <p:nvPr/>
        </p:nvCxnSpPr>
        <p:spPr>
          <a:xfrm>
            <a:off x="8275320" y="3108960"/>
            <a:ext cx="228600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1" name="Oval 320"/>
          <p:cNvSpPr/>
          <p:nvPr/>
        </p:nvSpPr>
        <p:spPr>
          <a:xfrm>
            <a:off x="8503920" y="2944368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PI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109</a:t>
            </a:r>
          </a:p>
        </p:txBody>
      </p:sp>
      <p:cxnSp>
        <p:nvCxnSpPr>
          <p:cNvPr id="322" name="Connector 321"/>
          <p:cNvCxnSpPr/>
          <p:nvPr/>
        </p:nvCxnSpPr>
        <p:spPr>
          <a:xfrm>
            <a:off x="8503920" y="3108960"/>
            <a:ext cx="329184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3" name="Oval 322"/>
          <p:cNvSpPr/>
          <p:nvPr/>
        </p:nvSpPr>
        <p:spPr>
          <a:xfrm>
            <a:off x="8245602" y="3993642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24" name="Connector 323"/>
          <p:cNvCxnSpPr/>
          <p:nvPr/>
        </p:nvCxnSpPr>
        <p:spPr>
          <a:xfrm>
            <a:off x="8275320" y="4023360"/>
            <a:ext cx="228600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5" name="Oval 324"/>
          <p:cNvSpPr/>
          <p:nvPr/>
        </p:nvSpPr>
        <p:spPr>
          <a:xfrm>
            <a:off x="8503920" y="3858768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TI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109</a:t>
            </a:r>
          </a:p>
        </p:txBody>
      </p:sp>
      <p:cxnSp>
        <p:nvCxnSpPr>
          <p:cNvPr id="326" name="Connector 325"/>
          <p:cNvCxnSpPr/>
          <p:nvPr/>
        </p:nvCxnSpPr>
        <p:spPr>
          <a:xfrm>
            <a:off x="8503920" y="4023360"/>
            <a:ext cx="329184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7" name="Connector 326"/>
          <p:cNvCxnSpPr/>
          <p:nvPr/>
        </p:nvCxnSpPr>
        <p:spPr>
          <a:xfrm>
            <a:off x="8833104" y="4023360"/>
            <a:ext cx="64008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8" name="Rectangle 327"/>
          <p:cNvSpPr/>
          <p:nvPr/>
        </p:nvSpPr>
        <p:spPr>
          <a:xfrm>
            <a:off x="8897111" y="3831336"/>
            <a:ext cx="384048" cy="384048"/>
          </a:xfrm>
          <a:prstGeom prst="rect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" name="Oval 328"/>
          <p:cNvSpPr/>
          <p:nvPr/>
        </p:nvSpPr>
        <p:spPr>
          <a:xfrm>
            <a:off x="8924544" y="3858768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TSHH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109</a:t>
            </a:r>
          </a:p>
        </p:txBody>
      </p:sp>
      <p:cxnSp>
        <p:nvCxnSpPr>
          <p:cNvPr id="330" name="Connector 329"/>
          <p:cNvCxnSpPr/>
          <p:nvPr/>
        </p:nvCxnSpPr>
        <p:spPr>
          <a:xfrm>
            <a:off x="8924544" y="4023360"/>
            <a:ext cx="329184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1" name="Connector 330"/>
          <p:cNvCxnSpPr/>
          <p:nvPr/>
        </p:nvCxnSpPr>
        <p:spPr>
          <a:xfrm>
            <a:off x="7955279" y="6629400"/>
            <a:ext cx="0" cy="50292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2" name="Oval 331"/>
          <p:cNvSpPr/>
          <p:nvPr/>
        </p:nvSpPr>
        <p:spPr>
          <a:xfrm>
            <a:off x="7790688" y="7132320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VI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110</a:t>
            </a:r>
          </a:p>
        </p:txBody>
      </p:sp>
      <p:cxnSp>
        <p:nvCxnSpPr>
          <p:cNvPr id="333" name="Connector 332"/>
          <p:cNvCxnSpPr/>
          <p:nvPr/>
        </p:nvCxnSpPr>
        <p:spPr>
          <a:xfrm>
            <a:off x="7790688" y="7296912"/>
            <a:ext cx="329183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4" name="Connector 333"/>
          <p:cNvCxnSpPr/>
          <p:nvPr/>
        </p:nvCxnSpPr>
        <p:spPr>
          <a:xfrm>
            <a:off x="8119872" y="7296912"/>
            <a:ext cx="109728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5" name="Rectangle 334"/>
          <p:cNvSpPr/>
          <p:nvPr/>
        </p:nvSpPr>
        <p:spPr>
          <a:xfrm>
            <a:off x="8229600" y="7104888"/>
            <a:ext cx="384048" cy="384048"/>
          </a:xfrm>
          <a:prstGeom prst="rect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" name="Oval 335"/>
          <p:cNvSpPr/>
          <p:nvPr/>
        </p:nvSpPr>
        <p:spPr>
          <a:xfrm>
            <a:off x="8257032" y="7132320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VSHH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110</a:t>
            </a:r>
          </a:p>
        </p:txBody>
      </p:sp>
      <p:cxnSp>
        <p:nvCxnSpPr>
          <p:cNvPr id="337" name="Connector 336"/>
          <p:cNvCxnSpPr/>
          <p:nvPr/>
        </p:nvCxnSpPr>
        <p:spPr>
          <a:xfrm>
            <a:off x="8257032" y="7296912"/>
            <a:ext cx="329184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8" name="Connector 337"/>
          <p:cNvCxnSpPr/>
          <p:nvPr/>
        </p:nvCxnSpPr>
        <p:spPr>
          <a:xfrm flipV="1">
            <a:off x="10058400" y="1143000"/>
            <a:ext cx="0" cy="96012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9" name="Oval 338"/>
          <p:cNvSpPr/>
          <p:nvPr/>
        </p:nvSpPr>
        <p:spPr>
          <a:xfrm>
            <a:off x="10028682" y="2073401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40" name="Connector 339"/>
          <p:cNvCxnSpPr/>
          <p:nvPr/>
        </p:nvCxnSpPr>
        <p:spPr>
          <a:xfrm flipH="1">
            <a:off x="4892040" y="1143000"/>
            <a:ext cx="516636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1" name="Connector 340"/>
          <p:cNvCxnSpPr/>
          <p:nvPr/>
        </p:nvCxnSpPr>
        <p:spPr>
          <a:xfrm>
            <a:off x="4892040" y="1143000"/>
            <a:ext cx="0" cy="96012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2" name="Oval 341"/>
          <p:cNvSpPr/>
          <p:nvPr/>
        </p:nvSpPr>
        <p:spPr>
          <a:xfrm>
            <a:off x="4862322" y="2073401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" name="Freeform 342"/>
          <p:cNvSpPr/>
          <p:nvPr/>
        </p:nvSpPr>
        <p:spPr>
          <a:xfrm>
            <a:off x="7379207" y="1065276"/>
            <a:ext cx="237745" cy="155448"/>
          </a:xfrm>
          <a:custGeom>
            <a:avLst/>
            <a:gdLst/>
            <a:ahLst/>
            <a:cxnLst/>
            <a:rect l="l" t="t" r="r" b="b"/>
            <a:pathLst>
              <a:path w="237745" h="155448">
                <a:moveTo>
                  <a:pt x="0" y="0"/>
                </a:moveTo>
                <a:lnTo>
                  <a:pt x="237745" y="155448"/>
                </a:lnTo>
                <a:lnTo>
                  <a:pt x="237745" y="0"/>
                </a:lnTo>
                <a:lnTo>
                  <a:pt x="0" y="155448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44" name="Connector 343"/>
          <p:cNvCxnSpPr/>
          <p:nvPr/>
        </p:nvCxnSpPr>
        <p:spPr>
          <a:xfrm flipV="1">
            <a:off x="7498079" y="941832"/>
            <a:ext cx="0" cy="123444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5" name="Freeform 344"/>
          <p:cNvSpPr/>
          <p:nvPr/>
        </p:nvSpPr>
        <p:spPr>
          <a:xfrm>
            <a:off x="7370063" y="824765"/>
            <a:ext cx="256033" cy="117067"/>
          </a:xfrm>
          <a:custGeom>
            <a:avLst/>
            <a:gdLst/>
            <a:ahLst/>
            <a:cxnLst/>
            <a:rect l="l" t="t" r="r" b="b"/>
            <a:pathLst>
              <a:path w="256033" h="117067">
                <a:moveTo>
                  <a:pt x="0" y="117067"/>
                </a:moveTo>
                <a:lnTo>
                  <a:pt x="7721" y="76410"/>
                </a:lnTo>
                <a:lnTo>
                  <a:pt x="29951" y="40657"/>
                </a:lnTo>
                <a:lnTo>
                  <a:pt x="64008" y="14120"/>
                </a:lnTo>
                <a:lnTo>
                  <a:pt x="105787" y="0"/>
                </a:lnTo>
                <a:lnTo>
                  <a:pt x="150246" y="0"/>
                </a:lnTo>
                <a:lnTo>
                  <a:pt x="192025" y="14120"/>
                </a:lnTo>
                <a:lnTo>
                  <a:pt x="226082" y="40657"/>
                </a:lnTo>
                <a:lnTo>
                  <a:pt x="248312" y="76410"/>
                </a:lnTo>
                <a:lnTo>
                  <a:pt x="256033" y="117067"/>
                </a:lnTo>
                <a:close/>
              </a:path>
            </a:pathLst>
          </a:cu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" name="TextBox 345"/>
          <p:cNvSpPr txBox="1"/>
          <p:nvPr/>
        </p:nvSpPr>
        <p:spPr>
          <a:xfrm>
            <a:off x="7653527" y="813816"/>
            <a:ext cx="201168" cy="914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1">
                <a:solidFill>
                  <a:srgbClr val="000000"/>
                </a:solidFill>
                <a:latin typeface="Arial"/>
              </a:rPr>
              <a:t>FO</a:t>
            </a:r>
          </a:p>
        </p:txBody>
      </p:sp>
      <p:sp>
        <p:nvSpPr>
          <p:cNvPr id="347" name="TextBox 346"/>
          <p:cNvSpPr txBox="1"/>
          <p:nvPr/>
        </p:nvSpPr>
        <p:spPr>
          <a:xfrm>
            <a:off x="7223759" y="1252728"/>
            <a:ext cx="548640" cy="1097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UV-108</a:t>
            </a:r>
          </a:p>
        </p:txBody>
      </p:sp>
      <p:sp>
        <p:nvSpPr>
          <p:cNvPr id="348" name="TextBox 347"/>
          <p:cNvSpPr txBox="1"/>
          <p:nvPr/>
        </p:nvSpPr>
        <p:spPr>
          <a:xfrm>
            <a:off x="7818120" y="1188720"/>
            <a:ext cx="822960" cy="1005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DN250-PG-107</a:t>
            </a:r>
          </a:p>
        </p:txBody>
      </p:sp>
      <p:sp>
        <p:nvSpPr>
          <p:cNvPr id="349" name="TextBox 348"/>
          <p:cNvSpPr txBox="1"/>
          <p:nvPr/>
        </p:nvSpPr>
        <p:spPr>
          <a:xfrm>
            <a:off x="4956048" y="1188720"/>
            <a:ext cx="731520" cy="1005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HP RECYCLE</a:t>
            </a:r>
          </a:p>
        </p:txBody>
      </p:sp>
      <p:sp>
        <p:nvSpPr>
          <p:cNvPr id="350" name="Rectangle 349"/>
          <p:cNvSpPr/>
          <p:nvPr/>
        </p:nvSpPr>
        <p:spPr>
          <a:xfrm>
            <a:off x="8778240" y="1920239"/>
            <a:ext cx="1097280" cy="365760"/>
          </a:xfrm>
          <a:prstGeom prst="rect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51" name="Connector 350"/>
          <p:cNvCxnSpPr/>
          <p:nvPr/>
        </p:nvCxnSpPr>
        <p:spPr>
          <a:xfrm>
            <a:off x="8915400" y="1975103"/>
            <a:ext cx="68580" cy="256033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2" name="Connector 351"/>
          <p:cNvCxnSpPr/>
          <p:nvPr/>
        </p:nvCxnSpPr>
        <p:spPr>
          <a:xfrm flipV="1">
            <a:off x="8983980" y="1975103"/>
            <a:ext cx="68580" cy="256033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3" name="Connector 352"/>
          <p:cNvCxnSpPr/>
          <p:nvPr/>
        </p:nvCxnSpPr>
        <p:spPr>
          <a:xfrm>
            <a:off x="9052560" y="1975103"/>
            <a:ext cx="68580" cy="256033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4" name="Connector 353"/>
          <p:cNvCxnSpPr/>
          <p:nvPr/>
        </p:nvCxnSpPr>
        <p:spPr>
          <a:xfrm flipV="1">
            <a:off x="9121140" y="1975103"/>
            <a:ext cx="68580" cy="256033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5" name="Connector 354"/>
          <p:cNvCxnSpPr/>
          <p:nvPr/>
        </p:nvCxnSpPr>
        <p:spPr>
          <a:xfrm>
            <a:off x="9189720" y="1975103"/>
            <a:ext cx="68580" cy="256033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6" name="Connector 355"/>
          <p:cNvCxnSpPr/>
          <p:nvPr/>
        </p:nvCxnSpPr>
        <p:spPr>
          <a:xfrm flipV="1">
            <a:off x="9258300" y="1975103"/>
            <a:ext cx="68580" cy="256033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7" name="Connector 356"/>
          <p:cNvCxnSpPr/>
          <p:nvPr/>
        </p:nvCxnSpPr>
        <p:spPr>
          <a:xfrm>
            <a:off x="9326880" y="1975103"/>
            <a:ext cx="68580" cy="256033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8" name="Connector 357"/>
          <p:cNvCxnSpPr/>
          <p:nvPr/>
        </p:nvCxnSpPr>
        <p:spPr>
          <a:xfrm flipV="1">
            <a:off x="9395460" y="1975103"/>
            <a:ext cx="68580" cy="256033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9" name="Connector 358"/>
          <p:cNvCxnSpPr/>
          <p:nvPr/>
        </p:nvCxnSpPr>
        <p:spPr>
          <a:xfrm>
            <a:off x="9464040" y="1975103"/>
            <a:ext cx="68580" cy="256033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0" name="Connector 359"/>
          <p:cNvCxnSpPr/>
          <p:nvPr/>
        </p:nvCxnSpPr>
        <p:spPr>
          <a:xfrm flipV="1">
            <a:off x="9532620" y="1975103"/>
            <a:ext cx="68580" cy="256033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1" name="Connector 360"/>
          <p:cNvCxnSpPr/>
          <p:nvPr/>
        </p:nvCxnSpPr>
        <p:spPr>
          <a:xfrm>
            <a:off x="9601200" y="1975103"/>
            <a:ext cx="68580" cy="256033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2" name="Connector 361"/>
          <p:cNvCxnSpPr/>
          <p:nvPr/>
        </p:nvCxnSpPr>
        <p:spPr>
          <a:xfrm flipV="1">
            <a:off x="9669780" y="1975103"/>
            <a:ext cx="68580" cy="256033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3" name="TextBox 362"/>
          <p:cNvSpPr txBox="1"/>
          <p:nvPr/>
        </p:nvSpPr>
        <p:spPr>
          <a:xfrm>
            <a:off x="9052560" y="1655063"/>
            <a:ext cx="566928" cy="1005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60" b="1">
                <a:solidFill>
                  <a:srgbClr val="000000"/>
                </a:solidFill>
                <a:latin typeface="Arial"/>
              </a:rPr>
              <a:t>E-102</a:t>
            </a:r>
          </a:p>
        </p:txBody>
      </p:sp>
      <p:sp>
        <p:nvSpPr>
          <p:cNvPr id="364" name="TextBox 363"/>
          <p:cNvSpPr txBox="1"/>
          <p:nvPr/>
        </p:nvSpPr>
        <p:spPr>
          <a:xfrm>
            <a:off x="9052560" y="1764791"/>
            <a:ext cx="566928" cy="914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9" b="0">
                <a:solidFill>
                  <a:srgbClr val="000000"/>
                </a:solidFill>
                <a:latin typeface="Arial"/>
              </a:rPr>
              <a:t>AFTERCOOLER</a:t>
            </a:r>
          </a:p>
        </p:txBody>
      </p:sp>
      <p:cxnSp>
        <p:nvCxnSpPr>
          <p:cNvPr id="365" name="Connector 364"/>
          <p:cNvCxnSpPr/>
          <p:nvPr/>
        </p:nvCxnSpPr>
        <p:spPr>
          <a:xfrm>
            <a:off x="8595360" y="1572768"/>
            <a:ext cx="41148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6" name="Connector 365"/>
          <p:cNvCxnSpPr/>
          <p:nvPr/>
        </p:nvCxnSpPr>
        <p:spPr>
          <a:xfrm>
            <a:off x="9006840" y="1572768"/>
            <a:ext cx="0" cy="347471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7" name="Freeform 366"/>
          <p:cNvSpPr/>
          <p:nvPr/>
        </p:nvSpPr>
        <p:spPr>
          <a:xfrm>
            <a:off x="8677655" y="1495044"/>
            <a:ext cx="237745" cy="155448"/>
          </a:xfrm>
          <a:custGeom>
            <a:avLst/>
            <a:gdLst/>
            <a:ahLst/>
            <a:cxnLst/>
            <a:rect l="l" t="t" r="r" b="b"/>
            <a:pathLst>
              <a:path w="237745" h="155448">
                <a:moveTo>
                  <a:pt x="0" y="0"/>
                </a:moveTo>
                <a:lnTo>
                  <a:pt x="237745" y="155448"/>
                </a:lnTo>
                <a:lnTo>
                  <a:pt x="237745" y="0"/>
                </a:lnTo>
                <a:lnTo>
                  <a:pt x="0" y="155448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68" name="Connector 367"/>
          <p:cNvCxnSpPr/>
          <p:nvPr/>
        </p:nvCxnSpPr>
        <p:spPr>
          <a:xfrm flipV="1">
            <a:off x="8796528" y="1371600"/>
            <a:ext cx="0" cy="123444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9" name="Freeform 368"/>
          <p:cNvSpPr/>
          <p:nvPr/>
        </p:nvSpPr>
        <p:spPr>
          <a:xfrm>
            <a:off x="8668511" y="1254533"/>
            <a:ext cx="256033" cy="117067"/>
          </a:xfrm>
          <a:custGeom>
            <a:avLst/>
            <a:gdLst/>
            <a:ahLst/>
            <a:cxnLst/>
            <a:rect l="l" t="t" r="r" b="b"/>
            <a:pathLst>
              <a:path w="256033" h="117067">
                <a:moveTo>
                  <a:pt x="0" y="117067"/>
                </a:moveTo>
                <a:lnTo>
                  <a:pt x="7721" y="76410"/>
                </a:lnTo>
                <a:lnTo>
                  <a:pt x="29951" y="40657"/>
                </a:lnTo>
                <a:lnTo>
                  <a:pt x="64008" y="14120"/>
                </a:lnTo>
                <a:lnTo>
                  <a:pt x="105787" y="0"/>
                </a:lnTo>
                <a:lnTo>
                  <a:pt x="150246" y="0"/>
                </a:lnTo>
                <a:lnTo>
                  <a:pt x="192025" y="14120"/>
                </a:lnTo>
                <a:lnTo>
                  <a:pt x="226082" y="40657"/>
                </a:lnTo>
                <a:lnTo>
                  <a:pt x="248312" y="76410"/>
                </a:lnTo>
                <a:lnTo>
                  <a:pt x="256033" y="117067"/>
                </a:lnTo>
                <a:close/>
              </a:path>
            </a:pathLst>
          </a:cu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" name="TextBox 369"/>
          <p:cNvSpPr txBox="1"/>
          <p:nvPr/>
        </p:nvSpPr>
        <p:spPr>
          <a:xfrm>
            <a:off x="8430767" y="1243584"/>
            <a:ext cx="201168" cy="914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00" b="1">
                <a:solidFill>
                  <a:srgbClr val="000000"/>
                </a:solidFill>
                <a:latin typeface="Arial"/>
              </a:rPr>
              <a:t>FO</a:t>
            </a:r>
          </a:p>
        </p:txBody>
      </p:sp>
      <p:sp>
        <p:nvSpPr>
          <p:cNvPr id="371" name="TextBox 370"/>
          <p:cNvSpPr txBox="1"/>
          <p:nvPr/>
        </p:nvSpPr>
        <p:spPr>
          <a:xfrm>
            <a:off x="8522207" y="1682495"/>
            <a:ext cx="548640" cy="1097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/>
            </a:r>
          </a:p>
        </p:txBody>
      </p:sp>
      <p:sp>
        <p:nvSpPr>
          <p:cNvPr id="372" name="TextBox 371"/>
          <p:cNvSpPr txBox="1"/>
          <p:nvPr/>
        </p:nvSpPr>
        <p:spPr>
          <a:xfrm>
            <a:off x="8229600" y="1517904"/>
            <a:ext cx="338328" cy="1005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00" b="1">
                <a:solidFill>
                  <a:srgbClr val="000000"/>
                </a:solidFill>
                <a:latin typeface="Arial"/>
              </a:rPr>
              <a:t>CMS</a:t>
            </a:r>
          </a:p>
        </p:txBody>
      </p:sp>
      <p:cxnSp>
        <p:nvCxnSpPr>
          <p:cNvPr id="373" name="Connector 372"/>
          <p:cNvCxnSpPr/>
          <p:nvPr/>
        </p:nvCxnSpPr>
        <p:spPr>
          <a:xfrm flipV="1">
            <a:off x="9646920" y="1389888"/>
            <a:ext cx="0" cy="530351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4" name="TextBox 373"/>
          <p:cNvSpPr txBox="1"/>
          <p:nvPr/>
        </p:nvSpPr>
        <p:spPr>
          <a:xfrm>
            <a:off x="9710928" y="1371600"/>
            <a:ext cx="274320" cy="1005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1">
                <a:solidFill>
                  <a:srgbClr val="000000"/>
                </a:solidFill>
                <a:latin typeface="Arial"/>
              </a:rPr>
              <a:t>CMR</a:t>
            </a:r>
          </a:p>
        </p:txBody>
      </p:sp>
      <p:sp>
        <p:nvSpPr>
          <p:cNvPr id="375" name="TextBox 374"/>
          <p:cNvSpPr txBox="1"/>
          <p:nvPr/>
        </p:nvSpPr>
        <p:spPr>
          <a:xfrm>
            <a:off x="8321040" y="1645920"/>
            <a:ext cx="256032" cy="1005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20" b="1">
                <a:solidFill>
                  <a:srgbClr val="000000"/>
                </a:solidFill>
                <a:latin typeface="Arial"/>
              </a:rPr>
              <a:t>TV-111</a:t>
            </a:r>
          </a:p>
        </p:txBody>
      </p:sp>
      <p:sp>
        <p:nvSpPr>
          <p:cNvPr id="376" name="TextBox 375"/>
          <p:cNvSpPr txBox="1"/>
          <p:nvPr/>
        </p:nvSpPr>
        <p:spPr>
          <a:xfrm>
            <a:off x="8183879" y="1389888"/>
            <a:ext cx="384048" cy="1005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440" b="0">
                <a:solidFill>
                  <a:srgbClr val="000000"/>
                </a:solidFill>
                <a:latin typeface="Arial"/>
              </a:rPr>
              <a:t>CM-122</a:t>
            </a:r>
          </a:p>
        </p:txBody>
      </p:sp>
      <p:sp>
        <p:nvSpPr>
          <p:cNvPr id="377" name="TextBox 376"/>
          <p:cNvSpPr txBox="1"/>
          <p:nvPr/>
        </p:nvSpPr>
        <p:spPr>
          <a:xfrm>
            <a:off x="9710928" y="1481328"/>
            <a:ext cx="365760" cy="1005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40" b="0">
                <a:solidFill>
                  <a:srgbClr val="000000"/>
                </a:solidFill>
                <a:latin typeface="Arial"/>
              </a:rPr>
              <a:t>CM-123</a:t>
            </a:r>
          </a:p>
        </p:txBody>
      </p:sp>
      <p:cxnSp>
        <p:nvCxnSpPr>
          <p:cNvPr id="378" name="Connector 377"/>
          <p:cNvCxnSpPr/>
          <p:nvPr/>
        </p:nvCxnSpPr>
        <p:spPr>
          <a:xfrm>
            <a:off x="9875520" y="2103120"/>
            <a:ext cx="18288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9" name="Connector 378"/>
          <p:cNvCxnSpPr/>
          <p:nvPr/>
        </p:nvCxnSpPr>
        <p:spPr>
          <a:xfrm>
            <a:off x="10058400" y="2103120"/>
            <a:ext cx="0" cy="219456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0" name="Connector 379"/>
          <p:cNvCxnSpPr/>
          <p:nvPr/>
        </p:nvCxnSpPr>
        <p:spPr>
          <a:xfrm>
            <a:off x="10058400" y="4297680"/>
            <a:ext cx="1371600" cy="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1" name="TextBox 380"/>
          <p:cNvSpPr txBox="1"/>
          <p:nvPr/>
        </p:nvSpPr>
        <p:spPr>
          <a:xfrm>
            <a:off x="10149840" y="4645152"/>
            <a:ext cx="868680" cy="1005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30" b="1">
                <a:solidFill>
                  <a:srgbClr val="000000"/>
                </a:solidFill>
                <a:latin typeface="Arial"/>
              </a:rPr>
              <a:t>EXPORT GAS</a:t>
            </a:r>
          </a:p>
        </p:txBody>
      </p:sp>
      <p:sp>
        <p:nvSpPr>
          <p:cNvPr id="382" name="TextBox 381"/>
          <p:cNvSpPr txBox="1"/>
          <p:nvPr/>
        </p:nvSpPr>
        <p:spPr>
          <a:xfrm>
            <a:off x="10149840" y="4754880"/>
            <a:ext cx="868680" cy="1005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TO ONSHORE TERMINAL</a:t>
            </a:r>
          </a:p>
        </p:txBody>
      </p:sp>
      <p:sp>
        <p:nvSpPr>
          <p:cNvPr id="383" name="TextBox 382"/>
          <p:cNvSpPr txBox="1"/>
          <p:nvPr/>
        </p:nvSpPr>
        <p:spPr>
          <a:xfrm>
            <a:off x="10149840" y="4864608"/>
            <a:ext cx="868680" cy="1005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(36-in PIPELINE)</a:t>
            </a:r>
          </a:p>
        </p:txBody>
      </p:sp>
      <p:sp>
        <p:nvSpPr>
          <p:cNvPr id="384" name="TextBox 383"/>
          <p:cNvSpPr txBox="1"/>
          <p:nvPr/>
        </p:nvSpPr>
        <p:spPr>
          <a:xfrm>
            <a:off x="10149840" y="4974336"/>
            <a:ext cx="868680" cy="1005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120 barg · 45 °C</a:t>
            </a:r>
          </a:p>
        </p:txBody>
      </p:sp>
      <p:sp>
        <p:nvSpPr>
          <p:cNvPr id="385" name="TextBox 384"/>
          <p:cNvSpPr txBox="1"/>
          <p:nvPr/>
        </p:nvSpPr>
        <p:spPr>
          <a:xfrm>
            <a:off x="10149840" y="5084064"/>
            <a:ext cx="731520" cy="1005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DN400-EG-108</a:t>
            </a:r>
          </a:p>
        </p:txBody>
      </p:sp>
      <p:sp>
        <p:nvSpPr>
          <p:cNvPr id="386" name="TextBox 385"/>
          <p:cNvSpPr txBox="1"/>
          <p:nvPr/>
        </p:nvSpPr>
        <p:spPr>
          <a:xfrm>
            <a:off x="10149840" y="5193792"/>
            <a:ext cx="731520" cy="1005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STREAM 8</a:t>
            </a:r>
          </a:p>
        </p:txBody>
      </p:sp>
      <p:sp>
        <p:nvSpPr>
          <p:cNvPr id="387" name="Oval 386"/>
          <p:cNvSpPr/>
          <p:nvPr/>
        </p:nvSpPr>
        <p:spPr>
          <a:xfrm>
            <a:off x="10028682" y="3856482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88" name="Connector 387"/>
          <p:cNvCxnSpPr/>
          <p:nvPr/>
        </p:nvCxnSpPr>
        <p:spPr>
          <a:xfrm flipH="1">
            <a:off x="9875520" y="3886200"/>
            <a:ext cx="182880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9" name="Oval 388"/>
          <p:cNvSpPr/>
          <p:nvPr/>
        </p:nvSpPr>
        <p:spPr>
          <a:xfrm>
            <a:off x="9546336" y="3721608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AI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115</a:t>
            </a:r>
          </a:p>
        </p:txBody>
      </p:sp>
      <p:cxnSp>
        <p:nvCxnSpPr>
          <p:cNvPr id="390" name="Connector 389"/>
          <p:cNvCxnSpPr/>
          <p:nvPr/>
        </p:nvCxnSpPr>
        <p:spPr>
          <a:xfrm>
            <a:off x="9546336" y="3886200"/>
            <a:ext cx="329183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1" name="Oval 390"/>
          <p:cNvSpPr/>
          <p:nvPr/>
        </p:nvSpPr>
        <p:spPr>
          <a:xfrm>
            <a:off x="11235690" y="4267962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92" name="Connector 391"/>
          <p:cNvCxnSpPr/>
          <p:nvPr/>
        </p:nvCxnSpPr>
        <p:spPr>
          <a:xfrm>
            <a:off x="11265408" y="4297680"/>
            <a:ext cx="0" cy="292608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3" name="Oval 392"/>
          <p:cNvSpPr/>
          <p:nvPr/>
        </p:nvSpPr>
        <p:spPr>
          <a:xfrm>
            <a:off x="11100816" y="4590288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PI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114</a:t>
            </a:r>
          </a:p>
        </p:txBody>
      </p:sp>
      <p:cxnSp>
        <p:nvCxnSpPr>
          <p:cNvPr id="394" name="Connector 393"/>
          <p:cNvCxnSpPr/>
          <p:nvPr/>
        </p:nvCxnSpPr>
        <p:spPr>
          <a:xfrm>
            <a:off x="11100816" y="4754880"/>
            <a:ext cx="329184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5" name="Oval 394"/>
          <p:cNvSpPr/>
          <p:nvPr/>
        </p:nvSpPr>
        <p:spPr>
          <a:xfrm>
            <a:off x="11100816" y="5157216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PI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900</a:t>
            </a:r>
          </a:p>
        </p:txBody>
      </p:sp>
      <p:cxnSp>
        <p:nvCxnSpPr>
          <p:cNvPr id="396" name="Connector 395"/>
          <p:cNvCxnSpPr/>
          <p:nvPr/>
        </p:nvCxnSpPr>
        <p:spPr>
          <a:xfrm>
            <a:off x="11100816" y="5321808"/>
            <a:ext cx="329184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7" name="TextBox 396"/>
          <p:cNvSpPr txBox="1"/>
          <p:nvPr/>
        </p:nvSpPr>
        <p:spPr>
          <a:xfrm>
            <a:off x="10991088" y="5504688"/>
            <a:ext cx="548640" cy="914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>
                <a:solidFill>
                  <a:srgbClr val="000000"/>
                </a:solidFill>
                <a:latin typeface="Arial"/>
              </a:rPr>
              <a:t>ONSHORE</a:t>
            </a:r>
          </a:p>
        </p:txBody>
      </p:sp>
      <p:sp>
        <p:nvSpPr>
          <p:cNvPr id="398" name="TextBox 397"/>
          <p:cNvSpPr txBox="1"/>
          <p:nvPr/>
        </p:nvSpPr>
        <p:spPr>
          <a:xfrm>
            <a:off x="10991088" y="5596128"/>
            <a:ext cx="548640" cy="914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>
                <a:solidFill>
                  <a:srgbClr val="000000"/>
                </a:solidFill>
                <a:latin typeface="Arial"/>
              </a:rPr>
              <a:t>TELEMETRY</a:t>
            </a:r>
          </a:p>
        </p:txBody>
      </p:sp>
      <p:cxnSp>
        <p:nvCxnSpPr>
          <p:cNvPr id="399" name="Connector 398"/>
          <p:cNvCxnSpPr/>
          <p:nvPr/>
        </p:nvCxnSpPr>
        <p:spPr>
          <a:xfrm>
            <a:off x="10058400" y="4297680"/>
            <a:ext cx="0" cy="274320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0" name="Freeform 399"/>
          <p:cNvSpPr/>
          <p:nvPr/>
        </p:nvSpPr>
        <p:spPr>
          <a:xfrm>
            <a:off x="10003536" y="4361688"/>
            <a:ext cx="109728" cy="164592"/>
          </a:xfrm>
          <a:custGeom>
            <a:avLst/>
            <a:gdLst/>
            <a:ahLst/>
            <a:cxnLst/>
            <a:rect l="l" t="t" r="r" b="b"/>
            <a:pathLst>
              <a:path w="109728" h="164592">
                <a:moveTo>
                  <a:pt x="0" y="0"/>
                </a:moveTo>
                <a:lnTo>
                  <a:pt x="109728" y="164592"/>
                </a:lnTo>
                <a:lnTo>
                  <a:pt x="0" y="164592"/>
                </a:lnTo>
                <a:lnTo>
                  <a:pt x="109728" y="0"/>
                </a:lnTo>
                <a:close/>
              </a:path>
            </a:pathLst>
          </a:cu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1" name="TextBox 400"/>
          <p:cNvSpPr txBox="1"/>
          <p:nvPr/>
        </p:nvSpPr>
        <p:spPr>
          <a:xfrm>
            <a:off x="9765792" y="4389120"/>
            <a:ext cx="228600" cy="914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440" b="1">
                <a:solidFill>
                  <a:srgbClr val="000000"/>
                </a:solidFill>
                <a:latin typeface="Arial"/>
              </a:rPr>
              <a:t>MV-133</a:t>
            </a:r>
          </a:p>
        </p:txBody>
      </p:sp>
      <p:sp>
        <p:nvSpPr>
          <p:cNvPr id="402" name="TextBox 401"/>
          <p:cNvSpPr txBox="1"/>
          <p:nvPr/>
        </p:nvSpPr>
        <p:spPr>
          <a:xfrm>
            <a:off x="9765792" y="4498848"/>
            <a:ext cx="228600" cy="914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440" b="1">
                <a:solidFill>
                  <a:srgbClr val="000000"/>
                </a:solidFill>
                <a:latin typeface="Arial"/>
              </a:rPr>
              <a:t>CD</a:t>
            </a:r>
          </a:p>
        </p:txBody>
      </p:sp>
      <p:sp>
        <p:nvSpPr>
          <p:cNvPr id="403" name="Oval 402"/>
          <p:cNvSpPr/>
          <p:nvPr/>
        </p:nvSpPr>
        <p:spPr>
          <a:xfrm>
            <a:off x="10028682" y="2484882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04" name="Connector 403"/>
          <p:cNvCxnSpPr/>
          <p:nvPr/>
        </p:nvCxnSpPr>
        <p:spPr>
          <a:xfrm>
            <a:off x="10058400" y="2514600"/>
            <a:ext cx="246888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5" name="Oval 404"/>
          <p:cNvSpPr/>
          <p:nvPr/>
        </p:nvSpPr>
        <p:spPr>
          <a:xfrm>
            <a:off x="10305288" y="2350008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TIC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111</a:t>
            </a:r>
          </a:p>
        </p:txBody>
      </p:sp>
      <p:cxnSp>
        <p:nvCxnSpPr>
          <p:cNvPr id="406" name="Connector 405"/>
          <p:cNvCxnSpPr/>
          <p:nvPr/>
        </p:nvCxnSpPr>
        <p:spPr>
          <a:xfrm>
            <a:off x="10305288" y="2514600"/>
            <a:ext cx="329184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7" name="Oval 406"/>
          <p:cNvSpPr/>
          <p:nvPr/>
        </p:nvSpPr>
        <p:spPr>
          <a:xfrm>
            <a:off x="10028682" y="2896362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08" name="Connector 407"/>
          <p:cNvCxnSpPr/>
          <p:nvPr/>
        </p:nvCxnSpPr>
        <p:spPr>
          <a:xfrm>
            <a:off x="10058400" y="2926080"/>
            <a:ext cx="246888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9" name="Oval 408"/>
          <p:cNvSpPr/>
          <p:nvPr/>
        </p:nvSpPr>
        <p:spPr>
          <a:xfrm>
            <a:off x="10305288" y="2761488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PI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112</a:t>
            </a:r>
          </a:p>
        </p:txBody>
      </p:sp>
      <p:cxnSp>
        <p:nvCxnSpPr>
          <p:cNvPr id="410" name="Connector 409"/>
          <p:cNvCxnSpPr/>
          <p:nvPr/>
        </p:nvCxnSpPr>
        <p:spPr>
          <a:xfrm>
            <a:off x="10305288" y="2926080"/>
            <a:ext cx="329184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1" name="Connector 410"/>
          <p:cNvCxnSpPr/>
          <p:nvPr/>
        </p:nvCxnSpPr>
        <p:spPr>
          <a:xfrm>
            <a:off x="10634472" y="2926080"/>
            <a:ext cx="64008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2" name="Rectangle 411"/>
          <p:cNvSpPr/>
          <p:nvPr/>
        </p:nvSpPr>
        <p:spPr>
          <a:xfrm>
            <a:off x="10698480" y="2734056"/>
            <a:ext cx="384048" cy="384048"/>
          </a:xfrm>
          <a:prstGeom prst="rect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3" name="Oval 412"/>
          <p:cNvSpPr/>
          <p:nvPr/>
        </p:nvSpPr>
        <p:spPr>
          <a:xfrm>
            <a:off x="10725912" y="2761488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PSHH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112</a:t>
            </a:r>
          </a:p>
        </p:txBody>
      </p:sp>
      <p:cxnSp>
        <p:nvCxnSpPr>
          <p:cNvPr id="414" name="Connector 413"/>
          <p:cNvCxnSpPr/>
          <p:nvPr/>
        </p:nvCxnSpPr>
        <p:spPr>
          <a:xfrm>
            <a:off x="10725912" y="2926080"/>
            <a:ext cx="329184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5" name="Oval 414"/>
          <p:cNvSpPr/>
          <p:nvPr/>
        </p:nvSpPr>
        <p:spPr>
          <a:xfrm>
            <a:off x="10028682" y="3399282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16" name="Connector 415"/>
          <p:cNvCxnSpPr/>
          <p:nvPr/>
        </p:nvCxnSpPr>
        <p:spPr>
          <a:xfrm>
            <a:off x="10058400" y="3429000"/>
            <a:ext cx="96012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7" name="Connector 416"/>
          <p:cNvCxnSpPr/>
          <p:nvPr/>
        </p:nvCxnSpPr>
        <p:spPr>
          <a:xfrm flipV="1">
            <a:off x="11018520" y="731520"/>
            <a:ext cx="0" cy="269748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8" name="Oval 417"/>
          <p:cNvSpPr/>
          <p:nvPr/>
        </p:nvSpPr>
        <p:spPr>
          <a:xfrm>
            <a:off x="10988802" y="701802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9" name="Freeform 418"/>
          <p:cNvSpPr/>
          <p:nvPr/>
        </p:nvSpPr>
        <p:spPr>
          <a:xfrm>
            <a:off x="10940796" y="1435607"/>
            <a:ext cx="155448" cy="237745"/>
          </a:xfrm>
          <a:custGeom>
            <a:avLst/>
            <a:gdLst/>
            <a:ahLst/>
            <a:cxnLst/>
            <a:rect l="l" t="t" r="r" b="b"/>
            <a:pathLst>
              <a:path w="155448" h="237745">
                <a:moveTo>
                  <a:pt x="0" y="0"/>
                </a:moveTo>
                <a:lnTo>
                  <a:pt x="155448" y="237745"/>
                </a:lnTo>
                <a:lnTo>
                  <a:pt x="0" y="237745"/>
                </a:lnTo>
                <a:lnTo>
                  <a:pt x="155448" y="0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20" name="Connector 419"/>
          <p:cNvCxnSpPr/>
          <p:nvPr/>
        </p:nvCxnSpPr>
        <p:spPr>
          <a:xfrm flipH="1">
            <a:off x="10799064" y="1554480"/>
            <a:ext cx="141732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1" name="Rectangle 420"/>
          <p:cNvSpPr/>
          <p:nvPr/>
        </p:nvSpPr>
        <p:spPr>
          <a:xfrm>
            <a:off x="10661904" y="1499616"/>
            <a:ext cx="137160" cy="109728"/>
          </a:xfrm>
          <a:prstGeom prst="rect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2" name="TextBox 421"/>
          <p:cNvSpPr txBox="1"/>
          <p:nvPr/>
        </p:nvSpPr>
        <p:spPr>
          <a:xfrm>
            <a:off x="11119104" y="1490472"/>
            <a:ext cx="502920" cy="1280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50" b="1">
                <a:solidFill>
                  <a:srgbClr val="000000"/>
                </a:solidFill>
                <a:latin typeface="Arial"/>
              </a:rPr>
              <a:t/>
            </a:r>
          </a:p>
        </p:txBody>
      </p:sp>
      <p:sp>
        <p:nvSpPr>
          <p:cNvPr id="423" name="TextBox 422"/>
          <p:cNvSpPr txBox="1"/>
          <p:nvPr/>
        </p:nvSpPr>
        <p:spPr>
          <a:xfrm>
            <a:off x="11119104" y="1609344"/>
            <a:ext cx="274320" cy="914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1">
                <a:solidFill>
                  <a:srgbClr val="000000"/>
                </a:solidFill>
                <a:latin typeface="Arial"/>
              </a:rPr>
              <a:t>FO</a:t>
            </a:r>
          </a:p>
        </p:txBody>
      </p:sp>
      <p:sp>
        <p:nvSpPr>
          <p:cNvPr id="424" name="TextBox 423"/>
          <p:cNvSpPr txBox="1"/>
          <p:nvPr/>
        </p:nvSpPr>
        <p:spPr>
          <a:xfrm>
            <a:off x="10424160" y="1216152"/>
            <a:ext cx="548640" cy="1005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50" b="1">
                <a:solidFill>
                  <a:srgbClr val="000000"/>
                </a:solidFill>
                <a:latin typeface="Arial"/>
              </a:rPr>
              <a:t>BDV-112</a:t>
            </a:r>
          </a:p>
        </p:txBody>
      </p:sp>
      <p:sp>
        <p:nvSpPr>
          <p:cNvPr id="425" name="TextBox 424"/>
          <p:cNvSpPr txBox="1"/>
          <p:nvPr/>
        </p:nvSpPr>
        <p:spPr>
          <a:xfrm>
            <a:off x="10424160" y="1325880"/>
            <a:ext cx="548640" cy="914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480" b="0">
                <a:solidFill>
                  <a:srgbClr val="000000"/>
                </a:solidFill>
                <a:latin typeface="Arial"/>
              </a:rPr>
              <a:t>RO 45 mm</a:t>
            </a:r>
          </a:p>
        </p:txBody>
      </p:sp>
      <p:sp>
        <p:nvSpPr>
          <p:cNvPr id="426" name="TextBox 425"/>
          <p:cNvSpPr txBox="1"/>
          <p:nvPr/>
        </p:nvSpPr>
        <p:spPr>
          <a:xfrm>
            <a:off x="11082528" y="2103120"/>
            <a:ext cx="347472" cy="1005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59" b="0">
                <a:solidFill>
                  <a:srgbClr val="000000"/>
                </a:solidFill>
                <a:latin typeface="Arial"/>
              </a:rPr>
              <a:t>FL-119</a:t>
            </a:r>
          </a:p>
        </p:txBody>
      </p:sp>
      <p:sp>
        <p:nvSpPr>
          <p:cNvPr id="427" name="Freeform 426"/>
          <p:cNvSpPr/>
          <p:nvPr/>
        </p:nvSpPr>
        <p:spPr>
          <a:xfrm>
            <a:off x="10213848" y="4214469"/>
            <a:ext cx="184251" cy="166421"/>
          </a:xfrm>
          <a:custGeom>
            <a:avLst/>
            <a:gdLst/>
            <a:ahLst/>
            <a:cxnLst/>
            <a:rect l="l" t="t" r="r" b="b"/>
            <a:pathLst>
              <a:path w="184251" h="166421">
                <a:moveTo>
                  <a:pt x="0" y="0"/>
                </a:moveTo>
                <a:lnTo>
                  <a:pt x="184251" y="83211"/>
                </a:lnTo>
                <a:lnTo>
                  <a:pt x="0" y="166421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28" name="Connector 427"/>
          <p:cNvCxnSpPr/>
          <p:nvPr/>
        </p:nvCxnSpPr>
        <p:spPr>
          <a:xfrm>
            <a:off x="10398099" y="4214469"/>
            <a:ext cx="0" cy="166421"/>
          </a:xfrm>
          <a:prstGeom prst="line">
            <a:avLst/>
          </a:prstGeom>
          <a:ln w="1397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9" name="TextBox 428"/>
          <p:cNvSpPr txBox="1"/>
          <p:nvPr/>
        </p:nvSpPr>
        <p:spPr>
          <a:xfrm>
            <a:off x="10168128" y="4069080"/>
            <a:ext cx="365760" cy="914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80" b="1">
                <a:solidFill>
                  <a:srgbClr val="000000"/>
                </a:solidFill>
                <a:latin typeface="Arial"/>
              </a:rPr>
              <a:t>NRV</a:t>
            </a:r>
          </a:p>
        </p:txBody>
      </p:sp>
      <p:sp>
        <p:nvSpPr>
          <p:cNvPr id="430" name="Freeform 429"/>
          <p:cNvSpPr/>
          <p:nvPr/>
        </p:nvSpPr>
        <p:spPr>
          <a:xfrm>
            <a:off x="10579607" y="4219956"/>
            <a:ext cx="237745" cy="155448"/>
          </a:xfrm>
          <a:custGeom>
            <a:avLst/>
            <a:gdLst/>
            <a:ahLst/>
            <a:cxnLst/>
            <a:rect l="l" t="t" r="r" b="b"/>
            <a:pathLst>
              <a:path w="237745" h="155448">
                <a:moveTo>
                  <a:pt x="0" y="0"/>
                </a:moveTo>
                <a:lnTo>
                  <a:pt x="237745" y="155448"/>
                </a:lnTo>
                <a:lnTo>
                  <a:pt x="237745" y="0"/>
                </a:lnTo>
                <a:lnTo>
                  <a:pt x="0" y="155448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31" name="Connector 430"/>
          <p:cNvCxnSpPr/>
          <p:nvPr/>
        </p:nvCxnSpPr>
        <p:spPr>
          <a:xfrm flipV="1">
            <a:off x="10698480" y="4096512"/>
            <a:ext cx="0" cy="123444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2" name="Rectangle 431"/>
          <p:cNvSpPr/>
          <p:nvPr/>
        </p:nvSpPr>
        <p:spPr>
          <a:xfrm>
            <a:off x="10629900" y="3986784"/>
            <a:ext cx="137160" cy="109728"/>
          </a:xfrm>
          <a:prstGeom prst="rect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3" name="TextBox 432"/>
          <p:cNvSpPr txBox="1"/>
          <p:nvPr/>
        </p:nvSpPr>
        <p:spPr>
          <a:xfrm>
            <a:off x="10424159" y="4407408"/>
            <a:ext cx="548640" cy="1097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ESDV-113</a:t>
            </a:r>
          </a:p>
        </p:txBody>
      </p:sp>
      <p:sp>
        <p:nvSpPr>
          <p:cNvPr id="434" name="TextBox 433"/>
          <p:cNvSpPr txBox="1"/>
          <p:nvPr/>
        </p:nvSpPr>
        <p:spPr>
          <a:xfrm>
            <a:off x="10789919" y="3968496"/>
            <a:ext cx="228600" cy="914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1">
                <a:solidFill>
                  <a:srgbClr val="000000"/>
                </a:solidFill>
                <a:latin typeface="Arial"/>
              </a:rPr>
              <a:t>FC</a:t>
            </a:r>
          </a:p>
        </p:txBody>
      </p:sp>
      <p:cxnSp>
        <p:nvCxnSpPr>
          <p:cNvPr id="435" name="Connector 434"/>
          <p:cNvCxnSpPr/>
          <p:nvPr/>
        </p:nvCxnSpPr>
        <p:spPr>
          <a:xfrm>
            <a:off x="11036808" y="4187952"/>
            <a:ext cx="0" cy="219456"/>
          </a:xfrm>
          <a:prstGeom prst="line">
            <a:avLst/>
          </a:prstGeom>
          <a:ln w="2032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6" name="Connector 435"/>
          <p:cNvCxnSpPr/>
          <p:nvPr/>
        </p:nvCxnSpPr>
        <p:spPr>
          <a:xfrm>
            <a:off x="11091672" y="4187952"/>
            <a:ext cx="0" cy="219456"/>
          </a:xfrm>
          <a:prstGeom prst="line">
            <a:avLst/>
          </a:prstGeom>
          <a:ln w="2032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7" name="Connector 436"/>
          <p:cNvCxnSpPr/>
          <p:nvPr/>
        </p:nvCxnSpPr>
        <p:spPr>
          <a:xfrm flipV="1">
            <a:off x="11064240" y="3931920"/>
            <a:ext cx="0" cy="256032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8" name="Oval 437"/>
          <p:cNvSpPr/>
          <p:nvPr/>
        </p:nvSpPr>
        <p:spPr>
          <a:xfrm>
            <a:off x="10899648" y="3602736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FI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114</a:t>
            </a:r>
          </a:p>
        </p:txBody>
      </p:sp>
      <p:cxnSp>
        <p:nvCxnSpPr>
          <p:cNvPr id="439" name="Connector 438"/>
          <p:cNvCxnSpPr/>
          <p:nvPr/>
        </p:nvCxnSpPr>
        <p:spPr>
          <a:xfrm>
            <a:off x="10899648" y="3767328"/>
            <a:ext cx="329184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0" name="Rectangle 439"/>
          <p:cNvSpPr/>
          <p:nvPr/>
        </p:nvSpPr>
        <p:spPr>
          <a:xfrm>
            <a:off x="9235440" y="5897880"/>
            <a:ext cx="1371600" cy="731520"/>
          </a:xfrm>
          <a:prstGeom prst="rect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1" name="TextBox 440"/>
          <p:cNvSpPr txBox="1"/>
          <p:nvPr/>
        </p:nvSpPr>
        <p:spPr>
          <a:xfrm>
            <a:off x="9235440" y="5989320"/>
            <a:ext cx="1371600" cy="1097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50" b="1">
                <a:solidFill>
                  <a:srgbClr val="000000"/>
                </a:solidFill>
                <a:latin typeface="Arial"/>
              </a:rPr>
              <a:t>GT-100</a:t>
            </a:r>
          </a:p>
        </p:txBody>
      </p:sp>
      <p:sp>
        <p:nvSpPr>
          <p:cNvPr id="442" name="TextBox 441"/>
          <p:cNvSpPr txBox="1"/>
          <p:nvPr/>
        </p:nvSpPr>
        <p:spPr>
          <a:xfrm>
            <a:off x="9235440" y="6126480"/>
            <a:ext cx="1371600" cy="1005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80" b="0">
                <a:solidFill>
                  <a:srgbClr val="000000"/>
                </a:solidFill>
                <a:latin typeface="Arial"/>
              </a:rPr>
              <a:t>TWO-SHAFT GAS TURBINE</a:t>
            </a:r>
          </a:p>
        </p:txBody>
      </p:sp>
      <p:sp>
        <p:nvSpPr>
          <p:cNvPr id="443" name="TextBox 442"/>
          <p:cNvSpPr txBox="1"/>
          <p:nvPr/>
        </p:nvSpPr>
        <p:spPr>
          <a:xfrm>
            <a:off x="9235440" y="6227064"/>
            <a:ext cx="1371600" cy="1005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80" b="0">
                <a:solidFill>
                  <a:srgbClr val="000000"/>
                </a:solidFill>
                <a:latin typeface="Arial"/>
              </a:rPr>
              <a:t>22 MW ISO · 19.9 MW AT 30 °C</a:t>
            </a:r>
          </a:p>
        </p:txBody>
      </p:sp>
      <p:sp>
        <p:nvSpPr>
          <p:cNvPr id="444" name="TextBox 443"/>
          <p:cNvSpPr txBox="1"/>
          <p:nvPr/>
        </p:nvSpPr>
        <p:spPr>
          <a:xfrm>
            <a:off x="9235440" y="6327648"/>
            <a:ext cx="1371600" cy="1005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80" b="0">
                <a:solidFill>
                  <a:srgbClr val="000000"/>
                </a:solidFill>
                <a:latin typeface="Arial"/>
              </a:rPr>
              <a:t>DIRECT DRIVE 9 500 rpm</a:t>
            </a:r>
          </a:p>
        </p:txBody>
      </p:sp>
      <p:cxnSp>
        <p:nvCxnSpPr>
          <p:cNvPr id="445" name="Connector 444"/>
          <p:cNvCxnSpPr/>
          <p:nvPr/>
        </p:nvCxnSpPr>
        <p:spPr>
          <a:xfrm>
            <a:off x="10607040" y="6035040"/>
            <a:ext cx="320040" cy="0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6" name="TextBox 445"/>
          <p:cNvSpPr txBox="1"/>
          <p:nvPr/>
        </p:nvSpPr>
        <p:spPr>
          <a:xfrm>
            <a:off x="10954512" y="5989320"/>
            <a:ext cx="365760" cy="1005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EXHAUST</a:t>
            </a:r>
          </a:p>
        </p:txBody>
      </p:sp>
      <p:cxnSp>
        <p:nvCxnSpPr>
          <p:cNvPr id="447" name="Connector 446"/>
          <p:cNvCxnSpPr/>
          <p:nvPr/>
        </p:nvCxnSpPr>
        <p:spPr>
          <a:xfrm>
            <a:off x="10424160" y="5596128"/>
            <a:ext cx="0" cy="301752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8" name="TextBox 447"/>
          <p:cNvSpPr txBox="1"/>
          <p:nvPr/>
        </p:nvSpPr>
        <p:spPr>
          <a:xfrm>
            <a:off x="10149840" y="5532120"/>
            <a:ext cx="237744" cy="914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459" b="1">
                <a:solidFill>
                  <a:srgbClr val="000000"/>
                </a:solidFill>
                <a:latin typeface="Arial"/>
              </a:rPr>
              <a:t>AIR</a:t>
            </a:r>
          </a:p>
        </p:txBody>
      </p:sp>
      <p:sp>
        <p:nvSpPr>
          <p:cNvPr id="449" name="Oval 448"/>
          <p:cNvSpPr/>
          <p:nvPr/>
        </p:nvSpPr>
        <p:spPr>
          <a:xfrm>
            <a:off x="10394442" y="5657850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50" name="Connector 449"/>
          <p:cNvCxnSpPr/>
          <p:nvPr/>
        </p:nvCxnSpPr>
        <p:spPr>
          <a:xfrm>
            <a:off x="10424160" y="5687568"/>
            <a:ext cx="155448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1" name="Oval 450"/>
          <p:cNvSpPr/>
          <p:nvPr/>
        </p:nvSpPr>
        <p:spPr>
          <a:xfrm>
            <a:off x="10579608" y="5522976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TI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099</a:t>
            </a:r>
          </a:p>
        </p:txBody>
      </p:sp>
      <p:cxnSp>
        <p:nvCxnSpPr>
          <p:cNvPr id="452" name="Connector 451"/>
          <p:cNvCxnSpPr/>
          <p:nvPr/>
        </p:nvCxnSpPr>
        <p:spPr>
          <a:xfrm>
            <a:off x="10579608" y="5687568"/>
            <a:ext cx="329184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3" name="Oval 452"/>
          <p:cNvSpPr/>
          <p:nvPr/>
        </p:nvSpPr>
        <p:spPr>
          <a:xfrm>
            <a:off x="10714482" y="6005322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54" name="Connector 453"/>
          <p:cNvCxnSpPr/>
          <p:nvPr/>
        </p:nvCxnSpPr>
        <p:spPr>
          <a:xfrm>
            <a:off x="10744200" y="6035040"/>
            <a:ext cx="0" cy="246888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5" name="Oval 454"/>
          <p:cNvSpPr/>
          <p:nvPr/>
        </p:nvSpPr>
        <p:spPr>
          <a:xfrm>
            <a:off x="10579608" y="6281928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TI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100</a:t>
            </a:r>
          </a:p>
        </p:txBody>
      </p:sp>
      <p:cxnSp>
        <p:nvCxnSpPr>
          <p:cNvPr id="456" name="Connector 455"/>
          <p:cNvCxnSpPr/>
          <p:nvPr/>
        </p:nvCxnSpPr>
        <p:spPr>
          <a:xfrm>
            <a:off x="10579608" y="6446520"/>
            <a:ext cx="329184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7" name="Connector 456"/>
          <p:cNvCxnSpPr/>
          <p:nvPr/>
        </p:nvCxnSpPr>
        <p:spPr>
          <a:xfrm>
            <a:off x="9921240" y="6629400"/>
            <a:ext cx="0" cy="50292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8" name="Oval 457"/>
          <p:cNvSpPr/>
          <p:nvPr/>
        </p:nvSpPr>
        <p:spPr>
          <a:xfrm>
            <a:off x="9756648" y="7132320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SIC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100</a:t>
            </a:r>
          </a:p>
        </p:txBody>
      </p:sp>
      <p:cxnSp>
        <p:nvCxnSpPr>
          <p:cNvPr id="459" name="Connector 458"/>
          <p:cNvCxnSpPr/>
          <p:nvPr/>
        </p:nvCxnSpPr>
        <p:spPr>
          <a:xfrm>
            <a:off x="9756648" y="7296912"/>
            <a:ext cx="329184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0" name="Connector 459"/>
          <p:cNvCxnSpPr/>
          <p:nvPr/>
        </p:nvCxnSpPr>
        <p:spPr>
          <a:xfrm>
            <a:off x="10085832" y="7296912"/>
            <a:ext cx="64008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1" name="Rectangle 460"/>
          <p:cNvSpPr/>
          <p:nvPr/>
        </p:nvSpPr>
        <p:spPr>
          <a:xfrm>
            <a:off x="10149840" y="7104888"/>
            <a:ext cx="384048" cy="384048"/>
          </a:xfrm>
          <a:prstGeom prst="rect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2" name="Oval 461"/>
          <p:cNvSpPr/>
          <p:nvPr/>
        </p:nvSpPr>
        <p:spPr>
          <a:xfrm>
            <a:off x="10177272" y="7132320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SSHH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100</a:t>
            </a:r>
          </a:p>
        </p:txBody>
      </p:sp>
      <p:cxnSp>
        <p:nvCxnSpPr>
          <p:cNvPr id="463" name="Connector 462"/>
          <p:cNvCxnSpPr/>
          <p:nvPr/>
        </p:nvCxnSpPr>
        <p:spPr>
          <a:xfrm>
            <a:off x="10177272" y="7296912"/>
            <a:ext cx="329184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4" name="Connector 463"/>
          <p:cNvCxnSpPr/>
          <p:nvPr/>
        </p:nvCxnSpPr>
        <p:spPr>
          <a:xfrm>
            <a:off x="9418320" y="6629400"/>
            <a:ext cx="0" cy="50292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5" name="Oval 464"/>
          <p:cNvSpPr/>
          <p:nvPr/>
        </p:nvSpPr>
        <p:spPr>
          <a:xfrm>
            <a:off x="9253728" y="7132320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JI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100</a:t>
            </a:r>
          </a:p>
        </p:txBody>
      </p:sp>
      <p:cxnSp>
        <p:nvCxnSpPr>
          <p:cNvPr id="466" name="Connector 465"/>
          <p:cNvCxnSpPr/>
          <p:nvPr/>
        </p:nvCxnSpPr>
        <p:spPr>
          <a:xfrm>
            <a:off x="9253728" y="7296912"/>
            <a:ext cx="329184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7" name="Oval 466"/>
          <p:cNvSpPr/>
          <p:nvPr/>
        </p:nvSpPr>
        <p:spPr>
          <a:xfrm>
            <a:off x="7559802" y="2987801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68" name="Connector 467"/>
          <p:cNvCxnSpPr/>
          <p:nvPr/>
        </p:nvCxnSpPr>
        <p:spPr>
          <a:xfrm>
            <a:off x="7589520" y="3017520"/>
            <a:ext cx="0" cy="224028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9" name="Connector 468"/>
          <p:cNvCxnSpPr/>
          <p:nvPr/>
        </p:nvCxnSpPr>
        <p:spPr>
          <a:xfrm>
            <a:off x="7589520" y="5257800"/>
            <a:ext cx="210312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0" name="Connector 469"/>
          <p:cNvCxnSpPr/>
          <p:nvPr/>
        </p:nvCxnSpPr>
        <p:spPr>
          <a:xfrm>
            <a:off x="9692640" y="5257800"/>
            <a:ext cx="0" cy="640080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1" name="TextBox 470"/>
          <p:cNvSpPr txBox="1"/>
          <p:nvPr/>
        </p:nvSpPr>
        <p:spPr>
          <a:xfrm>
            <a:off x="7818120" y="5303520"/>
            <a:ext cx="365760" cy="1005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80" b="1">
                <a:solidFill>
                  <a:srgbClr val="000000"/>
                </a:solidFill>
                <a:latin typeface="Arial"/>
              </a:rPr>
              <a:t>FUEL GAS</a:t>
            </a:r>
          </a:p>
        </p:txBody>
      </p:sp>
      <p:sp>
        <p:nvSpPr>
          <p:cNvPr id="472" name="TextBox 471"/>
          <p:cNvSpPr txBox="1"/>
          <p:nvPr/>
        </p:nvSpPr>
        <p:spPr>
          <a:xfrm>
            <a:off x="7818120" y="5404104"/>
            <a:ext cx="365760" cy="1005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59" b="0">
                <a:solidFill>
                  <a:srgbClr val="000000"/>
                </a:solidFill>
                <a:latin typeface="Arial"/>
              </a:rPr>
              <a:t>(NOTE 6)</a:t>
            </a:r>
          </a:p>
        </p:txBody>
      </p:sp>
      <p:sp>
        <p:nvSpPr>
          <p:cNvPr id="473" name="Freeform 472"/>
          <p:cNvSpPr/>
          <p:nvPr/>
        </p:nvSpPr>
        <p:spPr>
          <a:xfrm>
            <a:off x="8613648" y="5180076"/>
            <a:ext cx="237744" cy="155448"/>
          </a:xfrm>
          <a:custGeom>
            <a:avLst/>
            <a:gdLst/>
            <a:ahLst/>
            <a:cxnLst/>
            <a:rect l="l" t="t" r="r" b="b"/>
            <a:pathLst>
              <a:path w="237744" h="155448">
                <a:moveTo>
                  <a:pt x="0" y="0"/>
                </a:moveTo>
                <a:lnTo>
                  <a:pt x="237744" y="155448"/>
                </a:lnTo>
                <a:lnTo>
                  <a:pt x="237744" y="0"/>
                </a:lnTo>
                <a:lnTo>
                  <a:pt x="0" y="155448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74" name="Connector 473"/>
          <p:cNvCxnSpPr/>
          <p:nvPr/>
        </p:nvCxnSpPr>
        <p:spPr>
          <a:xfrm flipV="1">
            <a:off x="8732520" y="5056632"/>
            <a:ext cx="0" cy="123444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5" name="Rectangle 474"/>
          <p:cNvSpPr/>
          <p:nvPr/>
        </p:nvSpPr>
        <p:spPr>
          <a:xfrm>
            <a:off x="8663940" y="4946904"/>
            <a:ext cx="137160" cy="109728"/>
          </a:xfrm>
          <a:prstGeom prst="rect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6" name="TextBox 475"/>
          <p:cNvSpPr txBox="1"/>
          <p:nvPr/>
        </p:nvSpPr>
        <p:spPr>
          <a:xfrm>
            <a:off x="8458200" y="5367528"/>
            <a:ext cx="548640" cy="1097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XV-100</a:t>
            </a:r>
          </a:p>
        </p:txBody>
      </p:sp>
      <p:sp>
        <p:nvSpPr>
          <p:cNvPr id="477" name="TextBox 476"/>
          <p:cNvSpPr txBox="1"/>
          <p:nvPr/>
        </p:nvSpPr>
        <p:spPr>
          <a:xfrm>
            <a:off x="8412480" y="4919472"/>
            <a:ext cx="228600" cy="914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00" b="1">
                <a:solidFill>
                  <a:srgbClr val="000000"/>
                </a:solidFill>
                <a:latin typeface="Arial"/>
              </a:rPr>
              <a:t>FC</a:t>
            </a:r>
          </a:p>
        </p:txBody>
      </p:sp>
      <p:sp>
        <p:nvSpPr>
          <p:cNvPr id="478" name="Freeform 477"/>
          <p:cNvSpPr/>
          <p:nvPr/>
        </p:nvSpPr>
        <p:spPr>
          <a:xfrm>
            <a:off x="9070848" y="5180076"/>
            <a:ext cx="237744" cy="155448"/>
          </a:xfrm>
          <a:custGeom>
            <a:avLst/>
            <a:gdLst/>
            <a:ahLst/>
            <a:cxnLst/>
            <a:rect l="l" t="t" r="r" b="b"/>
            <a:pathLst>
              <a:path w="237744" h="155448">
                <a:moveTo>
                  <a:pt x="0" y="0"/>
                </a:moveTo>
                <a:lnTo>
                  <a:pt x="237744" y="155448"/>
                </a:lnTo>
                <a:lnTo>
                  <a:pt x="237744" y="0"/>
                </a:lnTo>
                <a:lnTo>
                  <a:pt x="0" y="155448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79" name="Connector 478"/>
          <p:cNvCxnSpPr/>
          <p:nvPr/>
        </p:nvCxnSpPr>
        <p:spPr>
          <a:xfrm flipV="1">
            <a:off x="9189720" y="5056632"/>
            <a:ext cx="0" cy="123444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0" name="Freeform 479"/>
          <p:cNvSpPr/>
          <p:nvPr/>
        </p:nvSpPr>
        <p:spPr>
          <a:xfrm>
            <a:off x="9061704" y="4939565"/>
            <a:ext cx="256032" cy="117067"/>
          </a:xfrm>
          <a:custGeom>
            <a:avLst/>
            <a:gdLst/>
            <a:ahLst/>
            <a:cxnLst/>
            <a:rect l="l" t="t" r="r" b="b"/>
            <a:pathLst>
              <a:path w="256032" h="117067">
                <a:moveTo>
                  <a:pt x="0" y="117067"/>
                </a:moveTo>
                <a:lnTo>
                  <a:pt x="7720" y="76410"/>
                </a:lnTo>
                <a:lnTo>
                  <a:pt x="29950" y="40657"/>
                </a:lnTo>
                <a:lnTo>
                  <a:pt x="64008" y="14120"/>
                </a:lnTo>
                <a:lnTo>
                  <a:pt x="105786" y="0"/>
                </a:lnTo>
                <a:lnTo>
                  <a:pt x="150245" y="0"/>
                </a:lnTo>
                <a:lnTo>
                  <a:pt x="192024" y="14120"/>
                </a:lnTo>
                <a:lnTo>
                  <a:pt x="226081" y="40657"/>
                </a:lnTo>
                <a:lnTo>
                  <a:pt x="248311" y="76410"/>
                </a:lnTo>
                <a:lnTo>
                  <a:pt x="256032" y="117067"/>
                </a:lnTo>
                <a:close/>
              </a:path>
            </a:pathLst>
          </a:cu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1" name="TextBox 480"/>
          <p:cNvSpPr txBox="1"/>
          <p:nvPr/>
        </p:nvSpPr>
        <p:spPr>
          <a:xfrm>
            <a:off x="8823960" y="4928616"/>
            <a:ext cx="201168" cy="914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00" b="1">
                <a:solidFill>
                  <a:srgbClr val="000000"/>
                </a:solidFill>
                <a:latin typeface="Arial"/>
              </a:rPr>
              <a:t>FC</a:t>
            </a:r>
          </a:p>
        </p:txBody>
      </p:sp>
      <p:sp>
        <p:nvSpPr>
          <p:cNvPr id="482" name="TextBox 481"/>
          <p:cNvSpPr txBox="1"/>
          <p:nvPr/>
        </p:nvSpPr>
        <p:spPr>
          <a:xfrm>
            <a:off x="8915400" y="5367528"/>
            <a:ext cx="548640" cy="1097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FV-100</a:t>
            </a:r>
          </a:p>
        </p:txBody>
      </p:sp>
      <p:cxnSp>
        <p:nvCxnSpPr>
          <p:cNvPr id="483" name="Connector 482"/>
          <p:cNvCxnSpPr/>
          <p:nvPr/>
        </p:nvCxnSpPr>
        <p:spPr>
          <a:xfrm>
            <a:off x="9482328" y="5148072"/>
            <a:ext cx="0" cy="219456"/>
          </a:xfrm>
          <a:prstGeom prst="line">
            <a:avLst/>
          </a:prstGeom>
          <a:ln w="2032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4" name="Connector 483"/>
          <p:cNvCxnSpPr/>
          <p:nvPr/>
        </p:nvCxnSpPr>
        <p:spPr>
          <a:xfrm>
            <a:off x="9537192" y="5148072"/>
            <a:ext cx="0" cy="219456"/>
          </a:xfrm>
          <a:prstGeom prst="line">
            <a:avLst/>
          </a:prstGeom>
          <a:ln w="2032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5" name="Connector 484"/>
          <p:cNvCxnSpPr/>
          <p:nvPr/>
        </p:nvCxnSpPr>
        <p:spPr>
          <a:xfrm flipV="1">
            <a:off x="9509760" y="5010912"/>
            <a:ext cx="0" cy="13716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6" name="Oval 485"/>
          <p:cNvSpPr/>
          <p:nvPr/>
        </p:nvSpPr>
        <p:spPr>
          <a:xfrm>
            <a:off x="9345168" y="4681728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FI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100</a:t>
            </a:r>
          </a:p>
        </p:txBody>
      </p:sp>
      <p:cxnSp>
        <p:nvCxnSpPr>
          <p:cNvPr id="487" name="Connector 486"/>
          <p:cNvCxnSpPr/>
          <p:nvPr/>
        </p:nvCxnSpPr>
        <p:spPr>
          <a:xfrm>
            <a:off x="9345168" y="4846320"/>
            <a:ext cx="329184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8" name="TextBox 487"/>
          <p:cNvSpPr txBox="1"/>
          <p:nvPr/>
        </p:nvSpPr>
        <p:spPr>
          <a:xfrm>
            <a:off x="7086600" y="4224528"/>
            <a:ext cx="457200" cy="914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459" b="0">
                <a:solidFill>
                  <a:srgbClr val="000000"/>
                </a:solidFill>
                <a:latin typeface="Arial"/>
              </a:rPr>
              <a:t>DN100-FG-109</a:t>
            </a:r>
          </a:p>
        </p:txBody>
      </p:sp>
      <p:sp>
        <p:nvSpPr>
          <p:cNvPr id="489" name="TextBox 488"/>
          <p:cNvSpPr txBox="1"/>
          <p:nvPr/>
        </p:nvSpPr>
        <p:spPr>
          <a:xfrm>
            <a:off x="7086600" y="4334256"/>
            <a:ext cx="457200" cy="914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459" b="0">
                <a:solidFill>
                  <a:srgbClr val="000000"/>
                </a:solidFill>
                <a:latin typeface="Arial"/>
              </a:rPr>
              <a:t>STREAM 9</a:t>
            </a:r>
          </a:p>
        </p:txBody>
      </p:sp>
      <p:sp>
        <p:nvSpPr>
          <p:cNvPr id="490" name="Rectangle 489"/>
          <p:cNvSpPr/>
          <p:nvPr/>
        </p:nvSpPr>
        <p:spPr>
          <a:xfrm>
            <a:off x="5394960" y="7589520"/>
            <a:ext cx="2011680" cy="685800"/>
          </a:xfrm>
          <a:prstGeom prst="rect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1" name="TextBox 490"/>
          <p:cNvSpPr txBox="1"/>
          <p:nvPr/>
        </p:nvSpPr>
        <p:spPr>
          <a:xfrm>
            <a:off x="5394960" y="7616952"/>
            <a:ext cx="2011680" cy="1005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LUBE-OIL CONSOLE</a:t>
            </a:r>
          </a:p>
        </p:txBody>
      </p:sp>
      <p:sp>
        <p:nvSpPr>
          <p:cNvPr id="492" name="Oval 491"/>
          <p:cNvSpPr/>
          <p:nvPr/>
        </p:nvSpPr>
        <p:spPr>
          <a:xfrm>
            <a:off x="5669279" y="7836408"/>
            <a:ext cx="274320" cy="274320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3" name="Freeform 492"/>
          <p:cNvSpPr/>
          <p:nvPr/>
        </p:nvSpPr>
        <p:spPr>
          <a:xfrm>
            <a:off x="5731002" y="7911846"/>
            <a:ext cx="178307" cy="123444"/>
          </a:xfrm>
          <a:custGeom>
            <a:avLst/>
            <a:gdLst/>
            <a:ahLst/>
            <a:cxnLst/>
            <a:rect l="l" t="t" r="r" b="b"/>
            <a:pathLst>
              <a:path w="178307" h="123444">
                <a:moveTo>
                  <a:pt x="0" y="0"/>
                </a:moveTo>
                <a:lnTo>
                  <a:pt x="178307" y="61722"/>
                </a:lnTo>
                <a:lnTo>
                  <a:pt x="0" y="123444"/>
                </a:lnTo>
                <a:close/>
              </a:path>
            </a:pathLst>
          </a:cu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4" name="TextBox 493"/>
          <p:cNvSpPr txBox="1"/>
          <p:nvPr/>
        </p:nvSpPr>
        <p:spPr>
          <a:xfrm>
            <a:off x="5577840" y="8138160"/>
            <a:ext cx="457200" cy="914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P-150A</a:t>
            </a:r>
          </a:p>
        </p:txBody>
      </p:sp>
      <p:sp>
        <p:nvSpPr>
          <p:cNvPr id="495" name="Oval 494"/>
          <p:cNvSpPr/>
          <p:nvPr/>
        </p:nvSpPr>
        <p:spPr>
          <a:xfrm>
            <a:off x="6217920" y="7836408"/>
            <a:ext cx="274320" cy="274320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6" name="Freeform 495"/>
          <p:cNvSpPr/>
          <p:nvPr/>
        </p:nvSpPr>
        <p:spPr>
          <a:xfrm>
            <a:off x="6279642" y="7911846"/>
            <a:ext cx="178308" cy="123444"/>
          </a:xfrm>
          <a:custGeom>
            <a:avLst/>
            <a:gdLst/>
            <a:ahLst/>
            <a:cxnLst/>
            <a:rect l="l" t="t" r="r" b="b"/>
            <a:pathLst>
              <a:path w="178308" h="123444">
                <a:moveTo>
                  <a:pt x="0" y="0"/>
                </a:moveTo>
                <a:lnTo>
                  <a:pt x="178308" y="61722"/>
                </a:lnTo>
                <a:lnTo>
                  <a:pt x="0" y="123444"/>
                </a:lnTo>
                <a:close/>
              </a:path>
            </a:pathLst>
          </a:cu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7" name="TextBox 496"/>
          <p:cNvSpPr txBox="1"/>
          <p:nvPr/>
        </p:nvSpPr>
        <p:spPr>
          <a:xfrm>
            <a:off x="6126480" y="8138160"/>
            <a:ext cx="457200" cy="914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P-150B</a:t>
            </a:r>
          </a:p>
        </p:txBody>
      </p:sp>
      <p:sp>
        <p:nvSpPr>
          <p:cNvPr id="498" name="TextBox 497"/>
          <p:cNvSpPr txBox="1"/>
          <p:nvPr/>
        </p:nvSpPr>
        <p:spPr>
          <a:xfrm>
            <a:off x="6583680" y="7818120"/>
            <a:ext cx="777240" cy="914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59" b="0">
                <a:solidFill>
                  <a:srgbClr val="000000"/>
                </a:solidFill>
                <a:latin typeface="Arial"/>
              </a:rPr>
              <a:t>B = STANDBY,</a:t>
            </a:r>
          </a:p>
        </p:txBody>
      </p:sp>
      <p:sp>
        <p:nvSpPr>
          <p:cNvPr id="499" name="TextBox 498"/>
          <p:cNvSpPr txBox="1"/>
          <p:nvPr/>
        </p:nvSpPr>
        <p:spPr>
          <a:xfrm>
            <a:off x="6583680" y="7918704"/>
            <a:ext cx="777240" cy="914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59" b="0">
                <a:solidFill>
                  <a:srgbClr val="000000"/>
                </a:solidFill>
                <a:latin typeface="Arial"/>
              </a:rPr>
              <a:t>AUTO-START</a:t>
            </a:r>
          </a:p>
        </p:txBody>
      </p:sp>
      <p:sp>
        <p:nvSpPr>
          <p:cNvPr id="500" name="TextBox 499"/>
          <p:cNvSpPr txBox="1"/>
          <p:nvPr/>
        </p:nvSpPr>
        <p:spPr>
          <a:xfrm>
            <a:off x="6583680" y="8019288"/>
            <a:ext cx="777240" cy="914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59" b="0">
                <a:solidFill>
                  <a:srgbClr val="000000"/>
                </a:solidFill>
                <a:latin typeface="Arial"/>
              </a:rPr>
              <a:t>ON PI-150 LOW</a:t>
            </a:r>
          </a:p>
        </p:txBody>
      </p:sp>
      <p:cxnSp>
        <p:nvCxnSpPr>
          <p:cNvPr id="501" name="Connector 500"/>
          <p:cNvCxnSpPr/>
          <p:nvPr/>
        </p:nvCxnSpPr>
        <p:spPr>
          <a:xfrm flipV="1">
            <a:off x="6400800" y="6766560"/>
            <a:ext cx="0" cy="822960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2" name="TextBox 501"/>
          <p:cNvSpPr txBox="1"/>
          <p:nvPr/>
        </p:nvSpPr>
        <p:spPr>
          <a:xfrm>
            <a:off x="5989320" y="6812280"/>
            <a:ext cx="365760" cy="914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459" b="0">
                <a:solidFill>
                  <a:srgbClr val="000000"/>
                </a:solidFill>
                <a:latin typeface="Arial"/>
              </a:rPr>
              <a:t>LO TO</a:t>
            </a:r>
          </a:p>
        </p:txBody>
      </p:sp>
      <p:sp>
        <p:nvSpPr>
          <p:cNvPr id="503" name="TextBox 502"/>
          <p:cNvSpPr txBox="1"/>
          <p:nvPr/>
        </p:nvSpPr>
        <p:spPr>
          <a:xfrm>
            <a:off x="5989320" y="6903720"/>
            <a:ext cx="365760" cy="914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459" b="0">
                <a:solidFill>
                  <a:srgbClr val="000000"/>
                </a:solidFill>
                <a:latin typeface="Arial"/>
              </a:rPr>
              <a:t>BEARINGS</a:t>
            </a:r>
          </a:p>
        </p:txBody>
      </p:sp>
      <p:cxnSp>
        <p:nvCxnSpPr>
          <p:cNvPr id="504" name="Connector 503"/>
          <p:cNvCxnSpPr/>
          <p:nvPr/>
        </p:nvCxnSpPr>
        <p:spPr>
          <a:xfrm>
            <a:off x="6812280" y="6766560"/>
            <a:ext cx="0" cy="365760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5" name="Freeform 504"/>
          <p:cNvSpPr/>
          <p:nvPr/>
        </p:nvSpPr>
        <p:spPr>
          <a:xfrm>
            <a:off x="6757416" y="6821424"/>
            <a:ext cx="109728" cy="164592"/>
          </a:xfrm>
          <a:custGeom>
            <a:avLst/>
            <a:gdLst/>
            <a:ahLst/>
            <a:cxnLst/>
            <a:rect l="l" t="t" r="r" b="b"/>
            <a:pathLst>
              <a:path w="109728" h="164592">
                <a:moveTo>
                  <a:pt x="0" y="0"/>
                </a:moveTo>
                <a:lnTo>
                  <a:pt x="109728" y="164592"/>
                </a:lnTo>
                <a:lnTo>
                  <a:pt x="0" y="164592"/>
                </a:lnTo>
                <a:lnTo>
                  <a:pt x="109728" y="0"/>
                </a:lnTo>
                <a:close/>
              </a:path>
            </a:pathLst>
          </a:cu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6" name="TextBox 505"/>
          <p:cNvSpPr txBox="1"/>
          <p:nvPr/>
        </p:nvSpPr>
        <p:spPr>
          <a:xfrm>
            <a:off x="6885432" y="6821424"/>
            <a:ext cx="365760" cy="914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59" b="1">
                <a:solidFill>
                  <a:srgbClr val="000000"/>
                </a:solidFill>
                <a:latin typeface="Arial"/>
              </a:rPr>
              <a:t>MV-132</a:t>
            </a:r>
          </a:p>
        </p:txBody>
      </p:sp>
      <p:sp>
        <p:nvSpPr>
          <p:cNvPr id="507" name="TextBox 506"/>
          <p:cNvSpPr txBox="1"/>
          <p:nvPr/>
        </p:nvSpPr>
        <p:spPr>
          <a:xfrm>
            <a:off x="6885432" y="6931152"/>
            <a:ext cx="731520" cy="914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40" b="0">
                <a:solidFill>
                  <a:srgbClr val="000000"/>
                </a:solidFill>
                <a:latin typeface="Arial"/>
              </a:rPr>
              <a:t>CASING DRAIN TO CD</a:t>
            </a:r>
          </a:p>
        </p:txBody>
      </p:sp>
      <p:sp>
        <p:nvSpPr>
          <p:cNvPr id="508" name="Oval 507"/>
          <p:cNvSpPr/>
          <p:nvPr/>
        </p:nvSpPr>
        <p:spPr>
          <a:xfrm>
            <a:off x="6371082" y="7285482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09" name="Connector 508"/>
          <p:cNvCxnSpPr/>
          <p:nvPr/>
        </p:nvCxnSpPr>
        <p:spPr>
          <a:xfrm>
            <a:off x="6400800" y="7315200"/>
            <a:ext cx="576072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0" name="Oval 509"/>
          <p:cNvSpPr/>
          <p:nvPr/>
        </p:nvSpPr>
        <p:spPr>
          <a:xfrm>
            <a:off x="6976872" y="7150608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PI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150</a:t>
            </a:r>
          </a:p>
        </p:txBody>
      </p:sp>
      <p:cxnSp>
        <p:nvCxnSpPr>
          <p:cNvPr id="511" name="Connector 510"/>
          <p:cNvCxnSpPr/>
          <p:nvPr/>
        </p:nvCxnSpPr>
        <p:spPr>
          <a:xfrm>
            <a:off x="6976872" y="7315200"/>
            <a:ext cx="329183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2" name="Connector 511"/>
          <p:cNvCxnSpPr/>
          <p:nvPr/>
        </p:nvCxnSpPr>
        <p:spPr>
          <a:xfrm>
            <a:off x="7306056" y="7315200"/>
            <a:ext cx="64008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3" name="Rectangle 512"/>
          <p:cNvSpPr/>
          <p:nvPr/>
        </p:nvSpPr>
        <p:spPr>
          <a:xfrm>
            <a:off x="7370063" y="7123176"/>
            <a:ext cx="384048" cy="384048"/>
          </a:xfrm>
          <a:prstGeom prst="rect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4" name="Oval 513"/>
          <p:cNvSpPr/>
          <p:nvPr/>
        </p:nvSpPr>
        <p:spPr>
          <a:xfrm>
            <a:off x="7397496" y="7150608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PSLL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150</a:t>
            </a:r>
          </a:p>
        </p:txBody>
      </p:sp>
      <p:cxnSp>
        <p:nvCxnSpPr>
          <p:cNvPr id="515" name="Connector 514"/>
          <p:cNvCxnSpPr/>
          <p:nvPr/>
        </p:nvCxnSpPr>
        <p:spPr>
          <a:xfrm>
            <a:off x="7397496" y="7315200"/>
            <a:ext cx="329183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6" name="Oval 515"/>
          <p:cNvSpPr/>
          <p:nvPr/>
        </p:nvSpPr>
        <p:spPr>
          <a:xfrm>
            <a:off x="5596128" y="6967728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TI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151</a:t>
            </a:r>
          </a:p>
        </p:txBody>
      </p:sp>
      <p:cxnSp>
        <p:nvCxnSpPr>
          <p:cNvPr id="517" name="Connector 516"/>
          <p:cNvCxnSpPr/>
          <p:nvPr/>
        </p:nvCxnSpPr>
        <p:spPr>
          <a:xfrm>
            <a:off x="5596128" y="7132320"/>
            <a:ext cx="329184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8" name="Connector 517"/>
          <p:cNvCxnSpPr/>
          <p:nvPr/>
        </p:nvCxnSpPr>
        <p:spPr>
          <a:xfrm flipV="1">
            <a:off x="5760720" y="6766560"/>
            <a:ext cx="0" cy="201168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9" name="TextBox 518"/>
          <p:cNvSpPr txBox="1"/>
          <p:nvPr/>
        </p:nvSpPr>
        <p:spPr>
          <a:xfrm>
            <a:off x="457200" y="6812280"/>
            <a:ext cx="3035808" cy="1188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40" b="1">
                <a:solidFill>
                  <a:srgbClr val="000000"/>
                </a:solidFill>
                <a:latin typeface="Arial"/>
              </a:rPr>
              <a:t>LINE LIST · PRELIMINARY SIZES (NOTE 2)</a:t>
            </a:r>
          </a:p>
        </p:txBody>
      </p:sp>
      <p:cxnSp>
        <p:nvCxnSpPr>
          <p:cNvPr id="520" name="Connector 519"/>
          <p:cNvCxnSpPr/>
          <p:nvPr/>
        </p:nvCxnSpPr>
        <p:spPr>
          <a:xfrm>
            <a:off x="457200" y="6967728"/>
            <a:ext cx="3035808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1" name="Connector 520"/>
          <p:cNvCxnSpPr/>
          <p:nvPr/>
        </p:nvCxnSpPr>
        <p:spPr>
          <a:xfrm>
            <a:off x="457200" y="7086600"/>
            <a:ext cx="3035808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2" name="Connector 521"/>
          <p:cNvCxnSpPr/>
          <p:nvPr/>
        </p:nvCxnSpPr>
        <p:spPr>
          <a:xfrm>
            <a:off x="457200" y="7194499"/>
            <a:ext cx="3035808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3" name="Connector 522"/>
          <p:cNvCxnSpPr/>
          <p:nvPr/>
        </p:nvCxnSpPr>
        <p:spPr>
          <a:xfrm>
            <a:off x="457200" y="7302398"/>
            <a:ext cx="3035808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4" name="Connector 523"/>
          <p:cNvCxnSpPr/>
          <p:nvPr/>
        </p:nvCxnSpPr>
        <p:spPr>
          <a:xfrm>
            <a:off x="457200" y="7410297"/>
            <a:ext cx="3035808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5" name="Connector 524"/>
          <p:cNvCxnSpPr/>
          <p:nvPr/>
        </p:nvCxnSpPr>
        <p:spPr>
          <a:xfrm>
            <a:off x="457200" y="7518196"/>
            <a:ext cx="3035808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6" name="Connector 525"/>
          <p:cNvCxnSpPr/>
          <p:nvPr/>
        </p:nvCxnSpPr>
        <p:spPr>
          <a:xfrm>
            <a:off x="457200" y="7626096"/>
            <a:ext cx="3035808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7" name="Connector 526"/>
          <p:cNvCxnSpPr/>
          <p:nvPr/>
        </p:nvCxnSpPr>
        <p:spPr>
          <a:xfrm>
            <a:off x="457200" y="7733995"/>
            <a:ext cx="3035808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8" name="Connector 527"/>
          <p:cNvCxnSpPr/>
          <p:nvPr/>
        </p:nvCxnSpPr>
        <p:spPr>
          <a:xfrm>
            <a:off x="457200" y="7841894"/>
            <a:ext cx="3035808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9" name="Connector 528"/>
          <p:cNvCxnSpPr/>
          <p:nvPr/>
        </p:nvCxnSpPr>
        <p:spPr>
          <a:xfrm>
            <a:off x="457200" y="7949793"/>
            <a:ext cx="3035808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0" name="Connector 529"/>
          <p:cNvCxnSpPr/>
          <p:nvPr/>
        </p:nvCxnSpPr>
        <p:spPr>
          <a:xfrm>
            <a:off x="457200" y="8057692"/>
            <a:ext cx="3035808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1" name="Connector 530"/>
          <p:cNvCxnSpPr/>
          <p:nvPr/>
        </p:nvCxnSpPr>
        <p:spPr>
          <a:xfrm>
            <a:off x="457200" y="8165592"/>
            <a:ext cx="3035808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2" name="Connector 531"/>
          <p:cNvCxnSpPr/>
          <p:nvPr/>
        </p:nvCxnSpPr>
        <p:spPr>
          <a:xfrm>
            <a:off x="457200" y="8273491"/>
            <a:ext cx="3035808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3" name="Connector 532"/>
          <p:cNvCxnSpPr/>
          <p:nvPr/>
        </p:nvCxnSpPr>
        <p:spPr>
          <a:xfrm>
            <a:off x="457200" y="8381390"/>
            <a:ext cx="3035808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4" name="Connector 533"/>
          <p:cNvCxnSpPr/>
          <p:nvPr/>
        </p:nvCxnSpPr>
        <p:spPr>
          <a:xfrm>
            <a:off x="457200" y="8489289"/>
            <a:ext cx="3035808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5" name="Connector 534"/>
          <p:cNvCxnSpPr/>
          <p:nvPr/>
        </p:nvCxnSpPr>
        <p:spPr>
          <a:xfrm>
            <a:off x="457200" y="6967728"/>
            <a:ext cx="0" cy="1521561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6" name="Connector 535"/>
          <p:cNvCxnSpPr/>
          <p:nvPr/>
        </p:nvCxnSpPr>
        <p:spPr>
          <a:xfrm>
            <a:off x="1188720" y="6967728"/>
            <a:ext cx="0" cy="1521561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7" name="Connector 536"/>
          <p:cNvCxnSpPr/>
          <p:nvPr/>
        </p:nvCxnSpPr>
        <p:spPr>
          <a:xfrm>
            <a:off x="2432304" y="6967728"/>
            <a:ext cx="0" cy="1521561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8" name="Connector 537"/>
          <p:cNvCxnSpPr/>
          <p:nvPr/>
        </p:nvCxnSpPr>
        <p:spPr>
          <a:xfrm>
            <a:off x="2724912" y="6967728"/>
            <a:ext cx="0" cy="1521561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9" name="Connector 538"/>
          <p:cNvCxnSpPr/>
          <p:nvPr/>
        </p:nvCxnSpPr>
        <p:spPr>
          <a:xfrm>
            <a:off x="3108960" y="6967728"/>
            <a:ext cx="0" cy="1521561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0" name="Connector 539"/>
          <p:cNvCxnSpPr/>
          <p:nvPr/>
        </p:nvCxnSpPr>
        <p:spPr>
          <a:xfrm>
            <a:off x="3493008" y="6967728"/>
            <a:ext cx="0" cy="1521561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1" name="TextBox 540"/>
          <p:cNvSpPr txBox="1"/>
          <p:nvPr/>
        </p:nvSpPr>
        <p:spPr>
          <a:xfrm>
            <a:off x="457200" y="6967728"/>
            <a:ext cx="731520" cy="11887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0" b="1">
                <a:solidFill>
                  <a:srgbClr val="000000"/>
                </a:solidFill>
                <a:latin typeface="Arial"/>
              </a:rPr>
              <a:t>LINE NO.</a:t>
            </a:r>
          </a:p>
        </p:txBody>
      </p:sp>
      <p:sp>
        <p:nvSpPr>
          <p:cNvPr id="542" name="TextBox 541"/>
          <p:cNvSpPr txBox="1"/>
          <p:nvPr/>
        </p:nvSpPr>
        <p:spPr>
          <a:xfrm>
            <a:off x="1188720" y="6967728"/>
            <a:ext cx="1243584" cy="11887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0" b="1">
                <a:solidFill>
                  <a:srgbClr val="000000"/>
                </a:solidFill>
                <a:latin typeface="Arial"/>
              </a:rPr>
              <a:t>FROM → TO</a:t>
            </a:r>
          </a:p>
        </p:txBody>
      </p:sp>
      <p:sp>
        <p:nvSpPr>
          <p:cNvPr id="543" name="TextBox 542"/>
          <p:cNvSpPr txBox="1"/>
          <p:nvPr/>
        </p:nvSpPr>
        <p:spPr>
          <a:xfrm>
            <a:off x="2432304" y="6967728"/>
            <a:ext cx="292608" cy="11887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0" b="1">
                <a:solidFill>
                  <a:srgbClr val="000000"/>
                </a:solidFill>
                <a:latin typeface="Arial"/>
              </a:rPr>
              <a:t>STR.</a:t>
            </a:r>
          </a:p>
        </p:txBody>
      </p:sp>
      <p:sp>
        <p:nvSpPr>
          <p:cNvPr id="544" name="TextBox 543"/>
          <p:cNvSpPr txBox="1"/>
          <p:nvPr/>
        </p:nvSpPr>
        <p:spPr>
          <a:xfrm>
            <a:off x="2724912" y="6967728"/>
            <a:ext cx="384048" cy="11887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0" b="1">
                <a:solidFill>
                  <a:srgbClr val="000000"/>
                </a:solidFill>
                <a:latin typeface="Arial"/>
              </a:rPr>
              <a:t>kg/s</a:t>
            </a:r>
          </a:p>
        </p:txBody>
      </p:sp>
      <p:sp>
        <p:nvSpPr>
          <p:cNvPr id="545" name="TextBox 544"/>
          <p:cNvSpPr txBox="1"/>
          <p:nvPr/>
        </p:nvSpPr>
        <p:spPr>
          <a:xfrm>
            <a:off x="3108960" y="6967728"/>
            <a:ext cx="384048" cy="11887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0" b="1">
                <a:solidFill>
                  <a:srgbClr val="000000"/>
                </a:solidFill>
                <a:latin typeface="Arial"/>
              </a:rPr>
              <a:t>v m/s</a:t>
            </a:r>
          </a:p>
        </p:txBody>
      </p:sp>
      <p:sp>
        <p:nvSpPr>
          <p:cNvPr id="546" name="TextBox 545"/>
          <p:cNvSpPr txBox="1"/>
          <p:nvPr/>
        </p:nvSpPr>
        <p:spPr>
          <a:xfrm>
            <a:off x="484632" y="7086600"/>
            <a:ext cx="694944" cy="1078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50" b="0">
                <a:solidFill>
                  <a:srgbClr val="000000"/>
                </a:solidFill>
                <a:latin typeface="Arial"/>
              </a:rPr>
              <a:t>DN500-PG-101</a:t>
            </a:r>
          </a:p>
        </p:txBody>
      </p:sp>
      <p:sp>
        <p:nvSpPr>
          <p:cNvPr id="547" name="TextBox 546"/>
          <p:cNvSpPr txBox="1"/>
          <p:nvPr/>
        </p:nvSpPr>
        <p:spPr>
          <a:xfrm>
            <a:off x="1216152" y="7086600"/>
            <a:ext cx="1207008" cy="1078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50" b="0">
                <a:solidFill>
                  <a:srgbClr val="000000"/>
                </a:solidFill>
                <a:latin typeface="Arial"/>
              </a:rPr>
              <a:t>HP SEPARATOR → V-101</a:t>
            </a:r>
          </a:p>
        </p:txBody>
      </p:sp>
      <p:sp>
        <p:nvSpPr>
          <p:cNvPr id="548" name="TextBox 547"/>
          <p:cNvSpPr txBox="1"/>
          <p:nvPr/>
        </p:nvSpPr>
        <p:spPr>
          <a:xfrm>
            <a:off x="2432304" y="7086600"/>
            <a:ext cx="292608" cy="1078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0" b="0">
                <a:solidFill>
                  <a:srgbClr val="000000"/>
                </a:solidFill>
                <a:latin typeface="Arial"/>
              </a:rPr>
              <a:t>1</a:t>
            </a:r>
          </a:p>
        </p:txBody>
      </p:sp>
      <p:sp>
        <p:nvSpPr>
          <p:cNvPr id="549" name="TextBox 548"/>
          <p:cNvSpPr txBox="1"/>
          <p:nvPr/>
        </p:nvSpPr>
        <p:spPr>
          <a:xfrm>
            <a:off x="2724912" y="7086600"/>
            <a:ext cx="384048" cy="1078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0" b="0">
                <a:solidFill>
                  <a:srgbClr val="000000"/>
                </a:solidFill>
                <a:latin typeface="Arial"/>
              </a:rPr>
              <a:t>61.75</a:t>
            </a:r>
          </a:p>
        </p:txBody>
      </p:sp>
      <p:sp>
        <p:nvSpPr>
          <p:cNvPr id="550" name="TextBox 549"/>
          <p:cNvSpPr txBox="1"/>
          <p:nvPr/>
        </p:nvSpPr>
        <p:spPr>
          <a:xfrm>
            <a:off x="3108960" y="7086600"/>
            <a:ext cx="384048" cy="1078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0" b="0">
                <a:solidFill>
                  <a:srgbClr val="000000"/>
                </a:solidFill>
                <a:latin typeface="Arial"/>
              </a:rPr>
              <a:t>10.7</a:t>
            </a:r>
          </a:p>
        </p:txBody>
      </p:sp>
      <p:sp>
        <p:nvSpPr>
          <p:cNvPr id="551" name="TextBox 550"/>
          <p:cNvSpPr txBox="1"/>
          <p:nvPr/>
        </p:nvSpPr>
        <p:spPr>
          <a:xfrm>
            <a:off x="484632" y="7194499"/>
            <a:ext cx="694944" cy="1078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50" b="0">
                <a:solidFill>
                  <a:srgbClr val="000000"/>
                </a:solidFill>
                <a:latin typeface="Arial"/>
              </a:rPr>
              <a:t>DN500-PG-102</a:t>
            </a:r>
          </a:p>
        </p:txBody>
      </p:sp>
      <p:sp>
        <p:nvSpPr>
          <p:cNvPr id="552" name="TextBox 551"/>
          <p:cNvSpPr txBox="1"/>
          <p:nvPr/>
        </p:nvSpPr>
        <p:spPr>
          <a:xfrm>
            <a:off x="1216152" y="7194499"/>
            <a:ext cx="1207008" cy="1078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50" b="0">
                <a:solidFill>
                  <a:srgbClr val="000000"/>
                </a:solidFill>
                <a:latin typeface="Arial"/>
              </a:rPr>
              <a:t>V-101 → SECTION 1</a:t>
            </a:r>
          </a:p>
        </p:txBody>
      </p:sp>
      <p:sp>
        <p:nvSpPr>
          <p:cNvPr id="553" name="TextBox 552"/>
          <p:cNvSpPr txBox="1"/>
          <p:nvPr/>
        </p:nvSpPr>
        <p:spPr>
          <a:xfrm>
            <a:off x="2432304" y="7194499"/>
            <a:ext cx="292608" cy="1078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0" b="0">
                <a:solidFill>
                  <a:srgbClr val="000000"/>
                </a:solidFill>
                <a:latin typeface="Arial"/>
              </a:rPr>
              <a:t>2</a:t>
            </a:r>
          </a:p>
        </p:txBody>
      </p:sp>
      <p:sp>
        <p:nvSpPr>
          <p:cNvPr id="554" name="TextBox 553"/>
          <p:cNvSpPr txBox="1"/>
          <p:nvPr/>
        </p:nvSpPr>
        <p:spPr>
          <a:xfrm>
            <a:off x="2724912" y="7194499"/>
            <a:ext cx="384048" cy="1078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0" b="0">
                <a:solidFill>
                  <a:srgbClr val="000000"/>
                </a:solidFill>
                <a:latin typeface="Arial"/>
              </a:rPr>
              <a:t>61.75</a:t>
            </a:r>
          </a:p>
        </p:txBody>
      </p:sp>
      <p:sp>
        <p:nvSpPr>
          <p:cNvPr id="555" name="TextBox 554"/>
          <p:cNvSpPr txBox="1"/>
          <p:nvPr/>
        </p:nvSpPr>
        <p:spPr>
          <a:xfrm>
            <a:off x="3108960" y="7194499"/>
            <a:ext cx="384048" cy="1078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0" b="0">
                <a:solidFill>
                  <a:srgbClr val="000000"/>
                </a:solidFill>
                <a:latin typeface="Arial"/>
              </a:rPr>
              <a:t>10.8</a:t>
            </a:r>
          </a:p>
        </p:txBody>
      </p:sp>
      <p:sp>
        <p:nvSpPr>
          <p:cNvPr id="556" name="TextBox 555"/>
          <p:cNvSpPr txBox="1"/>
          <p:nvPr/>
        </p:nvSpPr>
        <p:spPr>
          <a:xfrm>
            <a:off x="484632" y="7302398"/>
            <a:ext cx="694944" cy="1078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50" b="0">
                <a:solidFill>
                  <a:srgbClr val="000000"/>
                </a:solidFill>
                <a:latin typeface="Arial"/>
              </a:rPr>
              <a:t>DN400-PG-103</a:t>
            </a:r>
          </a:p>
        </p:txBody>
      </p:sp>
      <p:sp>
        <p:nvSpPr>
          <p:cNvPr id="557" name="TextBox 556"/>
          <p:cNvSpPr txBox="1"/>
          <p:nvPr/>
        </p:nvSpPr>
        <p:spPr>
          <a:xfrm>
            <a:off x="1216152" y="7302398"/>
            <a:ext cx="1207008" cy="1078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50" b="0">
                <a:solidFill>
                  <a:srgbClr val="000000"/>
                </a:solidFill>
                <a:latin typeface="Arial"/>
              </a:rPr>
              <a:t>SECTION 1 → E-101</a:t>
            </a:r>
          </a:p>
        </p:txBody>
      </p:sp>
      <p:sp>
        <p:nvSpPr>
          <p:cNvPr id="558" name="TextBox 557"/>
          <p:cNvSpPr txBox="1"/>
          <p:nvPr/>
        </p:nvSpPr>
        <p:spPr>
          <a:xfrm>
            <a:off x="2432304" y="7302398"/>
            <a:ext cx="292608" cy="1078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0" b="0">
                <a:solidFill>
                  <a:srgbClr val="000000"/>
                </a:solidFill>
                <a:latin typeface="Arial"/>
              </a:rPr>
              <a:t>3</a:t>
            </a:r>
          </a:p>
        </p:txBody>
      </p:sp>
      <p:sp>
        <p:nvSpPr>
          <p:cNvPr id="559" name="TextBox 558"/>
          <p:cNvSpPr txBox="1"/>
          <p:nvPr/>
        </p:nvSpPr>
        <p:spPr>
          <a:xfrm>
            <a:off x="2724912" y="7302398"/>
            <a:ext cx="384048" cy="1078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0" b="0">
                <a:solidFill>
                  <a:srgbClr val="000000"/>
                </a:solidFill>
                <a:latin typeface="Arial"/>
              </a:rPr>
              <a:t>61.75</a:t>
            </a:r>
          </a:p>
        </p:txBody>
      </p:sp>
      <p:sp>
        <p:nvSpPr>
          <p:cNvPr id="560" name="TextBox 559"/>
          <p:cNvSpPr txBox="1"/>
          <p:nvPr/>
        </p:nvSpPr>
        <p:spPr>
          <a:xfrm>
            <a:off x="3108960" y="7302398"/>
            <a:ext cx="384048" cy="1078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0" b="0">
                <a:solidFill>
                  <a:srgbClr val="000000"/>
                </a:solidFill>
                <a:latin typeface="Arial"/>
              </a:rPr>
              <a:t>10.2</a:t>
            </a:r>
          </a:p>
        </p:txBody>
      </p:sp>
      <p:sp>
        <p:nvSpPr>
          <p:cNvPr id="561" name="TextBox 560"/>
          <p:cNvSpPr txBox="1"/>
          <p:nvPr/>
        </p:nvSpPr>
        <p:spPr>
          <a:xfrm>
            <a:off x="484632" y="7410297"/>
            <a:ext cx="694944" cy="1078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50" b="0">
                <a:solidFill>
                  <a:srgbClr val="000000"/>
                </a:solidFill>
                <a:latin typeface="Arial"/>
              </a:rPr>
              <a:t>DN350-PG-112</a:t>
            </a:r>
          </a:p>
        </p:txBody>
      </p:sp>
      <p:sp>
        <p:nvSpPr>
          <p:cNvPr id="562" name="TextBox 561"/>
          <p:cNvSpPr txBox="1"/>
          <p:nvPr/>
        </p:nvSpPr>
        <p:spPr>
          <a:xfrm>
            <a:off x="1216152" y="7410297"/>
            <a:ext cx="1207008" cy="1078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50" b="0">
                <a:solidFill>
                  <a:srgbClr val="000000"/>
                </a:solidFill>
                <a:latin typeface="Arial"/>
              </a:rPr>
              <a:t>E-101 → V-102</a:t>
            </a:r>
          </a:p>
        </p:txBody>
      </p:sp>
      <p:sp>
        <p:nvSpPr>
          <p:cNvPr id="563" name="TextBox 562"/>
          <p:cNvSpPr txBox="1"/>
          <p:nvPr/>
        </p:nvSpPr>
        <p:spPr>
          <a:xfrm>
            <a:off x="2432304" y="7410297"/>
            <a:ext cx="292608" cy="1078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0" b="0">
                <a:solidFill>
                  <a:srgbClr val="000000"/>
                </a:solidFill>
                <a:latin typeface="Arial"/>
              </a:rPr>
              <a:t>4</a:t>
            </a:r>
          </a:p>
        </p:txBody>
      </p:sp>
      <p:sp>
        <p:nvSpPr>
          <p:cNvPr id="564" name="TextBox 563"/>
          <p:cNvSpPr txBox="1"/>
          <p:nvPr/>
        </p:nvSpPr>
        <p:spPr>
          <a:xfrm>
            <a:off x="2724912" y="7410297"/>
            <a:ext cx="384048" cy="1078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0" b="0">
                <a:solidFill>
                  <a:srgbClr val="000000"/>
                </a:solidFill>
                <a:latin typeface="Arial"/>
              </a:rPr>
              <a:t>61.75</a:t>
            </a:r>
          </a:p>
        </p:txBody>
      </p:sp>
      <p:sp>
        <p:nvSpPr>
          <p:cNvPr id="565" name="TextBox 564"/>
          <p:cNvSpPr txBox="1"/>
          <p:nvPr/>
        </p:nvSpPr>
        <p:spPr>
          <a:xfrm>
            <a:off x="3108960" y="7410297"/>
            <a:ext cx="384048" cy="1078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0" b="0">
                <a:solidFill>
                  <a:srgbClr val="000000"/>
                </a:solidFill>
                <a:latin typeface="Arial"/>
              </a:rPr>
              <a:t>10.6</a:t>
            </a:r>
          </a:p>
        </p:txBody>
      </p:sp>
      <p:sp>
        <p:nvSpPr>
          <p:cNvPr id="566" name="TextBox 565"/>
          <p:cNvSpPr txBox="1"/>
          <p:nvPr/>
        </p:nvSpPr>
        <p:spPr>
          <a:xfrm>
            <a:off x="484632" y="7518196"/>
            <a:ext cx="694944" cy="1078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50" b="0">
                <a:solidFill>
                  <a:srgbClr val="000000"/>
                </a:solidFill>
                <a:latin typeface="Arial"/>
              </a:rPr>
              <a:t>DN350-PG-105</a:t>
            </a:r>
          </a:p>
        </p:txBody>
      </p:sp>
      <p:sp>
        <p:nvSpPr>
          <p:cNvPr id="567" name="TextBox 566"/>
          <p:cNvSpPr txBox="1"/>
          <p:nvPr/>
        </p:nvSpPr>
        <p:spPr>
          <a:xfrm>
            <a:off x="1216152" y="7518196"/>
            <a:ext cx="1207008" cy="1078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50" b="0">
                <a:solidFill>
                  <a:srgbClr val="000000"/>
                </a:solidFill>
                <a:latin typeface="Arial"/>
              </a:rPr>
              <a:t>V-102 → SECTION 2</a:t>
            </a:r>
          </a:p>
        </p:txBody>
      </p:sp>
      <p:sp>
        <p:nvSpPr>
          <p:cNvPr id="568" name="TextBox 567"/>
          <p:cNvSpPr txBox="1"/>
          <p:nvPr/>
        </p:nvSpPr>
        <p:spPr>
          <a:xfrm>
            <a:off x="2432304" y="7518196"/>
            <a:ext cx="292608" cy="1078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0" b="0">
                <a:solidFill>
                  <a:srgbClr val="000000"/>
                </a:solidFill>
                <a:latin typeface="Arial"/>
              </a:rPr>
              <a:t>5</a:t>
            </a:r>
          </a:p>
        </p:txBody>
      </p:sp>
      <p:sp>
        <p:nvSpPr>
          <p:cNvPr id="569" name="TextBox 568"/>
          <p:cNvSpPr txBox="1"/>
          <p:nvPr/>
        </p:nvSpPr>
        <p:spPr>
          <a:xfrm>
            <a:off x="2724912" y="7518196"/>
            <a:ext cx="384048" cy="1078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0" b="0">
                <a:solidFill>
                  <a:srgbClr val="000000"/>
                </a:solidFill>
                <a:latin typeface="Arial"/>
              </a:rPr>
              <a:t>60.26</a:t>
            </a:r>
          </a:p>
        </p:txBody>
      </p:sp>
      <p:sp>
        <p:nvSpPr>
          <p:cNvPr id="570" name="TextBox 569"/>
          <p:cNvSpPr txBox="1"/>
          <p:nvPr/>
        </p:nvSpPr>
        <p:spPr>
          <a:xfrm>
            <a:off x="3108960" y="7518196"/>
            <a:ext cx="384048" cy="1078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0" b="0">
                <a:solidFill>
                  <a:srgbClr val="000000"/>
                </a:solidFill>
                <a:latin typeface="Arial"/>
              </a:rPr>
              <a:t>10.4</a:t>
            </a:r>
          </a:p>
        </p:txBody>
      </p:sp>
      <p:sp>
        <p:nvSpPr>
          <p:cNvPr id="571" name="TextBox 570"/>
          <p:cNvSpPr txBox="1"/>
          <p:nvPr/>
        </p:nvSpPr>
        <p:spPr>
          <a:xfrm>
            <a:off x="484632" y="7626096"/>
            <a:ext cx="694944" cy="1078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50" b="0">
                <a:solidFill>
                  <a:srgbClr val="000000"/>
                </a:solidFill>
                <a:latin typeface="Arial"/>
              </a:rPr>
              <a:t>DN300-PG-106</a:t>
            </a:r>
          </a:p>
        </p:txBody>
      </p:sp>
      <p:sp>
        <p:nvSpPr>
          <p:cNvPr id="572" name="TextBox 571"/>
          <p:cNvSpPr txBox="1"/>
          <p:nvPr/>
        </p:nvSpPr>
        <p:spPr>
          <a:xfrm>
            <a:off x="1216152" y="7626096"/>
            <a:ext cx="1207008" cy="1078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50" b="0">
                <a:solidFill>
                  <a:srgbClr val="000000"/>
                </a:solidFill>
                <a:latin typeface="Arial"/>
              </a:rPr>
              <a:t>SECTION 2 → E-102</a:t>
            </a:r>
          </a:p>
        </p:txBody>
      </p:sp>
      <p:sp>
        <p:nvSpPr>
          <p:cNvPr id="573" name="TextBox 572"/>
          <p:cNvSpPr txBox="1"/>
          <p:nvPr/>
        </p:nvSpPr>
        <p:spPr>
          <a:xfrm>
            <a:off x="2432304" y="7626096"/>
            <a:ext cx="292608" cy="1078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0" b="0">
                <a:solidFill>
                  <a:srgbClr val="000000"/>
                </a:solidFill>
                <a:latin typeface="Arial"/>
              </a:rPr>
              <a:t>6</a:t>
            </a:r>
          </a:p>
        </p:txBody>
      </p:sp>
      <p:sp>
        <p:nvSpPr>
          <p:cNvPr id="574" name="TextBox 573"/>
          <p:cNvSpPr txBox="1"/>
          <p:nvPr/>
        </p:nvSpPr>
        <p:spPr>
          <a:xfrm>
            <a:off x="2724912" y="7626096"/>
            <a:ext cx="384048" cy="1078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0" b="0">
                <a:solidFill>
                  <a:srgbClr val="000000"/>
                </a:solidFill>
                <a:latin typeface="Arial"/>
              </a:rPr>
              <a:t>60.26</a:t>
            </a:r>
          </a:p>
        </p:txBody>
      </p:sp>
      <p:sp>
        <p:nvSpPr>
          <p:cNvPr id="575" name="TextBox 574"/>
          <p:cNvSpPr txBox="1"/>
          <p:nvPr/>
        </p:nvSpPr>
        <p:spPr>
          <a:xfrm>
            <a:off x="3108960" y="7626096"/>
            <a:ext cx="384048" cy="1078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0" b="0">
                <a:solidFill>
                  <a:srgbClr val="000000"/>
                </a:solidFill>
                <a:latin typeface="Arial"/>
              </a:rPr>
              <a:t>8.8</a:t>
            </a:r>
          </a:p>
        </p:txBody>
      </p:sp>
      <p:sp>
        <p:nvSpPr>
          <p:cNvPr id="576" name="TextBox 575"/>
          <p:cNvSpPr txBox="1"/>
          <p:nvPr/>
        </p:nvSpPr>
        <p:spPr>
          <a:xfrm>
            <a:off x="484632" y="7733995"/>
            <a:ext cx="694944" cy="1078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50" b="0">
                <a:solidFill>
                  <a:srgbClr val="000000"/>
                </a:solidFill>
                <a:latin typeface="Arial"/>
              </a:rPr>
              <a:t>DN300-PG-113</a:t>
            </a:r>
          </a:p>
        </p:txBody>
      </p:sp>
      <p:sp>
        <p:nvSpPr>
          <p:cNvPr id="577" name="TextBox 576"/>
          <p:cNvSpPr txBox="1"/>
          <p:nvPr/>
        </p:nvSpPr>
        <p:spPr>
          <a:xfrm>
            <a:off x="1216152" y="7733995"/>
            <a:ext cx="1207008" cy="1078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50" b="0">
                <a:solidFill>
                  <a:srgbClr val="000000"/>
                </a:solidFill>
                <a:latin typeface="Arial"/>
              </a:rPr>
              <a:t>E-102 → EXPORT HEADER</a:t>
            </a:r>
          </a:p>
        </p:txBody>
      </p:sp>
      <p:sp>
        <p:nvSpPr>
          <p:cNvPr id="578" name="TextBox 577"/>
          <p:cNvSpPr txBox="1"/>
          <p:nvPr/>
        </p:nvSpPr>
        <p:spPr>
          <a:xfrm>
            <a:off x="2432304" y="7733995"/>
            <a:ext cx="292608" cy="1078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0" b="0">
                <a:solidFill>
                  <a:srgbClr val="000000"/>
                </a:solidFill>
                <a:latin typeface="Arial"/>
              </a:rPr>
              <a:t>7</a:t>
            </a:r>
          </a:p>
        </p:txBody>
      </p:sp>
      <p:sp>
        <p:nvSpPr>
          <p:cNvPr id="579" name="TextBox 578"/>
          <p:cNvSpPr txBox="1"/>
          <p:nvPr/>
        </p:nvSpPr>
        <p:spPr>
          <a:xfrm>
            <a:off x="2724912" y="7733995"/>
            <a:ext cx="384048" cy="1078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0" b="0">
                <a:solidFill>
                  <a:srgbClr val="000000"/>
                </a:solidFill>
                <a:latin typeface="Arial"/>
              </a:rPr>
              <a:t>60.26</a:t>
            </a:r>
          </a:p>
        </p:txBody>
      </p:sp>
      <p:sp>
        <p:nvSpPr>
          <p:cNvPr id="580" name="TextBox 579"/>
          <p:cNvSpPr txBox="1"/>
          <p:nvPr/>
        </p:nvSpPr>
        <p:spPr>
          <a:xfrm>
            <a:off x="3108960" y="7733995"/>
            <a:ext cx="384048" cy="1078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0" b="0">
                <a:solidFill>
                  <a:srgbClr val="000000"/>
                </a:solidFill>
                <a:latin typeface="Arial"/>
              </a:rPr>
              <a:t>6.8</a:t>
            </a:r>
          </a:p>
        </p:txBody>
      </p:sp>
      <p:sp>
        <p:nvSpPr>
          <p:cNvPr id="581" name="TextBox 580"/>
          <p:cNvSpPr txBox="1"/>
          <p:nvPr/>
        </p:nvSpPr>
        <p:spPr>
          <a:xfrm>
            <a:off x="484632" y="7841894"/>
            <a:ext cx="694944" cy="1078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50" b="0">
                <a:solidFill>
                  <a:srgbClr val="000000"/>
                </a:solidFill>
                <a:latin typeface="Arial"/>
              </a:rPr>
              <a:t>DN400-EG-108</a:t>
            </a:r>
          </a:p>
        </p:txBody>
      </p:sp>
      <p:sp>
        <p:nvSpPr>
          <p:cNvPr id="582" name="TextBox 581"/>
          <p:cNvSpPr txBox="1"/>
          <p:nvPr/>
        </p:nvSpPr>
        <p:spPr>
          <a:xfrm>
            <a:off x="1216152" y="7841894"/>
            <a:ext cx="1207008" cy="1078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50" b="0">
                <a:solidFill>
                  <a:srgbClr val="000000"/>
                </a:solidFill>
                <a:latin typeface="Arial"/>
              </a:rPr>
              <a:t>HEADER → PIPELINE</a:t>
            </a:r>
          </a:p>
        </p:txBody>
      </p:sp>
      <p:sp>
        <p:nvSpPr>
          <p:cNvPr id="583" name="TextBox 582"/>
          <p:cNvSpPr txBox="1"/>
          <p:nvPr/>
        </p:nvSpPr>
        <p:spPr>
          <a:xfrm>
            <a:off x="2432304" y="7841894"/>
            <a:ext cx="292608" cy="1078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0" b="0">
                <a:solidFill>
                  <a:srgbClr val="000000"/>
                </a:solidFill>
                <a:latin typeface="Arial"/>
              </a:rPr>
              <a:t>8</a:t>
            </a:r>
          </a:p>
        </p:txBody>
      </p:sp>
      <p:sp>
        <p:nvSpPr>
          <p:cNvPr id="584" name="TextBox 583"/>
          <p:cNvSpPr txBox="1"/>
          <p:nvPr/>
        </p:nvSpPr>
        <p:spPr>
          <a:xfrm>
            <a:off x="2724912" y="7841894"/>
            <a:ext cx="384048" cy="1078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0" b="0">
                <a:solidFill>
                  <a:srgbClr val="000000"/>
                </a:solidFill>
                <a:latin typeface="Arial"/>
              </a:rPr>
              <a:t>60.25</a:t>
            </a:r>
          </a:p>
        </p:txBody>
      </p:sp>
      <p:sp>
        <p:nvSpPr>
          <p:cNvPr id="585" name="TextBox 584"/>
          <p:cNvSpPr txBox="1"/>
          <p:nvPr/>
        </p:nvSpPr>
        <p:spPr>
          <a:xfrm>
            <a:off x="3108960" y="7841894"/>
            <a:ext cx="384048" cy="1078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0" b="0">
                <a:solidFill>
                  <a:srgbClr val="000000"/>
                </a:solidFill>
                <a:latin typeface="Arial"/>
              </a:rPr>
              <a:t>3.8</a:t>
            </a:r>
          </a:p>
        </p:txBody>
      </p:sp>
      <p:sp>
        <p:nvSpPr>
          <p:cNvPr id="586" name="TextBox 585"/>
          <p:cNvSpPr txBox="1"/>
          <p:nvPr/>
        </p:nvSpPr>
        <p:spPr>
          <a:xfrm>
            <a:off x="484632" y="7949793"/>
            <a:ext cx="694944" cy="1078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50" b="0">
                <a:solidFill>
                  <a:srgbClr val="000000"/>
                </a:solidFill>
                <a:latin typeface="Arial"/>
              </a:rPr>
              <a:t>DN100-FG-109</a:t>
            </a:r>
          </a:p>
        </p:txBody>
      </p:sp>
      <p:sp>
        <p:nvSpPr>
          <p:cNvPr id="587" name="TextBox 586"/>
          <p:cNvSpPr txBox="1"/>
          <p:nvPr/>
        </p:nvSpPr>
        <p:spPr>
          <a:xfrm>
            <a:off x="1216152" y="7949793"/>
            <a:ext cx="1207008" cy="1078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50" b="0">
                <a:solidFill>
                  <a:srgbClr val="000000"/>
                </a:solidFill>
                <a:latin typeface="Arial"/>
              </a:rPr>
              <a:t>V-102 OUT → GT-100</a:t>
            </a:r>
          </a:p>
        </p:txBody>
      </p:sp>
      <p:sp>
        <p:nvSpPr>
          <p:cNvPr id="588" name="TextBox 587"/>
          <p:cNvSpPr txBox="1"/>
          <p:nvPr/>
        </p:nvSpPr>
        <p:spPr>
          <a:xfrm>
            <a:off x="2432304" y="7949793"/>
            <a:ext cx="292608" cy="1078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0" b="0">
                <a:solidFill>
                  <a:srgbClr val="000000"/>
                </a:solidFill>
                <a:latin typeface="Arial"/>
              </a:rPr>
              <a:t>9</a:t>
            </a:r>
          </a:p>
        </p:txBody>
      </p:sp>
      <p:sp>
        <p:nvSpPr>
          <p:cNvPr id="589" name="TextBox 588"/>
          <p:cNvSpPr txBox="1"/>
          <p:nvPr/>
        </p:nvSpPr>
        <p:spPr>
          <a:xfrm>
            <a:off x="2724912" y="7949793"/>
            <a:ext cx="384048" cy="1078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0" b="0">
                <a:solidFill>
                  <a:srgbClr val="000000"/>
                </a:solidFill>
                <a:latin typeface="Arial"/>
              </a:rPr>
              <a:t>1.38</a:t>
            </a:r>
          </a:p>
        </p:txBody>
      </p:sp>
      <p:sp>
        <p:nvSpPr>
          <p:cNvPr id="590" name="TextBox 589"/>
          <p:cNvSpPr txBox="1"/>
          <p:nvPr/>
        </p:nvSpPr>
        <p:spPr>
          <a:xfrm>
            <a:off x="3108960" y="7949793"/>
            <a:ext cx="384048" cy="1078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0" b="0">
                <a:solidFill>
                  <a:srgbClr val="000000"/>
                </a:solidFill>
                <a:latin typeface="Arial"/>
              </a:rPr>
              <a:t>7.4</a:t>
            </a:r>
          </a:p>
        </p:txBody>
      </p:sp>
      <p:sp>
        <p:nvSpPr>
          <p:cNvPr id="591" name="TextBox 590"/>
          <p:cNvSpPr txBox="1"/>
          <p:nvPr/>
        </p:nvSpPr>
        <p:spPr>
          <a:xfrm>
            <a:off x="484632" y="8057692"/>
            <a:ext cx="694944" cy="1078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50" b="0">
                <a:solidFill>
                  <a:srgbClr val="000000"/>
                </a:solidFill>
                <a:latin typeface="Arial"/>
              </a:rPr>
              <a:t>DN300-PG-104</a:t>
            </a:r>
          </a:p>
        </p:txBody>
      </p:sp>
      <p:sp>
        <p:nvSpPr>
          <p:cNvPr id="592" name="TextBox 591"/>
          <p:cNvSpPr txBox="1"/>
          <p:nvPr/>
        </p:nvSpPr>
        <p:spPr>
          <a:xfrm>
            <a:off x="1216152" y="8057692"/>
            <a:ext cx="1207008" cy="1078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50" b="0">
                <a:solidFill>
                  <a:srgbClr val="000000"/>
                </a:solidFill>
                <a:latin typeface="Arial"/>
              </a:rPr>
              <a:t>UV-103 RECYCLE</a:t>
            </a:r>
          </a:p>
        </p:txBody>
      </p:sp>
      <p:sp>
        <p:nvSpPr>
          <p:cNvPr id="593" name="TextBox 592"/>
          <p:cNvSpPr txBox="1"/>
          <p:nvPr/>
        </p:nvSpPr>
        <p:spPr>
          <a:xfrm>
            <a:off x="2432304" y="8057692"/>
            <a:ext cx="292608" cy="1078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0" b="0">
                <a:solidFill>
                  <a:srgbClr val="000000"/>
                </a:solidFill>
                <a:latin typeface="Arial"/>
              </a:rPr>
              <a:t>11</a:t>
            </a:r>
          </a:p>
        </p:txBody>
      </p:sp>
      <p:sp>
        <p:nvSpPr>
          <p:cNvPr id="594" name="TextBox 593"/>
          <p:cNvSpPr txBox="1"/>
          <p:nvPr/>
        </p:nvSpPr>
        <p:spPr>
          <a:xfrm>
            <a:off x="2724912" y="8057692"/>
            <a:ext cx="384048" cy="1078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0" b="0">
                <a:solidFill>
                  <a:srgbClr val="000000"/>
                </a:solidFill>
                <a:latin typeface="Arial"/>
              </a:rPr>
              <a:t>38.4*</a:t>
            </a:r>
          </a:p>
        </p:txBody>
      </p:sp>
      <p:sp>
        <p:nvSpPr>
          <p:cNvPr id="595" name="TextBox 594"/>
          <p:cNvSpPr txBox="1"/>
          <p:nvPr/>
        </p:nvSpPr>
        <p:spPr>
          <a:xfrm>
            <a:off x="3108960" y="8057692"/>
            <a:ext cx="384048" cy="1078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0" b="0">
                <a:solidFill>
                  <a:srgbClr val="000000"/>
                </a:solidFill>
                <a:latin typeface="Arial"/>
              </a:rPr>
              <a:t>9.0*</a:t>
            </a:r>
          </a:p>
        </p:txBody>
      </p:sp>
      <p:sp>
        <p:nvSpPr>
          <p:cNvPr id="596" name="TextBox 595"/>
          <p:cNvSpPr txBox="1"/>
          <p:nvPr/>
        </p:nvSpPr>
        <p:spPr>
          <a:xfrm>
            <a:off x="484632" y="8165592"/>
            <a:ext cx="694944" cy="1078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50" b="0">
                <a:solidFill>
                  <a:srgbClr val="000000"/>
                </a:solidFill>
                <a:latin typeface="Arial"/>
              </a:rPr>
              <a:t>DN250-PG-107</a:t>
            </a:r>
          </a:p>
        </p:txBody>
      </p:sp>
      <p:sp>
        <p:nvSpPr>
          <p:cNvPr id="597" name="TextBox 596"/>
          <p:cNvSpPr txBox="1"/>
          <p:nvPr/>
        </p:nvSpPr>
        <p:spPr>
          <a:xfrm>
            <a:off x="1216152" y="8165592"/>
            <a:ext cx="1207008" cy="1078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50" b="0">
                <a:solidFill>
                  <a:srgbClr val="000000"/>
                </a:solidFill>
                <a:latin typeface="Arial"/>
              </a:rPr>
              <a:t>UV-108 RECYCLE</a:t>
            </a:r>
          </a:p>
        </p:txBody>
      </p:sp>
      <p:sp>
        <p:nvSpPr>
          <p:cNvPr id="598" name="TextBox 597"/>
          <p:cNvSpPr txBox="1"/>
          <p:nvPr/>
        </p:nvSpPr>
        <p:spPr>
          <a:xfrm>
            <a:off x="2432304" y="8165592"/>
            <a:ext cx="292608" cy="1078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0" b="0">
                <a:solidFill>
                  <a:srgbClr val="000000"/>
                </a:solidFill>
                <a:latin typeface="Arial"/>
              </a:rPr>
              <a:t>12</a:t>
            </a:r>
          </a:p>
        </p:txBody>
      </p:sp>
      <p:sp>
        <p:nvSpPr>
          <p:cNvPr id="599" name="TextBox 598"/>
          <p:cNvSpPr txBox="1"/>
          <p:nvPr/>
        </p:nvSpPr>
        <p:spPr>
          <a:xfrm>
            <a:off x="2724912" y="8165592"/>
            <a:ext cx="384048" cy="1078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0" b="0">
                <a:solidFill>
                  <a:srgbClr val="000000"/>
                </a:solidFill>
                <a:latin typeface="Arial"/>
              </a:rPr>
              <a:t>37.4*</a:t>
            </a:r>
          </a:p>
        </p:txBody>
      </p:sp>
      <p:sp>
        <p:nvSpPr>
          <p:cNvPr id="600" name="TextBox 599"/>
          <p:cNvSpPr txBox="1"/>
          <p:nvPr/>
        </p:nvSpPr>
        <p:spPr>
          <a:xfrm>
            <a:off x="3108960" y="8165592"/>
            <a:ext cx="384048" cy="1078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0" b="0">
                <a:solidFill>
                  <a:srgbClr val="000000"/>
                </a:solidFill>
                <a:latin typeface="Arial"/>
              </a:rPr>
              <a:t>6.0*</a:t>
            </a:r>
          </a:p>
        </p:txBody>
      </p:sp>
      <p:sp>
        <p:nvSpPr>
          <p:cNvPr id="601" name="TextBox 600"/>
          <p:cNvSpPr txBox="1"/>
          <p:nvPr/>
        </p:nvSpPr>
        <p:spPr>
          <a:xfrm>
            <a:off x="484632" y="8273491"/>
            <a:ext cx="694944" cy="1078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50" b="0">
                <a:solidFill>
                  <a:srgbClr val="000000"/>
                </a:solidFill>
                <a:latin typeface="Arial"/>
              </a:rPr>
              <a:t>DN50-CD-111</a:t>
            </a:r>
          </a:p>
        </p:txBody>
      </p:sp>
      <p:sp>
        <p:nvSpPr>
          <p:cNvPr id="602" name="TextBox 601"/>
          <p:cNvSpPr txBox="1"/>
          <p:nvPr/>
        </p:nvSpPr>
        <p:spPr>
          <a:xfrm>
            <a:off x="1216152" y="8273491"/>
            <a:ext cx="1207008" cy="1078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50" b="0">
                <a:solidFill>
                  <a:srgbClr val="000000"/>
                </a:solidFill>
                <a:latin typeface="Arial"/>
              </a:rPr>
              <a:t>LV-107 → CLOSED DRAIN</a:t>
            </a:r>
          </a:p>
        </p:txBody>
      </p:sp>
      <p:sp>
        <p:nvSpPr>
          <p:cNvPr id="603" name="TextBox 602"/>
          <p:cNvSpPr txBox="1"/>
          <p:nvPr/>
        </p:nvSpPr>
        <p:spPr>
          <a:xfrm>
            <a:off x="2432304" y="8273491"/>
            <a:ext cx="292608" cy="1078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0" b="0">
                <a:solidFill>
                  <a:srgbClr val="000000"/>
                </a:solidFill>
                <a:latin typeface="Arial"/>
              </a:rPr>
              <a:t>10</a:t>
            </a:r>
          </a:p>
        </p:txBody>
      </p:sp>
      <p:sp>
        <p:nvSpPr>
          <p:cNvPr id="604" name="TextBox 603"/>
          <p:cNvSpPr txBox="1"/>
          <p:nvPr/>
        </p:nvSpPr>
        <p:spPr>
          <a:xfrm>
            <a:off x="2724912" y="8273491"/>
            <a:ext cx="384048" cy="1078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0" b="0">
                <a:solidFill>
                  <a:srgbClr val="000000"/>
                </a:solidFill>
                <a:latin typeface="Arial"/>
              </a:rPr>
              <a:t>0.11</a:t>
            </a:r>
          </a:p>
        </p:txBody>
      </p:sp>
      <p:sp>
        <p:nvSpPr>
          <p:cNvPr id="605" name="TextBox 604"/>
          <p:cNvSpPr txBox="1"/>
          <p:nvPr/>
        </p:nvSpPr>
        <p:spPr>
          <a:xfrm>
            <a:off x="3108960" y="8273491"/>
            <a:ext cx="384048" cy="1078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0" b="0">
                <a:solidFill>
                  <a:srgbClr val="000000"/>
                </a:solidFill>
                <a:latin typeface="Arial"/>
              </a:rPr>
              <a:t>LIQ.</a:t>
            </a:r>
          </a:p>
        </p:txBody>
      </p:sp>
      <p:sp>
        <p:nvSpPr>
          <p:cNvPr id="606" name="TextBox 605"/>
          <p:cNvSpPr txBox="1"/>
          <p:nvPr/>
        </p:nvSpPr>
        <p:spPr>
          <a:xfrm>
            <a:off x="484632" y="8381390"/>
            <a:ext cx="694944" cy="1078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50" b="0">
                <a:solidFill>
                  <a:srgbClr val="000000"/>
                </a:solidFill>
                <a:latin typeface="Arial"/>
              </a:rPr>
              <a:t>DN50-CD-110</a:t>
            </a:r>
          </a:p>
        </p:txBody>
      </p:sp>
      <p:sp>
        <p:nvSpPr>
          <p:cNvPr id="607" name="TextBox 606"/>
          <p:cNvSpPr txBox="1"/>
          <p:nvPr/>
        </p:nvSpPr>
        <p:spPr>
          <a:xfrm>
            <a:off x="1216152" y="8381390"/>
            <a:ext cx="1207008" cy="1078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50" b="0">
                <a:solidFill>
                  <a:srgbClr val="000000"/>
                </a:solidFill>
                <a:latin typeface="Arial"/>
              </a:rPr>
              <a:t>LV-101 → CLOSED DRAIN</a:t>
            </a:r>
          </a:p>
        </p:txBody>
      </p:sp>
      <p:sp>
        <p:nvSpPr>
          <p:cNvPr id="608" name="TextBox 607"/>
          <p:cNvSpPr txBox="1"/>
          <p:nvPr/>
        </p:nvSpPr>
        <p:spPr>
          <a:xfrm>
            <a:off x="2432304" y="8381390"/>
            <a:ext cx="292608" cy="1078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0" b="0">
                <a:solidFill>
                  <a:srgbClr val="000000"/>
                </a:solidFill>
                <a:latin typeface="Arial"/>
              </a:rPr>
              <a:t>14</a:t>
            </a:r>
          </a:p>
        </p:txBody>
      </p:sp>
      <p:sp>
        <p:nvSpPr>
          <p:cNvPr id="609" name="TextBox 608"/>
          <p:cNvSpPr txBox="1"/>
          <p:nvPr/>
        </p:nvSpPr>
        <p:spPr>
          <a:xfrm>
            <a:off x="2724912" y="8381390"/>
            <a:ext cx="384048" cy="1078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0" b="0">
                <a:solidFill>
                  <a:srgbClr val="000000"/>
                </a:solidFill>
                <a:latin typeface="Arial"/>
              </a:rPr>
              <a:t>0.22</a:t>
            </a:r>
          </a:p>
        </p:txBody>
      </p:sp>
      <p:sp>
        <p:nvSpPr>
          <p:cNvPr id="610" name="TextBox 609"/>
          <p:cNvSpPr txBox="1"/>
          <p:nvPr/>
        </p:nvSpPr>
        <p:spPr>
          <a:xfrm>
            <a:off x="3108960" y="8381390"/>
            <a:ext cx="384048" cy="1078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0" b="0">
                <a:solidFill>
                  <a:srgbClr val="000000"/>
                </a:solidFill>
                <a:latin typeface="Arial"/>
              </a:rPr>
              <a:t>LIQ.</a:t>
            </a:r>
          </a:p>
        </p:txBody>
      </p:sp>
      <p:sp>
        <p:nvSpPr>
          <p:cNvPr id="611" name="TextBox 610"/>
          <p:cNvSpPr txBox="1"/>
          <p:nvPr/>
        </p:nvSpPr>
        <p:spPr>
          <a:xfrm>
            <a:off x="457200" y="8494776"/>
            <a:ext cx="3108960" cy="822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20" b="0">
                <a:solidFill>
                  <a:srgbClr val="000000"/>
                </a:solidFill>
                <a:latin typeface="Arial"/>
              </a:rPr>
              <a:t>* AT THE SURGE LINE q = 0.62, DESIGN SPEED (FULL RECYCLE CASE)</a:t>
            </a:r>
          </a:p>
        </p:txBody>
      </p:sp>
      <p:sp>
        <p:nvSpPr>
          <p:cNvPr id="612" name="Rectangle 611"/>
          <p:cNvSpPr/>
          <p:nvPr/>
        </p:nvSpPr>
        <p:spPr>
          <a:xfrm>
            <a:off x="11521440" y="502920"/>
            <a:ext cx="3154680" cy="7955279"/>
          </a:xfrm>
          <a:prstGeom prst="rect">
            <a:avLst/>
          </a:prstGeom>
          <a:noFill/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3" name="TextBox 612"/>
          <p:cNvSpPr txBox="1"/>
          <p:nvPr/>
        </p:nvSpPr>
        <p:spPr>
          <a:xfrm>
            <a:off x="11521440" y="539496"/>
            <a:ext cx="3154680" cy="1371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50" b="1">
                <a:solidFill>
                  <a:srgbClr val="000000"/>
                </a:solidFill>
                <a:latin typeface="Arial"/>
              </a:rPr>
              <a:t>LEGEND</a:t>
            </a:r>
          </a:p>
        </p:txBody>
      </p:sp>
      <p:cxnSp>
        <p:nvCxnSpPr>
          <p:cNvPr id="614" name="Connector 613"/>
          <p:cNvCxnSpPr/>
          <p:nvPr/>
        </p:nvCxnSpPr>
        <p:spPr>
          <a:xfrm>
            <a:off x="11622024" y="877824"/>
            <a:ext cx="402336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5" name="Freeform 614"/>
          <p:cNvSpPr/>
          <p:nvPr/>
        </p:nvSpPr>
        <p:spPr>
          <a:xfrm>
            <a:off x="11722608" y="813816"/>
            <a:ext cx="201168" cy="128016"/>
          </a:xfrm>
          <a:custGeom>
            <a:avLst/>
            <a:gdLst/>
            <a:ahLst/>
            <a:cxnLst/>
            <a:rect l="l" t="t" r="r" b="b"/>
            <a:pathLst>
              <a:path w="201168" h="128016">
                <a:moveTo>
                  <a:pt x="0" y="0"/>
                </a:moveTo>
                <a:lnTo>
                  <a:pt x="201168" y="128016"/>
                </a:lnTo>
                <a:lnTo>
                  <a:pt x="201168" y="0"/>
                </a:lnTo>
                <a:lnTo>
                  <a:pt x="0" y="128016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16" name="Connector 615"/>
          <p:cNvCxnSpPr/>
          <p:nvPr/>
        </p:nvCxnSpPr>
        <p:spPr>
          <a:xfrm flipV="1">
            <a:off x="11823192" y="758952"/>
            <a:ext cx="0" cy="54864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7" name="Freeform 616"/>
          <p:cNvSpPr/>
          <p:nvPr/>
        </p:nvSpPr>
        <p:spPr>
          <a:xfrm>
            <a:off x="11731752" y="695916"/>
            <a:ext cx="182880" cy="63036"/>
          </a:xfrm>
          <a:custGeom>
            <a:avLst/>
            <a:gdLst/>
            <a:ahLst/>
            <a:cxnLst/>
            <a:rect l="l" t="t" r="r" b="b"/>
            <a:pathLst>
              <a:path w="182880" h="63036">
                <a:moveTo>
                  <a:pt x="0" y="63036"/>
                </a:moveTo>
                <a:lnTo>
                  <a:pt x="5514" y="41143"/>
                </a:lnTo>
                <a:lnTo>
                  <a:pt x="21392" y="21892"/>
                </a:lnTo>
                <a:lnTo>
                  <a:pt x="45720" y="7603"/>
                </a:lnTo>
                <a:lnTo>
                  <a:pt x="75561" y="0"/>
                </a:lnTo>
                <a:lnTo>
                  <a:pt x="107318" y="0"/>
                </a:lnTo>
                <a:lnTo>
                  <a:pt x="137160" y="7603"/>
                </a:lnTo>
                <a:lnTo>
                  <a:pt x="161487" y="21892"/>
                </a:lnTo>
                <a:lnTo>
                  <a:pt x="177365" y="41143"/>
                </a:lnTo>
                <a:lnTo>
                  <a:pt x="182880" y="63036"/>
                </a:lnTo>
                <a:close/>
              </a:path>
            </a:pathLst>
          </a:cu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8" name="TextBox 617"/>
          <p:cNvSpPr txBox="1"/>
          <p:nvPr/>
        </p:nvSpPr>
        <p:spPr>
          <a:xfrm>
            <a:off x="12143232" y="777240"/>
            <a:ext cx="2468880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CONTROL VALVE (DCS) · FC / FO = FAIL CLOSED / OPEN</a:t>
            </a:r>
          </a:p>
        </p:txBody>
      </p:sp>
      <p:cxnSp>
        <p:nvCxnSpPr>
          <p:cNvPr id="619" name="Connector 618"/>
          <p:cNvCxnSpPr/>
          <p:nvPr/>
        </p:nvCxnSpPr>
        <p:spPr>
          <a:xfrm>
            <a:off x="11622024" y="1101852"/>
            <a:ext cx="402336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0" name="Freeform 619"/>
          <p:cNvSpPr/>
          <p:nvPr/>
        </p:nvSpPr>
        <p:spPr>
          <a:xfrm>
            <a:off x="11722608" y="1037844"/>
            <a:ext cx="201168" cy="128016"/>
          </a:xfrm>
          <a:custGeom>
            <a:avLst/>
            <a:gdLst/>
            <a:ahLst/>
            <a:cxnLst/>
            <a:rect l="l" t="t" r="r" b="b"/>
            <a:pathLst>
              <a:path w="201168" h="128016">
                <a:moveTo>
                  <a:pt x="0" y="0"/>
                </a:moveTo>
                <a:lnTo>
                  <a:pt x="201168" y="128016"/>
                </a:lnTo>
                <a:lnTo>
                  <a:pt x="201168" y="0"/>
                </a:lnTo>
                <a:lnTo>
                  <a:pt x="0" y="128016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21" name="Connector 620"/>
          <p:cNvCxnSpPr/>
          <p:nvPr/>
        </p:nvCxnSpPr>
        <p:spPr>
          <a:xfrm flipV="1">
            <a:off x="11823192" y="992124"/>
            <a:ext cx="0" cy="4572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2" name="Rectangle 621"/>
          <p:cNvSpPr/>
          <p:nvPr/>
        </p:nvSpPr>
        <p:spPr>
          <a:xfrm>
            <a:off x="11768328" y="937259"/>
            <a:ext cx="109728" cy="64008"/>
          </a:xfrm>
          <a:prstGeom prst="rect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3" name="TextBox 622"/>
          <p:cNvSpPr txBox="1"/>
          <p:nvPr/>
        </p:nvSpPr>
        <p:spPr>
          <a:xfrm>
            <a:off x="12143232" y="992124"/>
            <a:ext cx="2468880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ESDV / BDV / XV ON-OFF VALVE (SIS), FAIL AS MARKED</a:t>
            </a:r>
          </a:p>
        </p:txBody>
      </p:sp>
      <p:cxnSp>
        <p:nvCxnSpPr>
          <p:cNvPr id="624" name="Connector 623"/>
          <p:cNvCxnSpPr/>
          <p:nvPr/>
        </p:nvCxnSpPr>
        <p:spPr>
          <a:xfrm>
            <a:off x="11622024" y="1316736"/>
            <a:ext cx="402336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5" name="Freeform 624"/>
          <p:cNvSpPr/>
          <p:nvPr/>
        </p:nvSpPr>
        <p:spPr>
          <a:xfrm>
            <a:off x="11740896" y="1266444"/>
            <a:ext cx="164592" cy="100584"/>
          </a:xfrm>
          <a:custGeom>
            <a:avLst/>
            <a:gdLst/>
            <a:ahLst/>
            <a:cxnLst/>
            <a:rect l="l" t="t" r="r" b="b"/>
            <a:pathLst>
              <a:path w="164592" h="100584">
                <a:moveTo>
                  <a:pt x="0" y="0"/>
                </a:moveTo>
                <a:lnTo>
                  <a:pt x="164592" y="100584"/>
                </a:lnTo>
                <a:lnTo>
                  <a:pt x="164592" y="0"/>
                </a:lnTo>
                <a:lnTo>
                  <a:pt x="0" y="100584"/>
                </a:lnTo>
                <a:close/>
              </a:path>
            </a:pathLst>
          </a:cu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26" name="Connector 625"/>
          <p:cNvCxnSpPr/>
          <p:nvPr/>
        </p:nvCxnSpPr>
        <p:spPr>
          <a:xfrm flipV="1">
            <a:off x="11823192" y="1216151"/>
            <a:ext cx="0" cy="50292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7" name="Rectangle 626"/>
          <p:cNvSpPr/>
          <p:nvPr/>
        </p:nvSpPr>
        <p:spPr>
          <a:xfrm>
            <a:off x="11777472" y="1161287"/>
            <a:ext cx="91440" cy="54864"/>
          </a:xfrm>
          <a:prstGeom prst="rect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8" name="TextBox 627"/>
          <p:cNvSpPr txBox="1"/>
          <p:nvPr/>
        </p:nvSpPr>
        <p:spPr>
          <a:xfrm>
            <a:off x="12143232" y="1207007"/>
            <a:ext cx="2468880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REMOTE HAND VALVE HV (HIC IN THE DCS)</a:t>
            </a:r>
          </a:p>
        </p:txBody>
      </p:sp>
      <p:cxnSp>
        <p:nvCxnSpPr>
          <p:cNvPr id="629" name="Connector 628"/>
          <p:cNvCxnSpPr/>
          <p:nvPr/>
        </p:nvCxnSpPr>
        <p:spPr>
          <a:xfrm>
            <a:off x="11622024" y="1476755"/>
            <a:ext cx="402336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0" name="Freeform 629"/>
          <p:cNvSpPr/>
          <p:nvPr/>
        </p:nvSpPr>
        <p:spPr>
          <a:xfrm>
            <a:off x="11740896" y="1421891"/>
            <a:ext cx="164592" cy="109728"/>
          </a:xfrm>
          <a:custGeom>
            <a:avLst/>
            <a:gdLst/>
            <a:ahLst/>
            <a:cxnLst/>
            <a:rect l="l" t="t" r="r" b="b"/>
            <a:pathLst>
              <a:path w="164592" h="109728">
                <a:moveTo>
                  <a:pt x="0" y="0"/>
                </a:moveTo>
                <a:lnTo>
                  <a:pt x="164592" y="109728"/>
                </a:lnTo>
                <a:lnTo>
                  <a:pt x="164592" y="0"/>
                </a:lnTo>
                <a:lnTo>
                  <a:pt x="0" y="109728"/>
                </a:lnTo>
                <a:close/>
              </a:path>
            </a:pathLst>
          </a:cu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1" name="TextBox 630"/>
          <p:cNvSpPr txBox="1"/>
          <p:nvPr/>
        </p:nvSpPr>
        <p:spPr>
          <a:xfrm>
            <a:off x="12143232" y="1421891"/>
            <a:ext cx="2468880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MANUAL VALVE MV (DRAIN / VENT / ISOLATION)</a:t>
            </a:r>
          </a:p>
        </p:txBody>
      </p:sp>
      <p:cxnSp>
        <p:nvCxnSpPr>
          <p:cNvPr id="632" name="Connector 631"/>
          <p:cNvCxnSpPr/>
          <p:nvPr/>
        </p:nvCxnSpPr>
        <p:spPr>
          <a:xfrm>
            <a:off x="11622024" y="1691639"/>
            <a:ext cx="402336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3" name="Freeform 632"/>
          <p:cNvSpPr/>
          <p:nvPr/>
        </p:nvSpPr>
        <p:spPr>
          <a:xfrm>
            <a:off x="11722608" y="1621231"/>
            <a:ext cx="155905" cy="140817"/>
          </a:xfrm>
          <a:custGeom>
            <a:avLst/>
            <a:gdLst/>
            <a:ahLst/>
            <a:cxnLst/>
            <a:rect l="l" t="t" r="r" b="b"/>
            <a:pathLst>
              <a:path w="155905" h="140817">
                <a:moveTo>
                  <a:pt x="0" y="0"/>
                </a:moveTo>
                <a:lnTo>
                  <a:pt x="155905" y="70408"/>
                </a:lnTo>
                <a:lnTo>
                  <a:pt x="0" y="140817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34" name="Connector 633"/>
          <p:cNvCxnSpPr/>
          <p:nvPr/>
        </p:nvCxnSpPr>
        <p:spPr>
          <a:xfrm>
            <a:off x="11878513" y="1621231"/>
            <a:ext cx="0" cy="140817"/>
          </a:xfrm>
          <a:prstGeom prst="line">
            <a:avLst/>
          </a:prstGeom>
          <a:ln w="1397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5" name="TextBox 634"/>
          <p:cNvSpPr txBox="1"/>
          <p:nvPr/>
        </p:nvSpPr>
        <p:spPr>
          <a:xfrm>
            <a:off x="12143232" y="1636775"/>
            <a:ext cx="2468880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CHECK VALVE (NRV)</a:t>
            </a:r>
          </a:p>
        </p:txBody>
      </p:sp>
      <p:cxnSp>
        <p:nvCxnSpPr>
          <p:cNvPr id="636" name="Connector 635"/>
          <p:cNvCxnSpPr/>
          <p:nvPr/>
        </p:nvCxnSpPr>
        <p:spPr>
          <a:xfrm>
            <a:off x="11823192" y="1815083"/>
            <a:ext cx="0" cy="18288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7" name="Freeform 636"/>
          <p:cNvSpPr/>
          <p:nvPr/>
        </p:nvSpPr>
        <p:spPr>
          <a:xfrm>
            <a:off x="11772900" y="1828799"/>
            <a:ext cx="100584" cy="155448"/>
          </a:xfrm>
          <a:custGeom>
            <a:avLst/>
            <a:gdLst/>
            <a:ahLst/>
            <a:cxnLst/>
            <a:rect l="l" t="t" r="r" b="b"/>
            <a:pathLst>
              <a:path w="100584" h="155448">
                <a:moveTo>
                  <a:pt x="0" y="0"/>
                </a:moveTo>
                <a:lnTo>
                  <a:pt x="100584" y="155448"/>
                </a:lnTo>
                <a:lnTo>
                  <a:pt x="0" y="155448"/>
                </a:lnTo>
                <a:lnTo>
                  <a:pt x="100584" y="0"/>
                </a:lnTo>
                <a:close/>
              </a:path>
            </a:pathLst>
          </a:cu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8" name="TextBox 637"/>
          <p:cNvSpPr txBox="1"/>
          <p:nvPr/>
        </p:nvSpPr>
        <p:spPr>
          <a:xfrm>
            <a:off x="12143232" y="1851659"/>
            <a:ext cx="2468880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PRESSURE SAFETY VALVE (PSV) TO FLARE</a:t>
            </a:r>
          </a:p>
        </p:txBody>
      </p:sp>
      <p:cxnSp>
        <p:nvCxnSpPr>
          <p:cNvPr id="639" name="Connector 638"/>
          <p:cNvCxnSpPr/>
          <p:nvPr/>
        </p:nvCxnSpPr>
        <p:spPr>
          <a:xfrm>
            <a:off x="11622024" y="2121407"/>
            <a:ext cx="402336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0" name="Connector 639"/>
          <p:cNvCxnSpPr/>
          <p:nvPr/>
        </p:nvCxnSpPr>
        <p:spPr>
          <a:xfrm>
            <a:off x="11795760" y="2039111"/>
            <a:ext cx="0" cy="164592"/>
          </a:xfrm>
          <a:prstGeom prst="line">
            <a:avLst/>
          </a:prstGeom>
          <a:ln w="2032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1" name="Connector 640"/>
          <p:cNvCxnSpPr/>
          <p:nvPr/>
        </p:nvCxnSpPr>
        <p:spPr>
          <a:xfrm>
            <a:off x="11850624" y="2039111"/>
            <a:ext cx="0" cy="164592"/>
          </a:xfrm>
          <a:prstGeom prst="line">
            <a:avLst/>
          </a:prstGeom>
          <a:ln w="2032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2" name="TextBox 641"/>
          <p:cNvSpPr txBox="1"/>
          <p:nvPr/>
        </p:nvSpPr>
        <p:spPr>
          <a:xfrm>
            <a:off x="12143232" y="2066543"/>
            <a:ext cx="2468880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FLOW ELEMENT / RESTRICTION ORIFICE (RO)</a:t>
            </a:r>
          </a:p>
        </p:txBody>
      </p:sp>
      <p:sp>
        <p:nvSpPr>
          <p:cNvPr id="643" name="Freeform 642"/>
          <p:cNvSpPr/>
          <p:nvPr/>
        </p:nvSpPr>
        <p:spPr>
          <a:xfrm>
            <a:off x="11658600" y="2235707"/>
            <a:ext cx="329184" cy="201168"/>
          </a:xfrm>
          <a:custGeom>
            <a:avLst/>
            <a:gdLst/>
            <a:ahLst/>
            <a:cxnLst/>
            <a:rect l="l" t="t" r="r" b="b"/>
            <a:pathLst>
              <a:path w="329184" h="201168">
                <a:moveTo>
                  <a:pt x="0" y="0"/>
                </a:moveTo>
                <a:lnTo>
                  <a:pt x="329184" y="54864"/>
                </a:lnTo>
                <a:lnTo>
                  <a:pt x="329184" y="146304"/>
                </a:lnTo>
                <a:lnTo>
                  <a:pt x="0" y="201168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4" name="TextBox 643"/>
          <p:cNvSpPr txBox="1"/>
          <p:nvPr/>
        </p:nvSpPr>
        <p:spPr>
          <a:xfrm>
            <a:off x="12143232" y="2281427"/>
            <a:ext cx="2468880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CENTRIFUGAL COMPRESSOR SECTION</a:t>
            </a:r>
          </a:p>
        </p:txBody>
      </p:sp>
      <p:sp>
        <p:nvSpPr>
          <p:cNvPr id="645" name="Oval 644"/>
          <p:cNvSpPr/>
          <p:nvPr/>
        </p:nvSpPr>
        <p:spPr>
          <a:xfrm>
            <a:off x="11722608" y="2450591"/>
            <a:ext cx="201168" cy="201168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6" name="Freeform 645"/>
          <p:cNvSpPr/>
          <p:nvPr/>
        </p:nvSpPr>
        <p:spPr>
          <a:xfrm>
            <a:off x="11768328" y="2505455"/>
            <a:ext cx="128016" cy="91440"/>
          </a:xfrm>
          <a:custGeom>
            <a:avLst/>
            <a:gdLst/>
            <a:ahLst/>
            <a:cxnLst/>
            <a:rect l="l" t="t" r="r" b="b"/>
            <a:pathLst>
              <a:path w="128016" h="91440">
                <a:moveTo>
                  <a:pt x="0" y="0"/>
                </a:moveTo>
                <a:lnTo>
                  <a:pt x="128016" y="45720"/>
                </a:lnTo>
                <a:lnTo>
                  <a:pt x="0" y="91440"/>
                </a:lnTo>
                <a:close/>
              </a:path>
            </a:pathLst>
          </a:cu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7" name="TextBox 646"/>
          <p:cNvSpPr txBox="1"/>
          <p:nvPr/>
        </p:nvSpPr>
        <p:spPr>
          <a:xfrm>
            <a:off x="12143232" y="2496311"/>
            <a:ext cx="2468880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PUMP</a:t>
            </a:r>
          </a:p>
        </p:txBody>
      </p:sp>
      <p:sp>
        <p:nvSpPr>
          <p:cNvPr id="648" name="Oval 647"/>
          <p:cNvSpPr/>
          <p:nvPr/>
        </p:nvSpPr>
        <p:spPr>
          <a:xfrm>
            <a:off x="11713464" y="2656331"/>
            <a:ext cx="219456" cy="219456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49" name="Connector 648"/>
          <p:cNvCxnSpPr/>
          <p:nvPr/>
        </p:nvCxnSpPr>
        <p:spPr>
          <a:xfrm>
            <a:off x="11713464" y="2766059"/>
            <a:ext cx="219455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0" name="TextBox 649"/>
          <p:cNvSpPr txBox="1"/>
          <p:nvPr/>
        </p:nvSpPr>
        <p:spPr>
          <a:xfrm>
            <a:off x="12143232" y="2711195"/>
            <a:ext cx="2468880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DCS INSTRUMENT (TRANSMITTER IMPLIED, SAME NUMBER)</a:t>
            </a:r>
          </a:p>
        </p:txBody>
      </p:sp>
      <p:sp>
        <p:nvSpPr>
          <p:cNvPr id="651" name="Rectangle 650"/>
          <p:cNvSpPr/>
          <p:nvPr/>
        </p:nvSpPr>
        <p:spPr>
          <a:xfrm>
            <a:off x="11695176" y="2852927"/>
            <a:ext cx="256032" cy="256032"/>
          </a:xfrm>
          <a:prstGeom prst="rect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2" name="Oval 651"/>
          <p:cNvSpPr/>
          <p:nvPr/>
        </p:nvSpPr>
        <p:spPr>
          <a:xfrm>
            <a:off x="11722608" y="2880359"/>
            <a:ext cx="201168" cy="201168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3" name="Connector 652"/>
          <p:cNvCxnSpPr/>
          <p:nvPr/>
        </p:nvCxnSpPr>
        <p:spPr>
          <a:xfrm>
            <a:off x="11722608" y="2980943"/>
            <a:ext cx="201168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4" name="TextBox 653"/>
          <p:cNvSpPr txBox="1"/>
          <p:nvPr/>
        </p:nvSpPr>
        <p:spPr>
          <a:xfrm>
            <a:off x="12143232" y="2926079"/>
            <a:ext cx="2468880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SIS TRIP FUNCTION (LOGIC SOLVER SEPARATE FROM DCS)</a:t>
            </a:r>
          </a:p>
        </p:txBody>
      </p:sp>
      <p:cxnSp>
        <p:nvCxnSpPr>
          <p:cNvPr id="655" name="Connector 654"/>
          <p:cNvCxnSpPr/>
          <p:nvPr/>
        </p:nvCxnSpPr>
        <p:spPr>
          <a:xfrm>
            <a:off x="11622024" y="3195827"/>
            <a:ext cx="402336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6" name="TextBox 655"/>
          <p:cNvSpPr txBox="1"/>
          <p:nvPr/>
        </p:nvSpPr>
        <p:spPr>
          <a:xfrm>
            <a:off x="12143232" y="3140963"/>
            <a:ext cx="2468880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LEADER: SIS ON A DCS BUBBLE SHARES ITS TRANSMITTER</a:t>
            </a:r>
          </a:p>
        </p:txBody>
      </p:sp>
      <p:cxnSp>
        <p:nvCxnSpPr>
          <p:cNvPr id="657" name="Connector 656"/>
          <p:cNvCxnSpPr/>
          <p:nvPr/>
        </p:nvCxnSpPr>
        <p:spPr>
          <a:xfrm>
            <a:off x="11622024" y="3410711"/>
            <a:ext cx="402336" cy="0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8" name="TextBox 657"/>
          <p:cNvSpPr txBox="1"/>
          <p:nvPr/>
        </p:nvSpPr>
        <p:spPr>
          <a:xfrm>
            <a:off x="12143232" y="3355847"/>
            <a:ext cx="2468880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INSTRUMENT SIGNAL (ONLY TRIP / SOLENOID LINKS DRAWN)</a:t>
            </a:r>
          </a:p>
        </p:txBody>
      </p:sp>
      <p:cxnSp>
        <p:nvCxnSpPr>
          <p:cNvPr id="659" name="Connector 658"/>
          <p:cNvCxnSpPr/>
          <p:nvPr/>
        </p:nvCxnSpPr>
        <p:spPr>
          <a:xfrm>
            <a:off x="11622024" y="3625595"/>
            <a:ext cx="402336" cy="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0" name="TextBox 659"/>
          <p:cNvSpPr txBox="1"/>
          <p:nvPr/>
        </p:nvSpPr>
        <p:spPr>
          <a:xfrm>
            <a:off x="12143232" y="3570731"/>
            <a:ext cx="2468880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PROCESS GAS LINE</a:t>
            </a:r>
          </a:p>
        </p:txBody>
      </p:sp>
      <p:cxnSp>
        <p:nvCxnSpPr>
          <p:cNvPr id="661" name="Connector 660"/>
          <p:cNvCxnSpPr/>
          <p:nvPr/>
        </p:nvCxnSpPr>
        <p:spPr>
          <a:xfrm>
            <a:off x="11622024" y="3840479"/>
            <a:ext cx="402336" cy="0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2" name="TextBox 661"/>
          <p:cNvSpPr txBox="1"/>
          <p:nvPr/>
        </p:nvSpPr>
        <p:spPr>
          <a:xfrm>
            <a:off x="12143232" y="3785615"/>
            <a:ext cx="2468880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UTILITY / DRAIN / RELIEF / FUEL LINE</a:t>
            </a:r>
          </a:p>
        </p:txBody>
      </p:sp>
      <p:cxnSp>
        <p:nvCxnSpPr>
          <p:cNvPr id="663" name="Connector 662"/>
          <p:cNvCxnSpPr/>
          <p:nvPr/>
        </p:nvCxnSpPr>
        <p:spPr>
          <a:xfrm>
            <a:off x="11622024" y="4055363"/>
            <a:ext cx="402336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4" name="Oval 663"/>
          <p:cNvSpPr/>
          <p:nvPr/>
        </p:nvSpPr>
        <p:spPr>
          <a:xfrm>
            <a:off x="11793474" y="4025645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5" name="TextBox 664"/>
          <p:cNvSpPr txBox="1"/>
          <p:nvPr/>
        </p:nvSpPr>
        <p:spPr>
          <a:xfrm>
            <a:off x="12143232" y="4000499"/>
            <a:ext cx="2468880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CONNECTION (TEE)</a:t>
            </a:r>
          </a:p>
        </p:txBody>
      </p:sp>
      <p:cxnSp>
        <p:nvCxnSpPr>
          <p:cNvPr id="666" name="Connector 665"/>
          <p:cNvCxnSpPr/>
          <p:nvPr/>
        </p:nvCxnSpPr>
        <p:spPr>
          <a:xfrm>
            <a:off x="11622024" y="4270247"/>
            <a:ext cx="402336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7" name="Connector 666"/>
          <p:cNvCxnSpPr/>
          <p:nvPr/>
        </p:nvCxnSpPr>
        <p:spPr>
          <a:xfrm>
            <a:off x="11823192" y="4160519"/>
            <a:ext cx="0" cy="54864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8" name="Freeform 667"/>
          <p:cNvSpPr/>
          <p:nvPr/>
        </p:nvSpPr>
        <p:spPr>
          <a:xfrm>
            <a:off x="11823192" y="4215383"/>
            <a:ext cx="54864" cy="109728"/>
          </a:xfrm>
          <a:custGeom>
            <a:avLst/>
            <a:gdLst/>
            <a:ahLst/>
            <a:cxnLst/>
            <a:rect l="l" t="t" r="r" b="b"/>
            <a:pathLst>
              <a:path w="54864" h="109728">
                <a:moveTo>
                  <a:pt x="0" y="109728"/>
                </a:moveTo>
                <a:lnTo>
                  <a:pt x="27432" y="102378"/>
                </a:lnTo>
                <a:lnTo>
                  <a:pt x="47513" y="82296"/>
                </a:lnTo>
                <a:lnTo>
                  <a:pt x="54864" y="54864"/>
                </a:lnTo>
                <a:lnTo>
                  <a:pt x="47513" y="27432"/>
                </a:lnTo>
                <a:lnTo>
                  <a:pt x="27432" y="7351"/>
                </a:lnTo>
                <a:lnTo>
                  <a:pt x="0" y="0"/>
                </a:lnTo>
              </a:path>
            </a:pathLst>
          </a:custGeom>
          <a:noFill/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69" name="Connector 668"/>
          <p:cNvCxnSpPr/>
          <p:nvPr/>
        </p:nvCxnSpPr>
        <p:spPr>
          <a:xfrm>
            <a:off x="11823192" y="4325111"/>
            <a:ext cx="0" cy="54864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0" name="TextBox 669"/>
          <p:cNvSpPr txBox="1"/>
          <p:nvPr/>
        </p:nvSpPr>
        <p:spPr>
          <a:xfrm>
            <a:off x="12143232" y="4215383"/>
            <a:ext cx="2468880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CROSSING WITHOUT CONNECTION (VERTICAL JUMPS)</a:t>
            </a:r>
          </a:p>
        </p:txBody>
      </p:sp>
      <p:sp>
        <p:nvSpPr>
          <p:cNvPr id="671" name="TextBox 670"/>
          <p:cNvSpPr txBox="1"/>
          <p:nvPr/>
        </p:nvSpPr>
        <p:spPr>
          <a:xfrm>
            <a:off x="11631167" y="4457699"/>
            <a:ext cx="2971800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20" b="1">
                <a:solidFill>
                  <a:srgbClr val="000000"/>
                </a:solidFill>
                <a:latin typeface="Arial"/>
              </a:rPr>
              <a:t>LINE NUMBER DNxxx-SVC-nnn · SERVICE CODES</a:t>
            </a:r>
          </a:p>
        </p:txBody>
      </p:sp>
      <p:sp>
        <p:nvSpPr>
          <p:cNvPr id="672" name="TextBox 671"/>
          <p:cNvSpPr txBox="1"/>
          <p:nvPr/>
        </p:nvSpPr>
        <p:spPr>
          <a:xfrm>
            <a:off x="11631167" y="4567427"/>
            <a:ext cx="2971800" cy="1005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PG PROCESS GAS · EG EXPORT GAS · FG FUEL GAS · FL FLARE</a:t>
            </a:r>
          </a:p>
        </p:txBody>
      </p:sp>
      <p:sp>
        <p:nvSpPr>
          <p:cNvPr id="673" name="TextBox 672"/>
          <p:cNvSpPr txBox="1"/>
          <p:nvPr/>
        </p:nvSpPr>
        <p:spPr>
          <a:xfrm>
            <a:off x="11631167" y="4677155"/>
            <a:ext cx="2971800" cy="1005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CD CLOSED DRAIN · CM COOLING MEDIUM · STREAM n = PFD / PROCESS TAB</a:t>
            </a:r>
          </a:p>
        </p:txBody>
      </p:sp>
      <p:cxnSp>
        <p:nvCxnSpPr>
          <p:cNvPr id="674" name="Connector 673"/>
          <p:cNvCxnSpPr/>
          <p:nvPr/>
        </p:nvCxnSpPr>
        <p:spPr>
          <a:xfrm>
            <a:off x="11521440" y="4924043"/>
            <a:ext cx="3154680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5" name="TextBox 674"/>
          <p:cNvSpPr txBox="1"/>
          <p:nvPr/>
        </p:nvSpPr>
        <p:spPr>
          <a:xfrm>
            <a:off x="11576304" y="5042915"/>
            <a:ext cx="3044952" cy="1188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60" b="1">
                <a:solidFill>
                  <a:srgbClr val="000000"/>
                </a:solidFill>
                <a:latin typeface="Arial"/>
              </a:rPr>
              <a:t>INTERLOCK SCHEDULE (SIS) · FROM THE OTS C&amp;E DATA</a:t>
            </a:r>
          </a:p>
        </p:txBody>
      </p:sp>
      <p:cxnSp>
        <p:nvCxnSpPr>
          <p:cNvPr id="676" name="Connector 675"/>
          <p:cNvCxnSpPr/>
          <p:nvPr/>
        </p:nvCxnSpPr>
        <p:spPr>
          <a:xfrm>
            <a:off x="11576304" y="5198363"/>
            <a:ext cx="3044952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7" name="Connector 676"/>
          <p:cNvCxnSpPr/>
          <p:nvPr/>
        </p:nvCxnSpPr>
        <p:spPr>
          <a:xfrm>
            <a:off x="11576304" y="5326379"/>
            <a:ext cx="3044952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8" name="Connector 677"/>
          <p:cNvCxnSpPr/>
          <p:nvPr/>
        </p:nvCxnSpPr>
        <p:spPr>
          <a:xfrm>
            <a:off x="11576304" y="5452567"/>
            <a:ext cx="3044952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9" name="Connector 678"/>
          <p:cNvCxnSpPr/>
          <p:nvPr/>
        </p:nvCxnSpPr>
        <p:spPr>
          <a:xfrm>
            <a:off x="11576304" y="5578754"/>
            <a:ext cx="3044952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0" name="Connector 679"/>
          <p:cNvCxnSpPr/>
          <p:nvPr/>
        </p:nvCxnSpPr>
        <p:spPr>
          <a:xfrm>
            <a:off x="11576304" y="5704941"/>
            <a:ext cx="3044952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1" name="Connector 680"/>
          <p:cNvCxnSpPr/>
          <p:nvPr/>
        </p:nvCxnSpPr>
        <p:spPr>
          <a:xfrm>
            <a:off x="11576304" y="5831128"/>
            <a:ext cx="3044952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2" name="Connector 681"/>
          <p:cNvCxnSpPr/>
          <p:nvPr/>
        </p:nvCxnSpPr>
        <p:spPr>
          <a:xfrm>
            <a:off x="11576304" y="5957315"/>
            <a:ext cx="3044952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3" name="Connector 682"/>
          <p:cNvCxnSpPr/>
          <p:nvPr/>
        </p:nvCxnSpPr>
        <p:spPr>
          <a:xfrm>
            <a:off x="11576304" y="6083503"/>
            <a:ext cx="3044952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4" name="Connector 683"/>
          <p:cNvCxnSpPr/>
          <p:nvPr/>
        </p:nvCxnSpPr>
        <p:spPr>
          <a:xfrm>
            <a:off x="11576304" y="6209690"/>
            <a:ext cx="3044952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5" name="Connector 684"/>
          <p:cNvCxnSpPr/>
          <p:nvPr/>
        </p:nvCxnSpPr>
        <p:spPr>
          <a:xfrm>
            <a:off x="11576304" y="6335877"/>
            <a:ext cx="3044952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6" name="Connector 685"/>
          <p:cNvCxnSpPr/>
          <p:nvPr/>
        </p:nvCxnSpPr>
        <p:spPr>
          <a:xfrm>
            <a:off x="11576304" y="6462064"/>
            <a:ext cx="3044952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7" name="Connector 686"/>
          <p:cNvCxnSpPr/>
          <p:nvPr/>
        </p:nvCxnSpPr>
        <p:spPr>
          <a:xfrm>
            <a:off x="11576304" y="6588251"/>
            <a:ext cx="3044952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8" name="Connector 687"/>
          <p:cNvCxnSpPr/>
          <p:nvPr/>
        </p:nvCxnSpPr>
        <p:spPr>
          <a:xfrm>
            <a:off x="11576304" y="6714439"/>
            <a:ext cx="3044952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9" name="Connector 688"/>
          <p:cNvCxnSpPr/>
          <p:nvPr/>
        </p:nvCxnSpPr>
        <p:spPr>
          <a:xfrm>
            <a:off x="11576304" y="6840626"/>
            <a:ext cx="3044952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0" name="Connector 689"/>
          <p:cNvCxnSpPr/>
          <p:nvPr/>
        </p:nvCxnSpPr>
        <p:spPr>
          <a:xfrm>
            <a:off x="11576304" y="6966813"/>
            <a:ext cx="3044952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1" name="Connector 690"/>
          <p:cNvCxnSpPr/>
          <p:nvPr/>
        </p:nvCxnSpPr>
        <p:spPr>
          <a:xfrm>
            <a:off x="11576304" y="7093000"/>
            <a:ext cx="3044952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2" name="Connector 691"/>
          <p:cNvCxnSpPr/>
          <p:nvPr/>
        </p:nvCxnSpPr>
        <p:spPr>
          <a:xfrm>
            <a:off x="11576304" y="5198363"/>
            <a:ext cx="0" cy="1894637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3" name="Connector 692"/>
          <p:cNvCxnSpPr/>
          <p:nvPr/>
        </p:nvCxnSpPr>
        <p:spPr>
          <a:xfrm>
            <a:off x="12088368" y="5198363"/>
            <a:ext cx="0" cy="1894637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4" name="Connector 693"/>
          <p:cNvCxnSpPr/>
          <p:nvPr/>
        </p:nvCxnSpPr>
        <p:spPr>
          <a:xfrm>
            <a:off x="13121640" y="5198363"/>
            <a:ext cx="0" cy="1894637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5" name="Connector 694"/>
          <p:cNvCxnSpPr/>
          <p:nvPr/>
        </p:nvCxnSpPr>
        <p:spPr>
          <a:xfrm>
            <a:off x="13624560" y="5198363"/>
            <a:ext cx="0" cy="1894637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6" name="Connector 695"/>
          <p:cNvCxnSpPr/>
          <p:nvPr/>
        </p:nvCxnSpPr>
        <p:spPr>
          <a:xfrm>
            <a:off x="13926312" y="5198363"/>
            <a:ext cx="0" cy="1894637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7" name="Connector 696"/>
          <p:cNvCxnSpPr/>
          <p:nvPr/>
        </p:nvCxnSpPr>
        <p:spPr>
          <a:xfrm>
            <a:off x="14356080" y="5198363"/>
            <a:ext cx="0" cy="1894637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8" name="Connector 697"/>
          <p:cNvCxnSpPr/>
          <p:nvPr/>
        </p:nvCxnSpPr>
        <p:spPr>
          <a:xfrm>
            <a:off x="14621256" y="5198363"/>
            <a:ext cx="0" cy="1894637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9" name="TextBox 698"/>
          <p:cNvSpPr txBox="1"/>
          <p:nvPr/>
        </p:nvSpPr>
        <p:spPr>
          <a:xfrm>
            <a:off x="11576304" y="5198363"/>
            <a:ext cx="512064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20" b="1">
                <a:solidFill>
                  <a:srgbClr val="000000"/>
                </a:solidFill>
                <a:latin typeface="Arial"/>
              </a:rPr>
              <a:t>TAG</a:t>
            </a:r>
          </a:p>
        </p:txBody>
      </p:sp>
      <p:sp>
        <p:nvSpPr>
          <p:cNvPr id="700" name="TextBox 699"/>
          <p:cNvSpPr txBox="1"/>
          <p:nvPr/>
        </p:nvSpPr>
        <p:spPr>
          <a:xfrm>
            <a:off x="12088368" y="5198363"/>
            <a:ext cx="1033271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20" b="1">
                <a:solidFill>
                  <a:srgbClr val="000000"/>
                </a:solidFill>
                <a:latin typeface="Arial"/>
              </a:rPr>
              <a:t>CAUSE</a:t>
            </a:r>
          </a:p>
        </p:txBody>
      </p:sp>
      <p:sp>
        <p:nvSpPr>
          <p:cNvPr id="701" name="TextBox 700"/>
          <p:cNvSpPr txBox="1"/>
          <p:nvPr/>
        </p:nvSpPr>
        <p:spPr>
          <a:xfrm>
            <a:off x="13121640" y="5198363"/>
            <a:ext cx="502920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20" b="1">
                <a:solidFill>
                  <a:srgbClr val="000000"/>
                </a:solidFill>
                <a:latin typeface="Arial"/>
              </a:rPr>
              <a:t>TRIP SET</a:t>
            </a:r>
          </a:p>
        </p:txBody>
      </p:sp>
      <p:sp>
        <p:nvSpPr>
          <p:cNvPr id="702" name="TextBox 701"/>
          <p:cNvSpPr txBox="1"/>
          <p:nvPr/>
        </p:nvSpPr>
        <p:spPr>
          <a:xfrm>
            <a:off x="13624560" y="5198363"/>
            <a:ext cx="301752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20" b="1">
                <a:solidFill>
                  <a:srgbClr val="000000"/>
                </a:solidFill>
                <a:latin typeface="Arial"/>
              </a:rPr>
              <a:t>DELAY</a:t>
            </a:r>
          </a:p>
        </p:txBody>
      </p:sp>
      <p:sp>
        <p:nvSpPr>
          <p:cNvPr id="703" name="TextBox 702"/>
          <p:cNvSpPr txBox="1"/>
          <p:nvPr/>
        </p:nvSpPr>
        <p:spPr>
          <a:xfrm>
            <a:off x="13926312" y="5198363"/>
            <a:ext cx="429768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20" b="1">
                <a:solidFill>
                  <a:srgbClr val="000000"/>
                </a:solidFill>
                <a:latin typeface="Arial"/>
              </a:rPr>
              <a:t>PRE-ALARM</a:t>
            </a:r>
          </a:p>
        </p:txBody>
      </p:sp>
      <p:sp>
        <p:nvSpPr>
          <p:cNvPr id="704" name="TextBox 703"/>
          <p:cNvSpPr txBox="1"/>
          <p:nvPr/>
        </p:nvSpPr>
        <p:spPr>
          <a:xfrm>
            <a:off x="14356080" y="5198363"/>
            <a:ext cx="265176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20" b="1">
                <a:solidFill>
                  <a:srgbClr val="000000"/>
                </a:solidFill>
                <a:latin typeface="Arial"/>
              </a:rPr>
              <a:t>ACTS</a:t>
            </a:r>
          </a:p>
        </p:txBody>
      </p:sp>
      <p:sp>
        <p:nvSpPr>
          <p:cNvPr id="705" name="TextBox 704"/>
          <p:cNvSpPr txBox="1"/>
          <p:nvPr/>
        </p:nvSpPr>
        <p:spPr>
          <a:xfrm>
            <a:off x="11603736" y="5326379"/>
            <a:ext cx="475488" cy="1261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40" b="0">
                <a:solidFill>
                  <a:srgbClr val="000000"/>
                </a:solidFill>
                <a:latin typeface="Arial"/>
              </a:rPr>
              <a:t>ESD-1</a:t>
            </a:r>
          </a:p>
        </p:txBody>
      </p:sp>
      <p:sp>
        <p:nvSpPr>
          <p:cNvPr id="706" name="TextBox 705"/>
          <p:cNvSpPr txBox="1"/>
          <p:nvPr/>
        </p:nvSpPr>
        <p:spPr>
          <a:xfrm>
            <a:off x="12115800" y="5326379"/>
            <a:ext cx="996695" cy="1261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40" b="0">
                <a:solidFill>
                  <a:srgbClr val="000000"/>
                </a:solidFill>
                <a:latin typeface="Arial"/>
              </a:rPr>
              <a:t>ESD PUSH-BUTTON (CCR)</a:t>
            </a:r>
          </a:p>
        </p:txBody>
      </p:sp>
      <p:sp>
        <p:nvSpPr>
          <p:cNvPr id="707" name="TextBox 706"/>
          <p:cNvSpPr txBox="1"/>
          <p:nvPr/>
        </p:nvSpPr>
        <p:spPr>
          <a:xfrm>
            <a:off x="13121640" y="5326379"/>
            <a:ext cx="502920" cy="12618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>
                <a:solidFill>
                  <a:srgbClr val="000000"/>
                </a:solidFill>
                <a:latin typeface="Arial"/>
              </a:rPr>
              <a:t>—</a:t>
            </a:r>
          </a:p>
        </p:txBody>
      </p:sp>
      <p:sp>
        <p:nvSpPr>
          <p:cNvPr id="708" name="TextBox 707"/>
          <p:cNvSpPr txBox="1"/>
          <p:nvPr/>
        </p:nvSpPr>
        <p:spPr>
          <a:xfrm>
            <a:off x="13624560" y="5326379"/>
            <a:ext cx="301752" cy="12618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>
                <a:solidFill>
                  <a:srgbClr val="000000"/>
                </a:solidFill>
                <a:latin typeface="Arial"/>
              </a:rPr>
              <a:t>0 s</a:t>
            </a:r>
          </a:p>
        </p:txBody>
      </p:sp>
      <p:sp>
        <p:nvSpPr>
          <p:cNvPr id="709" name="TextBox 708"/>
          <p:cNvSpPr txBox="1"/>
          <p:nvPr/>
        </p:nvSpPr>
        <p:spPr>
          <a:xfrm>
            <a:off x="13926312" y="5326379"/>
            <a:ext cx="429768" cy="12618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>
                <a:solidFill>
                  <a:srgbClr val="000000"/>
                </a:solidFill>
                <a:latin typeface="Arial"/>
              </a:rPr>
              <a:t>—</a:t>
            </a:r>
          </a:p>
        </p:txBody>
      </p:sp>
      <p:sp>
        <p:nvSpPr>
          <p:cNvPr id="710" name="TextBox 709"/>
          <p:cNvSpPr txBox="1"/>
          <p:nvPr/>
        </p:nvSpPr>
        <p:spPr>
          <a:xfrm>
            <a:off x="14356080" y="5326379"/>
            <a:ext cx="265176" cy="12618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>
                <a:solidFill>
                  <a:srgbClr val="000000"/>
                </a:solidFill>
                <a:latin typeface="Arial"/>
              </a:rPr>
              <a:t>I-1</a:t>
            </a:r>
          </a:p>
        </p:txBody>
      </p:sp>
      <p:sp>
        <p:nvSpPr>
          <p:cNvPr id="711" name="TextBox 710"/>
          <p:cNvSpPr txBox="1"/>
          <p:nvPr/>
        </p:nvSpPr>
        <p:spPr>
          <a:xfrm>
            <a:off x="11603736" y="5452567"/>
            <a:ext cx="475488" cy="1261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40" b="0">
                <a:solidFill>
                  <a:srgbClr val="000000"/>
                </a:solidFill>
                <a:latin typeface="Arial"/>
              </a:rPr>
              <a:t>ESD-2</a:t>
            </a:r>
          </a:p>
        </p:txBody>
      </p:sp>
      <p:sp>
        <p:nvSpPr>
          <p:cNvPr id="712" name="TextBox 711"/>
          <p:cNvSpPr txBox="1"/>
          <p:nvPr/>
        </p:nvSpPr>
        <p:spPr>
          <a:xfrm>
            <a:off x="12115800" y="5452567"/>
            <a:ext cx="996695" cy="1261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40" b="0">
                <a:solidFill>
                  <a:srgbClr val="000000"/>
                </a:solidFill>
                <a:latin typeface="Arial"/>
              </a:rPr>
              <a:t>ESD PUSH-BUTTON + BLOWDOWN</a:t>
            </a:r>
          </a:p>
        </p:txBody>
      </p:sp>
      <p:sp>
        <p:nvSpPr>
          <p:cNvPr id="713" name="TextBox 712"/>
          <p:cNvSpPr txBox="1"/>
          <p:nvPr/>
        </p:nvSpPr>
        <p:spPr>
          <a:xfrm>
            <a:off x="13121640" y="5452567"/>
            <a:ext cx="502920" cy="12618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>
                <a:solidFill>
                  <a:srgbClr val="000000"/>
                </a:solidFill>
                <a:latin typeface="Arial"/>
              </a:rPr>
              <a:t>—</a:t>
            </a:r>
          </a:p>
        </p:txBody>
      </p:sp>
      <p:sp>
        <p:nvSpPr>
          <p:cNvPr id="714" name="TextBox 713"/>
          <p:cNvSpPr txBox="1"/>
          <p:nvPr/>
        </p:nvSpPr>
        <p:spPr>
          <a:xfrm>
            <a:off x="13624560" y="5452567"/>
            <a:ext cx="301752" cy="12618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>
                <a:solidFill>
                  <a:srgbClr val="000000"/>
                </a:solidFill>
                <a:latin typeface="Arial"/>
              </a:rPr>
              <a:t>0 s</a:t>
            </a:r>
          </a:p>
        </p:txBody>
      </p:sp>
      <p:sp>
        <p:nvSpPr>
          <p:cNvPr id="715" name="TextBox 714"/>
          <p:cNvSpPr txBox="1"/>
          <p:nvPr/>
        </p:nvSpPr>
        <p:spPr>
          <a:xfrm>
            <a:off x="13926312" y="5452567"/>
            <a:ext cx="429768" cy="12618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>
                <a:solidFill>
                  <a:srgbClr val="000000"/>
                </a:solidFill>
                <a:latin typeface="Arial"/>
              </a:rPr>
              <a:t>—</a:t>
            </a:r>
          </a:p>
        </p:txBody>
      </p:sp>
      <p:sp>
        <p:nvSpPr>
          <p:cNvPr id="716" name="TextBox 715"/>
          <p:cNvSpPr txBox="1"/>
          <p:nvPr/>
        </p:nvSpPr>
        <p:spPr>
          <a:xfrm>
            <a:off x="14356080" y="5452567"/>
            <a:ext cx="265176" cy="12618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>
                <a:solidFill>
                  <a:srgbClr val="000000"/>
                </a:solidFill>
                <a:latin typeface="Arial"/>
              </a:rPr>
              <a:t>I-2</a:t>
            </a:r>
          </a:p>
        </p:txBody>
      </p:sp>
      <p:sp>
        <p:nvSpPr>
          <p:cNvPr id="717" name="TextBox 716"/>
          <p:cNvSpPr txBox="1"/>
          <p:nvPr/>
        </p:nvSpPr>
        <p:spPr>
          <a:xfrm>
            <a:off x="11603736" y="5578754"/>
            <a:ext cx="475488" cy="1261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40" b="0">
                <a:solidFill>
                  <a:srgbClr val="000000"/>
                </a:solidFill>
                <a:latin typeface="Arial"/>
              </a:rPr>
              <a:t>LSHH-101</a:t>
            </a:r>
          </a:p>
        </p:txBody>
      </p:sp>
      <p:sp>
        <p:nvSpPr>
          <p:cNvPr id="718" name="TextBox 717"/>
          <p:cNvSpPr txBox="1"/>
          <p:nvPr/>
        </p:nvSpPr>
        <p:spPr>
          <a:xfrm>
            <a:off x="12115800" y="5578754"/>
            <a:ext cx="996695" cy="1261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40" b="0">
                <a:solidFill>
                  <a:srgbClr val="000000"/>
                </a:solidFill>
                <a:latin typeface="Arial"/>
              </a:rPr>
              <a:t>V-101 LEVEL</a:t>
            </a:r>
          </a:p>
        </p:txBody>
      </p:sp>
      <p:sp>
        <p:nvSpPr>
          <p:cNvPr id="719" name="TextBox 718"/>
          <p:cNvSpPr txBox="1"/>
          <p:nvPr/>
        </p:nvSpPr>
        <p:spPr>
          <a:xfrm>
            <a:off x="13121640" y="5578754"/>
            <a:ext cx="502920" cy="12618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>
                <a:solidFill>
                  <a:srgbClr val="000000"/>
                </a:solidFill>
                <a:latin typeface="Arial"/>
              </a:rPr>
              <a:t>≥ 85 %</a:t>
            </a:r>
          </a:p>
        </p:txBody>
      </p:sp>
      <p:sp>
        <p:nvSpPr>
          <p:cNvPr id="720" name="TextBox 719"/>
          <p:cNvSpPr txBox="1"/>
          <p:nvPr/>
        </p:nvSpPr>
        <p:spPr>
          <a:xfrm>
            <a:off x="13624560" y="5578754"/>
            <a:ext cx="301752" cy="12618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>
                <a:solidFill>
                  <a:srgbClr val="000000"/>
                </a:solidFill>
                <a:latin typeface="Arial"/>
              </a:rPr>
              <a:t>3 s</a:t>
            </a:r>
          </a:p>
        </p:txBody>
      </p:sp>
      <p:sp>
        <p:nvSpPr>
          <p:cNvPr id="721" name="TextBox 720"/>
          <p:cNvSpPr txBox="1"/>
          <p:nvPr/>
        </p:nvSpPr>
        <p:spPr>
          <a:xfrm>
            <a:off x="13926312" y="5578754"/>
            <a:ext cx="429768" cy="12618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>
                <a:solidFill>
                  <a:srgbClr val="000000"/>
                </a:solidFill>
                <a:latin typeface="Arial"/>
              </a:rPr>
              <a:t>65 %</a:t>
            </a:r>
          </a:p>
        </p:txBody>
      </p:sp>
      <p:sp>
        <p:nvSpPr>
          <p:cNvPr id="722" name="TextBox 721"/>
          <p:cNvSpPr txBox="1"/>
          <p:nvPr/>
        </p:nvSpPr>
        <p:spPr>
          <a:xfrm>
            <a:off x="14356080" y="5578754"/>
            <a:ext cx="265176" cy="12618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>
                <a:solidFill>
                  <a:srgbClr val="000000"/>
                </a:solidFill>
                <a:latin typeface="Arial"/>
              </a:rPr>
              <a:t>I-1</a:t>
            </a:r>
          </a:p>
        </p:txBody>
      </p:sp>
      <p:sp>
        <p:nvSpPr>
          <p:cNvPr id="723" name="TextBox 722"/>
          <p:cNvSpPr txBox="1"/>
          <p:nvPr/>
        </p:nvSpPr>
        <p:spPr>
          <a:xfrm>
            <a:off x="11603736" y="5704941"/>
            <a:ext cx="475488" cy="1261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40" b="0">
                <a:solidFill>
                  <a:srgbClr val="000000"/>
                </a:solidFill>
                <a:latin typeface="Arial"/>
              </a:rPr>
              <a:t>LSHH-107</a:t>
            </a:r>
          </a:p>
        </p:txBody>
      </p:sp>
      <p:sp>
        <p:nvSpPr>
          <p:cNvPr id="724" name="TextBox 723"/>
          <p:cNvSpPr txBox="1"/>
          <p:nvPr/>
        </p:nvSpPr>
        <p:spPr>
          <a:xfrm>
            <a:off x="12115800" y="5704941"/>
            <a:ext cx="996695" cy="1261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40" b="0">
                <a:solidFill>
                  <a:srgbClr val="000000"/>
                </a:solidFill>
                <a:latin typeface="Arial"/>
              </a:rPr>
              <a:t>V-102 LEVEL</a:t>
            </a:r>
          </a:p>
        </p:txBody>
      </p:sp>
      <p:sp>
        <p:nvSpPr>
          <p:cNvPr id="725" name="TextBox 724"/>
          <p:cNvSpPr txBox="1"/>
          <p:nvPr/>
        </p:nvSpPr>
        <p:spPr>
          <a:xfrm>
            <a:off x="13121640" y="5704941"/>
            <a:ext cx="502920" cy="12618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>
                <a:solidFill>
                  <a:srgbClr val="000000"/>
                </a:solidFill>
                <a:latin typeface="Arial"/>
              </a:rPr>
              <a:t>≥ 85 %</a:t>
            </a:r>
          </a:p>
        </p:txBody>
      </p:sp>
      <p:sp>
        <p:nvSpPr>
          <p:cNvPr id="726" name="TextBox 725"/>
          <p:cNvSpPr txBox="1"/>
          <p:nvPr/>
        </p:nvSpPr>
        <p:spPr>
          <a:xfrm>
            <a:off x="13624560" y="5704941"/>
            <a:ext cx="301752" cy="12618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>
                <a:solidFill>
                  <a:srgbClr val="000000"/>
                </a:solidFill>
                <a:latin typeface="Arial"/>
              </a:rPr>
              <a:t>3 s</a:t>
            </a:r>
          </a:p>
        </p:txBody>
      </p:sp>
      <p:sp>
        <p:nvSpPr>
          <p:cNvPr id="727" name="TextBox 726"/>
          <p:cNvSpPr txBox="1"/>
          <p:nvPr/>
        </p:nvSpPr>
        <p:spPr>
          <a:xfrm>
            <a:off x="13926312" y="5704941"/>
            <a:ext cx="429768" cy="12618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>
                <a:solidFill>
                  <a:srgbClr val="000000"/>
                </a:solidFill>
                <a:latin typeface="Arial"/>
              </a:rPr>
              <a:t>65 %</a:t>
            </a:r>
          </a:p>
        </p:txBody>
      </p:sp>
      <p:sp>
        <p:nvSpPr>
          <p:cNvPr id="728" name="TextBox 727"/>
          <p:cNvSpPr txBox="1"/>
          <p:nvPr/>
        </p:nvSpPr>
        <p:spPr>
          <a:xfrm>
            <a:off x="14356080" y="5704941"/>
            <a:ext cx="265176" cy="12618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>
                <a:solidFill>
                  <a:srgbClr val="000000"/>
                </a:solidFill>
                <a:latin typeface="Arial"/>
              </a:rPr>
              <a:t>I-1</a:t>
            </a:r>
          </a:p>
        </p:txBody>
      </p:sp>
      <p:sp>
        <p:nvSpPr>
          <p:cNvPr id="729" name="TextBox 728"/>
          <p:cNvSpPr txBox="1"/>
          <p:nvPr/>
        </p:nvSpPr>
        <p:spPr>
          <a:xfrm>
            <a:off x="11603736" y="5831128"/>
            <a:ext cx="475488" cy="1261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40" b="0">
                <a:solidFill>
                  <a:srgbClr val="000000"/>
                </a:solidFill>
                <a:latin typeface="Arial"/>
              </a:rPr>
              <a:t>TSHH-104</a:t>
            </a:r>
          </a:p>
        </p:txBody>
      </p:sp>
      <p:sp>
        <p:nvSpPr>
          <p:cNvPr id="730" name="TextBox 729"/>
          <p:cNvSpPr txBox="1"/>
          <p:nvPr/>
        </p:nvSpPr>
        <p:spPr>
          <a:xfrm>
            <a:off x="12115800" y="5831128"/>
            <a:ext cx="996695" cy="1261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40" b="0">
                <a:solidFill>
                  <a:srgbClr val="000000"/>
                </a:solidFill>
                <a:latin typeface="Arial"/>
              </a:rPr>
              <a:t>SECTION 1 DISCH. TEMP.</a:t>
            </a:r>
          </a:p>
        </p:txBody>
      </p:sp>
      <p:sp>
        <p:nvSpPr>
          <p:cNvPr id="731" name="TextBox 730"/>
          <p:cNvSpPr txBox="1"/>
          <p:nvPr/>
        </p:nvSpPr>
        <p:spPr>
          <a:xfrm>
            <a:off x="13121640" y="5831128"/>
            <a:ext cx="502920" cy="12618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>
                <a:solidFill>
                  <a:srgbClr val="000000"/>
                </a:solidFill>
                <a:latin typeface="Arial"/>
              </a:rPr>
              <a:t>≥ 150 °C</a:t>
            </a:r>
          </a:p>
        </p:txBody>
      </p:sp>
      <p:sp>
        <p:nvSpPr>
          <p:cNvPr id="732" name="TextBox 731"/>
          <p:cNvSpPr txBox="1"/>
          <p:nvPr/>
        </p:nvSpPr>
        <p:spPr>
          <a:xfrm>
            <a:off x="13624560" y="5831128"/>
            <a:ext cx="301752" cy="12618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>
                <a:solidFill>
                  <a:srgbClr val="000000"/>
                </a:solidFill>
                <a:latin typeface="Arial"/>
              </a:rPr>
              <a:t>3 s</a:t>
            </a:r>
          </a:p>
        </p:txBody>
      </p:sp>
      <p:sp>
        <p:nvSpPr>
          <p:cNvPr id="733" name="TextBox 732"/>
          <p:cNvSpPr txBox="1"/>
          <p:nvPr/>
        </p:nvSpPr>
        <p:spPr>
          <a:xfrm>
            <a:off x="13926312" y="5831128"/>
            <a:ext cx="429768" cy="12618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>
                <a:solidFill>
                  <a:srgbClr val="000000"/>
                </a:solidFill>
                <a:latin typeface="Arial"/>
              </a:rPr>
              <a:t>125 °C</a:t>
            </a:r>
          </a:p>
        </p:txBody>
      </p:sp>
      <p:sp>
        <p:nvSpPr>
          <p:cNvPr id="734" name="TextBox 733"/>
          <p:cNvSpPr txBox="1"/>
          <p:nvPr/>
        </p:nvSpPr>
        <p:spPr>
          <a:xfrm>
            <a:off x="14356080" y="5831128"/>
            <a:ext cx="265176" cy="12618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>
                <a:solidFill>
                  <a:srgbClr val="000000"/>
                </a:solidFill>
                <a:latin typeface="Arial"/>
              </a:rPr>
              <a:t>I-1</a:t>
            </a:r>
          </a:p>
        </p:txBody>
      </p:sp>
      <p:sp>
        <p:nvSpPr>
          <p:cNvPr id="735" name="TextBox 734"/>
          <p:cNvSpPr txBox="1"/>
          <p:nvPr/>
        </p:nvSpPr>
        <p:spPr>
          <a:xfrm>
            <a:off x="11603736" y="5957315"/>
            <a:ext cx="475488" cy="1261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40" b="0">
                <a:solidFill>
                  <a:srgbClr val="000000"/>
                </a:solidFill>
                <a:latin typeface="Arial"/>
              </a:rPr>
              <a:t>TSHH-109</a:t>
            </a:r>
          </a:p>
        </p:txBody>
      </p:sp>
      <p:sp>
        <p:nvSpPr>
          <p:cNvPr id="736" name="TextBox 735"/>
          <p:cNvSpPr txBox="1"/>
          <p:nvPr/>
        </p:nvSpPr>
        <p:spPr>
          <a:xfrm>
            <a:off x="12115800" y="5957315"/>
            <a:ext cx="996695" cy="1261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40" b="0">
                <a:solidFill>
                  <a:srgbClr val="000000"/>
                </a:solidFill>
                <a:latin typeface="Arial"/>
              </a:rPr>
              <a:t>SECTION 2 DISCH. TEMP.</a:t>
            </a:r>
          </a:p>
        </p:txBody>
      </p:sp>
      <p:sp>
        <p:nvSpPr>
          <p:cNvPr id="737" name="TextBox 736"/>
          <p:cNvSpPr txBox="1"/>
          <p:nvPr/>
        </p:nvSpPr>
        <p:spPr>
          <a:xfrm>
            <a:off x="13121640" y="5957315"/>
            <a:ext cx="502920" cy="12618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>
                <a:solidFill>
                  <a:srgbClr val="000000"/>
                </a:solidFill>
                <a:latin typeface="Arial"/>
              </a:rPr>
              <a:t>≥ 150 °C</a:t>
            </a:r>
          </a:p>
        </p:txBody>
      </p:sp>
      <p:sp>
        <p:nvSpPr>
          <p:cNvPr id="738" name="TextBox 737"/>
          <p:cNvSpPr txBox="1"/>
          <p:nvPr/>
        </p:nvSpPr>
        <p:spPr>
          <a:xfrm>
            <a:off x="13624560" y="5957315"/>
            <a:ext cx="301752" cy="12618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>
                <a:solidFill>
                  <a:srgbClr val="000000"/>
                </a:solidFill>
                <a:latin typeface="Arial"/>
              </a:rPr>
              <a:t>3 s</a:t>
            </a:r>
          </a:p>
        </p:txBody>
      </p:sp>
      <p:sp>
        <p:nvSpPr>
          <p:cNvPr id="739" name="TextBox 738"/>
          <p:cNvSpPr txBox="1"/>
          <p:nvPr/>
        </p:nvSpPr>
        <p:spPr>
          <a:xfrm>
            <a:off x="13926312" y="5957315"/>
            <a:ext cx="429768" cy="12618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>
                <a:solidFill>
                  <a:srgbClr val="000000"/>
                </a:solidFill>
                <a:latin typeface="Arial"/>
              </a:rPr>
              <a:t>130 °C</a:t>
            </a:r>
          </a:p>
        </p:txBody>
      </p:sp>
      <p:sp>
        <p:nvSpPr>
          <p:cNvPr id="740" name="TextBox 739"/>
          <p:cNvSpPr txBox="1"/>
          <p:nvPr/>
        </p:nvSpPr>
        <p:spPr>
          <a:xfrm>
            <a:off x="14356080" y="5957315"/>
            <a:ext cx="265176" cy="12618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>
                <a:solidFill>
                  <a:srgbClr val="000000"/>
                </a:solidFill>
                <a:latin typeface="Arial"/>
              </a:rPr>
              <a:t>I-1</a:t>
            </a:r>
          </a:p>
        </p:txBody>
      </p:sp>
      <p:sp>
        <p:nvSpPr>
          <p:cNvPr id="741" name="TextBox 740"/>
          <p:cNvSpPr txBox="1"/>
          <p:nvPr/>
        </p:nvSpPr>
        <p:spPr>
          <a:xfrm>
            <a:off x="11603736" y="6083503"/>
            <a:ext cx="475488" cy="1261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40" b="0">
                <a:solidFill>
                  <a:srgbClr val="000000"/>
                </a:solidFill>
                <a:latin typeface="Arial"/>
              </a:rPr>
              <a:t>VSHH-105</a:t>
            </a:r>
          </a:p>
        </p:txBody>
      </p:sp>
      <p:sp>
        <p:nvSpPr>
          <p:cNvPr id="742" name="TextBox 741"/>
          <p:cNvSpPr txBox="1"/>
          <p:nvPr/>
        </p:nvSpPr>
        <p:spPr>
          <a:xfrm>
            <a:off x="12115800" y="6083503"/>
            <a:ext cx="996695" cy="1261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40" b="0">
                <a:solidFill>
                  <a:srgbClr val="000000"/>
                </a:solidFill>
                <a:latin typeface="Arial"/>
              </a:rPr>
              <a:t>SECTION 1 VIBRATION</a:t>
            </a:r>
          </a:p>
        </p:txBody>
      </p:sp>
      <p:sp>
        <p:nvSpPr>
          <p:cNvPr id="743" name="TextBox 742"/>
          <p:cNvSpPr txBox="1"/>
          <p:nvPr/>
        </p:nvSpPr>
        <p:spPr>
          <a:xfrm>
            <a:off x="13121640" y="6083503"/>
            <a:ext cx="502920" cy="12618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>
                <a:solidFill>
                  <a:srgbClr val="000000"/>
                </a:solidFill>
                <a:latin typeface="Arial"/>
              </a:rPr>
              <a:t>≥ 90 µm</a:t>
            </a:r>
          </a:p>
        </p:txBody>
      </p:sp>
      <p:sp>
        <p:nvSpPr>
          <p:cNvPr id="744" name="TextBox 743"/>
          <p:cNvSpPr txBox="1"/>
          <p:nvPr/>
        </p:nvSpPr>
        <p:spPr>
          <a:xfrm>
            <a:off x="13624560" y="6083503"/>
            <a:ext cx="301752" cy="12618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>
                <a:solidFill>
                  <a:srgbClr val="000000"/>
                </a:solidFill>
                <a:latin typeface="Arial"/>
              </a:rPr>
              <a:t>3 s</a:t>
            </a:r>
          </a:p>
        </p:txBody>
      </p:sp>
      <p:sp>
        <p:nvSpPr>
          <p:cNvPr id="745" name="TextBox 744"/>
          <p:cNvSpPr txBox="1"/>
          <p:nvPr/>
        </p:nvSpPr>
        <p:spPr>
          <a:xfrm>
            <a:off x="13926312" y="6083503"/>
            <a:ext cx="429768" cy="12618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>
                <a:solidFill>
                  <a:srgbClr val="000000"/>
                </a:solidFill>
                <a:latin typeface="Arial"/>
              </a:rPr>
              <a:t>60 µm</a:t>
            </a:r>
          </a:p>
        </p:txBody>
      </p:sp>
      <p:sp>
        <p:nvSpPr>
          <p:cNvPr id="746" name="TextBox 745"/>
          <p:cNvSpPr txBox="1"/>
          <p:nvPr/>
        </p:nvSpPr>
        <p:spPr>
          <a:xfrm>
            <a:off x="14356080" y="6083503"/>
            <a:ext cx="265176" cy="12618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>
                <a:solidFill>
                  <a:srgbClr val="000000"/>
                </a:solidFill>
                <a:latin typeface="Arial"/>
              </a:rPr>
              <a:t>I-1</a:t>
            </a:r>
          </a:p>
        </p:txBody>
      </p:sp>
      <p:sp>
        <p:nvSpPr>
          <p:cNvPr id="747" name="TextBox 746"/>
          <p:cNvSpPr txBox="1"/>
          <p:nvPr/>
        </p:nvSpPr>
        <p:spPr>
          <a:xfrm>
            <a:off x="11603736" y="6209690"/>
            <a:ext cx="475488" cy="1261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40" b="0">
                <a:solidFill>
                  <a:srgbClr val="000000"/>
                </a:solidFill>
                <a:latin typeface="Arial"/>
              </a:rPr>
              <a:t>VSHH-110</a:t>
            </a:r>
          </a:p>
        </p:txBody>
      </p:sp>
      <p:sp>
        <p:nvSpPr>
          <p:cNvPr id="748" name="TextBox 747"/>
          <p:cNvSpPr txBox="1"/>
          <p:nvPr/>
        </p:nvSpPr>
        <p:spPr>
          <a:xfrm>
            <a:off x="12115800" y="6209690"/>
            <a:ext cx="996695" cy="1261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40" b="0">
                <a:solidFill>
                  <a:srgbClr val="000000"/>
                </a:solidFill>
                <a:latin typeface="Arial"/>
              </a:rPr>
              <a:t>SECTION 2 VIBRATION</a:t>
            </a:r>
          </a:p>
        </p:txBody>
      </p:sp>
      <p:sp>
        <p:nvSpPr>
          <p:cNvPr id="749" name="TextBox 748"/>
          <p:cNvSpPr txBox="1"/>
          <p:nvPr/>
        </p:nvSpPr>
        <p:spPr>
          <a:xfrm>
            <a:off x="13121640" y="6209690"/>
            <a:ext cx="502920" cy="12618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>
                <a:solidFill>
                  <a:srgbClr val="000000"/>
                </a:solidFill>
                <a:latin typeface="Arial"/>
              </a:rPr>
              <a:t>≥ 90 µm</a:t>
            </a:r>
          </a:p>
        </p:txBody>
      </p:sp>
      <p:sp>
        <p:nvSpPr>
          <p:cNvPr id="750" name="TextBox 749"/>
          <p:cNvSpPr txBox="1"/>
          <p:nvPr/>
        </p:nvSpPr>
        <p:spPr>
          <a:xfrm>
            <a:off x="13624560" y="6209690"/>
            <a:ext cx="301752" cy="12618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>
                <a:solidFill>
                  <a:srgbClr val="000000"/>
                </a:solidFill>
                <a:latin typeface="Arial"/>
              </a:rPr>
              <a:t>3 s</a:t>
            </a:r>
          </a:p>
        </p:txBody>
      </p:sp>
      <p:sp>
        <p:nvSpPr>
          <p:cNvPr id="751" name="TextBox 750"/>
          <p:cNvSpPr txBox="1"/>
          <p:nvPr/>
        </p:nvSpPr>
        <p:spPr>
          <a:xfrm>
            <a:off x="13926312" y="6209690"/>
            <a:ext cx="429768" cy="12618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>
                <a:solidFill>
                  <a:srgbClr val="000000"/>
                </a:solidFill>
                <a:latin typeface="Arial"/>
              </a:rPr>
              <a:t>60 µm</a:t>
            </a:r>
          </a:p>
        </p:txBody>
      </p:sp>
      <p:sp>
        <p:nvSpPr>
          <p:cNvPr id="752" name="TextBox 751"/>
          <p:cNvSpPr txBox="1"/>
          <p:nvPr/>
        </p:nvSpPr>
        <p:spPr>
          <a:xfrm>
            <a:off x="14356080" y="6209690"/>
            <a:ext cx="265176" cy="12618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>
                <a:solidFill>
                  <a:srgbClr val="000000"/>
                </a:solidFill>
                <a:latin typeface="Arial"/>
              </a:rPr>
              <a:t>I-1</a:t>
            </a:r>
          </a:p>
        </p:txBody>
      </p:sp>
      <p:sp>
        <p:nvSpPr>
          <p:cNvPr id="753" name="TextBox 752"/>
          <p:cNvSpPr txBox="1"/>
          <p:nvPr/>
        </p:nvSpPr>
        <p:spPr>
          <a:xfrm>
            <a:off x="11603736" y="6335877"/>
            <a:ext cx="475488" cy="1261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40" b="0">
                <a:solidFill>
                  <a:srgbClr val="000000"/>
                </a:solidFill>
                <a:latin typeface="Arial"/>
              </a:rPr>
              <a:t>PSLL-150</a:t>
            </a:r>
          </a:p>
        </p:txBody>
      </p:sp>
      <p:sp>
        <p:nvSpPr>
          <p:cNvPr id="754" name="TextBox 753"/>
          <p:cNvSpPr txBox="1"/>
          <p:nvPr/>
        </p:nvSpPr>
        <p:spPr>
          <a:xfrm>
            <a:off x="12115800" y="6335877"/>
            <a:ext cx="996695" cy="1261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40" b="0">
                <a:solidFill>
                  <a:srgbClr val="000000"/>
                </a:solidFill>
                <a:latin typeface="Arial"/>
              </a:rPr>
              <a:t>LUBE-OIL HEADER (TURNING)</a:t>
            </a:r>
          </a:p>
        </p:txBody>
      </p:sp>
      <p:sp>
        <p:nvSpPr>
          <p:cNvPr id="755" name="TextBox 754"/>
          <p:cNvSpPr txBox="1"/>
          <p:nvPr/>
        </p:nvSpPr>
        <p:spPr>
          <a:xfrm>
            <a:off x="13121640" y="6335877"/>
            <a:ext cx="502920" cy="12618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>
                <a:solidFill>
                  <a:srgbClr val="000000"/>
                </a:solidFill>
                <a:latin typeface="Arial"/>
              </a:rPr>
              <a:t>≤ 1.2 barg</a:t>
            </a:r>
          </a:p>
        </p:txBody>
      </p:sp>
      <p:sp>
        <p:nvSpPr>
          <p:cNvPr id="756" name="TextBox 755"/>
          <p:cNvSpPr txBox="1"/>
          <p:nvPr/>
        </p:nvSpPr>
        <p:spPr>
          <a:xfrm>
            <a:off x="13624560" y="6335877"/>
            <a:ext cx="301752" cy="12618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>
                <a:solidFill>
                  <a:srgbClr val="000000"/>
                </a:solidFill>
                <a:latin typeface="Arial"/>
              </a:rPr>
              <a:t>2 s</a:t>
            </a:r>
          </a:p>
        </p:txBody>
      </p:sp>
      <p:sp>
        <p:nvSpPr>
          <p:cNvPr id="757" name="TextBox 756"/>
          <p:cNvSpPr txBox="1"/>
          <p:nvPr/>
        </p:nvSpPr>
        <p:spPr>
          <a:xfrm>
            <a:off x="13926312" y="6335877"/>
            <a:ext cx="429768" cy="12618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>
                <a:solidFill>
                  <a:srgbClr val="000000"/>
                </a:solidFill>
                <a:latin typeface="Arial"/>
              </a:rPr>
              <a:t>1.8 barg</a:t>
            </a:r>
          </a:p>
        </p:txBody>
      </p:sp>
      <p:sp>
        <p:nvSpPr>
          <p:cNvPr id="758" name="TextBox 757"/>
          <p:cNvSpPr txBox="1"/>
          <p:nvPr/>
        </p:nvSpPr>
        <p:spPr>
          <a:xfrm>
            <a:off x="14356080" y="6335877"/>
            <a:ext cx="265176" cy="12618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>
                <a:solidFill>
                  <a:srgbClr val="000000"/>
                </a:solidFill>
                <a:latin typeface="Arial"/>
              </a:rPr>
              <a:t>I-1</a:t>
            </a:r>
          </a:p>
        </p:txBody>
      </p:sp>
      <p:sp>
        <p:nvSpPr>
          <p:cNvPr id="759" name="TextBox 758"/>
          <p:cNvSpPr txBox="1"/>
          <p:nvPr/>
        </p:nvSpPr>
        <p:spPr>
          <a:xfrm>
            <a:off x="11603736" y="6462064"/>
            <a:ext cx="475488" cy="1261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40" b="0">
                <a:solidFill>
                  <a:srgbClr val="000000"/>
                </a:solidFill>
                <a:latin typeface="Arial"/>
              </a:rPr>
              <a:t>SSHH-100</a:t>
            </a:r>
          </a:p>
        </p:txBody>
      </p:sp>
      <p:sp>
        <p:nvSpPr>
          <p:cNvPr id="760" name="TextBox 759"/>
          <p:cNvSpPr txBox="1"/>
          <p:nvPr/>
        </p:nvSpPr>
        <p:spPr>
          <a:xfrm>
            <a:off x="12115800" y="6462064"/>
            <a:ext cx="996695" cy="1261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40" b="0">
                <a:solidFill>
                  <a:srgbClr val="000000"/>
                </a:solidFill>
                <a:latin typeface="Arial"/>
              </a:rPr>
              <a:t>OVERSPEED (SIC-100 SIGNAL)</a:t>
            </a:r>
          </a:p>
        </p:txBody>
      </p:sp>
      <p:sp>
        <p:nvSpPr>
          <p:cNvPr id="761" name="TextBox 760"/>
          <p:cNvSpPr txBox="1"/>
          <p:nvPr/>
        </p:nvSpPr>
        <p:spPr>
          <a:xfrm>
            <a:off x="13121640" y="6462064"/>
            <a:ext cx="502920" cy="12618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>
                <a:solidFill>
                  <a:srgbClr val="000000"/>
                </a:solidFill>
                <a:latin typeface="Arial"/>
              </a:rPr>
              <a:t>≥ 110 %</a:t>
            </a:r>
          </a:p>
        </p:txBody>
      </p:sp>
      <p:sp>
        <p:nvSpPr>
          <p:cNvPr id="762" name="TextBox 761"/>
          <p:cNvSpPr txBox="1"/>
          <p:nvPr/>
        </p:nvSpPr>
        <p:spPr>
          <a:xfrm>
            <a:off x="13624560" y="6462064"/>
            <a:ext cx="301752" cy="12618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>
                <a:solidFill>
                  <a:srgbClr val="000000"/>
                </a:solidFill>
                <a:latin typeface="Arial"/>
              </a:rPr>
              <a:t>0.5 s</a:t>
            </a:r>
          </a:p>
        </p:txBody>
      </p:sp>
      <p:sp>
        <p:nvSpPr>
          <p:cNvPr id="763" name="TextBox 762"/>
          <p:cNvSpPr txBox="1"/>
          <p:nvPr/>
        </p:nvSpPr>
        <p:spPr>
          <a:xfrm>
            <a:off x="13926312" y="6462064"/>
            <a:ext cx="429768" cy="12618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>
                <a:solidFill>
                  <a:srgbClr val="000000"/>
                </a:solidFill>
                <a:latin typeface="Arial"/>
              </a:rPr>
              <a:t>104 %</a:t>
            </a:r>
          </a:p>
        </p:txBody>
      </p:sp>
      <p:sp>
        <p:nvSpPr>
          <p:cNvPr id="764" name="TextBox 763"/>
          <p:cNvSpPr txBox="1"/>
          <p:nvPr/>
        </p:nvSpPr>
        <p:spPr>
          <a:xfrm>
            <a:off x="14356080" y="6462064"/>
            <a:ext cx="265176" cy="12618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>
                <a:solidFill>
                  <a:srgbClr val="000000"/>
                </a:solidFill>
                <a:latin typeface="Arial"/>
              </a:rPr>
              <a:t>I-1</a:t>
            </a:r>
          </a:p>
        </p:txBody>
      </p:sp>
      <p:sp>
        <p:nvSpPr>
          <p:cNvPr id="765" name="TextBox 764"/>
          <p:cNvSpPr txBox="1"/>
          <p:nvPr/>
        </p:nvSpPr>
        <p:spPr>
          <a:xfrm>
            <a:off x="11603736" y="6588251"/>
            <a:ext cx="475488" cy="1261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40" b="0">
                <a:solidFill>
                  <a:srgbClr val="000000"/>
                </a:solidFill>
                <a:latin typeface="Arial"/>
              </a:rPr>
              <a:t>PSHH-112</a:t>
            </a:r>
          </a:p>
        </p:txBody>
      </p:sp>
      <p:sp>
        <p:nvSpPr>
          <p:cNvPr id="766" name="TextBox 765"/>
          <p:cNvSpPr txBox="1"/>
          <p:nvPr/>
        </p:nvSpPr>
        <p:spPr>
          <a:xfrm>
            <a:off x="12115800" y="6588251"/>
            <a:ext cx="996695" cy="1261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40" b="0">
                <a:solidFill>
                  <a:srgbClr val="000000"/>
                </a:solidFill>
                <a:latin typeface="Arial"/>
              </a:rPr>
              <a:t>DISCHARGE HEADER</a:t>
            </a:r>
          </a:p>
        </p:txBody>
      </p:sp>
      <p:sp>
        <p:nvSpPr>
          <p:cNvPr id="767" name="TextBox 766"/>
          <p:cNvSpPr txBox="1"/>
          <p:nvPr/>
        </p:nvSpPr>
        <p:spPr>
          <a:xfrm>
            <a:off x="13121640" y="6588251"/>
            <a:ext cx="502920" cy="12618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>
                <a:solidFill>
                  <a:srgbClr val="000000"/>
                </a:solidFill>
                <a:latin typeface="Arial"/>
              </a:rPr>
              <a:t>≥ 132 barg</a:t>
            </a:r>
          </a:p>
        </p:txBody>
      </p:sp>
      <p:sp>
        <p:nvSpPr>
          <p:cNvPr id="768" name="TextBox 767"/>
          <p:cNvSpPr txBox="1"/>
          <p:nvPr/>
        </p:nvSpPr>
        <p:spPr>
          <a:xfrm>
            <a:off x="13624560" y="6588251"/>
            <a:ext cx="301752" cy="12618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>
                <a:solidFill>
                  <a:srgbClr val="000000"/>
                </a:solidFill>
                <a:latin typeface="Arial"/>
              </a:rPr>
              <a:t>2 s</a:t>
            </a:r>
          </a:p>
        </p:txBody>
      </p:sp>
      <p:sp>
        <p:nvSpPr>
          <p:cNvPr id="769" name="TextBox 768"/>
          <p:cNvSpPr txBox="1"/>
          <p:nvPr/>
        </p:nvSpPr>
        <p:spPr>
          <a:xfrm>
            <a:off x="13926312" y="6588251"/>
            <a:ext cx="429768" cy="12618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>
                <a:solidFill>
                  <a:srgbClr val="000000"/>
                </a:solidFill>
                <a:latin typeface="Arial"/>
              </a:rPr>
              <a:t>126 barg</a:t>
            </a:r>
          </a:p>
        </p:txBody>
      </p:sp>
      <p:sp>
        <p:nvSpPr>
          <p:cNvPr id="770" name="TextBox 769"/>
          <p:cNvSpPr txBox="1"/>
          <p:nvPr/>
        </p:nvSpPr>
        <p:spPr>
          <a:xfrm>
            <a:off x="14356080" y="6588251"/>
            <a:ext cx="265176" cy="12618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>
                <a:solidFill>
                  <a:srgbClr val="000000"/>
                </a:solidFill>
                <a:latin typeface="Arial"/>
              </a:rPr>
              <a:t>I-1</a:t>
            </a:r>
          </a:p>
        </p:txBody>
      </p:sp>
      <p:sp>
        <p:nvSpPr>
          <p:cNvPr id="771" name="TextBox 770"/>
          <p:cNvSpPr txBox="1"/>
          <p:nvPr/>
        </p:nvSpPr>
        <p:spPr>
          <a:xfrm>
            <a:off x="11603736" y="6714439"/>
            <a:ext cx="475488" cy="1261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40" b="0">
                <a:solidFill>
                  <a:srgbClr val="000000"/>
                </a:solidFill>
                <a:latin typeface="Arial"/>
              </a:rPr>
              <a:t>PSLL-101</a:t>
            </a:r>
          </a:p>
        </p:txBody>
      </p:sp>
      <p:sp>
        <p:nvSpPr>
          <p:cNvPr id="772" name="TextBox 771"/>
          <p:cNvSpPr txBox="1"/>
          <p:nvPr/>
        </p:nvSpPr>
        <p:spPr>
          <a:xfrm>
            <a:off x="12115800" y="6714439"/>
            <a:ext cx="996695" cy="1261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40" b="0">
                <a:solidFill>
                  <a:srgbClr val="000000"/>
                </a:solidFill>
                <a:latin typeface="Arial"/>
              </a:rPr>
              <a:t>SUCTION V-101 (RUN &gt; 60 %)</a:t>
            </a:r>
          </a:p>
        </p:txBody>
      </p:sp>
      <p:sp>
        <p:nvSpPr>
          <p:cNvPr id="773" name="TextBox 772"/>
          <p:cNvSpPr txBox="1"/>
          <p:nvPr/>
        </p:nvSpPr>
        <p:spPr>
          <a:xfrm>
            <a:off x="13121640" y="6714439"/>
            <a:ext cx="502920" cy="12618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>
                <a:solidFill>
                  <a:srgbClr val="000000"/>
                </a:solidFill>
                <a:latin typeface="Arial"/>
              </a:rPr>
              <a:t>≤ 20 barg</a:t>
            </a:r>
          </a:p>
        </p:txBody>
      </p:sp>
      <p:sp>
        <p:nvSpPr>
          <p:cNvPr id="774" name="TextBox 773"/>
          <p:cNvSpPr txBox="1"/>
          <p:nvPr/>
        </p:nvSpPr>
        <p:spPr>
          <a:xfrm>
            <a:off x="13624560" y="6714439"/>
            <a:ext cx="301752" cy="12618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>
                <a:solidFill>
                  <a:srgbClr val="000000"/>
                </a:solidFill>
                <a:latin typeface="Arial"/>
              </a:rPr>
              <a:t>5 s</a:t>
            </a:r>
          </a:p>
        </p:txBody>
      </p:sp>
      <p:sp>
        <p:nvSpPr>
          <p:cNvPr id="775" name="TextBox 774"/>
          <p:cNvSpPr txBox="1"/>
          <p:nvPr/>
        </p:nvSpPr>
        <p:spPr>
          <a:xfrm>
            <a:off x="13926312" y="6714439"/>
            <a:ext cx="429768" cy="12618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>
                <a:solidFill>
                  <a:srgbClr val="000000"/>
                </a:solidFill>
                <a:latin typeface="Arial"/>
              </a:rPr>
              <a:t>28.5 barg</a:t>
            </a:r>
          </a:p>
        </p:txBody>
      </p:sp>
      <p:sp>
        <p:nvSpPr>
          <p:cNvPr id="776" name="TextBox 775"/>
          <p:cNvSpPr txBox="1"/>
          <p:nvPr/>
        </p:nvSpPr>
        <p:spPr>
          <a:xfrm>
            <a:off x="14356080" y="6714439"/>
            <a:ext cx="265176" cy="12618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>
                <a:solidFill>
                  <a:srgbClr val="000000"/>
                </a:solidFill>
                <a:latin typeface="Arial"/>
              </a:rPr>
              <a:t>I-1</a:t>
            </a:r>
          </a:p>
        </p:txBody>
      </p:sp>
      <p:sp>
        <p:nvSpPr>
          <p:cNvPr id="777" name="TextBox 776"/>
          <p:cNvSpPr txBox="1"/>
          <p:nvPr/>
        </p:nvSpPr>
        <p:spPr>
          <a:xfrm>
            <a:off x="11603736" y="6840626"/>
            <a:ext cx="475488" cy="1261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40" b="0">
                <a:solidFill>
                  <a:srgbClr val="000000"/>
                </a:solidFill>
                <a:latin typeface="Arial"/>
              </a:rPr>
              <a:t>GT-100</a:t>
            </a:r>
          </a:p>
        </p:txBody>
      </p:sp>
      <p:sp>
        <p:nvSpPr>
          <p:cNvPr id="778" name="TextBox 777"/>
          <p:cNvSpPr txBox="1"/>
          <p:nvPr/>
        </p:nvSpPr>
        <p:spPr>
          <a:xfrm>
            <a:off x="12115800" y="6840626"/>
            <a:ext cx="996695" cy="1261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40" b="0">
                <a:solidFill>
                  <a:srgbClr val="000000"/>
                </a:solidFill>
                <a:latin typeface="Arial"/>
              </a:rPr>
              <a:t>GT TRIP / FLAME-OUT</a:t>
            </a:r>
          </a:p>
        </p:txBody>
      </p:sp>
      <p:sp>
        <p:nvSpPr>
          <p:cNvPr id="779" name="TextBox 778"/>
          <p:cNvSpPr txBox="1"/>
          <p:nvPr/>
        </p:nvSpPr>
        <p:spPr>
          <a:xfrm>
            <a:off x="13121640" y="6840626"/>
            <a:ext cx="502920" cy="12618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>
                <a:solidFill>
                  <a:srgbClr val="000000"/>
                </a:solidFill>
                <a:latin typeface="Arial"/>
              </a:rPr>
              <a:t>—</a:t>
            </a:r>
          </a:p>
        </p:txBody>
      </p:sp>
      <p:sp>
        <p:nvSpPr>
          <p:cNvPr id="780" name="TextBox 779"/>
          <p:cNvSpPr txBox="1"/>
          <p:nvPr/>
        </p:nvSpPr>
        <p:spPr>
          <a:xfrm>
            <a:off x="13624560" y="6840626"/>
            <a:ext cx="301752" cy="12618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>
                <a:solidFill>
                  <a:srgbClr val="000000"/>
                </a:solidFill>
                <a:latin typeface="Arial"/>
              </a:rPr>
              <a:t>0 s</a:t>
            </a:r>
          </a:p>
        </p:txBody>
      </p:sp>
      <p:sp>
        <p:nvSpPr>
          <p:cNvPr id="781" name="TextBox 780"/>
          <p:cNvSpPr txBox="1"/>
          <p:nvPr/>
        </p:nvSpPr>
        <p:spPr>
          <a:xfrm>
            <a:off x="13926312" y="6840626"/>
            <a:ext cx="429768" cy="12618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>
                <a:solidFill>
                  <a:srgbClr val="000000"/>
                </a:solidFill>
                <a:latin typeface="Arial"/>
              </a:rPr>
              <a:t>—</a:t>
            </a:r>
          </a:p>
        </p:txBody>
      </p:sp>
      <p:sp>
        <p:nvSpPr>
          <p:cNvPr id="782" name="TextBox 781"/>
          <p:cNvSpPr txBox="1"/>
          <p:nvPr/>
        </p:nvSpPr>
        <p:spPr>
          <a:xfrm>
            <a:off x="14356080" y="6840626"/>
            <a:ext cx="265176" cy="12618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>
                <a:solidFill>
                  <a:srgbClr val="000000"/>
                </a:solidFill>
                <a:latin typeface="Arial"/>
              </a:rPr>
              <a:t>I-1</a:t>
            </a:r>
          </a:p>
        </p:txBody>
      </p:sp>
      <p:sp>
        <p:nvSpPr>
          <p:cNvPr id="783" name="TextBox 782"/>
          <p:cNvSpPr txBox="1"/>
          <p:nvPr/>
        </p:nvSpPr>
        <p:spPr>
          <a:xfrm>
            <a:off x="11603736" y="6966813"/>
            <a:ext cx="475488" cy="1261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40" b="0">
                <a:solidFill>
                  <a:srgbClr val="000000"/>
                </a:solidFill>
                <a:latin typeface="Arial"/>
              </a:rPr>
              <a:t>PSHH-001</a:t>
            </a:r>
          </a:p>
        </p:txBody>
      </p:sp>
      <p:sp>
        <p:nvSpPr>
          <p:cNvPr id="784" name="TextBox 783"/>
          <p:cNvSpPr txBox="1"/>
          <p:nvPr/>
        </p:nvSpPr>
        <p:spPr>
          <a:xfrm>
            <a:off x="12115800" y="6966813"/>
            <a:ext cx="996695" cy="1261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40" b="0">
                <a:solidFill>
                  <a:srgbClr val="000000"/>
                </a:solidFill>
                <a:latin typeface="Arial"/>
              </a:rPr>
              <a:t>PRODUCTION HEADER</a:t>
            </a:r>
          </a:p>
        </p:txBody>
      </p:sp>
      <p:sp>
        <p:nvSpPr>
          <p:cNvPr id="785" name="TextBox 784"/>
          <p:cNvSpPr txBox="1"/>
          <p:nvPr/>
        </p:nvSpPr>
        <p:spPr>
          <a:xfrm>
            <a:off x="13121640" y="6966813"/>
            <a:ext cx="502920" cy="12618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>
                <a:solidFill>
                  <a:srgbClr val="000000"/>
                </a:solidFill>
                <a:latin typeface="Arial"/>
              </a:rPr>
              <a:t>≥ 34.5 barg</a:t>
            </a:r>
          </a:p>
        </p:txBody>
      </p:sp>
      <p:sp>
        <p:nvSpPr>
          <p:cNvPr id="786" name="TextBox 785"/>
          <p:cNvSpPr txBox="1"/>
          <p:nvPr/>
        </p:nvSpPr>
        <p:spPr>
          <a:xfrm>
            <a:off x="13624560" y="6966813"/>
            <a:ext cx="301752" cy="12618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>
                <a:solidFill>
                  <a:srgbClr val="000000"/>
                </a:solidFill>
                <a:latin typeface="Arial"/>
              </a:rPr>
              <a:t>3 s</a:t>
            </a:r>
          </a:p>
        </p:txBody>
      </p:sp>
      <p:sp>
        <p:nvSpPr>
          <p:cNvPr id="787" name="TextBox 786"/>
          <p:cNvSpPr txBox="1"/>
          <p:nvPr/>
        </p:nvSpPr>
        <p:spPr>
          <a:xfrm>
            <a:off x="13926312" y="6966813"/>
            <a:ext cx="429768" cy="12618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>
                <a:solidFill>
                  <a:srgbClr val="000000"/>
                </a:solidFill>
                <a:latin typeface="Arial"/>
              </a:rPr>
              <a:t>32.5 barg</a:t>
            </a:r>
          </a:p>
        </p:txBody>
      </p:sp>
      <p:sp>
        <p:nvSpPr>
          <p:cNvPr id="788" name="TextBox 787"/>
          <p:cNvSpPr txBox="1"/>
          <p:nvPr/>
        </p:nvSpPr>
        <p:spPr>
          <a:xfrm>
            <a:off x="14356080" y="6966813"/>
            <a:ext cx="265176" cy="12618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>
                <a:solidFill>
                  <a:srgbClr val="000000"/>
                </a:solidFill>
                <a:latin typeface="Arial"/>
              </a:rPr>
              <a:t>XV-001</a:t>
            </a:r>
          </a:p>
        </p:txBody>
      </p:sp>
      <p:sp>
        <p:nvSpPr>
          <p:cNvPr id="789" name="TextBox 788"/>
          <p:cNvSpPr txBox="1"/>
          <p:nvPr/>
        </p:nvSpPr>
        <p:spPr>
          <a:xfrm>
            <a:off x="11594592" y="7147864"/>
            <a:ext cx="3063240" cy="914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30" b="0">
                <a:solidFill>
                  <a:srgbClr val="000000"/>
                </a:solidFill>
                <a:latin typeface="Arial"/>
              </a:rPr>
              <a:t>I-1 COMPRESSOR TRIP (PSD): XV-100 FUEL SHUT (GT COASTS DOWN), ESDV-101 + ESDV-113 SHUT,</a:t>
            </a:r>
          </a:p>
        </p:txBody>
      </p:sp>
      <p:sp>
        <p:nvSpPr>
          <p:cNvPr id="790" name="TextBox 789"/>
          <p:cNvSpPr txBox="1"/>
          <p:nvPr/>
        </p:nvSpPr>
        <p:spPr>
          <a:xfrm>
            <a:off x="11594592" y="7243876"/>
            <a:ext cx="3063240" cy="914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30" b="0">
                <a:solidFill>
                  <a:srgbClr val="000000"/>
                </a:solidFill>
                <a:latin typeface="Arial"/>
              </a:rPr>
              <a:t>    UV-103 / UV-108 100 % OPEN (UIC TO MAN), PIC-101 + SIC-100 TO MAN (SIC OUT 0 %),</a:t>
            </a:r>
          </a:p>
        </p:txBody>
      </p:sp>
      <p:sp>
        <p:nvSpPr>
          <p:cNvPr id="791" name="TextBox 790"/>
          <p:cNvSpPr txBox="1"/>
          <p:nvPr/>
        </p:nvSpPr>
        <p:spPr>
          <a:xfrm>
            <a:off x="11594592" y="7339888"/>
            <a:ext cx="3063240" cy="914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30" b="0">
                <a:solidFill>
                  <a:srgbClr val="000000"/>
                </a:solidFill>
                <a:latin typeface="Arial"/>
              </a:rPr>
              <a:t>    PIC-102 OUTPUT ≥ 80 % (PRODUCTION TO FLARE). LATCHED, FIRST-OUT ON THE SIS TAB.</a:t>
            </a:r>
          </a:p>
        </p:txBody>
      </p:sp>
      <p:sp>
        <p:nvSpPr>
          <p:cNvPr id="792" name="TextBox 791"/>
          <p:cNvSpPr txBox="1"/>
          <p:nvPr/>
        </p:nvSpPr>
        <p:spPr>
          <a:xfrm>
            <a:off x="11594592" y="7435900"/>
            <a:ext cx="3063240" cy="914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30" b="0">
                <a:solidFill>
                  <a:srgbClr val="000000"/>
                </a:solidFill>
                <a:latin typeface="Arial"/>
              </a:rPr>
              <a:t>I-2 = I-1 + BDV-101 / BDV-112 OPEN (RO 45 mm) + XV-001 SHUT (WELLS SHUT IN).</a:t>
            </a:r>
          </a:p>
        </p:txBody>
      </p:sp>
      <p:sp>
        <p:nvSpPr>
          <p:cNvPr id="793" name="TextBox 792"/>
          <p:cNvSpPr txBox="1"/>
          <p:nvPr/>
        </p:nvSpPr>
        <p:spPr>
          <a:xfrm>
            <a:off x="11594592" y="7531912"/>
            <a:ext cx="3063240" cy="914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30" b="0">
                <a:solidFill>
                  <a:srgbClr val="000000"/>
                </a:solidFill>
                <a:latin typeface="Arial"/>
              </a:rPr>
              <a:t>XV-001: PSHH-001 SHUTS THE WELLS ONLY (NO I-1); REOPEN BELOW 33.5 barg.</a:t>
            </a:r>
          </a:p>
        </p:txBody>
      </p:sp>
      <p:sp>
        <p:nvSpPr>
          <p:cNvPr id="794" name="TextBox 793"/>
          <p:cNvSpPr txBox="1"/>
          <p:nvPr/>
        </p:nvSpPr>
        <p:spPr>
          <a:xfrm>
            <a:off x="11594592" y="7627924"/>
            <a:ext cx="3063240" cy="914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30" b="0">
                <a:solidFill>
                  <a:srgbClr val="000000"/>
                </a:solidFill>
                <a:latin typeface="Arial"/>
              </a:rPr>
              <a:t>TRIPS ACT IN RUN / START; RESET REFUSED WHILE A CAUSE HOLDS OR SPEED &gt; 5 %.</a:t>
            </a:r>
          </a:p>
        </p:txBody>
      </p:sp>
      <p:sp>
        <p:nvSpPr>
          <p:cNvPr id="795" name="TextBox 794"/>
          <p:cNvSpPr txBox="1"/>
          <p:nvPr/>
        </p:nvSpPr>
        <p:spPr>
          <a:xfrm>
            <a:off x="7909560" y="7726679"/>
            <a:ext cx="3566159" cy="1188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40" b="1">
                <a:solidFill>
                  <a:srgbClr val="000000"/>
                </a:solidFill>
                <a:latin typeface="Arial"/>
              </a:rPr>
              <a:t>DESIGN POINT (OTS MODEL, NOTE 1) · SHAFT 16.69 MW · 9 500 rpm</a:t>
            </a:r>
          </a:p>
        </p:txBody>
      </p:sp>
      <p:cxnSp>
        <p:nvCxnSpPr>
          <p:cNvPr id="796" name="Connector 795"/>
          <p:cNvCxnSpPr/>
          <p:nvPr/>
        </p:nvCxnSpPr>
        <p:spPr>
          <a:xfrm>
            <a:off x="7909560" y="7882127"/>
            <a:ext cx="3566160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7" name="Connector 796"/>
          <p:cNvCxnSpPr/>
          <p:nvPr/>
        </p:nvCxnSpPr>
        <p:spPr>
          <a:xfrm>
            <a:off x="7909560" y="8037575"/>
            <a:ext cx="3566160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8" name="Connector 797"/>
          <p:cNvCxnSpPr/>
          <p:nvPr/>
        </p:nvCxnSpPr>
        <p:spPr>
          <a:xfrm>
            <a:off x="7909560" y="8174736"/>
            <a:ext cx="3566160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9" name="Connector 798"/>
          <p:cNvCxnSpPr/>
          <p:nvPr/>
        </p:nvCxnSpPr>
        <p:spPr>
          <a:xfrm>
            <a:off x="7909560" y="8311896"/>
            <a:ext cx="3566160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0" name="Connector 799"/>
          <p:cNvCxnSpPr/>
          <p:nvPr/>
        </p:nvCxnSpPr>
        <p:spPr>
          <a:xfrm>
            <a:off x="7909560" y="7882127"/>
            <a:ext cx="0" cy="429769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1" name="Connector 800"/>
          <p:cNvCxnSpPr/>
          <p:nvPr/>
        </p:nvCxnSpPr>
        <p:spPr>
          <a:xfrm>
            <a:off x="8366760" y="7882127"/>
            <a:ext cx="0" cy="429769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2" name="Connector 801"/>
          <p:cNvCxnSpPr/>
          <p:nvPr/>
        </p:nvCxnSpPr>
        <p:spPr>
          <a:xfrm>
            <a:off x="8677656" y="7882127"/>
            <a:ext cx="0" cy="429769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3" name="Connector 802"/>
          <p:cNvCxnSpPr/>
          <p:nvPr/>
        </p:nvCxnSpPr>
        <p:spPr>
          <a:xfrm>
            <a:off x="8988552" y="7882127"/>
            <a:ext cx="0" cy="429769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4" name="Connector 803"/>
          <p:cNvCxnSpPr/>
          <p:nvPr/>
        </p:nvCxnSpPr>
        <p:spPr>
          <a:xfrm>
            <a:off x="9299448" y="7882127"/>
            <a:ext cx="0" cy="429769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5" name="Connector 804"/>
          <p:cNvCxnSpPr/>
          <p:nvPr/>
        </p:nvCxnSpPr>
        <p:spPr>
          <a:xfrm>
            <a:off x="9610344" y="7882127"/>
            <a:ext cx="0" cy="429769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6" name="Connector 805"/>
          <p:cNvCxnSpPr/>
          <p:nvPr/>
        </p:nvCxnSpPr>
        <p:spPr>
          <a:xfrm>
            <a:off x="9921240" y="7882127"/>
            <a:ext cx="0" cy="429769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7" name="Connector 806"/>
          <p:cNvCxnSpPr/>
          <p:nvPr/>
        </p:nvCxnSpPr>
        <p:spPr>
          <a:xfrm>
            <a:off x="10232136" y="7882127"/>
            <a:ext cx="0" cy="429769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8" name="Connector 807"/>
          <p:cNvCxnSpPr/>
          <p:nvPr/>
        </p:nvCxnSpPr>
        <p:spPr>
          <a:xfrm>
            <a:off x="10543032" y="7882127"/>
            <a:ext cx="0" cy="429769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9" name="Connector 808"/>
          <p:cNvCxnSpPr/>
          <p:nvPr/>
        </p:nvCxnSpPr>
        <p:spPr>
          <a:xfrm>
            <a:off x="10853928" y="7882127"/>
            <a:ext cx="0" cy="429769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0" name="Connector 809"/>
          <p:cNvCxnSpPr/>
          <p:nvPr/>
        </p:nvCxnSpPr>
        <p:spPr>
          <a:xfrm>
            <a:off x="11164824" y="7882127"/>
            <a:ext cx="0" cy="429769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1" name="Connector 810"/>
          <p:cNvCxnSpPr/>
          <p:nvPr/>
        </p:nvCxnSpPr>
        <p:spPr>
          <a:xfrm>
            <a:off x="11475719" y="7882127"/>
            <a:ext cx="0" cy="429769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2" name="TextBox 811"/>
          <p:cNvSpPr txBox="1"/>
          <p:nvPr/>
        </p:nvSpPr>
        <p:spPr>
          <a:xfrm>
            <a:off x="7909560" y="7882127"/>
            <a:ext cx="457200" cy="1554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00" b="1">
                <a:solidFill>
                  <a:srgbClr val="000000"/>
                </a:solidFill>
                <a:latin typeface="Arial"/>
              </a:rPr>
              <a:t>SECTION</a:t>
            </a:r>
          </a:p>
        </p:txBody>
      </p:sp>
      <p:sp>
        <p:nvSpPr>
          <p:cNvPr id="813" name="TextBox 812"/>
          <p:cNvSpPr txBox="1"/>
          <p:nvPr/>
        </p:nvSpPr>
        <p:spPr>
          <a:xfrm>
            <a:off x="8366760" y="7882127"/>
            <a:ext cx="310896" cy="1554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00" b="1">
                <a:solidFill>
                  <a:srgbClr val="000000"/>
                </a:solidFill>
                <a:latin typeface="Arial"/>
              </a:rPr>
              <a:t>W kg/s</a:t>
            </a:r>
          </a:p>
        </p:txBody>
      </p:sp>
      <p:sp>
        <p:nvSpPr>
          <p:cNvPr id="814" name="TextBox 813"/>
          <p:cNvSpPr txBox="1"/>
          <p:nvPr/>
        </p:nvSpPr>
        <p:spPr>
          <a:xfrm>
            <a:off x="8677656" y="7882127"/>
            <a:ext cx="310896" cy="1554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00" b="1">
                <a:solidFill>
                  <a:srgbClr val="000000"/>
                </a:solidFill>
                <a:latin typeface="Arial"/>
              </a:rPr>
              <a:t>P IN barg</a:t>
            </a:r>
          </a:p>
        </p:txBody>
      </p:sp>
      <p:sp>
        <p:nvSpPr>
          <p:cNvPr id="815" name="TextBox 814"/>
          <p:cNvSpPr txBox="1"/>
          <p:nvPr/>
        </p:nvSpPr>
        <p:spPr>
          <a:xfrm>
            <a:off x="8988552" y="7882127"/>
            <a:ext cx="310896" cy="1554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00" b="1">
                <a:solidFill>
                  <a:srgbClr val="000000"/>
                </a:solidFill>
                <a:latin typeface="Arial"/>
              </a:rPr>
              <a:t>T IN °C</a:t>
            </a:r>
          </a:p>
        </p:txBody>
      </p:sp>
      <p:sp>
        <p:nvSpPr>
          <p:cNvPr id="816" name="TextBox 815"/>
          <p:cNvSpPr txBox="1"/>
          <p:nvPr/>
        </p:nvSpPr>
        <p:spPr>
          <a:xfrm>
            <a:off x="9299448" y="7882127"/>
            <a:ext cx="310896" cy="1554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00" b="1">
                <a:solidFill>
                  <a:srgbClr val="000000"/>
                </a:solidFill>
                <a:latin typeface="Arial"/>
              </a:rPr>
              <a:t>P OUT barg</a:t>
            </a:r>
          </a:p>
        </p:txBody>
      </p:sp>
      <p:sp>
        <p:nvSpPr>
          <p:cNvPr id="817" name="TextBox 816"/>
          <p:cNvSpPr txBox="1"/>
          <p:nvPr/>
        </p:nvSpPr>
        <p:spPr>
          <a:xfrm>
            <a:off x="9610344" y="7882127"/>
            <a:ext cx="310896" cy="1554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00" b="1">
                <a:solidFill>
                  <a:srgbClr val="000000"/>
                </a:solidFill>
                <a:latin typeface="Arial"/>
              </a:rPr>
              <a:t>T OUT °C</a:t>
            </a:r>
          </a:p>
        </p:txBody>
      </p:sp>
      <p:sp>
        <p:nvSpPr>
          <p:cNvPr id="818" name="TextBox 817"/>
          <p:cNvSpPr txBox="1"/>
          <p:nvPr/>
        </p:nvSpPr>
        <p:spPr>
          <a:xfrm>
            <a:off x="9921240" y="7882127"/>
            <a:ext cx="310896" cy="1554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00" b="1">
                <a:solidFill>
                  <a:srgbClr val="000000"/>
                </a:solidFill>
                <a:latin typeface="Arial"/>
              </a:rPr>
              <a:t>RATIO r</a:t>
            </a:r>
          </a:p>
        </p:txBody>
      </p:sp>
      <p:sp>
        <p:nvSpPr>
          <p:cNvPr id="819" name="TextBox 818"/>
          <p:cNvSpPr txBox="1"/>
          <p:nvPr/>
        </p:nvSpPr>
        <p:spPr>
          <a:xfrm>
            <a:off x="10232136" y="7882127"/>
            <a:ext cx="310896" cy="1554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00" b="1">
                <a:solidFill>
                  <a:srgbClr val="000000"/>
                </a:solidFill>
                <a:latin typeface="Arial"/>
              </a:rPr>
              <a:t>Q IN m³/s</a:t>
            </a:r>
          </a:p>
        </p:txBody>
      </p:sp>
      <p:sp>
        <p:nvSpPr>
          <p:cNvPr id="820" name="TextBox 819"/>
          <p:cNvSpPr txBox="1"/>
          <p:nvPr/>
        </p:nvSpPr>
        <p:spPr>
          <a:xfrm>
            <a:off x="10543032" y="7882127"/>
            <a:ext cx="310896" cy="1554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00" b="1">
                <a:solidFill>
                  <a:srgbClr val="000000"/>
                </a:solidFill>
                <a:latin typeface="Arial"/>
              </a:rPr>
              <a:t>Ep</a:t>
            </a:r>
          </a:p>
        </p:txBody>
      </p:sp>
      <p:sp>
        <p:nvSpPr>
          <p:cNvPr id="821" name="TextBox 820"/>
          <p:cNvSpPr txBox="1"/>
          <p:nvPr/>
        </p:nvSpPr>
        <p:spPr>
          <a:xfrm>
            <a:off x="10853928" y="7882127"/>
            <a:ext cx="310896" cy="1554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00" b="1">
                <a:solidFill>
                  <a:srgbClr val="000000"/>
                </a:solidFill>
                <a:latin typeface="Arial"/>
              </a:rPr>
              <a:t>POWER MW</a:t>
            </a:r>
          </a:p>
        </p:txBody>
      </p:sp>
      <p:sp>
        <p:nvSpPr>
          <p:cNvPr id="822" name="TextBox 821"/>
          <p:cNvSpPr txBox="1"/>
          <p:nvPr/>
        </p:nvSpPr>
        <p:spPr>
          <a:xfrm>
            <a:off x="11164824" y="7882127"/>
            <a:ext cx="310896" cy="1554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00" b="1">
                <a:solidFill>
                  <a:srgbClr val="000000"/>
                </a:solidFill>
                <a:latin typeface="Arial"/>
              </a:rPr>
              <a:t>SURGE q</a:t>
            </a:r>
          </a:p>
        </p:txBody>
      </p:sp>
      <p:sp>
        <p:nvSpPr>
          <p:cNvPr id="823" name="TextBox 822"/>
          <p:cNvSpPr txBox="1"/>
          <p:nvPr/>
        </p:nvSpPr>
        <p:spPr>
          <a:xfrm>
            <a:off x="7909560" y="8037575"/>
            <a:ext cx="457200" cy="1371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9" b="0">
                <a:solidFill>
                  <a:srgbClr val="000000"/>
                </a:solidFill>
                <a:latin typeface="Arial"/>
              </a:rPr>
              <a:t>1 (LP)</a:t>
            </a:r>
          </a:p>
        </p:txBody>
      </p:sp>
      <p:sp>
        <p:nvSpPr>
          <p:cNvPr id="824" name="TextBox 823"/>
          <p:cNvSpPr txBox="1"/>
          <p:nvPr/>
        </p:nvSpPr>
        <p:spPr>
          <a:xfrm>
            <a:off x="8366760" y="8037575"/>
            <a:ext cx="310896" cy="1371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9" b="0">
                <a:solidFill>
                  <a:srgbClr val="000000"/>
                </a:solidFill>
                <a:latin typeface="Arial"/>
              </a:rPr>
              <a:t>61.75</a:t>
            </a:r>
          </a:p>
        </p:txBody>
      </p:sp>
      <p:sp>
        <p:nvSpPr>
          <p:cNvPr id="825" name="TextBox 824"/>
          <p:cNvSpPr txBox="1"/>
          <p:nvPr/>
        </p:nvSpPr>
        <p:spPr>
          <a:xfrm>
            <a:off x="8677656" y="8037575"/>
            <a:ext cx="310896" cy="1371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9" b="0">
                <a:solidFill>
                  <a:srgbClr val="000000"/>
                </a:solidFill>
                <a:latin typeface="Arial"/>
              </a:rPr>
              <a:t>30.0</a:t>
            </a:r>
          </a:p>
        </p:txBody>
      </p:sp>
      <p:sp>
        <p:nvSpPr>
          <p:cNvPr id="826" name="TextBox 825"/>
          <p:cNvSpPr txBox="1"/>
          <p:nvPr/>
        </p:nvSpPr>
        <p:spPr>
          <a:xfrm>
            <a:off x="8988552" y="8037575"/>
            <a:ext cx="310896" cy="1371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9" b="0">
                <a:solidFill>
                  <a:srgbClr val="000000"/>
                </a:solidFill>
                <a:latin typeface="Arial"/>
              </a:rPr>
              <a:t>34.4</a:t>
            </a:r>
          </a:p>
        </p:txBody>
      </p:sp>
      <p:sp>
        <p:nvSpPr>
          <p:cNvPr id="827" name="TextBox 826"/>
          <p:cNvSpPr txBox="1"/>
          <p:nvPr/>
        </p:nvSpPr>
        <p:spPr>
          <a:xfrm>
            <a:off x="9299448" y="8037575"/>
            <a:ext cx="310896" cy="1371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9" b="0">
                <a:solidFill>
                  <a:srgbClr val="000000"/>
                </a:solidFill>
                <a:latin typeface="Arial"/>
              </a:rPr>
              <a:t>60.9</a:t>
            </a:r>
          </a:p>
        </p:txBody>
      </p:sp>
      <p:sp>
        <p:nvSpPr>
          <p:cNvPr id="828" name="TextBox 827"/>
          <p:cNvSpPr txBox="1"/>
          <p:nvPr/>
        </p:nvSpPr>
        <p:spPr>
          <a:xfrm>
            <a:off x="9610344" y="8037575"/>
            <a:ext cx="310896" cy="1371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9" b="0">
                <a:solidFill>
                  <a:srgbClr val="000000"/>
                </a:solidFill>
                <a:latin typeface="Arial"/>
              </a:rPr>
              <a:t>105.2</a:t>
            </a:r>
          </a:p>
        </p:txBody>
      </p:sp>
      <p:sp>
        <p:nvSpPr>
          <p:cNvPr id="829" name="TextBox 828"/>
          <p:cNvSpPr txBox="1"/>
          <p:nvPr/>
        </p:nvSpPr>
        <p:spPr>
          <a:xfrm>
            <a:off x="9921240" y="8037575"/>
            <a:ext cx="310896" cy="1371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9" b="0">
                <a:solidFill>
                  <a:srgbClr val="000000"/>
                </a:solidFill>
                <a:latin typeface="Arial"/>
              </a:rPr>
              <a:t>1.997</a:t>
            </a:r>
          </a:p>
        </p:txBody>
      </p:sp>
      <p:sp>
        <p:nvSpPr>
          <p:cNvPr id="830" name="TextBox 829"/>
          <p:cNvSpPr txBox="1"/>
          <p:nvPr/>
        </p:nvSpPr>
        <p:spPr>
          <a:xfrm>
            <a:off x="10232136" y="8037575"/>
            <a:ext cx="310896" cy="1371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9" b="0">
                <a:solidFill>
                  <a:srgbClr val="000000"/>
                </a:solidFill>
                <a:latin typeface="Arial"/>
              </a:rPr>
              <a:t>2.11</a:t>
            </a:r>
          </a:p>
        </p:txBody>
      </p:sp>
      <p:sp>
        <p:nvSpPr>
          <p:cNvPr id="831" name="TextBox 830"/>
          <p:cNvSpPr txBox="1"/>
          <p:nvPr/>
        </p:nvSpPr>
        <p:spPr>
          <a:xfrm>
            <a:off x="10543032" y="8037575"/>
            <a:ext cx="310896" cy="1371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9" b="0">
                <a:solidFill>
                  <a:srgbClr val="000000"/>
                </a:solidFill>
                <a:latin typeface="Arial"/>
              </a:rPr>
              <a:t>0.685</a:t>
            </a:r>
          </a:p>
        </p:txBody>
      </p:sp>
      <p:sp>
        <p:nvSpPr>
          <p:cNvPr id="832" name="TextBox 831"/>
          <p:cNvSpPr txBox="1"/>
          <p:nvPr/>
        </p:nvSpPr>
        <p:spPr>
          <a:xfrm>
            <a:off x="10853928" y="8037575"/>
            <a:ext cx="310896" cy="1371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9" b="0">
                <a:solidFill>
                  <a:srgbClr val="000000"/>
                </a:solidFill>
                <a:latin typeface="Arial"/>
              </a:rPr>
              <a:t>7.95</a:t>
            </a:r>
          </a:p>
        </p:txBody>
      </p:sp>
      <p:sp>
        <p:nvSpPr>
          <p:cNvPr id="833" name="TextBox 832"/>
          <p:cNvSpPr txBox="1"/>
          <p:nvPr/>
        </p:nvSpPr>
        <p:spPr>
          <a:xfrm>
            <a:off x="11164824" y="8037575"/>
            <a:ext cx="310896" cy="1371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9" b="0">
                <a:solidFill>
                  <a:srgbClr val="000000"/>
                </a:solidFill>
                <a:latin typeface="Arial"/>
              </a:rPr>
              <a:t>0.62</a:t>
            </a:r>
          </a:p>
        </p:txBody>
      </p:sp>
      <p:sp>
        <p:nvSpPr>
          <p:cNvPr id="834" name="TextBox 833"/>
          <p:cNvSpPr txBox="1"/>
          <p:nvPr/>
        </p:nvSpPr>
        <p:spPr>
          <a:xfrm>
            <a:off x="7909560" y="8174736"/>
            <a:ext cx="457200" cy="1371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9" b="0">
                <a:solidFill>
                  <a:srgbClr val="000000"/>
                </a:solidFill>
                <a:latin typeface="Arial"/>
              </a:rPr>
              <a:t>2 (HP)</a:t>
            </a:r>
          </a:p>
        </p:txBody>
      </p:sp>
      <p:sp>
        <p:nvSpPr>
          <p:cNvPr id="835" name="TextBox 834"/>
          <p:cNvSpPr txBox="1"/>
          <p:nvPr/>
        </p:nvSpPr>
        <p:spPr>
          <a:xfrm>
            <a:off x="8366760" y="8174736"/>
            <a:ext cx="310896" cy="1371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9" b="0">
                <a:solidFill>
                  <a:srgbClr val="000000"/>
                </a:solidFill>
                <a:latin typeface="Arial"/>
              </a:rPr>
              <a:t>60.26</a:t>
            </a:r>
          </a:p>
        </p:txBody>
      </p:sp>
      <p:sp>
        <p:nvSpPr>
          <p:cNvPr id="836" name="TextBox 835"/>
          <p:cNvSpPr txBox="1"/>
          <p:nvPr/>
        </p:nvSpPr>
        <p:spPr>
          <a:xfrm>
            <a:off x="8677656" y="8174736"/>
            <a:ext cx="310896" cy="1371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9" b="0">
                <a:solidFill>
                  <a:srgbClr val="000000"/>
                </a:solidFill>
                <a:latin typeface="Arial"/>
              </a:rPr>
              <a:t>60.4</a:t>
            </a:r>
          </a:p>
        </p:txBody>
      </p:sp>
      <p:sp>
        <p:nvSpPr>
          <p:cNvPr id="837" name="TextBox 836"/>
          <p:cNvSpPr txBox="1"/>
          <p:nvPr/>
        </p:nvSpPr>
        <p:spPr>
          <a:xfrm>
            <a:off x="8988552" y="8174736"/>
            <a:ext cx="310896" cy="1371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9" b="0">
                <a:solidFill>
                  <a:srgbClr val="000000"/>
                </a:solidFill>
                <a:latin typeface="Arial"/>
              </a:rPr>
              <a:t>40.0</a:t>
            </a:r>
          </a:p>
        </p:txBody>
      </p:sp>
      <p:sp>
        <p:nvSpPr>
          <p:cNvPr id="838" name="TextBox 837"/>
          <p:cNvSpPr txBox="1"/>
          <p:nvPr/>
        </p:nvSpPr>
        <p:spPr>
          <a:xfrm>
            <a:off x="9299448" y="8174736"/>
            <a:ext cx="310896" cy="1371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9" b="0">
                <a:solidFill>
                  <a:srgbClr val="000000"/>
                </a:solidFill>
                <a:latin typeface="Arial"/>
              </a:rPr>
              <a:t>121.6</a:t>
            </a:r>
          </a:p>
        </p:txBody>
      </p:sp>
      <p:sp>
        <p:nvSpPr>
          <p:cNvPr id="839" name="TextBox 838"/>
          <p:cNvSpPr txBox="1"/>
          <p:nvPr/>
        </p:nvSpPr>
        <p:spPr>
          <a:xfrm>
            <a:off x="9610344" y="8174736"/>
            <a:ext cx="310896" cy="1371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9" b="0">
                <a:solidFill>
                  <a:srgbClr val="000000"/>
                </a:solidFill>
                <a:latin typeface="Arial"/>
              </a:rPr>
              <a:t>115.7</a:t>
            </a:r>
          </a:p>
        </p:txBody>
      </p:sp>
      <p:sp>
        <p:nvSpPr>
          <p:cNvPr id="840" name="TextBox 839"/>
          <p:cNvSpPr txBox="1"/>
          <p:nvPr/>
        </p:nvSpPr>
        <p:spPr>
          <a:xfrm>
            <a:off x="9921240" y="8174736"/>
            <a:ext cx="310896" cy="1371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9" b="0">
                <a:solidFill>
                  <a:srgbClr val="000000"/>
                </a:solidFill>
                <a:latin typeface="Arial"/>
              </a:rPr>
              <a:t>1.997</a:t>
            </a:r>
          </a:p>
        </p:txBody>
      </p:sp>
      <p:sp>
        <p:nvSpPr>
          <p:cNvPr id="841" name="TextBox 840"/>
          <p:cNvSpPr txBox="1"/>
          <p:nvPr/>
        </p:nvSpPr>
        <p:spPr>
          <a:xfrm>
            <a:off x="10232136" y="8174736"/>
            <a:ext cx="310896" cy="1371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9" b="0">
                <a:solidFill>
                  <a:srgbClr val="000000"/>
                </a:solidFill>
                <a:latin typeface="Arial"/>
              </a:rPr>
              <a:t>1.00</a:t>
            </a:r>
          </a:p>
        </p:txBody>
      </p:sp>
      <p:sp>
        <p:nvSpPr>
          <p:cNvPr id="842" name="TextBox 841"/>
          <p:cNvSpPr txBox="1"/>
          <p:nvPr/>
        </p:nvSpPr>
        <p:spPr>
          <a:xfrm>
            <a:off x="10543032" y="8174736"/>
            <a:ext cx="310896" cy="1371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9" b="0">
                <a:solidFill>
                  <a:srgbClr val="000000"/>
                </a:solidFill>
                <a:latin typeface="Arial"/>
              </a:rPr>
              <a:t>0.655</a:t>
            </a:r>
          </a:p>
        </p:txBody>
      </p:sp>
      <p:sp>
        <p:nvSpPr>
          <p:cNvPr id="843" name="TextBox 842"/>
          <p:cNvSpPr txBox="1"/>
          <p:nvPr/>
        </p:nvSpPr>
        <p:spPr>
          <a:xfrm>
            <a:off x="10853928" y="8174736"/>
            <a:ext cx="310896" cy="1371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9" b="0">
                <a:solidFill>
                  <a:srgbClr val="000000"/>
                </a:solidFill>
                <a:latin typeface="Arial"/>
              </a:rPr>
              <a:t>8.30</a:t>
            </a:r>
          </a:p>
        </p:txBody>
      </p:sp>
      <p:sp>
        <p:nvSpPr>
          <p:cNvPr id="844" name="TextBox 843"/>
          <p:cNvSpPr txBox="1"/>
          <p:nvPr/>
        </p:nvSpPr>
        <p:spPr>
          <a:xfrm>
            <a:off x="11164824" y="8174736"/>
            <a:ext cx="310896" cy="1371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9" b="0">
                <a:solidFill>
                  <a:srgbClr val="000000"/>
                </a:solidFill>
                <a:latin typeface="Arial"/>
              </a:rPr>
              <a:t>0.62</a:t>
            </a:r>
          </a:p>
        </p:txBody>
      </p:sp>
      <p:sp>
        <p:nvSpPr>
          <p:cNvPr id="845" name="TextBox 844"/>
          <p:cNvSpPr txBox="1"/>
          <p:nvPr/>
        </p:nvSpPr>
        <p:spPr>
          <a:xfrm>
            <a:off x="457200" y="8659368"/>
            <a:ext cx="7589520" cy="1691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09" b="1">
                <a:solidFill>
                  <a:srgbClr val="000000"/>
                </a:solidFill>
                <a:latin typeface="Arial"/>
              </a:rPr>
              <a:t>GENERAL NOTES</a:t>
            </a:r>
          </a:p>
          <a:p>
            <a:pPr algn="l"/>
            <a:r>
              <a:rPr sz="509" b="0">
                <a:solidFill>
                  <a:srgbClr val="000000"/>
                </a:solidFill>
                <a:latin typeface="Arial"/>
              </a:rPr>
              <a:t>1. DESIGN BASIS (ASSUMED FOR TRAINING, TBC): 200 MMSCFD (61.75 kg/s) GULF OF THAILAND GAS, MW 22.3 (CO2 12 %), γ 1.258; 30 → 120 barg; N = 2 SECTIONS,</a:t>
            </a:r>
          </a:p>
          <a:p>
            <a:pPr algn="l"/>
            <a:r>
              <a:rPr sz="509" b="0">
                <a:solidFill>
                  <a:srgbClr val="000000"/>
                </a:solidFill>
                <a:latin typeface="Arial"/>
              </a:rPr>
              <a:t>   r = 3.96^(1/2) = 1.99 EACH (ONE STAGE: T2 ≈ 192 °C &gt; SEAL CEILING 150 °C). Ep FROM LECTURE CHART; T2 = T1·r^((γ−1)/(γ·Ep)). NUMBERS = OTS DESIGN POINT.</a:t>
            </a:r>
          </a:p>
          <a:p>
            <a:pPr algn="l"/>
            <a:r>
              <a:rPr sz="509" b="0">
                <a:solidFill>
                  <a:srgbClr val="000000"/>
                </a:solidFill>
                <a:latin typeface="Arial"/>
              </a:rPr>
              <a:t>   MASS BALANCE 61.75 IN = 60.25 EXPORT + 1.38 FUEL + 0.11 CONDENSATE (+0.005 ACCUMULATION) kg/s; V-101 LIQUIDS 0.22 kg/s ARRIVE WITH THE GAS.</a:t>
            </a:r>
          </a:p>
          <a:p>
            <a:pPr algn="l"/>
            <a:r>
              <a:rPr sz="509" b="0">
                <a:solidFill>
                  <a:srgbClr val="000000"/>
                </a:solidFill>
                <a:latin typeface="Arial"/>
              </a:rPr>
              <a:t>2. LINE SIZES PRELIMINARY: VELOCITY AT DN BORE, CRITERIA v ≤ 20 m/s AND ρv² ≤ 15 000 Pa (ASSUMED); ALL ≤ 10.8 m/s AND ≤ 7 500 Pa. FLARE LINES: HOLD (FLARE STUDY).</a:t>
            </a:r>
          </a:p>
          <a:p>
            <a:pPr algn="l"/>
            <a:r>
              <a:rPr sz="509" b="0">
                <a:solidFill>
                  <a:srgbClr val="000000"/>
                </a:solidFill>
                <a:latin typeface="Arial"/>
              </a:rPr>
              <a:t>3. SETTLE-OUT AFTER A TRIP ≈ 69 barg (MODEL): SUCTION SIDE (V-101, SECTION 1) DESIGN PRESSURE 80 barg (TBC). PSV-107 80 barg ON V-102 AND PSV-112 138 barg</a:t>
            </a:r>
          </a:p>
          <a:p>
            <a:pPr algn="l"/>
            <a:r>
              <a:rPr sz="509" b="0">
                <a:solidFill>
                  <a:srgbClr val="000000"/>
                </a:solidFill>
                <a:latin typeface="Arial"/>
              </a:rPr>
              <a:t>   ON THE DISCHARGE: HOLD (NOT DRAWN). BLOWDOWN COOLS BY EXPANSION: FLARE AND BLOWDOWN LINES LTCS, MDMT −46 °C (TBC).</a:t>
            </a:r>
          </a:p>
          <a:p>
            <a:pPr algn="l"/>
            <a:r>
              <a:rPr sz="509" b="0">
                <a:solidFill>
                  <a:srgbClr val="000000"/>
                </a:solidFill>
                <a:latin typeface="Arial"/>
              </a:rPr>
              <a:t>4. UIC-103/108 SURGE MARGIN = (q/q_SURGE − 1)·100 % FROM FT, PT, TT; CONTROL LINE 10 %; FAST OPEN BELOW 5 %. UV-103/108 ALSO HAVE ZI-103/108 (POSITION).</a:t>
            </a:r>
          </a:p>
          <a:p>
            <a:pPr algn="l"/>
            <a:r>
              <a:rPr sz="509" b="0">
                <a:solidFill>
                  <a:srgbClr val="000000"/>
                </a:solidFill>
                <a:latin typeface="Arial"/>
              </a:rPr>
              <a:t>5. CASCADE: PIC-101 (SUCTION) → SIC-100 SPEED SP (0–100 % = 70–105 %) → FV-100 FUEL. DCS SIGNAL LINES NOT DRAWN; EACH DCS BUBBLE HAS ITS OWN</a:t>
            </a:r>
          </a:p>
          <a:p>
            <a:pPr algn="l"/>
            <a:r>
              <a:rPr sz="509" b="0">
                <a:solidFill>
                  <a:srgbClr val="000000"/>
                </a:solidFill>
                <a:latin typeface="Arial"/>
              </a:rPr>
              <a:t>   TRANSMITTER (PT/TT/LT/FT/VT, SAME NUMBER, e.g. TT-106 FOR TIC-106). PSHH-001 SHARES PT-001 (PIC-102), PSLL-101 PT-101 (PIC-101), SSHH-100 THE SPEED PICK-UP.</a:t>
            </a:r>
          </a:p>
          <a:p>
            <a:pPr algn="l"/>
            <a:r>
              <a:rPr sz="509" b="0">
                <a:solidFill>
                  <a:srgbClr val="000000"/>
                </a:solidFill>
                <a:latin typeface="Arial"/>
              </a:rPr>
              <a:t>6. FUEL GAS FROM V-102 OUTLET VIA FUEL-GAS SKID (PCV TO 25 barg, HEATER, FILTER NOT SHOWN). LUBE-OIL CONSOLE, SEAL-GAS PANEL, CM SYSTEM (P-160, TI-160): VENDOR / SEPARATE SHEETS.</a:t>
            </a:r>
          </a:p>
          <a:p>
            <a:pPr algn="l"/>
            <a:r>
              <a:rPr sz="509" b="0">
                <a:solidFill>
                  <a:srgbClr val="000000"/>
                </a:solidFill>
                <a:latin typeface="Arial"/>
              </a:rPr>
              <a:t>7. DRAINS MV-130…133 TO CLOSED DRAIN, VENTS MV-134/135 BLINDED; ALL OTHER HIGH-POINT VENTS / LOW-POINT DRAINS DN25 (TYP., NOT SHOWN). INSTRUMENTS C/W ROOT &amp; TEST VALVES.</a:t>
            </a:r>
          </a:p>
        </p:txBody>
      </p:sp>
      <p:sp>
        <p:nvSpPr>
          <p:cNvPr id="846" name="TextBox 845"/>
          <p:cNvSpPr txBox="1"/>
          <p:nvPr/>
        </p:nvSpPr>
        <p:spPr>
          <a:xfrm>
            <a:off x="8183879" y="8659368"/>
            <a:ext cx="3474720" cy="1691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95" b="1">
                <a:solidFill>
                  <a:srgbClr val="000000"/>
                </a:solidFill>
                <a:latin typeface="Arial"/>
              </a:rPr>
              <a:t>OPERATING NOTES AND OPEN ITEMS</a:t>
            </a:r>
          </a:p>
          <a:p>
            <a:pPr algn="l"/>
            <a:r>
              <a:rPr sz="495" b="0">
                <a:solidFill>
                  <a:srgbClr val="000000"/>
                </a:solidFill>
                <a:latin typeface="Arial"/>
              </a:rPr>
              <a:t>A. START-UP: PRESSURISE WITH HV-101 UNTIL ΔP ACROSS ESDV-101 ≤ 3 bar,</a:t>
            </a:r>
          </a:p>
          <a:p>
            <a:pPr algn="l"/>
            <a:r>
              <a:rPr sz="495" b="0">
                <a:solidFill>
                  <a:srgbClr val="000000"/>
                </a:solidFill>
                <a:latin typeface="Arial"/>
              </a:rPr>
              <a:t>   OPEN ESDV-101, START GT-100 ON FULL RECYCLE. GT PERMISSIVES: SIS READY,</a:t>
            </a:r>
          </a:p>
          <a:p>
            <a:pPr algn="l"/>
            <a:r>
              <a:rPr sz="495" b="0">
                <a:solidFill>
                  <a:srgbClr val="000000"/>
                </a:solidFill>
                <a:latin typeface="Arial"/>
              </a:rPr>
              <a:t>   PI-150 ≥ 2.0 barg, P-160 RUNNING, PI-101 ≥ 20 barg, UV-103/108 ≥ 90 %,</a:t>
            </a:r>
          </a:p>
          <a:p>
            <a:pPr algn="l"/>
            <a:r>
              <a:rPr sz="495" b="0">
                <a:solidFill>
                  <a:srgbClr val="000000"/>
                </a:solidFill>
                <a:latin typeface="Arial"/>
              </a:rPr>
              <a:t>   LEVELS &lt; 60 %, BDVs SHUT.</a:t>
            </a:r>
          </a:p>
          <a:p>
            <a:pPr algn="l"/>
            <a:r>
              <a:rPr sz="495" b="0">
                <a:solidFill>
                  <a:srgbClr val="000000"/>
                </a:solidFill>
                <a:latin typeface="Arial"/>
              </a:rPr>
              <a:t>B. AFTER A PSD THE LOOP SETTLES OUT: VENT WITH HV-102 TO HEADER PRESSURE</a:t>
            </a:r>
          </a:p>
          <a:p>
            <a:pPr algn="l"/>
            <a:r>
              <a:rPr sz="495" b="0">
                <a:solidFill>
                  <a:srgbClr val="000000"/>
                </a:solidFill>
                <a:latin typeface="Arial"/>
              </a:rPr>
              <a:t>   BEFORE REOPENING ESDV-101.</a:t>
            </a:r>
          </a:p>
          <a:p>
            <a:pPr algn="l"/>
            <a:r>
              <a:rPr sz="495" b="0">
                <a:solidFill>
                  <a:srgbClr val="000000"/>
                </a:solidFill>
                <a:latin typeface="Arial"/>
              </a:rPr>
              <a:t>C. ANTI-SURGE, FLARE AND BLOWDOWN VALVES ARE CHOKED WHEN P2/P1 &lt; 0.553.</a:t>
            </a:r>
          </a:p>
          <a:p>
            <a:pPr algn="l"/>
            <a:r>
              <a:rPr sz="495" b="0">
                <a:solidFill>
                  <a:srgbClr val="000000"/>
                </a:solidFill>
                <a:latin typeface="Arial"/>
              </a:rPr>
              <a:t>D. P-150B STANDBY LUBE-OIL PUMP AUTO-STARTS AT PI-150 1.8 barg (BPCS).</a:t>
            </a:r>
          </a:p>
          <a:p>
            <a:pPr algn="l"/>
            <a:r>
              <a:rPr sz="495" b="0">
                <a:solidFill>
                  <a:srgbClr val="000000"/>
                </a:solidFill>
                <a:latin typeface="Arial"/>
              </a:rPr>
              <a:t>E. HOLD / TBC: PSV-107, PSV-112, FLARE LINE SIZES, HV-101/102 FAIL POSITION</a:t>
            </a:r>
          </a:p>
          <a:p>
            <a:pPr algn="l"/>
            <a:r>
              <a:rPr sz="495" b="0">
                <a:solidFill>
                  <a:srgbClr val="000000"/>
                </a:solidFill>
                <a:latin typeface="Arial"/>
              </a:rPr>
              <a:t>   (FC ASSUMED), DESIGN PRESSURES, CM SIDE (E-101 7.3 MW, E-102 7.7 MW).</a:t>
            </a:r>
          </a:p>
          <a:p>
            <a:pPr algn="l"/>
            <a:r>
              <a:rPr sz="495" b="0">
                <a:solidFill>
                  <a:srgbClr val="000000"/>
                </a:solidFill>
                <a:latin typeface="Arial"/>
              </a:rPr>
              <a:t>F. REV B = ALTERNATIVE VERSION (EPC STANDARD). REV A STAYS THE SCREEN</a:t>
            </a:r>
          </a:p>
          <a:p>
            <a:pPr algn="l"/>
            <a:r>
              <a:rPr sz="495" b="0">
                <a:solidFill>
                  <a:srgbClr val="000000"/>
                </a:solidFill>
                <a:latin typeface="Arial"/>
              </a:rPr>
              <a:t>   REFERENCE USED BY THE DCS, THE DECKS AND THE EXERCISES; SAME TAGS.</a:t>
            </a:r>
          </a:p>
        </p:txBody>
      </p:sp>
      <p:cxnSp>
        <p:nvCxnSpPr>
          <p:cNvPr id="847" name="Connector 846"/>
          <p:cNvCxnSpPr/>
          <p:nvPr/>
        </p:nvCxnSpPr>
        <p:spPr>
          <a:xfrm>
            <a:off x="320040" y="8595360"/>
            <a:ext cx="11338560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8" name="Connector 847"/>
          <p:cNvCxnSpPr/>
          <p:nvPr/>
        </p:nvCxnSpPr>
        <p:spPr>
          <a:xfrm>
            <a:off x="8092440" y="8595360"/>
            <a:ext cx="0" cy="1773936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9" name="Connector 848"/>
          <p:cNvCxnSpPr/>
          <p:nvPr/>
        </p:nvCxnSpPr>
        <p:spPr>
          <a:xfrm>
            <a:off x="11750040" y="8641080"/>
            <a:ext cx="3054095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0" name="Connector 849"/>
          <p:cNvCxnSpPr/>
          <p:nvPr/>
        </p:nvCxnSpPr>
        <p:spPr>
          <a:xfrm>
            <a:off x="11750040" y="8814815"/>
            <a:ext cx="3054095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1" name="Connector 850"/>
          <p:cNvCxnSpPr/>
          <p:nvPr/>
        </p:nvCxnSpPr>
        <p:spPr>
          <a:xfrm>
            <a:off x="11750040" y="8988552"/>
            <a:ext cx="3054095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2" name="Connector 851"/>
          <p:cNvCxnSpPr/>
          <p:nvPr/>
        </p:nvCxnSpPr>
        <p:spPr>
          <a:xfrm>
            <a:off x="11750040" y="9162288"/>
            <a:ext cx="3054095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3" name="Connector 852"/>
          <p:cNvCxnSpPr/>
          <p:nvPr/>
        </p:nvCxnSpPr>
        <p:spPr>
          <a:xfrm>
            <a:off x="11750040" y="8641080"/>
            <a:ext cx="0" cy="521208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4" name="Connector 853"/>
          <p:cNvCxnSpPr/>
          <p:nvPr/>
        </p:nvCxnSpPr>
        <p:spPr>
          <a:xfrm>
            <a:off x="12070080" y="8641080"/>
            <a:ext cx="0" cy="521208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5" name="Connector 854"/>
          <p:cNvCxnSpPr/>
          <p:nvPr/>
        </p:nvCxnSpPr>
        <p:spPr>
          <a:xfrm>
            <a:off x="14026896" y="8641080"/>
            <a:ext cx="0" cy="521208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6" name="Connector 855"/>
          <p:cNvCxnSpPr/>
          <p:nvPr/>
        </p:nvCxnSpPr>
        <p:spPr>
          <a:xfrm>
            <a:off x="14804135" y="8641080"/>
            <a:ext cx="0" cy="521208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7" name="TextBox 856"/>
          <p:cNvSpPr txBox="1"/>
          <p:nvPr/>
        </p:nvSpPr>
        <p:spPr>
          <a:xfrm>
            <a:off x="11750040" y="8641080"/>
            <a:ext cx="320040" cy="17373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REV</a:t>
            </a:r>
          </a:p>
        </p:txBody>
      </p:sp>
      <p:sp>
        <p:nvSpPr>
          <p:cNvPr id="858" name="TextBox 857"/>
          <p:cNvSpPr txBox="1"/>
          <p:nvPr/>
        </p:nvSpPr>
        <p:spPr>
          <a:xfrm>
            <a:off x="12070080" y="8641080"/>
            <a:ext cx="1956816" cy="17373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DESCRIPTION</a:t>
            </a:r>
          </a:p>
        </p:txBody>
      </p:sp>
      <p:sp>
        <p:nvSpPr>
          <p:cNvPr id="859" name="TextBox 858"/>
          <p:cNvSpPr txBox="1"/>
          <p:nvPr/>
        </p:nvSpPr>
        <p:spPr>
          <a:xfrm>
            <a:off x="14026896" y="8641080"/>
            <a:ext cx="777240" cy="17373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DATE</a:t>
            </a:r>
          </a:p>
        </p:txBody>
      </p:sp>
      <p:sp>
        <p:nvSpPr>
          <p:cNvPr id="860" name="TextBox 859"/>
          <p:cNvSpPr txBox="1"/>
          <p:nvPr/>
        </p:nvSpPr>
        <p:spPr>
          <a:xfrm>
            <a:off x="11750040" y="8814815"/>
            <a:ext cx="320040" cy="17373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0">
                <a:solidFill>
                  <a:srgbClr val="000000"/>
                </a:solidFill>
                <a:latin typeface="Arial"/>
              </a:rPr>
              <a:t>A</a:t>
            </a:r>
          </a:p>
        </p:txBody>
      </p:sp>
      <p:sp>
        <p:nvSpPr>
          <p:cNvPr id="861" name="TextBox 860"/>
          <p:cNvSpPr txBox="1"/>
          <p:nvPr/>
        </p:nvSpPr>
        <p:spPr>
          <a:xfrm>
            <a:off x="12070080" y="8814815"/>
            <a:ext cx="1956816" cy="17373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30" b="0">
                <a:solidFill>
                  <a:srgbClr val="000000"/>
                </a:solidFill>
                <a:latin typeface="Arial"/>
              </a:rPr>
              <a:t>SCREEN REFERENCE USED BY THE DCS, DECKS AND EXERCISES</a:t>
            </a:r>
          </a:p>
        </p:txBody>
      </p:sp>
      <p:sp>
        <p:nvSpPr>
          <p:cNvPr id="862" name="TextBox 861"/>
          <p:cNvSpPr txBox="1"/>
          <p:nvPr/>
        </p:nvSpPr>
        <p:spPr>
          <a:xfrm>
            <a:off x="14026896" y="8814815"/>
            <a:ext cx="777240" cy="17373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0">
                <a:solidFill>
                  <a:srgbClr val="000000"/>
                </a:solidFill>
                <a:latin typeface="Arial"/>
              </a:rPr>
              <a:t>25-SEP-26</a:t>
            </a:r>
          </a:p>
        </p:txBody>
      </p:sp>
      <p:sp>
        <p:nvSpPr>
          <p:cNvPr id="863" name="TextBox 862"/>
          <p:cNvSpPr txBox="1"/>
          <p:nvPr/>
        </p:nvSpPr>
        <p:spPr>
          <a:xfrm>
            <a:off x="11750040" y="8988552"/>
            <a:ext cx="320040" cy="17373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0">
                <a:solidFill>
                  <a:srgbClr val="000000"/>
                </a:solidFill>
                <a:latin typeface="Arial"/>
              </a:rPr>
              <a:t>B</a:t>
            </a:r>
          </a:p>
        </p:txBody>
      </p:sp>
      <p:sp>
        <p:nvSpPr>
          <p:cNvPr id="864" name="TextBox 863"/>
          <p:cNvSpPr txBox="1"/>
          <p:nvPr/>
        </p:nvSpPr>
        <p:spPr>
          <a:xfrm>
            <a:off x="12070080" y="8988552"/>
            <a:ext cx="1956816" cy="17373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0">
                <a:solidFill>
                  <a:srgbClr val="000000"/>
                </a:solidFill>
                <a:latin typeface="Arial"/>
              </a:rPr>
              <a:t>ALTERNATIVE VERSION, EPC STANDARD</a:t>
            </a:r>
          </a:p>
        </p:txBody>
      </p:sp>
      <p:sp>
        <p:nvSpPr>
          <p:cNvPr id="865" name="TextBox 864"/>
          <p:cNvSpPr txBox="1"/>
          <p:nvPr/>
        </p:nvSpPr>
        <p:spPr>
          <a:xfrm>
            <a:off x="14026896" y="8988552"/>
            <a:ext cx="777240" cy="17373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0">
                <a:solidFill>
                  <a:srgbClr val="000000"/>
                </a:solidFill>
                <a:latin typeface="Arial"/>
              </a:rPr>
              <a:t>12-OCT-26</a:t>
            </a:r>
          </a:p>
        </p:txBody>
      </p:sp>
      <p:sp>
        <p:nvSpPr>
          <p:cNvPr id="866" name="Rectangle 865"/>
          <p:cNvSpPr/>
          <p:nvPr/>
        </p:nvSpPr>
        <p:spPr>
          <a:xfrm>
            <a:off x="11750040" y="9162288"/>
            <a:ext cx="3054096" cy="1207008"/>
          </a:xfrm>
          <a:prstGeom prst="rect">
            <a:avLst/>
          </a:prstGeom>
          <a:solidFill>
            <a:srgbClr val="FFFFFF"/>
          </a:solidFill>
          <a:ln w="1778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67" name="Connector 866"/>
          <p:cNvCxnSpPr/>
          <p:nvPr/>
        </p:nvCxnSpPr>
        <p:spPr>
          <a:xfrm>
            <a:off x="11750040" y="9473184"/>
            <a:ext cx="3054095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8" name="Connector 867"/>
          <p:cNvCxnSpPr/>
          <p:nvPr/>
        </p:nvCxnSpPr>
        <p:spPr>
          <a:xfrm>
            <a:off x="11750040" y="9802367"/>
            <a:ext cx="3054095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9" name="Connector 868"/>
          <p:cNvCxnSpPr/>
          <p:nvPr/>
        </p:nvCxnSpPr>
        <p:spPr>
          <a:xfrm>
            <a:off x="11750040" y="10076688"/>
            <a:ext cx="3054095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0" name="TextBox 869"/>
          <p:cNvSpPr txBox="1"/>
          <p:nvPr/>
        </p:nvSpPr>
        <p:spPr>
          <a:xfrm>
            <a:off x="11750040" y="9180576"/>
            <a:ext cx="3054096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000000"/>
                </a:solidFill>
                <a:latin typeface="Arial"/>
              </a:rPr>
              <a:t>CHEM ENG CHULALONGKORN UNIVERSITY · OTS</a:t>
            </a:r>
          </a:p>
        </p:txBody>
      </p:sp>
      <p:sp>
        <p:nvSpPr>
          <p:cNvPr id="871" name="TextBox 870"/>
          <p:cNvSpPr txBox="1"/>
          <p:nvPr/>
        </p:nvSpPr>
        <p:spPr>
          <a:xfrm>
            <a:off x="11750040" y="9491472"/>
            <a:ext cx="3054096" cy="2926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000000"/>
                </a:solidFill>
                <a:latin typeface="Arial"/>
              </a:rPr>
              <a:t>P&amp;ID — GAS EXPORT COMPRESSOR K-100</a:t>
            </a:r>
          </a:p>
          <a:p>
            <a:pPr algn="ctr"/>
            <a:r>
              <a:rPr sz="800" b="1">
                <a:solidFill>
                  <a:srgbClr val="000000"/>
                </a:solidFill>
                <a:latin typeface="Arial"/>
              </a:rPr>
              <a:t>ALTERNATIVE VERSION</a:t>
            </a:r>
          </a:p>
        </p:txBody>
      </p:sp>
      <p:cxnSp>
        <p:nvCxnSpPr>
          <p:cNvPr id="872" name="Connector 871"/>
          <p:cNvCxnSpPr/>
          <p:nvPr/>
        </p:nvCxnSpPr>
        <p:spPr>
          <a:xfrm>
            <a:off x="12513563" y="9802367"/>
            <a:ext cx="0" cy="566929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3" name="Connector 872"/>
          <p:cNvCxnSpPr/>
          <p:nvPr/>
        </p:nvCxnSpPr>
        <p:spPr>
          <a:xfrm>
            <a:off x="13277088" y="9802367"/>
            <a:ext cx="0" cy="566929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4" name="Connector 873"/>
          <p:cNvCxnSpPr/>
          <p:nvPr/>
        </p:nvCxnSpPr>
        <p:spPr>
          <a:xfrm>
            <a:off x="14040612" y="9802367"/>
            <a:ext cx="0" cy="566929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5" name="TextBox 874"/>
          <p:cNvSpPr txBox="1"/>
          <p:nvPr/>
        </p:nvSpPr>
        <p:spPr>
          <a:xfrm>
            <a:off x="11750040" y="9802367"/>
            <a:ext cx="763524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0">
                <a:solidFill>
                  <a:srgbClr val="000000"/>
                </a:solidFill>
                <a:latin typeface="Arial"/>
              </a:rPr>
              <a:t>DRAWN:</a:t>
            </a:r>
          </a:p>
          <a:p>
            <a:pPr algn="ctr"/>
            <a:r>
              <a:rPr sz="459" b="1">
                <a:latin typeface="Arial"/>
              </a:rPr>
              <a:t>Apinan Soottitantawat</a:t>
            </a:r>
          </a:p>
        </p:txBody>
      </p:sp>
      <p:sp>
        <p:nvSpPr>
          <p:cNvPr id="876" name="TextBox 875"/>
          <p:cNvSpPr txBox="1"/>
          <p:nvPr/>
        </p:nvSpPr>
        <p:spPr>
          <a:xfrm>
            <a:off x="12513563" y="9802367"/>
            <a:ext cx="763524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0">
                <a:solidFill>
                  <a:srgbClr val="000000"/>
                </a:solidFill>
                <a:latin typeface="Arial"/>
              </a:rPr>
              <a:t>CHK'D: --</a:t>
            </a:r>
          </a:p>
        </p:txBody>
      </p:sp>
      <p:sp>
        <p:nvSpPr>
          <p:cNvPr id="877" name="TextBox 876"/>
          <p:cNvSpPr txBox="1"/>
          <p:nvPr/>
        </p:nvSpPr>
        <p:spPr>
          <a:xfrm>
            <a:off x="13277088" y="9802367"/>
            <a:ext cx="763524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0">
                <a:solidFill>
                  <a:srgbClr val="000000"/>
                </a:solidFill>
                <a:latin typeface="Arial"/>
              </a:rPr>
              <a:t>APP'D: --</a:t>
            </a:r>
          </a:p>
        </p:txBody>
      </p:sp>
      <p:sp>
        <p:nvSpPr>
          <p:cNvPr id="878" name="TextBox 877"/>
          <p:cNvSpPr txBox="1"/>
          <p:nvPr/>
        </p:nvSpPr>
        <p:spPr>
          <a:xfrm>
            <a:off x="14040612" y="9802367"/>
            <a:ext cx="763524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0">
                <a:solidFill>
                  <a:srgbClr val="000000"/>
                </a:solidFill>
                <a:latin typeface="Arial"/>
              </a:rPr>
              <a:t>DATE: 12-OCT-26</a:t>
            </a:r>
          </a:p>
        </p:txBody>
      </p:sp>
      <p:sp>
        <p:nvSpPr>
          <p:cNvPr id="879" name="TextBox 878"/>
          <p:cNvSpPr txBox="1"/>
          <p:nvPr/>
        </p:nvSpPr>
        <p:spPr>
          <a:xfrm>
            <a:off x="11750040" y="10076688"/>
            <a:ext cx="763524" cy="2926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DWG NO.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KC-PID-100</a:t>
            </a:r>
          </a:p>
        </p:txBody>
      </p:sp>
      <p:sp>
        <p:nvSpPr>
          <p:cNvPr id="880" name="TextBox 879"/>
          <p:cNvSpPr txBox="1"/>
          <p:nvPr/>
        </p:nvSpPr>
        <p:spPr>
          <a:xfrm>
            <a:off x="12513563" y="10076688"/>
            <a:ext cx="763524" cy="2926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0">
                <a:solidFill>
                  <a:srgbClr val="000000"/>
                </a:solidFill>
                <a:latin typeface="Arial"/>
              </a:rPr>
              <a:t>REV</a:t>
            </a:r>
          </a:p>
          <a:p>
            <a:pPr algn="ctr"/>
            <a:r>
              <a:rPr sz="550" b="0">
                <a:solidFill>
                  <a:srgbClr val="000000"/>
                </a:solidFill>
                <a:latin typeface="Arial"/>
              </a:rPr>
              <a:t>B</a:t>
            </a:r>
          </a:p>
        </p:txBody>
      </p:sp>
      <p:sp>
        <p:nvSpPr>
          <p:cNvPr id="881" name="TextBox 880"/>
          <p:cNvSpPr txBox="1"/>
          <p:nvPr/>
        </p:nvSpPr>
        <p:spPr>
          <a:xfrm>
            <a:off x="13277088" y="10076688"/>
            <a:ext cx="763524" cy="2926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0">
                <a:solidFill>
                  <a:srgbClr val="000000"/>
                </a:solidFill>
                <a:latin typeface="Arial"/>
              </a:rPr>
              <a:t>SCALE</a:t>
            </a:r>
          </a:p>
          <a:p>
            <a:pPr algn="ctr"/>
            <a:r>
              <a:rPr sz="550" b="0">
                <a:solidFill>
                  <a:srgbClr val="000000"/>
                </a:solidFill>
                <a:latin typeface="Arial"/>
              </a:rPr>
              <a:t>N.T.S.</a:t>
            </a:r>
          </a:p>
        </p:txBody>
      </p:sp>
      <p:sp>
        <p:nvSpPr>
          <p:cNvPr id="882" name="TextBox 881"/>
          <p:cNvSpPr txBox="1"/>
          <p:nvPr/>
        </p:nvSpPr>
        <p:spPr>
          <a:xfrm>
            <a:off x="14040612" y="10076688"/>
            <a:ext cx="763524" cy="2926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0">
                <a:solidFill>
                  <a:srgbClr val="000000"/>
                </a:solidFill>
                <a:latin typeface="Arial"/>
              </a:rPr>
              <a:t>SHEET</a:t>
            </a:r>
          </a:p>
          <a:p>
            <a:pPr algn="ctr"/>
            <a:r>
              <a:rPr sz="550" b="0">
                <a:solidFill>
                  <a:srgbClr val="000000"/>
                </a:solidFill>
                <a:latin typeface="Arial"/>
              </a:rPr>
              <a:t>1 OF 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