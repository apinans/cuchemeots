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52000"/>
            <a:ext cx="10188000" cy="7056000"/>
          </a:xfrm>
          <a:prstGeom prst="rect">
            <a:avLst/>
          </a:prstGeom>
          <a:noFill/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1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V-101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481" y="393968"/>
            <a:ext cx="59303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Inlet Scrubber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5418" y="328030"/>
            <a:ext cx="385165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K-100 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670" y="393968"/>
            <a:ext cx="1216659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Export Compressor Section 1 (LP)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3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9449" y="393968"/>
            <a:ext cx="48910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Intercooler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89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V-102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6867" y="393968"/>
            <a:ext cx="766266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Interstage Scrubber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3418" y="328030"/>
            <a:ext cx="385165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K-100 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7670" y="393968"/>
            <a:ext cx="1216659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Export Compressor Section 2 (HP)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1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E-102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449" y="393968"/>
            <a:ext cx="48910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Aftercooler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0063" y="328030"/>
            <a:ext cx="31587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GT-100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16" y="393968"/>
            <a:ext cx="114736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Gas Turbine Driver (22 MW ISO)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3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V-900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1576" y="393968"/>
            <a:ext cx="904849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Flare KO Drum (PID-900)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9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P-160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6867" y="393968"/>
            <a:ext cx="766266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Cooling Medium Pump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2000" y="509877"/>
            <a:ext cx="10188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2" name="Rectangle 21"/>
          <p:cNvSpPr/>
          <p:nvPr/>
        </p:nvSpPr>
        <p:spPr>
          <a:xfrm>
            <a:off x="7056000" y="6192000"/>
            <a:ext cx="3384000" cy="11160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056000" y="6357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7056000" y="6753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7056000" y="7005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7128000" y="6222817"/>
            <a:ext cx="1858390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GAS EXPORT COMPRESSOR VER 1 · OPERATOR TRAINING SIMULATOR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316" y="6432180"/>
            <a:ext cx="1147368" cy="167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000000"/>
                </a:solidFill>
                <a:latin typeface="Arial"/>
              </a:rPr>
              <a:t>PROCESS FLOW DIAGRAM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6364" y="6616400"/>
            <a:ext cx="1903272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000000"/>
                </a:solidFill>
                <a:latin typeface="Arial"/>
              </a:rPr>
              <a:t>GAS EXPORT COMPRESSOR K-100 — TWO SECTIONS, GT-100 DRIVER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6400" y="6779122"/>
            <a:ext cx="393826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DRAWING No.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6400" y="6878390"/>
            <a:ext cx="438708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KC-PFD-100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7728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852768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REV.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768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8640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913680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680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A4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62784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9678240" y="6779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SHEET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8240" y="687839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1 OF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64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6400" y="7130390"/>
            <a:ext cx="802487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Apinan Soottitantawat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7728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8527680" y="7031122"/>
            <a:ext cx="289889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CHECKED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768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08640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6" name="TextBox 45"/>
          <p:cNvSpPr txBox="1"/>
          <p:nvPr/>
        </p:nvSpPr>
        <p:spPr>
          <a:xfrm>
            <a:off x="91368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SCALE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3680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NTS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62784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9" name="TextBox 48"/>
          <p:cNvSpPr txBox="1"/>
          <p:nvPr/>
        </p:nvSpPr>
        <p:spPr>
          <a:xfrm>
            <a:off x="9678240" y="7031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8240" y="7130390"/>
            <a:ext cx="438708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2026-10-11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2000" y="6292800"/>
            <a:ext cx="6768000" cy="10152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4000" y="6350195"/>
            <a:ext cx="32532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sp>
        <p:nvSpPr>
          <p:cNvPr id="53" name="Freeform 52"/>
          <p:cNvSpPr/>
          <p:nvPr/>
        </p:nvSpPr>
        <p:spPr>
          <a:xfrm>
            <a:off x="34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52200" y="0"/>
                </a:moveTo>
                <a:lnTo>
                  <a:pt x="199800" y="0"/>
                </a:lnTo>
                <a:lnTo>
                  <a:pt x="252000" y="57600"/>
                </a:lnTo>
                <a:lnTo>
                  <a:pt x="199800" y="115200"/>
                </a:lnTo>
                <a:lnTo>
                  <a:pt x="52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8000" y="6512082"/>
            <a:ext cx="603275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Gas Flow (MMSCFD)</a:t>
            </a:r>
          </a:p>
        </p:txBody>
      </p:sp>
      <p:sp>
        <p:nvSpPr>
          <p:cNvPr id="56" name="Freeform 55"/>
          <p:cNvSpPr/>
          <p:nvPr/>
        </p:nvSpPr>
        <p:spPr>
          <a:xfrm>
            <a:off x="1434000" y="6501472"/>
            <a:ext cx="288000" cy="115200"/>
          </a:xfrm>
          <a:custGeom>
            <a:avLst/>
            <a:gdLst/>
            <a:ahLst/>
            <a:cxnLst/>
            <a:rect l="l" t="t" r="r" b="b"/>
            <a:pathLst>
              <a:path w="288000" h="115200">
                <a:moveTo>
                  <a:pt x="68400" y="0"/>
                </a:moveTo>
                <a:lnTo>
                  <a:pt x="288000" y="0"/>
                </a:lnTo>
                <a:lnTo>
                  <a:pt x="2196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7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58000" y="6512082"/>
            <a:ext cx="545007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Mass Flow (t/h)</a:t>
            </a:r>
          </a:p>
        </p:txBody>
      </p:sp>
      <p:sp>
        <p:nvSpPr>
          <p:cNvPr id="59" name="Freeform 58"/>
          <p:cNvSpPr/>
          <p:nvPr/>
        </p:nvSpPr>
        <p:spPr>
          <a:xfrm>
            <a:off x="256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0" y="0"/>
                </a:moveTo>
                <a:lnTo>
                  <a:pt x="2520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8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68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Temperature (°C)</a:t>
            </a:r>
          </a:p>
        </p:txBody>
      </p:sp>
      <p:sp>
        <p:nvSpPr>
          <p:cNvPr id="62" name="Freeform 61"/>
          <p:cNvSpPr/>
          <p:nvPr/>
        </p:nvSpPr>
        <p:spPr>
          <a:xfrm>
            <a:off x="367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50400" y="0"/>
                </a:moveTo>
                <a:lnTo>
                  <a:pt x="2016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9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78000" y="6512082"/>
            <a:ext cx="545007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Pressure (barg)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778400" y="65590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66" name="TextBox 65"/>
          <p:cNvSpPr txBox="1"/>
          <p:nvPr/>
        </p:nvSpPr>
        <p:spPr>
          <a:xfrm>
            <a:off x="5088000" y="65120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888400" y="6559072"/>
            <a:ext cx="259200" cy="0"/>
          </a:xfrm>
          <a:prstGeom prst="line">
            <a:avLst/>
          </a:prstGeom>
          <a:ln w="6480">
            <a:solidFill>
              <a:srgbClr val="000000"/>
            </a:solidFill>
          </a:ln>
          <a:effectLst/>
        </p:spPr>
      </p:cxnSp>
      <p:sp>
        <p:nvSpPr>
          <p:cNvPr id="68" name="TextBox 67"/>
          <p:cNvSpPr txBox="1"/>
          <p:nvPr/>
        </p:nvSpPr>
        <p:spPr>
          <a:xfrm>
            <a:off x="6198000" y="65120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Utility Line</a:t>
            </a:r>
          </a:p>
        </p:txBody>
      </p:sp>
      <p:sp>
        <p:nvSpPr>
          <p:cNvPr id="69" name="Freeform 68"/>
          <p:cNvSpPr/>
          <p:nvPr/>
        </p:nvSpPr>
        <p:spPr>
          <a:xfrm>
            <a:off x="3852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4680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 flipV="1">
            <a:off x="468000" y="66681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413568" y="6668152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73" name="TextBox 72"/>
          <p:cNvSpPr txBox="1"/>
          <p:nvPr/>
        </p:nvSpPr>
        <p:spPr>
          <a:xfrm>
            <a:off x="648000" y="6778482"/>
            <a:ext cx="428472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Block Valve</a:t>
            </a:r>
          </a:p>
        </p:txBody>
      </p:sp>
      <p:sp>
        <p:nvSpPr>
          <p:cNvPr id="74" name="Freeform 73"/>
          <p:cNvSpPr/>
          <p:nvPr/>
        </p:nvSpPr>
        <p:spPr>
          <a:xfrm>
            <a:off x="14952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5780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578000" y="66681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77" name="Freeform 76"/>
          <p:cNvSpPr/>
          <p:nvPr/>
        </p:nvSpPr>
        <p:spPr>
          <a:xfrm>
            <a:off x="1539120" y="6613720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75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Control Valve</a:t>
            </a:r>
          </a:p>
        </p:txBody>
      </p:sp>
      <p:sp>
        <p:nvSpPr>
          <p:cNvPr id="79" name="Oval 78"/>
          <p:cNvSpPr/>
          <p:nvPr/>
        </p:nvSpPr>
        <p:spPr>
          <a:xfrm>
            <a:off x="2623200" y="6760672"/>
            <a:ext cx="129600" cy="129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2623200" y="6760672"/>
            <a:ext cx="64800" cy="129600"/>
          </a:xfrm>
          <a:custGeom>
            <a:avLst/>
            <a:gdLst/>
            <a:ahLst/>
            <a:cxnLst/>
            <a:rect l="l" t="t" r="r" b="b"/>
            <a:pathLst>
              <a:path w="64800" h="129600">
                <a:moveTo>
                  <a:pt x="64800" y="64800"/>
                </a:moveTo>
                <a:lnTo>
                  <a:pt x="64800" y="129600"/>
                </a:lnTo>
                <a:lnTo>
                  <a:pt x="56342" y="129046"/>
                </a:lnTo>
                <a:lnTo>
                  <a:pt x="48029" y="127392"/>
                </a:lnTo>
                <a:lnTo>
                  <a:pt x="40002" y="124667"/>
                </a:lnTo>
                <a:lnTo>
                  <a:pt x="32400" y="120918"/>
                </a:lnTo>
                <a:lnTo>
                  <a:pt x="25352" y="116209"/>
                </a:lnTo>
                <a:lnTo>
                  <a:pt x="18979" y="110621"/>
                </a:lnTo>
                <a:lnTo>
                  <a:pt x="13391" y="104248"/>
                </a:lnTo>
                <a:lnTo>
                  <a:pt x="8682" y="97200"/>
                </a:lnTo>
                <a:lnTo>
                  <a:pt x="4933" y="89598"/>
                </a:lnTo>
                <a:lnTo>
                  <a:pt x="2208" y="81571"/>
                </a:lnTo>
                <a:lnTo>
                  <a:pt x="554" y="73258"/>
                </a:lnTo>
                <a:lnTo>
                  <a:pt x="0" y="64800"/>
                </a:lnTo>
                <a:lnTo>
                  <a:pt x="554" y="56342"/>
                </a:lnTo>
                <a:lnTo>
                  <a:pt x="2208" y="48029"/>
                </a:lnTo>
                <a:lnTo>
                  <a:pt x="4933" y="40002"/>
                </a:lnTo>
                <a:lnTo>
                  <a:pt x="8682" y="32400"/>
                </a:lnTo>
                <a:lnTo>
                  <a:pt x="13391" y="25352"/>
                </a:lnTo>
                <a:lnTo>
                  <a:pt x="18979" y="18979"/>
                </a:lnTo>
                <a:lnTo>
                  <a:pt x="25352" y="13391"/>
                </a:lnTo>
                <a:lnTo>
                  <a:pt x="32400" y="8682"/>
                </a:lnTo>
                <a:lnTo>
                  <a:pt x="40002" y="4933"/>
                </a:lnTo>
                <a:lnTo>
                  <a:pt x="48029" y="2208"/>
                </a:lnTo>
                <a:lnTo>
                  <a:pt x="56342" y="554"/>
                </a:lnTo>
                <a:lnTo>
                  <a:pt x="64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68000" y="6778482"/>
            <a:ext cx="748944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Input / Output</a:t>
            </a:r>
          </a:p>
        </p:txBody>
      </p:sp>
      <p:sp>
        <p:nvSpPr>
          <p:cNvPr id="82" name="Freeform 81"/>
          <p:cNvSpPr/>
          <p:nvPr/>
        </p:nvSpPr>
        <p:spPr>
          <a:xfrm>
            <a:off x="3711600" y="6739072"/>
            <a:ext cx="172800" cy="172800"/>
          </a:xfrm>
          <a:custGeom>
            <a:avLst/>
            <a:gdLst/>
            <a:ahLst/>
            <a:cxnLst/>
            <a:rect l="l" t="t" r="r" b="b"/>
            <a:pathLst>
              <a:path w="172800" h="172800">
                <a:moveTo>
                  <a:pt x="86400" y="0"/>
                </a:moveTo>
                <a:lnTo>
                  <a:pt x="172800" y="86400"/>
                </a:lnTo>
                <a:lnTo>
                  <a:pt x="86400" y="172800"/>
                </a:lnTo>
                <a:lnTo>
                  <a:pt x="0" y="864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90000" y="675689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7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Stream Number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778400" y="68254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86" name="Connector 85"/>
          <p:cNvCxnSpPr/>
          <p:nvPr/>
        </p:nvCxnSpPr>
        <p:spPr>
          <a:xfrm>
            <a:off x="4908000" y="67174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87" name="Connector 86"/>
          <p:cNvCxnSpPr/>
          <p:nvPr/>
        </p:nvCxnSpPr>
        <p:spPr>
          <a:xfrm>
            <a:off x="4908000" y="68722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88" name="TextBox 87"/>
          <p:cNvSpPr txBox="1"/>
          <p:nvPr/>
        </p:nvSpPr>
        <p:spPr>
          <a:xfrm>
            <a:off x="508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Line Crossing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946000" y="6713872"/>
            <a:ext cx="144000" cy="22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98000" y="6778482"/>
            <a:ext cx="370204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Separator</a:t>
            </a:r>
          </a:p>
        </p:txBody>
      </p:sp>
      <p:sp>
        <p:nvSpPr>
          <p:cNvPr id="91" name="Freeform 90"/>
          <p:cNvSpPr/>
          <p:nvPr/>
        </p:nvSpPr>
        <p:spPr>
          <a:xfrm>
            <a:off x="360000" y="7012672"/>
            <a:ext cx="216000" cy="158400"/>
          </a:xfrm>
          <a:custGeom>
            <a:avLst/>
            <a:gdLst/>
            <a:ahLst/>
            <a:cxnLst/>
            <a:rect l="l" t="t" r="r" b="b"/>
            <a:pathLst>
              <a:path w="216000" h="158400">
                <a:moveTo>
                  <a:pt x="0" y="0"/>
                </a:moveTo>
                <a:lnTo>
                  <a:pt x="216000" y="39600"/>
                </a:lnTo>
                <a:lnTo>
                  <a:pt x="216000" y="118800"/>
                </a:lnTo>
                <a:lnTo>
                  <a:pt x="0" y="1584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48000" y="7044882"/>
            <a:ext cx="399338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Compressor</a:t>
            </a:r>
          </a:p>
        </p:txBody>
      </p:sp>
      <p:sp>
        <p:nvSpPr>
          <p:cNvPr id="93" name="Oval 92"/>
          <p:cNvSpPr/>
          <p:nvPr/>
        </p:nvSpPr>
        <p:spPr>
          <a:xfrm>
            <a:off x="1488000" y="7001872"/>
            <a:ext cx="180000" cy="180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1536600" y="7045072"/>
            <a:ext cx="82800" cy="93600"/>
          </a:xfrm>
          <a:custGeom>
            <a:avLst/>
            <a:gdLst/>
            <a:ahLst/>
            <a:cxnLst/>
            <a:rect l="l" t="t" r="r" b="b"/>
            <a:pathLst>
              <a:path w="82800" h="93600">
                <a:moveTo>
                  <a:pt x="41400" y="0"/>
                </a:moveTo>
                <a:lnTo>
                  <a:pt x="82800" y="18720"/>
                </a:lnTo>
                <a:lnTo>
                  <a:pt x="0" y="46800"/>
                </a:lnTo>
                <a:lnTo>
                  <a:pt x="82800" y="74880"/>
                </a:lnTo>
                <a:lnTo>
                  <a:pt x="41400" y="9360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758000" y="7044882"/>
            <a:ext cx="515873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Heat Exchanger</a:t>
            </a:r>
          </a:p>
        </p:txBody>
      </p:sp>
      <p:sp>
        <p:nvSpPr>
          <p:cNvPr id="96" name="Freeform 95"/>
          <p:cNvSpPr/>
          <p:nvPr/>
        </p:nvSpPr>
        <p:spPr>
          <a:xfrm>
            <a:off x="2580000" y="7012672"/>
            <a:ext cx="216000" cy="158400"/>
          </a:xfrm>
          <a:custGeom>
            <a:avLst/>
            <a:gdLst/>
            <a:ahLst/>
            <a:cxnLst/>
            <a:rect l="l" t="t" r="r" b="b"/>
            <a:pathLst>
              <a:path w="216000" h="158400">
                <a:moveTo>
                  <a:pt x="0" y="39600"/>
                </a:moveTo>
                <a:lnTo>
                  <a:pt x="216000" y="0"/>
                </a:lnTo>
                <a:lnTo>
                  <a:pt x="216000" y="158400"/>
                </a:lnTo>
                <a:lnTo>
                  <a:pt x="0" y="118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868000" y="7044882"/>
            <a:ext cx="632408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Turbine / Expander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672000" y="7030672"/>
            <a:ext cx="252000" cy="12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978000" y="70448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Vessel / Drum</a:t>
            </a:r>
          </a:p>
        </p:txBody>
      </p:sp>
      <p:sp>
        <p:nvSpPr>
          <p:cNvPr id="100" name="Oval 99"/>
          <p:cNvSpPr/>
          <p:nvPr/>
        </p:nvSpPr>
        <p:spPr>
          <a:xfrm>
            <a:off x="4848384" y="7010728"/>
            <a:ext cx="119232" cy="119232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4848384" y="7070344"/>
            <a:ext cx="59616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H="1">
            <a:off x="4839442" y="71168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4944962" y="71168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>
            <a:off x="4833480" y="7162749"/>
            <a:ext cx="14904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05" name="TextBox 104"/>
          <p:cNvSpPr txBox="1"/>
          <p:nvPr/>
        </p:nvSpPr>
        <p:spPr>
          <a:xfrm>
            <a:off x="5088000" y="70448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Centrifugal Pump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52000" y="5580000"/>
            <a:ext cx="6732000" cy="676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4000" y="5637395"/>
            <a:ext cx="28910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4000" y="5733089"/>
            <a:ext cx="3885158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1. Flags: OTS design state (200 MMSCFD, PIC-101 30.0 barg → SIC-100 speed; UV-103, UV-108, PV-102 shut). Pressures in barg.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4000" y="5825384"/>
            <a:ext cx="3793032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2. K-100 sections 1 and 2: one casing, one shaft, direct drive by GT-100. UV-103/UV-108 recycle cooled gas (anti-surge).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24000" y="5917679"/>
            <a:ext cx="4315078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3. Relief, blowdown, vent and bypass lines (PSV-001, PV-102, BDV-101/112, HV-101/102) drawn light. Trips and line sizes: P&amp;ID KC-PID-100.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24000" y="6009974"/>
            <a:ext cx="4130827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4. Symbol sizes indicative. Flare KO drum and stack on PID-900 (tag V-900 assumed). Fuel-gas skid and seawater CM cooler not shown.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042000" y="3672000"/>
            <a:ext cx="396000" cy="86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3042000" y="3827520"/>
            <a:ext cx="396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4" name="Connector 113"/>
          <p:cNvCxnSpPr/>
          <p:nvPr/>
        </p:nvCxnSpPr>
        <p:spPr>
          <a:xfrm>
            <a:off x="3042000" y="3870720"/>
            <a:ext cx="396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 flipV="1">
            <a:off x="3063600" y="4086720"/>
            <a:ext cx="352800" cy="1036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16" name="Freeform 115"/>
          <p:cNvSpPr/>
          <p:nvPr/>
        </p:nvSpPr>
        <p:spPr>
          <a:xfrm>
            <a:off x="3960000" y="2070000"/>
            <a:ext cx="576000" cy="468000"/>
          </a:xfrm>
          <a:custGeom>
            <a:avLst/>
            <a:gdLst/>
            <a:ahLst/>
            <a:cxnLst/>
            <a:rect l="l" t="t" r="r" b="b"/>
            <a:pathLst>
              <a:path w="576000" h="468000">
                <a:moveTo>
                  <a:pt x="0" y="0"/>
                </a:moveTo>
                <a:lnTo>
                  <a:pt x="576000" y="117000"/>
                </a:lnTo>
                <a:lnTo>
                  <a:pt x="576000" y="351000"/>
                </a:lnTo>
                <a:lnTo>
                  <a:pt x="0" y="4680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986000" y="3942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5073480" y="4019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5148000" y="3942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0" name="Connector 119"/>
          <p:cNvCxnSpPr/>
          <p:nvPr/>
        </p:nvCxnSpPr>
        <p:spPr>
          <a:xfrm flipV="1">
            <a:off x="5148000" y="4188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21" name="Rounded Rectangle 120"/>
          <p:cNvSpPr/>
          <p:nvPr/>
        </p:nvSpPr>
        <p:spPr>
          <a:xfrm>
            <a:off x="5778000" y="3672000"/>
            <a:ext cx="396000" cy="86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5778000" y="3827520"/>
            <a:ext cx="396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>
            <a:off x="5778000" y="3870720"/>
            <a:ext cx="396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5799600" y="4086720"/>
            <a:ext cx="352800" cy="10368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25" name="Freeform 124"/>
          <p:cNvSpPr/>
          <p:nvPr/>
        </p:nvSpPr>
        <p:spPr>
          <a:xfrm>
            <a:off x="6624000" y="2070000"/>
            <a:ext cx="576000" cy="468000"/>
          </a:xfrm>
          <a:custGeom>
            <a:avLst/>
            <a:gdLst/>
            <a:ahLst/>
            <a:cxnLst/>
            <a:rect l="l" t="t" r="r" b="b"/>
            <a:pathLst>
              <a:path w="576000" h="468000">
                <a:moveTo>
                  <a:pt x="0" y="0"/>
                </a:moveTo>
                <a:lnTo>
                  <a:pt x="576000" y="117000"/>
                </a:lnTo>
                <a:lnTo>
                  <a:pt x="576000" y="351000"/>
                </a:lnTo>
                <a:lnTo>
                  <a:pt x="0" y="4680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542000" y="3942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7629480" y="4019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7704000" y="3942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9" name="Connector 128"/>
          <p:cNvCxnSpPr/>
          <p:nvPr/>
        </p:nvCxnSpPr>
        <p:spPr>
          <a:xfrm flipV="1">
            <a:off x="7704000" y="4188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30" name="Freeform 129"/>
          <p:cNvSpPr/>
          <p:nvPr/>
        </p:nvSpPr>
        <p:spPr>
          <a:xfrm>
            <a:off x="9216000" y="2070000"/>
            <a:ext cx="576000" cy="468000"/>
          </a:xfrm>
          <a:custGeom>
            <a:avLst/>
            <a:gdLst/>
            <a:ahLst/>
            <a:cxnLst/>
            <a:rect l="l" t="t" r="r" b="b"/>
            <a:pathLst>
              <a:path w="576000" h="468000">
                <a:moveTo>
                  <a:pt x="0" y="117000"/>
                </a:moveTo>
                <a:lnTo>
                  <a:pt x="576000" y="0"/>
                </a:lnTo>
                <a:lnTo>
                  <a:pt x="576000" y="468000"/>
                </a:lnTo>
                <a:lnTo>
                  <a:pt x="0" y="3510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9177840" y="957240"/>
            <a:ext cx="580320" cy="245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014400" y="4762800"/>
            <a:ext cx="259200" cy="2592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 flipH="1">
            <a:off x="9144000" y="489240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 flipH="1">
            <a:off x="8994960" y="49934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5" name="Connector 134"/>
          <p:cNvCxnSpPr/>
          <p:nvPr/>
        </p:nvCxnSpPr>
        <p:spPr>
          <a:xfrm>
            <a:off x="9224352" y="49934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36" name="Connector 135"/>
          <p:cNvCxnSpPr/>
          <p:nvPr/>
        </p:nvCxnSpPr>
        <p:spPr>
          <a:xfrm>
            <a:off x="8982000" y="5093280"/>
            <a:ext cx="32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37" name="Oval 136"/>
          <p:cNvSpPr/>
          <p:nvPr/>
        </p:nvSpPr>
        <p:spPr>
          <a:xfrm>
            <a:off x="457200" y="4021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457200" y="4021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457200" y="5245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457200" y="5245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0069200" y="4021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10069200" y="4021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10069200" y="99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10069200" y="99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0069200" y="2221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10069200" y="2221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069200" y="4813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10069200" y="4813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065200" y="3553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5065200" y="3553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7621200" y="3553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7621200" y="3553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557000" y="4077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989000" y="4077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2637000" y="4077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3213000" y="1701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4393800" y="4077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5949000" y="3285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5949000" y="2997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8253000" y="4077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8685000" y="4077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3213000" y="5301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557000" y="1053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989000" y="1053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2853000" y="1053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3213000" y="1053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8685000" y="1053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677000" y="4869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622800" y="4104000"/>
            <a:ext cx="961200" cy="0"/>
          </a:xfrm>
          <a:custGeom>
            <a:avLst/>
            <a:gdLst/>
            <a:ahLst/>
            <a:cxnLst/>
            <a:rect l="l" t="t" r="r" b="b"/>
            <a:pathLst>
              <a:path w="961200" h="0">
                <a:moveTo>
                  <a:pt x="0" y="0"/>
                </a:moveTo>
                <a:lnTo>
                  <a:pt x="9612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732240" y="4039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815040" y="4039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2" name="Connector 171"/>
          <p:cNvCxnSpPr/>
          <p:nvPr/>
        </p:nvCxnSpPr>
        <p:spPr>
          <a:xfrm flipV="1">
            <a:off x="815040" y="3946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760608" y="3946680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74" name="Freeform 173"/>
          <p:cNvSpPr/>
          <p:nvPr/>
        </p:nvSpPr>
        <p:spPr>
          <a:xfrm>
            <a:off x="954540" y="400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947340" y="403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76" name="Connector 175"/>
          <p:cNvCxnSpPr/>
          <p:nvPr/>
        </p:nvCxnSpPr>
        <p:spPr>
          <a:xfrm flipV="1">
            <a:off x="1343700" y="3974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77" name="Freeform 176"/>
          <p:cNvSpPr/>
          <p:nvPr/>
        </p:nvSpPr>
        <p:spPr>
          <a:xfrm>
            <a:off x="1188900" y="34128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2200" y="0"/>
                </a:moveTo>
                <a:lnTo>
                  <a:pt x="257400" y="0"/>
                </a:lnTo>
                <a:lnTo>
                  <a:pt x="309600" y="70200"/>
                </a:lnTo>
                <a:lnTo>
                  <a:pt x="257400" y="140400"/>
                </a:lnTo>
                <a:lnTo>
                  <a:pt x="52200" y="140400"/>
                </a:lnTo>
                <a:lnTo>
                  <a:pt x="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203086" y="34271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200.0</a:t>
            </a:r>
          </a:p>
        </p:txBody>
      </p:sp>
      <p:sp>
        <p:nvSpPr>
          <p:cNvPr id="179" name="Freeform 178"/>
          <p:cNvSpPr/>
          <p:nvPr/>
        </p:nvSpPr>
        <p:spPr>
          <a:xfrm>
            <a:off x="1170900" y="35532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203086" y="35675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222.3</a:t>
            </a:r>
          </a:p>
        </p:txBody>
      </p:sp>
      <p:sp>
        <p:nvSpPr>
          <p:cNvPr id="181" name="Freeform 180"/>
          <p:cNvSpPr/>
          <p:nvPr/>
        </p:nvSpPr>
        <p:spPr>
          <a:xfrm>
            <a:off x="1188900" y="3693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220409" y="3707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35.0</a:t>
            </a:r>
          </a:p>
        </p:txBody>
      </p:sp>
      <p:sp>
        <p:nvSpPr>
          <p:cNvPr id="183" name="Freeform 182"/>
          <p:cNvSpPr/>
          <p:nvPr/>
        </p:nvSpPr>
        <p:spPr>
          <a:xfrm>
            <a:off x="1188900" y="3834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220409" y="3848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30.3</a:t>
            </a:r>
          </a:p>
        </p:txBody>
      </p:sp>
      <p:sp>
        <p:nvSpPr>
          <p:cNvPr id="185" name="Freeform 184"/>
          <p:cNvSpPr/>
          <p:nvPr/>
        </p:nvSpPr>
        <p:spPr>
          <a:xfrm>
            <a:off x="1584000" y="4104000"/>
            <a:ext cx="432000" cy="0"/>
          </a:xfrm>
          <a:custGeom>
            <a:avLst/>
            <a:gdLst/>
            <a:ahLst/>
            <a:cxnLst/>
            <a:rect l="l" t="t" r="r" b="b"/>
            <a:pathLst>
              <a:path w="432000" h="0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1699200" y="400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692000" y="403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88" name="Freeform 187"/>
          <p:cNvSpPr/>
          <p:nvPr/>
        </p:nvSpPr>
        <p:spPr>
          <a:xfrm>
            <a:off x="2016000" y="4104000"/>
            <a:ext cx="648000" cy="0"/>
          </a:xfrm>
          <a:custGeom>
            <a:avLst/>
            <a:gdLst/>
            <a:ahLst/>
            <a:cxnLst/>
            <a:rect l="l" t="t" r="r" b="b"/>
            <a:pathLst>
              <a:path w="648000" h="0">
                <a:moveTo>
                  <a:pt x="0" y="0"/>
                </a:moveTo>
                <a:lnTo>
                  <a:pt x="648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2322000" y="4039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2404800" y="4039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2404800" y="3946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92" name="Connector 191"/>
          <p:cNvCxnSpPr/>
          <p:nvPr/>
        </p:nvCxnSpPr>
        <p:spPr>
          <a:xfrm>
            <a:off x="2350368" y="3946680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93" name="Freeform 192"/>
          <p:cNvSpPr/>
          <p:nvPr/>
        </p:nvSpPr>
        <p:spPr>
          <a:xfrm>
            <a:off x="2077200" y="400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2070000" y="403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95" name="Freeform 194"/>
          <p:cNvSpPr/>
          <p:nvPr/>
        </p:nvSpPr>
        <p:spPr>
          <a:xfrm>
            <a:off x="2664000" y="4104000"/>
            <a:ext cx="378000" cy="0"/>
          </a:xfrm>
          <a:custGeom>
            <a:avLst/>
            <a:gdLst/>
            <a:ahLst/>
            <a:cxnLst/>
            <a:rect l="l" t="t" r="r" b="b"/>
            <a:pathLst>
              <a:path w="378000" h="0">
                <a:moveTo>
                  <a:pt x="0" y="0"/>
                </a:moveTo>
                <a:lnTo>
                  <a:pt x="378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948400" y="4070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752200" y="400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2745000" y="403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99" name="Freeform 198"/>
          <p:cNvSpPr/>
          <p:nvPr/>
        </p:nvSpPr>
        <p:spPr>
          <a:xfrm>
            <a:off x="3240000" y="3360600"/>
            <a:ext cx="0" cy="316364"/>
          </a:xfrm>
          <a:custGeom>
            <a:avLst/>
            <a:gdLst/>
            <a:ahLst/>
            <a:cxnLst/>
            <a:rect l="l" t="t" r="r" b="b"/>
            <a:pathLst>
              <a:path w="0" h="316364">
                <a:moveTo>
                  <a:pt x="0" y="316364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3240000" y="1728000"/>
            <a:ext cx="0" cy="1535400"/>
          </a:xfrm>
          <a:custGeom>
            <a:avLst/>
            <a:gdLst/>
            <a:ahLst/>
            <a:cxnLst/>
            <a:rect l="l" t="t" r="r" b="b"/>
            <a:pathLst>
              <a:path w="0" h="1535400">
                <a:moveTo>
                  <a:pt x="0" y="1535400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Freeform 200"/>
          <p:cNvSpPr/>
          <p:nvPr/>
        </p:nvSpPr>
        <p:spPr>
          <a:xfrm>
            <a:off x="3139200" y="2601682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3132000" y="263390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203" name="Freeform 202"/>
          <p:cNvSpPr/>
          <p:nvPr/>
        </p:nvSpPr>
        <p:spPr>
          <a:xfrm>
            <a:off x="3240000" y="1728000"/>
            <a:ext cx="835200" cy="365400"/>
          </a:xfrm>
          <a:custGeom>
            <a:avLst/>
            <a:gdLst/>
            <a:ahLst/>
            <a:cxnLst/>
            <a:rect l="l" t="t" r="r" b="b"/>
            <a:pathLst>
              <a:path w="835200" h="365400">
                <a:moveTo>
                  <a:pt x="0" y="0"/>
                </a:moveTo>
                <a:lnTo>
                  <a:pt x="835200" y="0"/>
                </a:lnTo>
                <a:lnTo>
                  <a:pt x="835200" y="3654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4042080" y="19998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3739500" y="162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3732300" y="165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207" name="Connector 206"/>
          <p:cNvCxnSpPr/>
          <p:nvPr/>
        </p:nvCxnSpPr>
        <p:spPr>
          <a:xfrm>
            <a:off x="3720240" y="17280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08" name="Freeform 207"/>
          <p:cNvSpPr/>
          <p:nvPr/>
        </p:nvSpPr>
        <p:spPr>
          <a:xfrm>
            <a:off x="3547440" y="18576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3579626" y="18719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222.3</a:t>
            </a:r>
          </a:p>
        </p:txBody>
      </p:sp>
      <p:sp>
        <p:nvSpPr>
          <p:cNvPr id="210" name="Freeform 209"/>
          <p:cNvSpPr/>
          <p:nvPr/>
        </p:nvSpPr>
        <p:spPr>
          <a:xfrm>
            <a:off x="3565440" y="1998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3596949" y="2012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34.4</a:t>
            </a:r>
          </a:p>
        </p:txBody>
      </p:sp>
      <p:sp>
        <p:nvSpPr>
          <p:cNvPr id="212" name="Freeform 211"/>
          <p:cNvSpPr/>
          <p:nvPr/>
        </p:nvSpPr>
        <p:spPr>
          <a:xfrm>
            <a:off x="3565440" y="21384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3596949" y="21527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30.0</a:t>
            </a:r>
          </a:p>
        </p:txBody>
      </p:sp>
      <p:sp>
        <p:nvSpPr>
          <p:cNvPr id="214" name="Freeform 213"/>
          <p:cNvSpPr/>
          <p:nvPr/>
        </p:nvSpPr>
        <p:spPr>
          <a:xfrm>
            <a:off x="4420800" y="2444400"/>
            <a:ext cx="0" cy="243000"/>
          </a:xfrm>
          <a:custGeom>
            <a:avLst/>
            <a:gdLst/>
            <a:ahLst/>
            <a:cxnLst/>
            <a:rect l="l" t="t" r="r" b="b"/>
            <a:pathLst>
              <a:path w="0" h="243000">
                <a:moveTo>
                  <a:pt x="0" y="0"/>
                </a:moveTo>
                <a:lnTo>
                  <a:pt x="0" y="243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4420800" y="2784600"/>
            <a:ext cx="0" cy="478800"/>
          </a:xfrm>
          <a:custGeom>
            <a:avLst/>
            <a:gdLst/>
            <a:ahLst/>
            <a:cxnLst/>
            <a:rect l="l" t="t" r="r" b="b"/>
            <a:pathLst>
              <a:path w="0" h="478800">
                <a:moveTo>
                  <a:pt x="0" y="0"/>
                </a:moveTo>
                <a:lnTo>
                  <a:pt x="0" y="4788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4420800" y="3360600"/>
            <a:ext cx="0" cy="743400"/>
          </a:xfrm>
          <a:custGeom>
            <a:avLst/>
            <a:gdLst/>
            <a:ahLst/>
            <a:cxnLst/>
            <a:rect l="l" t="t" r="r" b="b"/>
            <a:pathLst>
              <a:path w="0" h="743400">
                <a:moveTo>
                  <a:pt x="0" y="0"/>
                </a:moveTo>
                <a:lnTo>
                  <a:pt x="0" y="7434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4320000" y="2874672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4312800" y="290689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cxnSp>
        <p:nvCxnSpPr>
          <p:cNvPr id="219" name="Connector 218"/>
          <p:cNvCxnSpPr/>
          <p:nvPr/>
        </p:nvCxnSpPr>
        <p:spPr>
          <a:xfrm>
            <a:off x="4420800" y="302526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20" name="Freeform 219"/>
          <p:cNvSpPr/>
          <p:nvPr/>
        </p:nvSpPr>
        <p:spPr>
          <a:xfrm>
            <a:off x="4532400" y="281466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4564586" y="282898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222.3</a:t>
            </a:r>
          </a:p>
        </p:txBody>
      </p:sp>
      <p:sp>
        <p:nvSpPr>
          <p:cNvPr id="222" name="Freeform 221"/>
          <p:cNvSpPr/>
          <p:nvPr/>
        </p:nvSpPr>
        <p:spPr>
          <a:xfrm>
            <a:off x="4550400" y="295506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4564586" y="296938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105.2</a:t>
            </a:r>
          </a:p>
        </p:txBody>
      </p:sp>
      <p:sp>
        <p:nvSpPr>
          <p:cNvPr id="224" name="Freeform 223"/>
          <p:cNvSpPr/>
          <p:nvPr/>
        </p:nvSpPr>
        <p:spPr>
          <a:xfrm>
            <a:off x="4550400" y="309546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4581909" y="310978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60.9</a:t>
            </a:r>
          </a:p>
        </p:txBody>
      </p:sp>
      <p:sp>
        <p:nvSpPr>
          <p:cNvPr id="226" name="Freeform 225"/>
          <p:cNvSpPr/>
          <p:nvPr/>
        </p:nvSpPr>
        <p:spPr>
          <a:xfrm>
            <a:off x="4420800" y="4104000"/>
            <a:ext cx="565200" cy="0"/>
          </a:xfrm>
          <a:custGeom>
            <a:avLst/>
            <a:gdLst/>
            <a:ahLst/>
            <a:cxnLst/>
            <a:rect l="l" t="t" r="r" b="b"/>
            <a:pathLst>
              <a:path w="565200" h="0">
                <a:moveTo>
                  <a:pt x="0" y="0"/>
                </a:moveTo>
                <a:lnTo>
                  <a:pt x="5652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4892400" y="4070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Freeform 227"/>
          <p:cNvSpPr/>
          <p:nvPr/>
        </p:nvSpPr>
        <p:spPr>
          <a:xfrm>
            <a:off x="4602600" y="400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4595400" y="403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30" name="Freeform 229"/>
          <p:cNvSpPr/>
          <p:nvPr/>
        </p:nvSpPr>
        <p:spPr>
          <a:xfrm>
            <a:off x="5310000" y="4104000"/>
            <a:ext cx="468000" cy="0"/>
          </a:xfrm>
          <a:custGeom>
            <a:avLst/>
            <a:gdLst/>
            <a:ahLst/>
            <a:cxnLst/>
            <a:rect l="l" t="t" r="r" b="b"/>
            <a:pathLst>
              <a:path w="468000" h="0">
                <a:moveTo>
                  <a:pt x="0" y="0"/>
                </a:moveTo>
                <a:lnTo>
                  <a:pt x="468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Freeform 230"/>
          <p:cNvSpPr/>
          <p:nvPr/>
        </p:nvSpPr>
        <p:spPr>
          <a:xfrm>
            <a:off x="5684400" y="4070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5443200" y="400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5436000" y="403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cxnSp>
        <p:nvCxnSpPr>
          <p:cNvPr id="234" name="Connector 233"/>
          <p:cNvCxnSpPr/>
          <p:nvPr/>
        </p:nvCxnSpPr>
        <p:spPr>
          <a:xfrm flipV="1">
            <a:off x="5473800" y="3974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35" name="Freeform 234"/>
          <p:cNvSpPr/>
          <p:nvPr/>
        </p:nvSpPr>
        <p:spPr>
          <a:xfrm>
            <a:off x="5301000" y="35532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5333186" y="35675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222.3</a:t>
            </a:r>
          </a:p>
        </p:txBody>
      </p:sp>
      <p:sp>
        <p:nvSpPr>
          <p:cNvPr id="237" name="Freeform 236"/>
          <p:cNvSpPr/>
          <p:nvPr/>
        </p:nvSpPr>
        <p:spPr>
          <a:xfrm>
            <a:off x="5319000" y="3693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5350509" y="3707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40.0</a:t>
            </a:r>
          </a:p>
        </p:txBody>
      </p:sp>
      <p:sp>
        <p:nvSpPr>
          <p:cNvPr id="239" name="Freeform 238"/>
          <p:cNvSpPr/>
          <p:nvPr/>
        </p:nvSpPr>
        <p:spPr>
          <a:xfrm>
            <a:off x="5319000" y="3834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5350509" y="3848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60.4</a:t>
            </a:r>
          </a:p>
        </p:txBody>
      </p:sp>
      <p:sp>
        <p:nvSpPr>
          <p:cNvPr id="241" name="Freeform 240"/>
          <p:cNvSpPr/>
          <p:nvPr/>
        </p:nvSpPr>
        <p:spPr>
          <a:xfrm>
            <a:off x="5976000" y="3312000"/>
            <a:ext cx="0" cy="364964"/>
          </a:xfrm>
          <a:custGeom>
            <a:avLst/>
            <a:gdLst/>
            <a:ahLst/>
            <a:cxnLst/>
            <a:rect l="l" t="t" r="r" b="b"/>
            <a:pathLst>
              <a:path w="0" h="364964">
                <a:moveTo>
                  <a:pt x="0" y="364964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Freeform 241"/>
          <p:cNvSpPr/>
          <p:nvPr/>
        </p:nvSpPr>
        <p:spPr>
          <a:xfrm>
            <a:off x="5875200" y="3393682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5868000" y="342590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244" name="Freeform 243"/>
          <p:cNvSpPr/>
          <p:nvPr/>
        </p:nvSpPr>
        <p:spPr>
          <a:xfrm>
            <a:off x="5976000" y="3024000"/>
            <a:ext cx="0" cy="288000"/>
          </a:xfrm>
          <a:custGeom>
            <a:avLst/>
            <a:gdLst/>
            <a:ahLst/>
            <a:cxnLst/>
            <a:rect l="l" t="t" r="r" b="b"/>
            <a:pathLst>
              <a:path w="0" h="288000">
                <a:moveTo>
                  <a:pt x="0" y="288000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5875200" y="306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5868000" y="309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sp>
        <p:nvSpPr>
          <p:cNvPr id="247" name="Freeform 246"/>
          <p:cNvSpPr/>
          <p:nvPr/>
        </p:nvSpPr>
        <p:spPr>
          <a:xfrm>
            <a:off x="5976000" y="2784600"/>
            <a:ext cx="0" cy="239400"/>
          </a:xfrm>
          <a:custGeom>
            <a:avLst/>
            <a:gdLst/>
            <a:ahLst/>
            <a:cxnLst/>
            <a:rect l="l" t="t" r="r" b="b"/>
            <a:pathLst>
              <a:path w="0" h="239400">
                <a:moveTo>
                  <a:pt x="0" y="239400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5976000" y="2352600"/>
            <a:ext cx="0" cy="334800"/>
          </a:xfrm>
          <a:custGeom>
            <a:avLst/>
            <a:gdLst/>
            <a:ahLst/>
            <a:cxnLst/>
            <a:rect l="l" t="t" r="r" b="b"/>
            <a:pathLst>
              <a:path w="0" h="334800">
                <a:moveTo>
                  <a:pt x="0" y="334800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5976000" y="1872000"/>
            <a:ext cx="763200" cy="383400"/>
          </a:xfrm>
          <a:custGeom>
            <a:avLst/>
            <a:gdLst/>
            <a:ahLst/>
            <a:cxnLst/>
            <a:rect l="l" t="t" r="r" b="b"/>
            <a:pathLst>
              <a:path w="763200" h="383400">
                <a:moveTo>
                  <a:pt x="0" y="383400"/>
                </a:moveTo>
                <a:lnTo>
                  <a:pt x="0" y="0"/>
                </a:lnTo>
                <a:lnTo>
                  <a:pt x="763200" y="0"/>
                </a:lnTo>
                <a:lnTo>
                  <a:pt x="763200" y="2214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6706080" y="19998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5875200" y="18549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5868000" y="18871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cxnSp>
        <p:nvCxnSpPr>
          <p:cNvPr id="253" name="Connector 252"/>
          <p:cNvCxnSpPr/>
          <p:nvPr/>
        </p:nvCxnSpPr>
        <p:spPr>
          <a:xfrm flipV="1">
            <a:off x="6383718" y="1742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54" name="Freeform 253"/>
          <p:cNvSpPr/>
          <p:nvPr/>
        </p:nvSpPr>
        <p:spPr>
          <a:xfrm>
            <a:off x="6210918" y="13212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6243104" y="13355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216.9</a:t>
            </a:r>
          </a:p>
        </p:txBody>
      </p:sp>
      <p:sp>
        <p:nvSpPr>
          <p:cNvPr id="256" name="Freeform 255"/>
          <p:cNvSpPr/>
          <p:nvPr/>
        </p:nvSpPr>
        <p:spPr>
          <a:xfrm>
            <a:off x="6228918" y="1461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6260427" y="1475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40.0</a:t>
            </a:r>
          </a:p>
        </p:txBody>
      </p:sp>
      <p:sp>
        <p:nvSpPr>
          <p:cNvPr id="258" name="Freeform 257"/>
          <p:cNvSpPr/>
          <p:nvPr/>
        </p:nvSpPr>
        <p:spPr>
          <a:xfrm>
            <a:off x="6228918" y="1602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6260427" y="1616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60.4</a:t>
            </a:r>
          </a:p>
        </p:txBody>
      </p:sp>
      <p:sp>
        <p:nvSpPr>
          <p:cNvPr id="260" name="Freeform 259"/>
          <p:cNvSpPr/>
          <p:nvPr/>
        </p:nvSpPr>
        <p:spPr>
          <a:xfrm>
            <a:off x="7084800" y="2444400"/>
            <a:ext cx="0" cy="243000"/>
          </a:xfrm>
          <a:custGeom>
            <a:avLst/>
            <a:gdLst/>
            <a:ahLst/>
            <a:cxnLst/>
            <a:rect l="l" t="t" r="r" b="b"/>
            <a:pathLst>
              <a:path w="0" h="243000">
                <a:moveTo>
                  <a:pt x="0" y="0"/>
                </a:moveTo>
                <a:lnTo>
                  <a:pt x="0" y="243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7084800" y="2784600"/>
            <a:ext cx="0" cy="190800"/>
          </a:xfrm>
          <a:custGeom>
            <a:avLst/>
            <a:gdLst/>
            <a:ahLst/>
            <a:cxnLst/>
            <a:rect l="l" t="t" r="r" b="b"/>
            <a:pathLst>
              <a:path w="0" h="190800">
                <a:moveTo>
                  <a:pt x="0" y="0"/>
                </a:moveTo>
                <a:lnTo>
                  <a:pt x="0" y="1908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Freeform 261"/>
          <p:cNvSpPr/>
          <p:nvPr/>
        </p:nvSpPr>
        <p:spPr>
          <a:xfrm>
            <a:off x="7084800" y="3072600"/>
            <a:ext cx="457200" cy="1031400"/>
          </a:xfrm>
          <a:custGeom>
            <a:avLst/>
            <a:gdLst/>
            <a:ahLst/>
            <a:cxnLst/>
            <a:rect l="l" t="t" r="r" b="b"/>
            <a:pathLst>
              <a:path w="457200" h="1031400">
                <a:moveTo>
                  <a:pt x="0" y="0"/>
                </a:moveTo>
                <a:lnTo>
                  <a:pt x="0" y="1031400"/>
                </a:lnTo>
                <a:lnTo>
                  <a:pt x="457200" y="10314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7448400" y="4070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Freeform 263"/>
          <p:cNvSpPr/>
          <p:nvPr/>
        </p:nvSpPr>
        <p:spPr>
          <a:xfrm>
            <a:off x="6984000" y="34020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6976800" y="34342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cxnSp>
        <p:nvCxnSpPr>
          <p:cNvPr id="266" name="Connector 265"/>
          <p:cNvCxnSpPr/>
          <p:nvPr/>
        </p:nvCxnSpPr>
        <p:spPr>
          <a:xfrm flipH="1">
            <a:off x="6955200" y="3756816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67" name="Freeform 266"/>
          <p:cNvSpPr/>
          <p:nvPr/>
        </p:nvSpPr>
        <p:spPr>
          <a:xfrm>
            <a:off x="6627600" y="3546216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6659786" y="3560536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216.9</a:t>
            </a:r>
          </a:p>
        </p:txBody>
      </p:sp>
      <p:sp>
        <p:nvSpPr>
          <p:cNvPr id="269" name="Freeform 268"/>
          <p:cNvSpPr/>
          <p:nvPr/>
        </p:nvSpPr>
        <p:spPr>
          <a:xfrm>
            <a:off x="6645600" y="3686616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6659786" y="3700936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115.7</a:t>
            </a:r>
          </a:p>
        </p:txBody>
      </p:sp>
      <p:sp>
        <p:nvSpPr>
          <p:cNvPr id="271" name="Freeform 270"/>
          <p:cNvSpPr/>
          <p:nvPr/>
        </p:nvSpPr>
        <p:spPr>
          <a:xfrm>
            <a:off x="6645600" y="3827016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6659786" y="3841336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121.6</a:t>
            </a:r>
          </a:p>
        </p:txBody>
      </p:sp>
      <p:sp>
        <p:nvSpPr>
          <p:cNvPr id="273" name="Freeform 272"/>
          <p:cNvSpPr/>
          <p:nvPr/>
        </p:nvSpPr>
        <p:spPr>
          <a:xfrm>
            <a:off x="7866000" y="4104000"/>
            <a:ext cx="414000" cy="0"/>
          </a:xfrm>
          <a:custGeom>
            <a:avLst/>
            <a:gdLst/>
            <a:ahLst/>
            <a:cxnLst/>
            <a:rect l="l" t="t" r="r" b="b"/>
            <a:pathLst>
              <a:path w="414000" h="0">
                <a:moveTo>
                  <a:pt x="0" y="0"/>
                </a:moveTo>
                <a:lnTo>
                  <a:pt x="414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7972200" y="400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7965000" y="403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cxnSp>
        <p:nvCxnSpPr>
          <p:cNvPr id="276" name="Connector 275"/>
          <p:cNvCxnSpPr/>
          <p:nvPr/>
        </p:nvCxnSpPr>
        <p:spPr>
          <a:xfrm flipV="1">
            <a:off x="8010900" y="3974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77" name="Freeform 276"/>
          <p:cNvSpPr/>
          <p:nvPr/>
        </p:nvSpPr>
        <p:spPr>
          <a:xfrm>
            <a:off x="7838100" y="35532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7870286" y="35675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216.9</a:t>
            </a:r>
          </a:p>
        </p:txBody>
      </p:sp>
      <p:sp>
        <p:nvSpPr>
          <p:cNvPr id="279" name="Freeform 278"/>
          <p:cNvSpPr/>
          <p:nvPr/>
        </p:nvSpPr>
        <p:spPr>
          <a:xfrm>
            <a:off x="7856100" y="3693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7887609" y="3707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45.0</a:t>
            </a:r>
          </a:p>
        </p:txBody>
      </p:sp>
      <p:sp>
        <p:nvSpPr>
          <p:cNvPr id="281" name="Freeform 280"/>
          <p:cNvSpPr/>
          <p:nvPr/>
        </p:nvSpPr>
        <p:spPr>
          <a:xfrm>
            <a:off x="7856100" y="3834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7870286" y="38483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120.9</a:t>
            </a:r>
          </a:p>
        </p:txBody>
      </p:sp>
      <p:sp>
        <p:nvSpPr>
          <p:cNvPr id="283" name="Freeform 282"/>
          <p:cNvSpPr/>
          <p:nvPr/>
        </p:nvSpPr>
        <p:spPr>
          <a:xfrm>
            <a:off x="8280000" y="4104000"/>
            <a:ext cx="432000" cy="0"/>
          </a:xfrm>
          <a:custGeom>
            <a:avLst/>
            <a:gdLst/>
            <a:ahLst/>
            <a:cxnLst/>
            <a:rect l="l" t="t" r="r" b="b"/>
            <a:pathLst>
              <a:path w="432000" h="0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8395200" y="400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8388000" y="403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286" name="Freeform 285"/>
          <p:cNvSpPr/>
          <p:nvPr/>
        </p:nvSpPr>
        <p:spPr>
          <a:xfrm>
            <a:off x="8712000" y="4104000"/>
            <a:ext cx="1357200" cy="0"/>
          </a:xfrm>
          <a:custGeom>
            <a:avLst/>
            <a:gdLst/>
            <a:ahLst/>
            <a:cxnLst/>
            <a:rect l="l" t="t" r="r" b="b"/>
            <a:pathLst>
              <a:path w="1357200" h="0">
                <a:moveTo>
                  <a:pt x="0" y="0"/>
                </a:moveTo>
                <a:lnTo>
                  <a:pt x="13572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Freeform 286"/>
          <p:cNvSpPr/>
          <p:nvPr/>
        </p:nvSpPr>
        <p:spPr>
          <a:xfrm>
            <a:off x="9975600" y="4070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Freeform 287"/>
          <p:cNvSpPr/>
          <p:nvPr/>
        </p:nvSpPr>
        <p:spPr>
          <a:xfrm>
            <a:off x="9104220" y="4039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Freeform 288"/>
          <p:cNvSpPr/>
          <p:nvPr/>
        </p:nvSpPr>
        <p:spPr>
          <a:xfrm>
            <a:off x="9187020" y="4039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0" name="Connector 289"/>
          <p:cNvCxnSpPr/>
          <p:nvPr/>
        </p:nvCxnSpPr>
        <p:spPr>
          <a:xfrm flipV="1">
            <a:off x="9187020" y="3946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91" name="Connector 290"/>
          <p:cNvCxnSpPr/>
          <p:nvPr/>
        </p:nvCxnSpPr>
        <p:spPr>
          <a:xfrm>
            <a:off x="9132588" y="3946680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92" name="Freeform 291"/>
          <p:cNvSpPr/>
          <p:nvPr/>
        </p:nvSpPr>
        <p:spPr>
          <a:xfrm>
            <a:off x="9534096" y="400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9526896" y="403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cxnSp>
        <p:nvCxnSpPr>
          <p:cNvPr id="294" name="Connector 293"/>
          <p:cNvCxnSpPr/>
          <p:nvPr/>
        </p:nvCxnSpPr>
        <p:spPr>
          <a:xfrm flipV="1">
            <a:off x="9187020" y="3974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95" name="Freeform 294"/>
          <p:cNvSpPr/>
          <p:nvPr/>
        </p:nvSpPr>
        <p:spPr>
          <a:xfrm>
            <a:off x="9032220" y="34128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2200" y="0"/>
                </a:moveTo>
                <a:lnTo>
                  <a:pt x="257400" y="0"/>
                </a:lnTo>
                <a:lnTo>
                  <a:pt x="309600" y="70200"/>
                </a:lnTo>
                <a:lnTo>
                  <a:pt x="257400" y="140400"/>
                </a:lnTo>
                <a:lnTo>
                  <a:pt x="52200" y="140400"/>
                </a:lnTo>
                <a:lnTo>
                  <a:pt x="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9046406" y="34271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195.2</a:t>
            </a:r>
          </a:p>
        </p:txBody>
      </p:sp>
      <p:sp>
        <p:nvSpPr>
          <p:cNvPr id="297" name="Freeform 296"/>
          <p:cNvSpPr/>
          <p:nvPr/>
        </p:nvSpPr>
        <p:spPr>
          <a:xfrm>
            <a:off x="9014220" y="35532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9046406" y="35675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216.9</a:t>
            </a:r>
          </a:p>
        </p:txBody>
      </p:sp>
      <p:sp>
        <p:nvSpPr>
          <p:cNvPr id="299" name="Freeform 298"/>
          <p:cNvSpPr/>
          <p:nvPr/>
        </p:nvSpPr>
        <p:spPr>
          <a:xfrm>
            <a:off x="9032220" y="3693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9063729" y="3707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45.0</a:t>
            </a:r>
          </a:p>
        </p:txBody>
      </p:sp>
      <p:sp>
        <p:nvSpPr>
          <p:cNvPr id="301" name="Freeform 300"/>
          <p:cNvSpPr/>
          <p:nvPr/>
        </p:nvSpPr>
        <p:spPr>
          <a:xfrm>
            <a:off x="9032220" y="3834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9046406" y="384832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120.1</a:t>
            </a:r>
          </a:p>
        </p:txBody>
      </p:sp>
      <p:sp>
        <p:nvSpPr>
          <p:cNvPr id="303" name="Freeform 302"/>
          <p:cNvSpPr/>
          <p:nvPr/>
        </p:nvSpPr>
        <p:spPr>
          <a:xfrm>
            <a:off x="5976000" y="2479500"/>
            <a:ext cx="3528000" cy="544500"/>
          </a:xfrm>
          <a:custGeom>
            <a:avLst/>
            <a:gdLst/>
            <a:ahLst/>
            <a:cxnLst/>
            <a:rect l="l" t="t" r="r" b="b"/>
            <a:pathLst>
              <a:path w="3528000" h="544500">
                <a:moveTo>
                  <a:pt x="0" y="544500"/>
                </a:moveTo>
                <a:lnTo>
                  <a:pt x="3528000" y="544500"/>
                </a:lnTo>
                <a:lnTo>
                  <a:pt x="3528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Freeform 303"/>
          <p:cNvSpPr/>
          <p:nvPr/>
        </p:nvSpPr>
        <p:spPr>
          <a:xfrm>
            <a:off x="9470880" y="24795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0"/>
                </a:moveTo>
                <a:lnTo>
                  <a:pt x="66240" y="93600"/>
                </a:lnTo>
                <a:lnTo>
                  <a:pt x="0" y="9360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Freeform 304"/>
          <p:cNvSpPr/>
          <p:nvPr/>
        </p:nvSpPr>
        <p:spPr>
          <a:xfrm>
            <a:off x="9029025" y="2959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Freeform 305"/>
          <p:cNvSpPr/>
          <p:nvPr/>
        </p:nvSpPr>
        <p:spPr>
          <a:xfrm>
            <a:off x="9111825" y="2959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7" name="Connector 306"/>
          <p:cNvCxnSpPr/>
          <p:nvPr/>
        </p:nvCxnSpPr>
        <p:spPr>
          <a:xfrm flipV="1">
            <a:off x="9111825" y="2866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08" name="Freeform 307"/>
          <p:cNvSpPr/>
          <p:nvPr/>
        </p:nvSpPr>
        <p:spPr>
          <a:xfrm>
            <a:off x="9072945" y="2812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Freeform 308"/>
          <p:cNvSpPr/>
          <p:nvPr/>
        </p:nvSpPr>
        <p:spPr>
          <a:xfrm>
            <a:off x="7911450" y="2923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7904250" y="2955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cxnSp>
        <p:nvCxnSpPr>
          <p:cNvPr id="311" name="Connector 310"/>
          <p:cNvCxnSpPr/>
          <p:nvPr/>
        </p:nvCxnSpPr>
        <p:spPr>
          <a:xfrm>
            <a:off x="7401375" y="30240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12" name="Freeform 311"/>
          <p:cNvSpPr/>
          <p:nvPr/>
        </p:nvSpPr>
        <p:spPr>
          <a:xfrm>
            <a:off x="7228575" y="31536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7278084" y="3167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4.97</a:t>
            </a:r>
          </a:p>
        </p:txBody>
      </p:sp>
      <p:sp>
        <p:nvSpPr>
          <p:cNvPr id="314" name="Freeform 313"/>
          <p:cNvSpPr/>
          <p:nvPr/>
        </p:nvSpPr>
        <p:spPr>
          <a:xfrm>
            <a:off x="7246575" y="3294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7278084" y="3308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40.0</a:t>
            </a:r>
          </a:p>
        </p:txBody>
      </p:sp>
      <p:sp>
        <p:nvSpPr>
          <p:cNvPr id="316" name="Freeform 315"/>
          <p:cNvSpPr/>
          <p:nvPr/>
        </p:nvSpPr>
        <p:spPr>
          <a:xfrm>
            <a:off x="7246575" y="34344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7278084" y="34487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25.0</a:t>
            </a:r>
          </a:p>
        </p:txBody>
      </p:sp>
      <p:sp>
        <p:nvSpPr>
          <p:cNvPr id="318" name="Freeform 317"/>
          <p:cNvSpPr/>
          <p:nvPr/>
        </p:nvSpPr>
        <p:spPr>
          <a:xfrm>
            <a:off x="2664000" y="3312000"/>
            <a:ext cx="3312000" cy="792000"/>
          </a:xfrm>
          <a:custGeom>
            <a:avLst/>
            <a:gdLst/>
            <a:ahLst/>
            <a:cxnLst/>
            <a:rect l="l" t="t" r="r" b="b"/>
            <a:pathLst>
              <a:path w="3312000" h="792000">
                <a:moveTo>
                  <a:pt x="3312000" y="0"/>
                </a:moveTo>
                <a:lnTo>
                  <a:pt x="0" y="0"/>
                </a:lnTo>
                <a:lnTo>
                  <a:pt x="0" y="7920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Freeform 318"/>
          <p:cNvSpPr/>
          <p:nvPr/>
        </p:nvSpPr>
        <p:spPr>
          <a:xfrm>
            <a:off x="3594960" y="3247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Freeform 319"/>
          <p:cNvSpPr/>
          <p:nvPr/>
        </p:nvSpPr>
        <p:spPr>
          <a:xfrm>
            <a:off x="3677760" y="3247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1" name="Connector 320"/>
          <p:cNvCxnSpPr/>
          <p:nvPr/>
        </p:nvCxnSpPr>
        <p:spPr>
          <a:xfrm flipV="1">
            <a:off x="3677760" y="3154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22" name="Freeform 321"/>
          <p:cNvSpPr/>
          <p:nvPr/>
        </p:nvSpPr>
        <p:spPr>
          <a:xfrm>
            <a:off x="3638880" y="3100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Freeform 322"/>
          <p:cNvSpPr/>
          <p:nvPr/>
        </p:nvSpPr>
        <p:spPr>
          <a:xfrm>
            <a:off x="5054400" y="3211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5047200" y="3243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325" name="Freeform 324"/>
          <p:cNvSpPr/>
          <p:nvPr/>
        </p:nvSpPr>
        <p:spPr>
          <a:xfrm>
            <a:off x="8280000" y="3072600"/>
            <a:ext cx="0" cy="1031400"/>
          </a:xfrm>
          <a:custGeom>
            <a:avLst/>
            <a:gdLst/>
            <a:ahLst/>
            <a:cxnLst/>
            <a:rect l="l" t="t" r="r" b="b"/>
            <a:pathLst>
              <a:path w="0" h="1031400">
                <a:moveTo>
                  <a:pt x="0" y="1031400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Freeform 325"/>
          <p:cNvSpPr/>
          <p:nvPr/>
        </p:nvSpPr>
        <p:spPr>
          <a:xfrm>
            <a:off x="4104000" y="2736000"/>
            <a:ext cx="4176000" cy="527400"/>
          </a:xfrm>
          <a:custGeom>
            <a:avLst/>
            <a:gdLst/>
            <a:ahLst/>
            <a:cxnLst/>
            <a:rect l="l" t="t" r="r" b="b"/>
            <a:pathLst>
              <a:path w="4176000" h="527400">
                <a:moveTo>
                  <a:pt x="4176000" y="239400"/>
                </a:moveTo>
                <a:lnTo>
                  <a:pt x="4176000" y="0"/>
                </a:lnTo>
                <a:lnTo>
                  <a:pt x="0" y="0"/>
                </a:lnTo>
                <a:lnTo>
                  <a:pt x="0" y="5274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4104000" y="3360600"/>
            <a:ext cx="316800" cy="743400"/>
          </a:xfrm>
          <a:custGeom>
            <a:avLst/>
            <a:gdLst/>
            <a:ahLst/>
            <a:cxnLst/>
            <a:rect l="l" t="t" r="r" b="b"/>
            <a:pathLst>
              <a:path w="316800" h="743400">
                <a:moveTo>
                  <a:pt x="0" y="0"/>
                </a:moveTo>
                <a:lnTo>
                  <a:pt x="0" y="743400"/>
                </a:lnTo>
                <a:lnTo>
                  <a:pt x="316800" y="7434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7396560" y="2671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Freeform 328"/>
          <p:cNvSpPr/>
          <p:nvPr/>
        </p:nvSpPr>
        <p:spPr>
          <a:xfrm>
            <a:off x="7479360" y="2671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0" name="Connector 329"/>
          <p:cNvCxnSpPr/>
          <p:nvPr/>
        </p:nvCxnSpPr>
        <p:spPr>
          <a:xfrm flipV="1">
            <a:off x="7479360" y="2578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31" name="Freeform 330"/>
          <p:cNvSpPr/>
          <p:nvPr/>
        </p:nvSpPr>
        <p:spPr>
          <a:xfrm>
            <a:off x="7440480" y="2524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Freeform 331"/>
          <p:cNvSpPr/>
          <p:nvPr/>
        </p:nvSpPr>
        <p:spPr>
          <a:xfrm>
            <a:off x="6294240" y="2635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6287040" y="2667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sp>
        <p:nvSpPr>
          <p:cNvPr id="334" name="Freeform 333"/>
          <p:cNvSpPr/>
          <p:nvPr/>
        </p:nvSpPr>
        <p:spPr>
          <a:xfrm>
            <a:off x="3240000" y="4531036"/>
            <a:ext cx="0" cy="796964"/>
          </a:xfrm>
          <a:custGeom>
            <a:avLst/>
            <a:gdLst/>
            <a:ahLst/>
            <a:cxnLst/>
            <a:rect l="l" t="t" r="r" b="b"/>
            <a:pathLst>
              <a:path w="0" h="796964">
                <a:moveTo>
                  <a:pt x="0" y="0"/>
                </a:moveTo>
                <a:lnTo>
                  <a:pt x="0" y="796964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Freeform 334"/>
          <p:cNvSpPr/>
          <p:nvPr/>
        </p:nvSpPr>
        <p:spPr>
          <a:xfrm>
            <a:off x="3175200" y="4846718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3175200" y="4929518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7" name="Connector 336"/>
          <p:cNvCxnSpPr/>
          <p:nvPr/>
        </p:nvCxnSpPr>
        <p:spPr>
          <a:xfrm>
            <a:off x="3240000" y="4929518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38" name="Freeform 337"/>
          <p:cNvSpPr/>
          <p:nvPr/>
        </p:nvSpPr>
        <p:spPr>
          <a:xfrm>
            <a:off x="3397320" y="4890638"/>
            <a:ext cx="54432" cy="77760"/>
          </a:xfrm>
          <a:custGeom>
            <a:avLst/>
            <a:gdLst/>
            <a:ahLst/>
            <a:cxnLst/>
            <a:rect l="l" t="t" r="r" b="b"/>
            <a:pathLst>
              <a:path w="54432" h="77760">
                <a:moveTo>
                  <a:pt x="0" y="0"/>
                </a:moveTo>
                <a:lnTo>
                  <a:pt x="0" y="77760"/>
                </a:lnTo>
                <a:lnTo>
                  <a:pt x="54432" y="64800"/>
                </a:lnTo>
                <a:lnTo>
                  <a:pt x="54432" y="1296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3139200" y="4589629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3132000" y="4621849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341" name="Freeform 340"/>
          <p:cNvSpPr/>
          <p:nvPr/>
        </p:nvSpPr>
        <p:spPr>
          <a:xfrm>
            <a:off x="5976000" y="4531036"/>
            <a:ext cx="0" cy="316364"/>
          </a:xfrm>
          <a:custGeom>
            <a:avLst/>
            <a:gdLst/>
            <a:ahLst/>
            <a:cxnLst/>
            <a:rect l="l" t="t" r="r" b="b"/>
            <a:pathLst>
              <a:path w="0" h="316364">
                <a:moveTo>
                  <a:pt x="0" y="0"/>
                </a:moveTo>
                <a:lnTo>
                  <a:pt x="0" y="316364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3240000" y="4944600"/>
            <a:ext cx="2736000" cy="383400"/>
          </a:xfrm>
          <a:custGeom>
            <a:avLst/>
            <a:gdLst/>
            <a:ahLst/>
            <a:cxnLst/>
            <a:rect l="l" t="t" r="r" b="b"/>
            <a:pathLst>
              <a:path w="2736000" h="383400">
                <a:moveTo>
                  <a:pt x="2736000" y="0"/>
                </a:moveTo>
                <a:lnTo>
                  <a:pt x="2736000" y="383400"/>
                </a:lnTo>
                <a:lnTo>
                  <a:pt x="0" y="3834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5911200" y="497818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Freeform 343"/>
          <p:cNvSpPr/>
          <p:nvPr/>
        </p:nvSpPr>
        <p:spPr>
          <a:xfrm>
            <a:off x="5911200" y="506098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5" name="Connector 344"/>
          <p:cNvCxnSpPr/>
          <p:nvPr/>
        </p:nvCxnSpPr>
        <p:spPr>
          <a:xfrm>
            <a:off x="5976000" y="5060980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46" name="Freeform 345"/>
          <p:cNvSpPr/>
          <p:nvPr/>
        </p:nvSpPr>
        <p:spPr>
          <a:xfrm>
            <a:off x="6133320" y="5022100"/>
            <a:ext cx="54432" cy="77760"/>
          </a:xfrm>
          <a:custGeom>
            <a:avLst/>
            <a:gdLst/>
            <a:ahLst/>
            <a:cxnLst/>
            <a:rect l="l" t="t" r="r" b="b"/>
            <a:pathLst>
              <a:path w="54432" h="77760">
                <a:moveTo>
                  <a:pt x="0" y="0"/>
                </a:moveTo>
                <a:lnTo>
                  <a:pt x="0" y="77760"/>
                </a:lnTo>
                <a:lnTo>
                  <a:pt x="54432" y="64800"/>
                </a:lnTo>
                <a:lnTo>
                  <a:pt x="54432" y="1296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Freeform 346"/>
          <p:cNvSpPr/>
          <p:nvPr/>
        </p:nvSpPr>
        <p:spPr>
          <a:xfrm>
            <a:off x="4905682" y="522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4898482" y="525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cxnSp>
        <p:nvCxnSpPr>
          <p:cNvPr id="349" name="Connector 348"/>
          <p:cNvCxnSpPr/>
          <p:nvPr/>
        </p:nvCxnSpPr>
        <p:spPr>
          <a:xfrm flipV="1">
            <a:off x="5536427" y="5198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50" name="Freeform 349"/>
          <p:cNvSpPr/>
          <p:nvPr/>
        </p:nvSpPr>
        <p:spPr>
          <a:xfrm>
            <a:off x="5363627" y="49176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5413136" y="4931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0.40</a:t>
            </a:r>
          </a:p>
        </p:txBody>
      </p:sp>
      <p:sp>
        <p:nvSpPr>
          <p:cNvPr id="352" name="Freeform 351"/>
          <p:cNvSpPr/>
          <p:nvPr/>
        </p:nvSpPr>
        <p:spPr>
          <a:xfrm>
            <a:off x="5381627" y="5058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5413136" y="5072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40.0</a:t>
            </a:r>
          </a:p>
        </p:txBody>
      </p:sp>
      <p:sp>
        <p:nvSpPr>
          <p:cNvPr id="354" name="Freeform 353"/>
          <p:cNvSpPr/>
          <p:nvPr/>
        </p:nvSpPr>
        <p:spPr>
          <a:xfrm>
            <a:off x="457200" y="5328000"/>
            <a:ext cx="2782800" cy="0"/>
          </a:xfrm>
          <a:custGeom>
            <a:avLst/>
            <a:gdLst/>
            <a:ahLst/>
            <a:cxnLst/>
            <a:rect l="l" t="t" r="r" b="b"/>
            <a:pathLst>
              <a:path w="2782800" h="0">
                <a:moveTo>
                  <a:pt x="2782800" y="0"/>
                </a:moveTo>
                <a:lnTo>
                  <a:pt x="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Freeform 354"/>
          <p:cNvSpPr/>
          <p:nvPr/>
        </p:nvSpPr>
        <p:spPr>
          <a:xfrm>
            <a:off x="457200" y="529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0" y="33120"/>
                </a:moveTo>
                <a:lnTo>
                  <a:pt x="93600" y="0"/>
                </a:lnTo>
                <a:lnTo>
                  <a:pt x="93600" y="6624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Freeform 355"/>
          <p:cNvSpPr/>
          <p:nvPr/>
        </p:nvSpPr>
        <p:spPr>
          <a:xfrm>
            <a:off x="1747800" y="522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1740600" y="525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sp>
        <p:nvSpPr>
          <p:cNvPr id="358" name="Freeform 357"/>
          <p:cNvSpPr/>
          <p:nvPr/>
        </p:nvSpPr>
        <p:spPr>
          <a:xfrm>
            <a:off x="1584000" y="1080000"/>
            <a:ext cx="0" cy="3024000"/>
          </a:xfrm>
          <a:custGeom>
            <a:avLst/>
            <a:gdLst/>
            <a:ahLst/>
            <a:cxnLst/>
            <a:rect l="l" t="t" r="r" b="b"/>
            <a:pathLst>
              <a:path w="0" h="3024000">
                <a:moveTo>
                  <a:pt x="0" y="3024000"/>
                </a:move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1519200" y="250920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1519200" y="259200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1" name="Connector 360"/>
          <p:cNvCxnSpPr/>
          <p:nvPr/>
        </p:nvCxnSpPr>
        <p:spPr>
          <a:xfrm>
            <a:off x="1584000" y="2592000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362" name="Connector 361"/>
          <p:cNvCxnSpPr/>
          <p:nvPr/>
        </p:nvCxnSpPr>
        <p:spPr>
          <a:xfrm>
            <a:off x="1741320" y="2537568"/>
            <a:ext cx="0" cy="1088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63" name="Freeform 362"/>
          <p:cNvSpPr/>
          <p:nvPr/>
        </p:nvSpPr>
        <p:spPr>
          <a:xfrm>
            <a:off x="2016000" y="1080000"/>
            <a:ext cx="0" cy="3024000"/>
          </a:xfrm>
          <a:custGeom>
            <a:avLst/>
            <a:gdLst/>
            <a:ahLst/>
            <a:cxnLst/>
            <a:rect l="l" t="t" r="r" b="b"/>
            <a:pathLst>
              <a:path w="0" h="3024000">
                <a:moveTo>
                  <a:pt x="0" y="3024000"/>
                </a:move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Freeform 363"/>
          <p:cNvSpPr/>
          <p:nvPr/>
        </p:nvSpPr>
        <p:spPr>
          <a:xfrm>
            <a:off x="1951200" y="250920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1951200" y="259200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6" name="Connector 365"/>
          <p:cNvCxnSpPr/>
          <p:nvPr/>
        </p:nvCxnSpPr>
        <p:spPr>
          <a:xfrm>
            <a:off x="2016000" y="2592000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67" name="Freeform 366"/>
          <p:cNvSpPr/>
          <p:nvPr/>
        </p:nvSpPr>
        <p:spPr>
          <a:xfrm>
            <a:off x="2173320" y="2553120"/>
            <a:ext cx="54432" cy="77760"/>
          </a:xfrm>
          <a:custGeom>
            <a:avLst/>
            <a:gdLst/>
            <a:ahLst/>
            <a:cxnLst/>
            <a:rect l="l" t="t" r="r" b="b"/>
            <a:pathLst>
              <a:path w="54432" h="77760">
                <a:moveTo>
                  <a:pt x="0" y="0"/>
                </a:moveTo>
                <a:lnTo>
                  <a:pt x="0" y="77760"/>
                </a:lnTo>
                <a:lnTo>
                  <a:pt x="54432" y="64800"/>
                </a:lnTo>
                <a:lnTo>
                  <a:pt x="54432" y="1296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2016000" y="4104000"/>
            <a:ext cx="648000" cy="360000"/>
          </a:xfrm>
          <a:custGeom>
            <a:avLst/>
            <a:gdLst/>
            <a:ahLst/>
            <a:cxnLst/>
            <a:rect l="l" t="t" r="r" b="b"/>
            <a:pathLst>
              <a:path w="648000" h="360000">
                <a:moveTo>
                  <a:pt x="0" y="0"/>
                </a:moveTo>
                <a:lnTo>
                  <a:pt x="0" y="360000"/>
                </a:lnTo>
                <a:lnTo>
                  <a:pt x="648000" y="360000"/>
                </a:lnTo>
                <a:lnTo>
                  <a:pt x="64800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2257200" y="4399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Freeform 369"/>
          <p:cNvSpPr/>
          <p:nvPr/>
        </p:nvSpPr>
        <p:spPr>
          <a:xfrm>
            <a:off x="2340000" y="4399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1" name="Connector 370"/>
          <p:cNvCxnSpPr/>
          <p:nvPr/>
        </p:nvCxnSpPr>
        <p:spPr>
          <a:xfrm flipV="1">
            <a:off x="2340000" y="4306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372" name="Connector 371"/>
          <p:cNvCxnSpPr/>
          <p:nvPr/>
        </p:nvCxnSpPr>
        <p:spPr>
          <a:xfrm>
            <a:off x="2285568" y="4306680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73" name="Freeform 372"/>
          <p:cNvSpPr/>
          <p:nvPr/>
        </p:nvSpPr>
        <p:spPr>
          <a:xfrm>
            <a:off x="3240000" y="1080000"/>
            <a:ext cx="0" cy="648000"/>
          </a:xfrm>
          <a:custGeom>
            <a:avLst/>
            <a:gdLst/>
            <a:ahLst/>
            <a:cxnLst/>
            <a:rect l="l" t="t" r="r" b="b"/>
            <a:pathLst>
              <a:path w="0" h="648000">
                <a:moveTo>
                  <a:pt x="0" y="648000"/>
                </a:move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Freeform 373"/>
          <p:cNvSpPr/>
          <p:nvPr/>
        </p:nvSpPr>
        <p:spPr>
          <a:xfrm>
            <a:off x="3175200" y="132120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Freeform 374"/>
          <p:cNvSpPr/>
          <p:nvPr/>
        </p:nvSpPr>
        <p:spPr>
          <a:xfrm>
            <a:off x="3175200" y="140400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6" name="Connector 375"/>
          <p:cNvCxnSpPr/>
          <p:nvPr/>
        </p:nvCxnSpPr>
        <p:spPr>
          <a:xfrm>
            <a:off x="3240000" y="1404000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377" name="Connector 376"/>
          <p:cNvCxnSpPr/>
          <p:nvPr/>
        </p:nvCxnSpPr>
        <p:spPr>
          <a:xfrm>
            <a:off x="3397320" y="1349568"/>
            <a:ext cx="0" cy="1088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78" name="Freeform 377"/>
          <p:cNvSpPr/>
          <p:nvPr/>
        </p:nvSpPr>
        <p:spPr>
          <a:xfrm>
            <a:off x="2880000" y="1080000"/>
            <a:ext cx="360000" cy="648000"/>
          </a:xfrm>
          <a:custGeom>
            <a:avLst/>
            <a:gdLst/>
            <a:ahLst/>
            <a:cxnLst/>
            <a:rect l="l" t="t" r="r" b="b"/>
            <a:pathLst>
              <a:path w="360000" h="648000">
                <a:moveTo>
                  <a:pt x="360000" y="648000"/>
                </a:moveTo>
                <a:lnTo>
                  <a:pt x="0" y="648000"/>
                </a:ln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Freeform 378"/>
          <p:cNvSpPr/>
          <p:nvPr/>
        </p:nvSpPr>
        <p:spPr>
          <a:xfrm>
            <a:off x="2815200" y="140040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2815200" y="148320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1" name="Connector 380"/>
          <p:cNvCxnSpPr/>
          <p:nvPr/>
        </p:nvCxnSpPr>
        <p:spPr>
          <a:xfrm>
            <a:off x="2880000" y="1483200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382" name="Connector 381"/>
          <p:cNvCxnSpPr/>
          <p:nvPr/>
        </p:nvCxnSpPr>
        <p:spPr>
          <a:xfrm>
            <a:off x="3037320" y="1428768"/>
            <a:ext cx="0" cy="1088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83" name="Freeform 382"/>
          <p:cNvSpPr/>
          <p:nvPr/>
        </p:nvSpPr>
        <p:spPr>
          <a:xfrm>
            <a:off x="8712000" y="3072600"/>
            <a:ext cx="0" cy="1031400"/>
          </a:xfrm>
          <a:custGeom>
            <a:avLst/>
            <a:gdLst/>
            <a:ahLst/>
            <a:cxnLst/>
            <a:rect l="l" t="t" r="r" b="b"/>
            <a:pathLst>
              <a:path w="0" h="1031400">
                <a:moveTo>
                  <a:pt x="0" y="1031400"/>
                </a:move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8712000" y="2352600"/>
            <a:ext cx="0" cy="622800"/>
          </a:xfrm>
          <a:custGeom>
            <a:avLst/>
            <a:gdLst/>
            <a:ahLst/>
            <a:cxnLst/>
            <a:rect l="l" t="t" r="r" b="b"/>
            <a:pathLst>
              <a:path w="0" h="622800">
                <a:moveTo>
                  <a:pt x="0" y="622800"/>
                </a:move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Freeform 384"/>
          <p:cNvSpPr/>
          <p:nvPr/>
        </p:nvSpPr>
        <p:spPr>
          <a:xfrm>
            <a:off x="8712000" y="1080000"/>
            <a:ext cx="0" cy="1175400"/>
          </a:xfrm>
          <a:custGeom>
            <a:avLst/>
            <a:gdLst/>
            <a:ahLst/>
            <a:cxnLst/>
            <a:rect l="l" t="t" r="r" b="b"/>
            <a:pathLst>
              <a:path w="0" h="1175400">
                <a:moveTo>
                  <a:pt x="0" y="1175400"/>
                </a:move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Freeform 385"/>
          <p:cNvSpPr/>
          <p:nvPr/>
        </p:nvSpPr>
        <p:spPr>
          <a:xfrm>
            <a:off x="8647200" y="335592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Freeform 386"/>
          <p:cNvSpPr/>
          <p:nvPr/>
        </p:nvSpPr>
        <p:spPr>
          <a:xfrm>
            <a:off x="8647200" y="343872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8" name="Connector 387"/>
          <p:cNvCxnSpPr/>
          <p:nvPr/>
        </p:nvCxnSpPr>
        <p:spPr>
          <a:xfrm>
            <a:off x="8712000" y="3438720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389" name="Connector 388"/>
          <p:cNvCxnSpPr/>
          <p:nvPr/>
        </p:nvCxnSpPr>
        <p:spPr>
          <a:xfrm>
            <a:off x="8869320" y="3384288"/>
            <a:ext cx="0" cy="1088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90" name="Freeform 389"/>
          <p:cNvSpPr/>
          <p:nvPr/>
        </p:nvSpPr>
        <p:spPr>
          <a:xfrm>
            <a:off x="1584000" y="1080000"/>
            <a:ext cx="432000" cy="0"/>
          </a:xfrm>
          <a:custGeom>
            <a:avLst/>
            <a:gdLst/>
            <a:ahLst/>
            <a:cxnLst/>
            <a:rect l="l" t="t" r="r" b="b"/>
            <a:pathLst>
              <a:path w="432000" h="0">
                <a:moveTo>
                  <a:pt x="0" y="0"/>
                </a:moveTo>
                <a:lnTo>
                  <a:pt x="43200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Freeform 390"/>
          <p:cNvSpPr/>
          <p:nvPr/>
        </p:nvSpPr>
        <p:spPr>
          <a:xfrm>
            <a:off x="2016000" y="1080000"/>
            <a:ext cx="864000" cy="0"/>
          </a:xfrm>
          <a:custGeom>
            <a:avLst/>
            <a:gdLst/>
            <a:ahLst/>
            <a:cxnLst/>
            <a:rect l="l" t="t" r="r" b="b"/>
            <a:pathLst>
              <a:path w="864000" h="0">
                <a:moveTo>
                  <a:pt x="0" y="0"/>
                </a:moveTo>
                <a:lnTo>
                  <a:pt x="86400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Freeform 391"/>
          <p:cNvSpPr/>
          <p:nvPr/>
        </p:nvSpPr>
        <p:spPr>
          <a:xfrm>
            <a:off x="2880000" y="1080000"/>
            <a:ext cx="360000" cy="0"/>
          </a:xfrm>
          <a:custGeom>
            <a:avLst/>
            <a:gdLst/>
            <a:ahLst/>
            <a:cxnLst/>
            <a:rect l="l" t="t" r="r" b="b"/>
            <a:pathLst>
              <a:path w="360000" h="0">
                <a:moveTo>
                  <a:pt x="0" y="0"/>
                </a:moveTo>
                <a:lnTo>
                  <a:pt x="36000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Freeform 392"/>
          <p:cNvSpPr/>
          <p:nvPr/>
        </p:nvSpPr>
        <p:spPr>
          <a:xfrm>
            <a:off x="3240000" y="1080000"/>
            <a:ext cx="5472000" cy="0"/>
          </a:xfrm>
          <a:custGeom>
            <a:avLst/>
            <a:gdLst/>
            <a:ahLst/>
            <a:cxnLst/>
            <a:rect l="l" t="t" r="r" b="b"/>
            <a:pathLst>
              <a:path w="5472000" h="0">
                <a:moveTo>
                  <a:pt x="0" y="0"/>
                </a:moveTo>
                <a:lnTo>
                  <a:pt x="547200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Freeform 393"/>
          <p:cNvSpPr/>
          <p:nvPr/>
        </p:nvSpPr>
        <p:spPr>
          <a:xfrm>
            <a:off x="8712000" y="1080000"/>
            <a:ext cx="468918" cy="0"/>
          </a:xfrm>
          <a:custGeom>
            <a:avLst/>
            <a:gdLst/>
            <a:ahLst/>
            <a:cxnLst/>
            <a:rect l="l" t="t" r="r" b="b"/>
            <a:pathLst>
              <a:path w="468918" h="0">
                <a:moveTo>
                  <a:pt x="0" y="0"/>
                </a:moveTo>
                <a:lnTo>
                  <a:pt x="468918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Freeform 394"/>
          <p:cNvSpPr/>
          <p:nvPr/>
        </p:nvSpPr>
        <p:spPr>
          <a:xfrm>
            <a:off x="9087318" y="104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Freeform 395"/>
          <p:cNvSpPr/>
          <p:nvPr/>
        </p:nvSpPr>
        <p:spPr>
          <a:xfrm>
            <a:off x="8845659" y="97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8838459" y="101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23</a:t>
            </a:r>
          </a:p>
        </p:txBody>
      </p:sp>
      <p:sp>
        <p:nvSpPr>
          <p:cNvPr id="398" name="Freeform 397"/>
          <p:cNvSpPr/>
          <p:nvPr/>
        </p:nvSpPr>
        <p:spPr>
          <a:xfrm>
            <a:off x="9755082" y="1080000"/>
            <a:ext cx="314118" cy="0"/>
          </a:xfrm>
          <a:custGeom>
            <a:avLst/>
            <a:gdLst/>
            <a:ahLst/>
            <a:cxnLst/>
            <a:rect l="l" t="t" r="r" b="b"/>
            <a:pathLst>
              <a:path w="314118" h="0">
                <a:moveTo>
                  <a:pt x="0" y="0"/>
                </a:moveTo>
                <a:lnTo>
                  <a:pt x="314118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Freeform 398"/>
          <p:cNvSpPr/>
          <p:nvPr/>
        </p:nvSpPr>
        <p:spPr>
          <a:xfrm>
            <a:off x="9975600" y="104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Freeform 399"/>
          <p:cNvSpPr/>
          <p:nvPr/>
        </p:nvSpPr>
        <p:spPr>
          <a:xfrm>
            <a:off x="9786212" y="97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9779012" y="101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sp>
        <p:nvSpPr>
          <p:cNvPr id="402" name="Freeform 401"/>
          <p:cNvSpPr/>
          <p:nvPr/>
        </p:nvSpPr>
        <p:spPr>
          <a:xfrm>
            <a:off x="4536000" y="2304000"/>
            <a:ext cx="2088000" cy="0"/>
          </a:xfrm>
          <a:custGeom>
            <a:avLst/>
            <a:gdLst/>
            <a:ahLst/>
            <a:cxnLst/>
            <a:rect l="l" t="t" r="r" b="b"/>
            <a:pathLst>
              <a:path w="2088000" h="0">
                <a:moveTo>
                  <a:pt x="0" y="0"/>
                </a:moveTo>
                <a:lnTo>
                  <a:pt x="208800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Freeform 402"/>
          <p:cNvSpPr/>
          <p:nvPr/>
        </p:nvSpPr>
        <p:spPr>
          <a:xfrm>
            <a:off x="7200000" y="2304000"/>
            <a:ext cx="2016000" cy="0"/>
          </a:xfrm>
          <a:custGeom>
            <a:avLst/>
            <a:gdLst/>
            <a:ahLst/>
            <a:cxnLst/>
            <a:rect l="l" t="t" r="r" b="b"/>
            <a:pathLst>
              <a:path w="2016000" h="0">
                <a:moveTo>
                  <a:pt x="0" y="0"/>
                </a:moveTo>
                <a:lnTo>
                  <a:pt x="201600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Freeform 403"/>
          <p:cNvSpPr/>
          <p:nvPr/>
        </p:nvSpPr>
        <p:spPr>
          <a:xfrm>
            <a:off x="9792000" y="2304000"/>
            <a:ext cx="277200" cy="0"/>
          </a:xfrm>
          <a:custGeom>
            <a:avLst/>
            <a:gdLst/>
            <a:ahLst/>
            <a:cxnLst/>
            <a:rect l="l" t="t" r="r" b="b"/>
            <a:pathLst>
              <a:path w="277200" h="0">
                <a:moveTo>
                  <a:pt x="0" y="0"/>
                </a:moveTo>
                <a:lnTo>
                  <a:pt x="27720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5" name="Freeform 404"/>
          <p:cNvSpPr/>
          <p:nvPr/>
        </p:nvSpPr>
        <p:spPr>
          <a:xfrm>
            <a:off x="9975600" y="2270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Freeform 405"/>
          <p:cNvSpPr/>
          <p:nvPr/>
        </p:nvSpPr>
        <p:spPr>
          <a:xfrm>
            <a:off x="9273600" y="4892400"/>
            <a:ext cx="795600" cy="3600"/>
          </a:xfrm>
          <a:custGeom>
            <a:avLst/>
            <a:gdLst/>
            <a:ahLst/>
            <a:cxnLst/>
            <a:rect l="l" t="t" r="r" b="b"/>
            <a:pathLst>
              <a:path w="795600" h="3600">
                <a:moveTo>
                  <a:pt x="795600" y="3600"/>
                </a:move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Freeform 406"/>
          <p:cNvSpPr/>
          <p:nvPr/>
        </p:nvSpPr>
        <p:spPr>
          <a:xfrm>
            <a:off x="9273600" y="4859704"/>
            <a:ext cx="93749" cy="66239"/>
          </a:xfrm>
          <a:custGeom>
            <a:avLst/>
            <a:gdLst/>
            <a:ahLst/>
            <a:cxnLst/>
            <a:rect l="l" t="t" r="r" b="b"/>
            <a:pathLst>
              <a:path w="93749" h="66239">
                <a:moveTo>
                  <a:pt x="0" y="32696"/>
                </a:moveTo>
                <a:lnTo>
                  <a:pt x="93749" y="0"/>
                </a:lnTo>
                <a:lnTo>
                  <a:pt x="93449" y="66239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Freeform 407"/>
          <p:cNvSpPr/>
          <p:nvPr/>
        </p:nvSpPr>
        <p:spPr>
          <a:xfrm>
            <a:off x="7704000" y="4892400"/>
            <a:ext cx="1310400" cy="3600"/>
          </a:xfrm>
          <a:custGeom>
            <a:avLst/>
            <a:gdLst/>
            <a:ahLst/>
            <a:cxnLst/>
            <a:rect l="l" t="t" r="r" b="b"/>
            <a:pathLst>
              <a:path w="1310400" h="3600">
                <a:moveTo>
                  <a:pt x="1310400" y="0"/>
                </a:moveTo>
                <a:lnTo>
                  <a:pt x="0" y="360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Freeform 408"/>
          <p:cNvSpPr/>
          <p:nvPr/>
        </p:nvSpPr>
        <p:spPr>
          <a:xfrm>
            <a:off x="7704000" y="4266000"/>
            <a:ext cx="0" cy="630000"/>
          </a:xfrm>
          <a:custGeom>
            <a:avLst/>
            <a:gdLst/>
            <a:ahLst/>
            <a:cxnLst/>
            <a:rect l="l" t="t" r="r" b="b"/>
            <a:pathLst>
              <a:path w="0" h="630000">
                <a:moveTo>
                  <a:pt x="0" y="630000"/>
                </a:move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Freeform 409"/>
          <p:cNvSpPr/>
          <p:nvPr/>
        </p:nvSpPr>
        <p:spPr>
          <a:xfrm>
            <a:off x="7670880" y="42660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0"/>
                </a:moveTo>
                <a:lnTo>
                  <a:pt x="66240" y="93600"/>
                </a:lnTo>
                <a:lnTo>
                  <a:pt x="0" y="9360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Freeform 410"/>
          <p:cNvSpPr/>
          <p:nvPr/>
        </p:nvSpPr>
        <p:spPr>
          <a:xfrm>
            <a:off x="7639200" y="449820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Freeform 411"/>
          <p:cNvSpPr/>
          <p:nvPr/>
        </p:nvSpPr>
        <p:spPr>
          <a:xfrm>
            <a:off x="7639200" y="458100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3" name="Connector 412"/>
          <p:cNvCxnSpPr/>
          <p:nvPr/>
        </p:nvCxnSpPr>
        <p:spPr>
          <a:xfrm>
            <a:off x="7704000" y="4581000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14" name="Freeform 413"/>
          <p:cNvSpPr/>
          <p:nvPr/>
        </p:nvSpPr>
        <p:spPr>
          <a:xfrm>
            <a:off x="7861320" y="4542120"/>
            <a:ext cx="54432" cy="77760"/>
          </a:xfrm>
          <a:custGeom>
            <a:avLst/>
            <a:gdLst/>
            <a:ahLst/>
            <a:cxnLst/>
            <a:rect l="l" t="t" r="r" b="b"/>
            <a:pathLst>
              <a:path w="54432" h="77760">
                <a:moveTo>
                  <a:pt x="0" y="0"/>
                </a:moveTo>
                <a:lnTo>
                  <a:pt x="0" y="77760"/>
                </a:lnTo>
                <a:lnTo>
                  <a:pt x="54432" y="64800"/>
                </a:lnTo>
                <a:lnTo>
                  <a:pt x="54432" y="1296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5148000" y="4266000"/>
            <a:ext cx="2556000" cy="630000"/>
          </a:xfrm>
          <a:custGeom>
            <a:avLst/>
            <a:gdLst/>
            <a:ahLst/>
            <a:cxnLst/>
            <a:rect l="l" t="t" r="r" b="b"/>
            <a:pathLst>
              <a:path w="2556000" h="630000">
                <a:moveTo>
                  <a:pt x="2556000" y="630000"/>
                </a:moveTo>
                <a:lnTo>
                  <a:pt x="0" y="630000"/>
                </a:ln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Freeform 415"/>
          <p:cNvSpPr/>
          <p:nvPr/>
        </p:nvSpPr>
        <p:spPr>
          <a:xfrm>
            <a:off x="5114880" y="42660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0"/>
                </a:moveTo>
                <a:lnTo>
                  <a:pt x="66240" y="93600"/>
                </a:lnTo>
                <a:lnTo>
                  <a:pt x="0" y="9360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6506100" y="4831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6588900" y="4831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9" name="Connector 418"/>
          <p:cNvCxnSpPr/>
          <p:nvPr/>
        </p:nvCxnSpPr>
        <p:spPr>
          <a:xfrm flipV="1">
            <a:off x="6588900" y="4738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20" name="Freeform 419"/>
          <p:cNvSpPr/>
          <p:nvPr/>
        </p:nvSpPr>
        <p:spPr>
          <a:xfrm>
            <a:off x="6550020" y="4684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5148000" y="3718800"/>
            <a:ext cx="0" cy="223200"/>
          </a:xfrm>
          <a:custGeom>
            <a:avLst/>
            <a:gdLst/>
            <a:ahLst/>
            <a:cxnLst/>
            <a:rect l="l" t="t" r="r" b="b"/>
            <a:pathLst>
              <a:path w="0" h="223200">
                <a:moveTo>
                  <a:pt x="0" y="223200"/>
                </a:move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2" name="Freeform 421"/>
          <p:cNvSpPr/>
          <p:nvPr/>
        </p:nvSpPr>
        <p:spPr>
          <a:xfrm>
            <a:off x="5114880" y="37188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0"/>
                </a:moveTo>
                <a:lnTo>
                  <a:pt x="66240" y="93600"/>
                </a:lnTo>
                <a:lnTo>
                  <a:pt x="0" y="9360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7704000" y="3718800"/>
            <a:ext cx="0" cy="223200"/>
          </a:xfrm>
          <a:custGeom>
            <a:avLst/>
            <a:gdLst/>
            <a:ahLst/>
            <a:cxnLst/>
            <a:rect l="l" t="t" r="r" b="b"/>
            <a:pathLst>
              <a:path w="0" h="223200">
                <a:moveTo>
                  <a:pt x="0" y="223200"/>
                </a:move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7670880" y="37188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0"/>
                </a:moveTo>
                <a:lnTo>
                  <a:pt x="66240" y="93600"/>
                </a:lnTo>
                <a:lnTo>
                  <a:pt x="0" y="9360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TextBox 424"/>
          <p:cNvSpPr txBox="1"/>
          <p:nvPr/>
        </p:nvSpPr>
        <p:spPr>
          <a:xfrm>
            <a:off x="2703402" y="4564291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V-101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3493843" y="2571255"/>
            <a:ext cx="448157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K-100 S1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4647402" y="4299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E-101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5328000" y="4303065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cm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5439402" y="4564291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V-102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6157843" y="2571255"/>
            <a:ext cx="448157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K-100 S2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7203402" y="4299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E-102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7268400" y="38435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20" b="0" i="0">
                <a:solidFill>
                  <a:srgbClr val="000000"/>
                </a:solidFill>
                <a:latin typeface="Arial"/>
              </a:rPr>
              <a:t>cm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8834882" y="2571255"/>
            <a:ext cx="36311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GT-100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9307701" y="123601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V-900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8983701" y="5135607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P-160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152602" y="4220690"/>
            <a:ext cx="141823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Production Gas from HP Separator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186282" y="5099702"/>
            <a:ext cx="722172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To Closed Drain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9510801" y="3875702"/>
            <a:ext cx="1008786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Export Gas to Pipeline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9811386" y="851702"/>
            <a:ext cx="68122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To Flare Stack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9893276" y="2075702"/>
            <a:ext cx="51744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GT Exhaust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9913748" y="4667702"/>
            <a:ext cx="47650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CM Supply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4531097" y="3569960"/>
            <a:ext cx="47650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 i="0">
                <a:solidFill>
                  <a:srgbClr val="000000"/>
                </a:solidFill>
                <a:latin typeface="Arial"/>
              </a:rPr>
              <a:t>CM Return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7087097" y="3569960"/>
            <a:ext cx="47650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 i="0">
                <a:solidFill>
                  <a:srgbClr val="000000"/>
                </a:solidFill>
                <a:latin typeface="Arial"/>
              </a:rPr>
              <a:t>CM Return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615166" y="3702902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XV-001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2194221" y="3702902"/>
            <a:ext cx="43555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ESDV-101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8962221" y="4242902"/>
            <a:ext cx="43555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ESDV-113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8895166" y="3126902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FV-100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3459166" y="2892902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UV-103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7663966" y="2561702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UV-108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3348000" y="4664237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LV-101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6159166" y="4980902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LV-107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1062693" y="2496902"/>
            <a:ext cx="39461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PSV-001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2199166" y="2496902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PV-102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1554331" y="4379960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 i="0">
                <a:solidFill>
                  <a:srgbClr val="000000"/>
                </a:solidFill>
                <a:latin typeface="Arial"/>
              </a:rPr>
              <a:t>HV-101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3366693" y="1308902"/>
            <a:ext cx="39461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BDV-101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2811166" y="1740902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HV-102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8820000" y="3281960"/>
            <a:ext cx="39461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BDV-112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4308331" y="905702"/>
            <a:ext cx="59933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Flare Header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4901638" y="2129702"/>
            <a:ext cx="31272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Shaft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7547638" y="2129702"/>
            <a:ext cx="31272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Shaft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7812000" y="4672460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TV-111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6730666" y="4721702"/>
            <a:ext cx="3536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TV-106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